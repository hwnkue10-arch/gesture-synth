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68580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안녕하십니까, 'AI 제스처 신디사이저 AuraSynth' 프로젝트 발표를 맡은 박현규입니다.</a:t>
            </a:r>
          </a:p>
          <a:p>
            <a:r>
              <a:rPr lang="en-US" dirty="0"/>
              <a:t>본 프로젝트는 컴퓨터 비전 딥러닝과 웹 오디오 기술을 결합하여, 카메라 앞에서 맨손으로 화음과 음색을 제어하는 비접촉 전자 악기 시스템을 구현한 연구입니다.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발표는 화면에 보시는 것처럼 총 6단계로 진행됩니다.</a:t>
            </a:r>
          </a:p>
          <a:p>
            <a:r>
              <a:rPr lang="en-US" dirty="0"/>
              <a:t>먼저 손가락 21개 마디 구조와 2.7만 장의 표준 데이터셋을 살펴보고,</a:t>
            </a:r>
          </a:p>
          <a:p>
            <a:r>
              <a:rPr lang="en-US" dirty="0"/>
              <a:t>학습 플랫폼의 데이터 유실 결함과 이를 극복하기 위해 수립한 3가지 모델 구축 방향을 말씀드리겠습니다.</a:t>
            </a:r>
          </a:p>
          <a:p>
            <a:r>
              <a:rPr lang="en-US" dirty="0"/>
              <a:t>이어서 저희가 테스트한 3가지 AI 모델의 장단점을 비교하고,</a:t>
            </a:r>
          </a:p>
          <a:p>
            <a:r>
              <a:rPr lang="en-US" dirty="0"/>
              <a:t>점수는 99점인데 왜 실제 주먹 동작은 어려웠는지 그 흥미로운 원인을 짚어봅니다.</a:t>
            </a:r>
          </a:p>
          <a:p>
            <a:r>
              <a:rPr lang="en-US" dirty="0"/>
              <a:t>그리고 손 제스처를 피아노 코드로 변환해 직접 연주하는 실시간 악기 시스템과 최종 결론으로 마무리하겠습니다.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순서인 '21개 손 관절 구조와 데이터셋'입니다.</a:t>
            </a:r>
          </a:p>
          <a:p>
            <a:r>
              <a:rPr lang="en-US" dirty="0"/>
              <a:t>화면의 다이어그램을 보시면, 손목 0번 노드를 루트(Root)로 삼아 각 손가락마다 4개 마디씩 총 21개 관절이 연결되어 있습니다.</a:t>
            </a:r>
          </a:p>
          <a:p>
            <a:r>
              <a:rPr lang="en-US" dirty="0"/>
              <a:t>저희는 약 2.7만 장 규모의 글로벌 표준 오픈 데이터셋을 사용했으며, 손목부터 5개 손가락 마디를 독립적이고 정밀하게 추적합니다.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순서인 '학습 플랫폼 오류와 라벨 유실' 과정입니다.</a:t>
            </a:r>
          </a:p>
          <a:p>
            <a:r>
              <a:rPr lang="en-US" dirty="0"/>
              <a:t>다운로드한 1.8만 장의 데이터를 플랫폼에 넣으려고 처음엔 표준 파일로 변환해 넣어봤지만 플랫폼이 거부했고,</a:t>
            </a:r>
          </a:p>
          <a:p>
            <a:r>
              <a:rPr lang="en-US" dirty="0"/>
              <a:t>내부 코드를 뜯어 번호를 맞춰주었더니 화면에는 들어갔으나 저장할 때 점들이 증발해 버렸습니다.</a:t>
            </a:r>
          </a:p>
          <a:p>
            <a:r>
              <a:rPr lang="en-US" dirty="0"/>
              <a:t>혹시 외부 파일 문제인가 싶어 Geti 웹에서 직접 31장을 수동 라벨링하고 내보낸 파일조차, 다시 가져오면 라벨이 흔적도 없이 사라지는 플랫폼 자체의 치명적인 결함(Silent Drop)을 규명했습니다. 문제를 플랫폼 내부에서 해결할 수 없다는 최종 결론에 도달했습니다.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이에 따라 저희는 프로젝트를 완성하기 위해 3가지 방향으로 AI 모델 구축 전략을 수립했습니다.</a:t>
            </a:r>
          </a:p>
          <a:p>
            <a:r>
              <a:rPr lang="en-US" dirty="0"/>
              <a:t>첫째, 기존에 저장된 1.8만 장 라벨을 Geti에서 전혀 쓸 수 없게 되었기 때문에, 웹 화면에서 31장 정도를 손으로 직접 라벨링하여 최소 베이스라인 모델을 만들어 보았습니다.</a:t>
            </a:r>
          </a:p>
          <a:p>
            <a:r>
              <a:rPr lang="en-US" dirty="0"/>
              <a:t>둘째, 플랫폼 결함을 우회하여 원본 18,776장 전체 라벨을 터미널에서 YOLOv8-Pose로 직접 학습시켜 독자적인 딥러닝 모델을 완성했습니다.</a:t>
            </a:r>
          </a:p>
          <a:p>
            <a:r>
              <a:rPr lang="en-US" dirty="0"/>
              <a:t>셋째, 웹 브라우저에서 지연 없이 피아노를 실시간 연주할 수 있도록 구글의 고성능 MediaPipe 상용 모델을 악기 엔진으로 함께 활용했습니다.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순서인 '3가지 AI 모델 성능 비교'입니다.</a:t>
            </a:r>
          </a:p>
          <a:p>
            <a:r>
              <a:rPr lang="en-US" dirty="0"/>
              <a:t>첫째는 플랫폼 제약 하에 31장으로 강행한 Intel Geti 수작업 모델,</a:t>
            </a:r>
          </a:p>
          <a:p>
            <a:r>
              <a:rPr lang="en-US" dirty="0"/>
              <a:t>둘째는 원본 18,776장의 라벨 데이터를 100% 손실 없이 CLI로 학습시킨 Custom YOLOv8-Pose 모델,</a:t>
            </a:r>
          </a:p>
          <a:p>
            <a:r>
              <a:rPr lang="en-US" dirty="0"/>
              <a:t>그리고 셋째는 실시간 악기 제어의 기준점이 되는 Google MediaPipe SOTA 모델입니다.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 순서인 '각 모델별 실전 추론 결과 &amp; 분석' 중 첫 번째, Intel Geti 모델입니다.</a:t>
            </a:r>
          </a:p>
          <a:p>
            <a:r>
              <a:rPr lang="en-US" dirty="0"/>
              <a:t>화면 사진을 보시면 아시겠지만, 카메라 앞에서 손을 비추었을 때 손 형태를 전혀 잡지 못하고 검은 배경 노이즈에 유령 관절(Ghost Keypoint)들이 마구잡이로 찍히는 심각한 오류가 발생했습니다.</a:t>
            </a:r>
          </a:p>
          <a:p>
            <a:r>
              <a:rPr lang="en-US" dirty="0"/>
              <a:t>Geti 화면에서 시험 점수(PCK)는 94%로 매우 높게 나왔는데 왜 이런 일이 벌어졌을까요?</a:t>
            </a:r>
          </a:p>
          <a:p>
            <a:r>
              <a:rPr lang="en-US" dirty="0"/>
              <a:t>학습에 사용된 이미지가 단 31장에 불과했기 때문에 모델이 손의 구조를 배운 게 아니라 그 31장 사진 속 좌표만 달달 외워버린 '심각한 과적합(Overfitting)' 상태였던 것입니다. 데이터셋이 부족할 때 화면 점수만 믿어서는 안 된다는 점을 입증한 사례입니다.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이어서 두 번째, 로컬 터미널에서 1.8만 장 전체를 직접 학습시킨 Custom YOLOv8-Pose 모델입니다.</a:t>
            </a:r>
          </a:p>
          <a:p>
            <a:r>
              <a:rPr lang="en-US" dirty="0"/>
              <a:t>화면 왼쪽 아래의 학습 결과 그래프를 보시면, 15 에포크 동안 손실 곡선이 안정적으로 수렴하며 Box mAP 99.2%, Pose mAP 87.9%라는 높은 시험 성적을 기록했습니다.</a:t>
            </a:r>
          </a:p>
          <a:p>
            <a:r>
              <a:rPr lang="en-US" dirty="0"/>
              <a:t>하지만 상단의 실제 카메라 사진을 비교해 보시면, 왼쪽처럼 손바닥을 활짝 폈을 때는 21개 관절 점을 정밀하게 추적했지만,</a:t>
            </a:r>
          </a:p>
          <a:p>
            <a:r>
              <a:rPr lang="en-US" dirty="0"/>
              <a:t>오른쪽처럼 손가락을 접어 브이(V)나 주먹을 쥐는 순간 관절 점들이 손바닥 중앙으로 뭉쳐버리는 현상이 발생했습니다.</a:t>
            </a:r>
          </a:p>
          <a:p>
            <a:r>
              <a:rPr lang="en-US" dirty="0"/>
              <a:t>그 이유는 시험 데이터 대다수가 펴진 손 위주였던 데이터 편향과, 회전 증강(degrees: 0)의 부재, 그리고 2D 평면 카메라로는 가려진 손가락의 깊이를 알 수 없는 '자가 가림(Self-Occlusion)' 때문이었습니다.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세 번째, 구글 MediaPipe 상용 모델의 실측 결과입니다.</a:t>
            </a:r>
          </a:p>
          <a:p>
            <a:r>
              <a:rPr lang="en-US" dirty="0"/>
              <a:t>화면의 두 사진을 보시면, 어두운 배경에서도 노이즈 없이 복합 제스처를 정밀하게 고정할 뿐만 아니라,</a:t>
            </a:r>
          </a:p>
          <a:p>
            <a:r>
              <a:rPr lang="en-US" dirty="0"/>
              <a:t>오른쪽 사진처럼 손가락을 완전히 쥐어 안쪽으로 가려진 '주먹 제스처'에서도 21개 관절 점이 정확한 해부학적 위치에 입체적으로 유지됩니다.</a:t>
            </a:r>
          </a:p>
          <a:p>
            <a:r>
              <a:rPr lang="en-US" dirty="0"/>
              <a:t>구글 모델은 손바닥을 먼저 오려내는 2-Stage 구조와, 가려진 관절도 3D 입체 좌표로 복원하는 기술 덕분에 모델 2(YOLO)가 실패했던 주먹까지 정상적으로 추적할 수 있었습니다.</a:t>
            </a:r>
          </a:p>
          <a:p>
            <a:r>
              <a:rPr lang="en-US" dirty="0"/>
              <a:t>저희는 이 세 가지 모델의 실측 결과를 바탕으로, 실시간 피아노 악기 구동 엔진으로 가장 안정적인 구글 모델을 최종 채택했습니다.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번째 순서인 '손 제스처 음악 변환과 실시간 악기 시스템'입니다.</a:t>
            </a:r>
          </a:p>
          <a:p>
            <a:r>
              <a:rPr lang="en-US" dirty="0"/>
              <a:t>이제 21개 관절이 어떻게 실제 음악으로 바뀌는지 직관적으로 설명해 드리겠습니다.</a:t>
            </a:r>
          </a:p>
          <a:p>
            <a:r>
              <a:rPr lang="en-US" dirty="0"/>
              <a:t>왼손으로는 5개 손가락의 펴짐과 접힘 모양으로 피아노 화음을 선택하고, 손목을 살짝 기울여 밝은 장조와 슬픈 단조 모드를 자유롭게 바꿉니다.</a:t>
            </a:r>
          </a:p>
          <a:p>
            <a:r>
              <a:rPr lang="en-US" dirty="0"/>
              <a:t>오른손으로는 손의 높낮이로 볼륨 크기를 조절하고, 손목을 기울여 부드러운 음색부터 날카로운 신디사이저 전자음까지 자유자재로 변형하며 마치 마법처럼 허공에서 악기를 연주할 수 있습니다.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번째 순서인 'AuraSynth 상단 제어 바 주요 기능'입니다.</a:t>
            </a:r>
          </a:p>
          <a:p>
            <a:r>
              <a:rPr lang="en-US" dirty="0"/>
              <a:t>화면 상단에 고정된 이 컨트롤 바는 연주 도중에도 악기의 모든 요소를 한눈에 조작할 수 있는 중심 제어 센터입니다.</a:t>
            </a:r>
          </a:p>
          <a:p>
            <a:r>
              <a:rPr lang="en-US" dirty="0"/>
              <a:t>첫째, 3가지 AI 모델을 연주 중단 없이 실시간으로 전환할 수 있는 모델 스위칭 드롭다운이 위치해 있습니다.</a:t>
            </a:r>
          </a:p>
          <a:p>
            <a:r>
              <a:rPr lang="en-US" dirty="0"/>
              <a:t>둘째, 원하는 곡에 맞춰 기준 음을 바꾸는 Key 조옮김과 따뜻한 신스, 밝은 신스 등 3가지 음색 프리셋을 선택할 수 있습니다.</a:t>
            </a:r>
          </a:p>
          <a:p>
            <a:r>
              <a:rPr lang="en-US" dirty="0"/>
              <a:t>셋째, 초보자를 위해 어떤 손가락을 펴면 무슨 화음이 나오는지 알려주는 실시간 제스처 가이드 버튼이 탑재되어 있습니다.</a:t>
            </a:r>
          </a:p>
          <a:p>
            <a:r>
              <a:rPr lang="en-US" dirty="0"/>
              <a:t>넷째, 0에서 150%까지 조절되는 마스터 볼륨 슬라이더와, 오른손 기울기에 따라 음색 필터가 열리는 정도를 숫자로 보여주는 네온 LED 레벨 미터가 실시간으로 작동합니다.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'결론 및 배운 점'입니다.</a:t>
            </a:r>
          </a:p>
          <a:p>
            <a:r>
              <a:rPr lang="en-US" dirty="0"/>
              <a:t>이번 프로젝트는 단순히 모델을 돌려본 것에 그치지 않고, 플랫폼 에러를 직접 파고들어 규명하고, 점수와 실제 성능 사이의 괴리를 분석하며, 최종 완성된 독립 실행 프로그램(.exe)까지 만들어낸 뜻깊은 엔지니어링 경험이었습니다.</a:t>
            </a:r>
          </a:p>
          <a:p>
            <a:r>
              <a:rPr lang="en-US" dirty="0"/>
              <a:t>경청해 주셔서 감사합니다.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4.jpe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eg"/><Relationship Id="rId3" Type="http://schemas.openxmlformats.org/officeDocument/2006/relationships/image" Target="../media/image14.png"/><Relationship Id="rId4" Type="http://schemas.openxmlformats.org/officeDocument/2006/relationships/image" Target="../media/image13.jpeg"/><Relationship Id="rId5" Type="http://schemas.openxmlformats.org/officeDocument/2006/relationships/image" Target="../media/image15.png"/><Relationship Id="rId6" Type="http://schemas.openxmlformats.org/officeDocument/2006/relationships/image" Target="../media/image11.png"/><Relationship Id="rId7" Type="http://schemas.openxmlformats.org/officeDocument/2006/relationships/image" Target="../media/image16.png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4815284" y="1820962"/>
            <a:ext cx="2561431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3" name="Text: AI VISION &amp; INTERACTIVE AUDIO WORKSTATIO"/>
          <p:cNvSpPr txBox="1"/>
          <p:nvPr/>
        </p:nvSpPr>
        <p:spPr>
          <a:xfrm>
            <a:off x="4920059" y="1859062"/>
            <a:ext cx="2351881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AI VISION &amp; INTERACTIVE AUDIO WORKSTATION</a:t>
            </a:r>
            <a:endParaRPr lang="en-US" sz="750" dirty="0"/>
          </a:p>
        </p:txBody>
      </p:sp>
      <p:sp>
        <p:nvSpPr>
          <p:cNvPr id="4" name="Text: AI 제스처 신디사이저  AuraSynth"/>
          <p:cNvSpPr txBox="1"/>
          <p:nvPr/>
        </p:nvSpPr>
        <p:spPr>
          <a:xfrm>
            <a:off x="2122488" y="2289592"/>
            <a:ext cx="7946926" cy="6426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spc="-15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AI 제스처 신디사이저 </a:t>
            </a:r>
            <a:r>
              <a:rPr lang="en-US" sz="4400" b="1" spc="-154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AuraSynth</a:t>
            </a:r>
            <a:endParaRPr lang="en-US" sz="4400" dirty="0"/>
          </a:p>
        </p:txBody>
      </p:sp>
      <p:sp>
        <p:nvSpPr>
          <p:cNvPr id="5" name="Text: Intel Geti &amp; OpenVINO 기반 21개 손 관절 실시간 인식"/>
          <p:cNvSpPr txBox="1"/>
          <p:nvPr/>
        </p:nvSpPr>
        <p:spPr>
          <a:xfrm>
            <a:off x="2394942" y="3019822"/>
            <a:ext cx="7402116" cy="5891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Intel Geti &amp; OpenVINO 기반 21개 손 관절 실시간 인식 및 멀티 비전 제스처 전자</a:t>
            </a:r>
            <a:br>
              <a:rPr lang="en-US" sz="1600"/>
            </a:br>
            <a:r>
              <a:rPr lang="en-US" sz="160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악기 개발</a:t>
            </a:r>
            <a:endParaRPr lang="en-US" sz="1600" dirty="0"/>
          </a:p>
        </p:txBody>
      </p:sp>
      <p:sp>
        <p:nvSpPr>
          <p:cNvPr id="6" name="Rounded Rectangle"/>
          <p:cNvSpPr/>
          <p:nvPr/>
        </p:nvSpPr>
        <p:spPr>
          <a:xfrm>
            <a:off x="1991221" y="3932138"/>
            <a:ext cx="1988443" cy="238125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6350" cap="flat" cmpd="sng" algn="ctr">
            <a:solidFill>
              <a:srgbClr val="7DD3FC"/>
            </a:solidFill>
            <a:miter lim="800000"/>
          </a:ln>
        </p:spPr>
      </p:sp>
      <p:sp>
        <p:nvSpPr>
          <p:cNvPr id="7" name="Text: 🧪 INTEL GETI™ &amp; OPENVINO™ 2024"/>
          <p:cNvSpPr txBox="1"/>
          <p:nvPr/>
        </p:nvSpPr>
        <p:spPr>
          <a:xfrm>
            <a:off x="2095996" y="3970238"/>
            <a:ext cx="1778893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0284C7"/>
                </a:solidFill>
                <a:latin typeface="Segoe UI"/>
                <a:ea typeface="Segoe UI"/>
                <a:cs typeface="Segoe UI"/>
              </a:rPr>
              <a:t>🧪 INTEL GETI™ &amp; OPENVINO™ 2024</a:t>
            </a:r>
            <a:endParaRPr lang="en-US" sz="750" dirty="0"/>
          </a:p>
        </p:txBody>
      </p:sp>
      <p:sp>
        <p:nvSpPr>
          <p:cNvPr id="8" name="Rounded Rectangle"/>
          <p:cNvSpPr/>
          <p:nvPr/>
        </p:nvSpPr>
        <p:spPr>
          <a:xfrm>
            <a:off x="4087614" y="3932138"/>
            <a:ext cx="2032496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9" name="Text: CUSTOM YOLOV8-POSE (1.8만 장 학습)"/>
          <p:cNvSpPr txBox="1"/>
          <p:nvPr/>
        </p:nvSpPr>
        <p:spPr>
          <a:xfrm>
            <a:off x="4192389" y="3970238"/>
            <a:ext cx="1822946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CUSTOM YOLOV8-POSE (1.8만 장 학습)</a:t>
            </a:r>
            <a:endParaRPr lang="en-US" sz="750" dirty="0"/>
          </a:p>
        </p:txBody>
      </p:sp>
      <p:sp>
        <p:nvSpPr>
          <p:cNvPr id="10" name="Rounded Rectangle"/>
          <p:cNvSpPr/>
          <p:nvPr/>
        </p:nvSpPr>
        <p:spPr>
          <a:xfrm>
            <a:off x="6228060" y="3932138"/>
            <a:ext cx="1870869" cy="238125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6350" cap="flat" cmpd="sng" algn="ctr">
            <a:solidFill>
              <a:srgbClr val="86EFAC"/>
            </a:solidFill>
            <a:miter lim="800000"/>
          </a:ln>
        </p:spPr>
      </p:sp>
      <p:sp>
        <p:nvSpPr>
          <p:cNvPr id="11" name="Text: GOOGLE MEDIAPIPE TASKS VISION"/>
          <p:cNvSpPr txBox="1"/>
          <p:nvPr/>
        </p:nvSpPr>
        <p:spPr>
          <a:xfrm>
            <a:off x="6332835" y="3970238"/>
            <a:ext cx="1661319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16A34A"/>
                </a:solidFill>
                <a:latin typeface="Segoe UI"/>
                <a:ea typeface="Segoe UI"/>
                <a:cs typeface="Segoe UI"/>
              </a:rPr>
              <a:t>GOOGLE MEDIAPIPE TASKS VISION</a:t>
            </a:r>
            <a:endParaRPr lang="en-US" sz="750" dirty="0"/>
          </a:p>
        </p:txBody>
      </p:sp>
      <p:sp>
        <p:nvSpPr>
          <p:cNvPr id="12" name="Rounded Rectangle"/>
          <p:cNvSpPr/>
          <p:nvPr/>
        </p:nvSpPr>
        <p:spPr>
          <a:xfrm>
            <a:off x="8206879" y="3932138"/>
            <a:ext cx="1993801" cy="238125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6350" cap="flat" cmpd="sng" algn="ctr">
            <a:solidFill>
              <a:srgbClr val="FDE68A"/>
            </a:solidFill>
            <a:miter lim="800000"/>
          </a:ln>
        </p:spPr>
      </p:sp>
      <p:sp>
        <p:nvSpPr>
          <p:cNvPr id="13" name="Text: WEB AUDIO API POLYPHONIC SYNTH"/>
          <p:cNvSpPr txBox="1"/>
          <p:nvPr/>
        </p:nvSpPr>
        <p:spPr>
          <a:xfrm>
            <a:off x="8311654" y="3970238"/>
            <a:ext cx="1784251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D97706"/>
                </a:solidFill>
                <a:latin typeface="Segoe UI"/>
                <a:ea typeface="Segoe UI"/>
                <a:cs typeface="Segoe UI"/>
              </a:rPr>
              <a:t>WEB AUDIO API POLYPHONIC SYNTH</a:t>
            </a:r>
            <a:endParaRPr lang="en-US" sz="750" dirty="0"/>
          </a:p>
        </p:txBody>
      </p:sp>
      <p:sp>
        <p:nvSpPr>
          <p:cNvPr id="14" name="Rounded Rectangle"/>
          <p:cNvSpPr/>
          <p:nvPr/>
        </p:nvSpPr>
        <p:spPr>
          <a:xfrm>
            <a:off x="5136455" y="4278213"/>
            <a:ext cx="1918990" cy="238125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6350" cap="flat" cmpd="sng" algn="ctr">
            <a:solidFill>
              <a:srgbClr val="CBD5E1"/>
            </a:solidFill>
            <a:miter lim="800000"/>
          </a:ln>
        </p:spPr>
      </p:sp>
      <p:sp>
        <p:nvSpPr>
          <p:cNvPr id="15" name="Text: ELECTRON STANDALONE APP (.EXE)"/>
          <p:cNvSpPr txBox="1"/>
          <p:nvPr/>
        </p:nvSpPr>
        <p:spPr>
          <a:xfrm>
            <a:off x="5241230" y="4316313"/>
            <a:ext cx="1709440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ELECTRON STANDALONE APP (.EXE)</a:t>
            </a:r>
            <a:endParaRPr lang="en-US" sz="750" dirty="0"/>
          </a:p>
        </p:txBody>
      </p:sp>
      <p:sp>
        <p:nvSpPr>
          <p:cNvPr id="16" name="Text: 박현규"/>
          <p:cNvSpPr txBox="1"/>
          <p:nvPr/>
        </p:nvSpPr>
        <p:spPr>
          <a:xfrm>
            <a:off x="5839916" y="4875113"/>
            <a:ext cx="512068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14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박현규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4175" y="244475"/>
            <a:ext cx="619522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3" name="Text: AGENDA"/>
          <p:cNvSpPr txBox="1"/>
          <p:nvPr/>
        </p:nvSpPr>
        <p:spPr>
          <a:xfrm>
            <a:off x="488950" y="282575"/>
            <a:ext cx="409972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AGENDA</a:t>
            </a:r>
            <a:endParaRPr lang="en-US" sz="750" dirty="0"/>
          </a:p>
        </p:txBody>
      </p:sp>
      <p:sp>
        <p:nvSpPr>
          <p:cNvPr id="4" name="Text: AuraSynth Engine Architecture"/>
          <p:cNvSpPr txBox="1"/>
          <p:nvPr/>
        </p:nvSpPr>
        <p:spPr>
          <a:xfrm>
            <a:off x="1095772" y="265113"/>
            <a:ext cx="1658739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AuraSynth Engine Architecture</a:t>
            </a:r>
            <a:endParaRPr lang="en-US" sz="900" dirty="0"/>
          </a:p>
        </p:txBody>
      </p:sp>
      <p:sp>
        <p:nvSpPr>
          <p:cNvPr id="5" name="Text: 발표 목차 (Table of Contents)"/>
          <p:cNvSpPr txBox="1"/>
          <p:nvPr/>
        </p:nvSpPr>
        <p:spPr>
          <a:xfrm>
            <a:off x="381000" y="555625"/>
            <a:ext cx="4153098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75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발표 목차 (Table of Contents)</a:t>
            </a:r>
            <a:endParaRPr lang="en-US" sz="2500" dirty="0"/>
          </a:p>
        </p:txBody>
      </p:sp>
      <p:sp>
        <p:nvSpPr>
          <p:cNvPr id="6" name="Text: 손동작 인식 원리부터 AI 모델 학습, 그리고 실시간 악기 시스템까지의 "/>
          <p:cNvSpPr txBox="1"/>
          <p:nvPr/>
        </p:nvSpPr>
        <p:spPr>
          <a:xfrm>
            <a:off x="381000" y="948055"/>
            <a:ext cx="5317034" cy="2044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손동작 인식 원리부터 AI 모델 학습, 그리고 실시간 악기 시스템까지의 6단계 순서</a:t>
            </a:r>
            <a:endParaRPr lang="en-US" sz="1150" dirty="0"/>
          </a:p>
        </p:txBody>
      </p:sp>
      <p:sp>
        <p:nvSpPr>
          <p:cNvPr id="7" name="Rounded Rectangle"/>
          <p:cNvSpPr/>
          <p:nvPr/>
        </p:nvSpPr>
        <p:spPr>
          <a:xfrm>
            <a:off x="381000" y="1274366"/>
            <a:ext cx="3699867" cy="2447330"/>
          </a:xfrm>
          <a:prstGeom prst="roundRect">
            <a:avLst>
              <a:gd name="adj" fmla="val 4670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sx="99313" sy="98962" algn="ctr" rotWithShape="0">
              <a:srgbClr val="000000">
                <a:alpha val="5000"/>
              </a:srgbClr>
            </a:outerShdw>
          </a:effectLst>
        </p:spPr>
      </p:sp>
      <p:sp>
        <p:nvSpPr>
          <p:cNvPr id="8" name="Border"/>
          <p:cNvSpPr/>
          <p:nvPr/>
        </p:nvSpPr>
        <p:spPr>
          <a:xfrm>
            <a:off x="381000" y="1274366"/>
            <a:ext cx="3699867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Border"/>
          <p:cNvSpPr/>
          <p:nvPr/>
        </p:nvSpPr>
        <p:spPr>
          <a:xfrm>
            <a:off x="4074517" y="1274366"/>
            <a:ext cx="6350" cy="244733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0" name="Border"/>
          <p:cNvSpPr/>
          <p:nvPr/>
        </p:nvSpPr>
        <p:spPr>
          <a:xfrm>
            <a:off x="381000" y="3715345"/>
            <a:ext cx="3699867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1" name="Border"/>
          <p:cNvSpPr/>
          <p:nvPr/>
        </p:nvSpPr>
        <p:spPr>
          <a:xfrm>
            <a:off x="381000" y="1274366"/>
            <a:ext cx="6350" cy="244733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2" name="Rounded Rectangle"/>
          <p:cNvSpPr/>
          <p:nvPr/>
        </p:nvSpPr>
        <p:spPr>
          <a:xfrm>
            <a:off x="568325" y="1491853"/>
            <a:ext cx="601762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13" name="Text: PART 01"/>
          <p:cNvSpPr txBox="1"/>
          <p:nvPr/>
        </p:nvSpPr>
        <p:spPr>
          <a:xfrm>
            <a:off x="673100" y="1529953"/>
            <a:ext cx="392212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PART 01</a:t>
            </a:r>
            <a:endParaRPr lang="en-US" sz="750" dirty="0"/>
          </a:p>
        </p:txBody>
      </p:sp>
      <p:sp>
        <p:nvSpPr>
          <p:cNvPr id="14" name="Text: 01"/>
          <p:cNvSpPr txBox="1"/>
          <p:nvPr/>
        </p:nvSpPr>
        <p:spPr>
          <a:xfrm>
            <a:off x="3691533" y="1458516"/>
            <a:ext cx="20518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01</a:t>
            </a:r>
            <a:endParaRPr lang="en-US" sz="1400" dirty="0"/>
          </a:p>
        </p:txBody>
      </p:sp>
      <p:sp>
        <p:nvSpPr>
          <p:cNvPr id="15" name="Text: 21개 손 관절 구조와 데이터셋"/>
          <p:cNvSpPr txBox="1"/>
          <p:nvPr/>
        </p:nvSpPr>
        <p:spPr>
          <a:xfrm>
            <a:off x="565150" y="1795066"/>
            <a:ext cx="2058789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21개 손 관절 구조와 데이터셋</a:t>
            </a:r>
            <a:endParaRPr lang="en-US" sz="1200" dirty="0"/>
          </a:p>
        </p:txBody>
      </p:sp>
      <p:sp>
        <p:nvSpPr>
          <p:cNvPr id="16" name="Text: 손목부터 손끝까지 21개 관절 마디 구조와 2.7만 장 표준 데이터 셋의"/>
          <p:cNvSpPr txBox="1"/>
          <p:nvPr/>
        </p:nvSpPr>
        <p:spPr>
          <a:xfrm>
            <a:off x="565150" y="2082105"/>
            <a:ext cx="3248620" cy="365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손목부터 손끝까지 21개 관절 마디 구조와 2.7만 장 표준 데이터</a:t>
            </a:r>
            <a:br>
              <a:rPr lang="en-US" sz="900"/>
            </a:br>
            <a:r>
              <a:rPr lang="en-US" sz="90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셋의 기본 원리</a:t>
            </a:r>
            <a:endParaRPr lang="en-US" sz="900" dirty="0"/>
          </a:p>
        </p:txBody>
      </p:sp>
      <p:sp>
        <p:nvSpPr>
          <p:cNvPr id="17" name="Text: 손 관절 구조 &amp; 데이터셋"/>
          <p:cNvSpPr txBox="1"/>
          <p:nvPr/>
        </p:nvSpPr>
        <p:spPr>
          <a:xfrm>
            <a:off x="565150" y="3397845"/>
            <a:ext cx="1065709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-4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손 관절 구조 &amp; 데이터셋</a:t>
            </a:r>
            <a:endParaRPr lang="en-US" sz="750" dirty="0"/>
          </a:p>
        </p:txBody>
      </p:sp>
      <p:sp>
        <p:nvSpPr>
          <p:cNvPr id="18" name="Rounded Rectangle"/>
          <p:cNvSpPr/>
          <p:nvPr/>
        </p:nvSpPr>
        <p:spPr>
          <a:xfrm>
            <a:off x="4245967" y="1274366"/>
            <a:ext cx="3699966" cy="2447330"/>
          </a:xfrm>
          <a:prstGeom prst="roundRect">
            <a:avLst>
              <a:gd name="adj" fmla="val 4670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sx="99314" sy="98962" algn="ctr" rotWithShape="0">
              <a:srgbClr val="000000">
                <a:alpha val="5000"/>
              </a:srgbClr>
            </a:outerShdw>
          </a:effectLst>
        </p:spPr>
      </p:sp>
      <p:sp>
        <p:nvSpPr>
          <p:cNvPr id="19" name="Border"/>
          <p:cNvSpPr/>
          <p:nvPr/>
        </p:nvSpPr>
        <p:spPr>
          <a:xfrm>
            <a:off x="4245967" y="1274366"/>
            <a:ext cx="3699966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</p:sp>
      <p:sp>
        <p:nvSpPr>
          <p:cNvPr id="20" name="Border"/>
          <p:cNvSpPr/>
          <p:nvPr/>
        </p:nvSpPr>
        <p:spPr>
          <a:xfrm>
            <a:off x="7939584" y="1274366"/>
            <a:ext cx="6350" cy="244733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1" name="Border"/>
          <p:cNvSpPr/>
          <p:nvPr/>
        </p:nvSpPr>
        <p:spPr>
          <a:xfrm>
            <a:off x="4245967" y="3715345"/>
            <a:ext cx="3699966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2" name="Border"/>
          <p:cNvSpPr/>
          <p:nvPr/>
        </p:nvSpPr>
        <p:spPr>
          <a:xfrm>
            <a:off x="4245967" y="1274366"/>
            <a:ext cx="6350" cy="244733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3" name="Rounded Rectangle"/>
          <p:cNvSpPr/>
          <p:nvPr/>
        </p:nvSpPr>
        <p:spPr>
          <a:xfrm>
            <a:off x="4433292" y="1491853"/>
            <a:ext cx="601762" cy="238125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6350" cap="flat" cmpd="sng" algn="ctr">
            <a:solidFill>
              <a:srgbClr val="BAE6FD"/>
            </a:solidFill>
            <a:miter lim="800000"/>
          </a:ln>
        </p:spPr>
      </p:sp>
      <p:sp>
        <p:nvSpPr>
          <p:cNvPr id="24" name="Text: PART 02"/>
          <p:cNvSpPr txBox="1"/>
          <p:nvPr/>
        </p:nvSpPr>
        <p:spPr>
          <a:xfrm>
            <a:off x="4538067" y="1529953"/>
            <a:ext cx="392212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0284C7"/>
                </a:solidFill>
                <a:latin typeface="Segoe UI"/>
                <a:ea typeface="Segoe UI"/>
                <a:cs typeface="Segoe UI"/>
              </a:rPr>
              <a:t>PART 02</a:t>
            </a:r>
            <a:endParaRPr lang="en-US" sz="750" dirty="0"/>
          </a:p>
        </p:txBody>
      </p:sp>
      <p:sp>
        <p:nvSpPr>
          <p:cNvPr id="25" name="Text: 02"/>
          <p:cNvSpPr txBox="1"/>
          <p:nvPr/>
        </p:nvSpPr>
        <p:spPr>
          <a:xfrm>
            <a:off x="7556599" y="1458516"/>
            <a:ext cx="20518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0284C7"/>
                </a:solidFill>
                <a:latin typeface="Segoe UI"/>
                <a:ea typeface="Segoe UI"/>
                <a:cs typeface="Segoe UI"/>
              </a:rPr>
              <a:t>02</a:t>
            </a:r>
            <a:endParaRPr lang="en-US" sz="1400" dirty="0"/>
          </a:p>
        </p:txBody>
      </p:sp>
      <p:sp>
        <p:nvSpPr>
          <p:cNvPr id="26" name="Text: 학습 플랫폼 오류와 모델 구축 방향"/>
          <p:cNvSpPr txBox="1"/>
          <p:nvPr/>
        </p:nvSpPr>
        <p:spPr>
          <a:xfrm>
            <a:off x="4430117" y="1795066"/>
            <a:ext cx="239186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학습 플랫폼 오류와 모델 구축 방향</a:t>
            </a:r>
            <a:endParaRPr lang="en-US" sz="1200" dirty="0"/>
          </a:p>
        </p:txBody>
      </p:sp>
      <p:sp>
        <p:nvSpPr>
          <p:cNvPr id="27" name="Text: 인텔 Geti의 데이터 임포트 오류 규명과, 이를 극복하기 위해 수작 업"/>
          <p:cNvSpPr txBox="1"/>
          <p:nvPr/>
        </p:nvSpPr>
        <p:spPr>
          <a:xfrm>
            <a:off x="4430117" y="2082105"/>
            <a:ext cx="3319463" cy="365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인텔 Geti의 데이터 임포트 오류 규명과, 이를 극복하기 위해 수작</a:t>
            </a:r>
            <a:br>
              <a:rPr lang="en-US" sz="900"/>
            </a:br>
            <a:r>
              <a:rPr lang="en-US" sz="90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업·터미널·구글 3가지 모델을 구축한 방향</a:t>
            </a:r>
            <a:endParaRPr lang="en-US" sz="900" dirty="0"/>
          </a:p>
        </p:txBody>
      </p:sp>
      <p:sp>
        <p:nvSpPr>
          <p:cNvPr id="28" name="Text: 라벨 유실 규명 &amp; 3대 모델 전략"/>
          <p:cNvSpPr txBox="1"/>
          <p:nvPr/>
        </p:nvSpPr>
        <p:spPr>
          <a:xfrm>
            <a:off x="4430117" y="3397845"/>
            <a:ext cx="1375866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-4" dirty="0">
                <a:solidFill>
                  <a:srgbClr val="0284C7"/>
                </a:solidFill>
                <a:latin typeface="Segoe UI"/>
                <a:ea typeface="Segoe UI"/>
                <a:cs typeface="Segoe UI"/>
              </a:rPr>
              <a:t>라벨 유실 규명 &amp; 3대 모델 전략</a:t>
            </a:r>
            <a:endParaRPr lang="en-US" sz="750" dirty="0"/>
          </a:p>
        </p:txBody>
      </p:sp>
      <p:sp>
        <p:nvSpPr>
          <p:cNvPr id="29" name="Rounded Rectangle"/>
          <p:cNvSpPr/>
          <p:nvPr/>
        </p:nvSpPr>
        <p:spPr>
          <a:xfrm>
            <a:off x="8111034" y="1274366"/>
            <a:ext cx="3699966" cy="2447330"/>
          </a:xfrm>
          <a:prstGeom prst="roundRect">
            <a:avLst>
              <a:gd name="adj" fmla="val 4670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sx="99314" sy="98962" algn="ctr" rotWithShape="0">
              <a:srgbClr val="000000">
                <a:alpha val="5000"/>
              </a:srgbClr>
            </a:outerShdw>
          </a:effectLst>
        </p:spPr>
      </p:sp>
      <p:sp>
        <p:nvSpPr>
          <p:cNvPr id="30" name="Border"/>
          <p:cNvSpPr/>
          <p:nvPr/>
        </p:nvSpPr>
        <p:spPr>
          <a:xfrm>
            <a:off x="8111034" y="1274366"/>
            <a:ext cx="3699966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31" name="Border"/>
          <p:cNvSpPr/>
          <p:nvPr/>
        </p:nvSpPr>
        <p:spPr>
          <a:xfrm>
            <a:off x="11804650" y="1274366"/>
            <a:ext cx="6350" cy="244733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2" name="Border"/>
          <p:cNvSpPr/>
          <p:nvPr/>
        </p:nvSpPr>
        <p:spPr>
          <a:xfrm>
            <a:off x="8111034" y="3715345"/>
            <a:ext cx="3699966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3" name="Border"/>
          <p:cNvSpPr/>
          <p:nvPr/>
        </p:nvSpPr>
        <p:spPr>
          <a:xfrm>
            <a:off x="8111034" y="1274366"/>
            <a:ext cx="6350" cy="244733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4" name="Rounded Rectangle"/>
          <p:cNvSpPr/>
          <p:nvPr/>
        </p:nvSpPr>
        <p:spPr>
          <a:xfrm>
            <a:off x="8298359" y="1491853"/>
            <a:ext cx="601762" cy="238125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 cap="flat" cmpd="sng" algn="ctr">
            <a:solidFill>
              <a:srgbClr val="86EFAC"/>
            </a:solidFill>
            <a:miter lim="800000"/>
          </a:ln>
        </p:spPr>
      </p:sp>
      <p:sp>
        <p:nvSpPr>
          <p:cNvPr id="35" name="Text: PART 03"/>
          <p:cNvSpPr txBox="1"/>
          <p:nvPr/>
        </p:nvSpPr>
        <p:spPr>
          <a:xfrm>
            <a:off x="8403134" y="1529953"/>
            <a:ext cx="392212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059669"/>
                </a:solidFill>
                <a:latin typeface="Segoe UI"/>
                <a:ea typeface="Segoe UI"/>
                <a:cs typeface="Segoe UI"/>
              </a:rPr>
              <a:t>PART 03</a:t>
            </a:r>
            <a:endParaRPr lang="en-US" sz="750" dirty="0"/>
          </a:p>
        </p:txBody>
      </p:sp>
      <p:sp>
        <p:nvSpPr>
          <p:cNvPr id="36" name="Text: 03"/>
          <p:cNvSpPr txBox="1"/>
          <p:nvPr/>
        </p:nvSpPr>
        <p:spPr>
          <a:xfrm>
            <a:off x="11421666" y="1458516"/>
            <a:ext cx="20518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059669"/>
                </a:solidFill>
                <a:latin typeface="Segoe UI"/>
                <a:ea typeface="Segoe UI"/>
                <a:cs typeface="Segoe UI"/>
              </a:rPr>
              <a:t>03</a:t>
            </a:r>
            <a:endParaRPr lang="en-US" sz="1400" dirty="0"/>
          </a:p>
        </p:txBody>
      </p:sp>
      <p:sp>
        <p:nvSpPr>
          <p:cNvPr id="37" name="Text: 3가지 AI 모델 성능 비교"/>
          <p:cNvSpPr txBox="1"/>
          <p:nvPr/>
        </p:nvSpPr>
        <p:spPr>
          <a:xfrm>
            <a:off x="8295184" y="1795066"/>
            <a:ext cx="166876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3가지 AI 모델 성능 비교</a:t>
            </a:r>
            <a:endParaRPr lang="en-US" sz="1200" dirty="0"/>
          </a:p>
        </p:txBody>
      </p:sp>
      <p:sp>
        <p:nvSpPr>
          <p:cNvPr id="38" name="Text: 28장 수작업 모델 vs 1.8만 장 직접 학습 모델 vs 구글 미디어파"/>
          <p:cNvSpPr txBox="1"/>
          <p:nvPr/>
        </p:nvSpPr>
        <p:spPr>
          <a:xfrm>
            <a:off x="8295184" y="2082105"/>
            <a:ext cx="3308747" cy="365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28장 수작업 모델 vs 1.8만 장 직접 학습 모델 vs 구글 미디어파이</a:t>
            </a:r>
            <a:br>
              <a:rPr lang="en-US" sz="900"/>
            </a:br>
            <a:r>
              <a:rPr lang="en-US" sz="90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프의 인식률과 속도 비교</a:t>
            </a:r>
            <a:endParaRPr lang="en-US" sz="900" dirty="0"/>
          </a:p>
        </p:txBody>
      </p:sp>
      <p:sp>
        <p:nvSpPr>
          <p:cNvPr id="39" name="Text: 3가지 AI 모델 스펙 비교"/>
          <p:cNvSpPr txBox="1"/>
          <p:nvPr/>
        </p:nvSpPr>
        <p:spPr>
          <a:xfrm>
            <a:off x="8295184" y="3397845"/>
            <a:ext cx="1040110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-4" dirty="0">
                <a:solidFill>
                  <a:srgbClr val="059669"/>
                </a:solidFill>
                <a:latin typeface="Segoe UI"/>
                <a:ea typeface="Segoe UI"/>
                <a:cs typeface="Segoe UI"/>
              </a:rPr>
              <a:t>3가지 AI 모델 스펙 비교</a:t>
            </a:r>
            <a:endParaRPr lang="en-US" sz="750" dirty="0"/>
          </a:p>
        </p:txBody>
      </p:sp>
      <p:sp>
        <p:nvSpPr>
          <p:cNvPr id="40" name="Rounded Rectangle"/>
          <p:cNvSpPr/>
          <p:nvPr/>
        </p:nvSpPr>
        <p:spPr>
          <a:xfrm>
            <a:off x="381000" y="3886795"/>
            <a:ext cx="3699867" cy="2447330"/>
          </a:xfrm>
          <a:prstGeom prst="roundRect">
            <a:avLst>
              <a:gd name="adj" fmla="val 4670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sx="99313" sy="98962" algn="ctr" rotWithShape="0">
              <a:srgbClr val="000000">
                <a:alpha val="5000"/>
              </a:srgbClr>
            </a:outerShdw>
          </a:effectLst>
        </p:spPr>
      </p:sp>
      <p:sp>
        <p:nvSpPr>
          <p:cNvPr id="41" name="Border"/>
          <p:cNvSpPr/>
          <p:nvPr/>
        </p:nvSpPr>
        <p:spPr>
          <a:xfrm>
            <a:off x="381000" y="3886795"/>
            <a:ext cx="3699867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2" name="Border"/>
          <p:cNvSpPr/>
          <p:nvPr/>
        </p:nvSpPr>
        <p:spPr>
          <a:xfrm>
            <a:off x="4074517" y="3886795"/>
            <a:ext cx="6350" cy="244733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3" name="Border"/>
          <p:cNvSpPr/>
          <p:nvPr/>
        </p:nvSpPr>
        <p:spPr>
          <a:xfrm>
            <a:off x="381000" y="6327775"/>
            <a:ext cx="3699867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4" name="Border"/>
          <p:cNvSpPr/>
          <p:nvPr/>
        </p:nvSpPr>
        <p:spPr>
          <a:xfrm>
            <a:off x="381000" y="3886795"/>
            <a:ext cx="6350" cy="244733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5" name="Rounded Rectangle"/>
          <p:cNvSpPr/>
          <p:nvPr/>
        </p:nvSpPr>
        <p:spPr>
          <a:xfrm>
            <a:off x="568325" y="4104283"/>
            <a:ext cx="601762" cy="238125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6350" cap="flat" cmpd="sng" algn="ctr">
            <a:solidFill>
              <a:srgbClr val="FDE68A"/>
            </a:solidFill>
            <a:miter lim="800000"/>
          </a:ln>
        </p:spPr>
      </p:sp>
      <p:sp>
        <p:nvSpPr>
          <p:cNvPr id="46" name="Text: PART 04"/>
          <p:cNvSpPr txBox="1"/>
          <p:nvPr/>
        </p:nvSpPr>
        <p:spPr>
          <a:xfrm>
            <a:off x="673100" y="4142383"/>
            <a:ext cx="392212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D97706"/>
                </a:solidFill>
                <a:latin typeface="Segoe UI"/>
                <a:ea typeface="Segoe UI"/>
                <a:cs typeface="Segoe UI"/>
              </a:rPr>
              <a:t>PART 04</a:t>
            </a:r>
            <a:endParaRPr lang="en-US" sz="750" dirty="0"/>
          </a:p>
        </p:txBody>
      </p:sp>
      <p:sp>
        <p:nvSpPr>
          <p:cNvPr id="47" name="Text: 04"/>
          <p:cNvSpPr txBox="1"/>
          <p:nvPr/>
        </p:nvSpPr>
        <p:spPr>
          <a:xfrm>
            <a:off x="3691533" y="4070945"/>
            <a:ext cx="20518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D97706"/>
                </a:solidFill>
                <a:latin typeface="Segoe UI"/>
                <a:ea typeface="Segoe UI"/>
                <a:cs typeface="Segoe UI"/>
              </a:rPr>
              <a:t>04</a:t>
            </a:r>
            <a:endParaRPr lang="en-US" sz="1400" dirty="0"/>
          </a:p>
        </p:txBody>
      </p:sp>
      <p:sp>
        <p:nvSpPr>
          <p:cNvPr id="48" name="Text: 각 모델별 실전 추론 결과 &amp; 분석"/>
          <p:cNvSpPr txBox="1"/>
          <p:nvPr/>
        </p:nvSpPr>
        <p:spPr>
          <a:xfrm>
            <a:off x="565150" y="4407495"/>
            <a:ext cx="227121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각 모델별 실전 추론 결과 &amp; 분석</a:t>
            </a:r>
            <a:endParaRPr lang="en-US" sz="1200" dirty="0"/>
          </a:p>
        </p:txBody>
      </p:sp>
      <p:sp>
        <p:nvSpPr>
          <p:cNvPr id="49" name="Text: 게티 모델의 94% 점수 이면과 유령 관절, 그리고 3대 모델의 실제 추"/>
          <p:cNvSpPr txBox="1"/>
          <p:nvPr/>
        </p:nvSpPr>
        <p:spPr>
          <a:xfrm>
            <a:off x="565150" y="4694535"/>
            <a:ext cx="3320951" cy="365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게티 모델의 94% 점수 이면과 유령 관절, 그리고 3대 모델의 실제</a:t>
            </a:r>
            <a:br>
              <a:rPr lang="en-US" sz="900"/>
            </a:br>
            <a:r>
              <a:rPr lang="en-US" sz="90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추론 양상 비교</a:t>
            </a:r>
            <a:endParaRPr lang="en-US" sz="900" dirty="0"/>
          </a:p>
        </p:txBody>
      </p:sp>
      <p:sp>
        <p:nvSpPr>
          <p:cNvPr id="50" name="Text: 모델별 실전 결과 &amp; 점수의 진실"/>
          <p:cNvSpPr txBox="1"/>
          <p:nvPr/>
        </p:nvSpPr>
        <p:spPr>
          <a:xfrm>
            <a:off x="565150" y="6010275"/>
            <a:ext cx="1383010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-4" dirty="0">
                <a:solidFill>
                  <a:srgbClr val="D97706"/>
                </a:solidFill>
                <a:latin typeface="Segoe UI"/>
                <a:ea typeface="Segoe UI"/>
                <a:cs typeface="Segoe UI"/>
              </a:rPr>
              <a:t>모델별 실전 결과 &amp; 점수의 진실</a:t>
            </a:r>
            <a:endParaRPr lang="en-US" sz="750" dirty="0"/>
          </a:p>
        </p:txBody>
      </p:sp>
      <p:sp>
        <p:nvSpPr>
          <p:cNvPr id="51" name="Rounded Rectangle"/>
          <p:cNvSpPr/>
          <p:nvPr/>
        </p:nvSpPr>
        <p:spPr>
          <a:xfrm>
            <a:off x="4245967" y="3886795"/>
            <a:ext cx="3699966" cy="2447330"/>
          </a:xfrm>
          <a:prstGeom prst="roundRect">
            <a:avLst>
              <a:gd name="adj" fmla="val 4670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sx="99314" sy="98962" algn="ctr" rotWithShape="0">
              <a:srgbClr val="000000">
                <a:alpha val="5000"/>
              </a:srgbClr>
            </a:outerShdw>
          </a:effectLst>
        </p:spPr>
      </p:sp>
      <p:sp>
        <p:nvSpPr>
          <p:cNvPr id="52" name="Border"/>
          <p:cNvSpPr/>
          <p:nvPr/>
        </p:nvSpPr>
        <p:spPr>
          <a:xfrm>
            <a:off x="4245967" y="3886795"/>
            <a:ext cx="3699966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53" name="Border"/>
          <p:cNvSpPr/>
          <p:nvPr/>
        </p:nvSpPr>
        <p:spPr>
          <a:xfrm>
            <a:off x="7939584" y="3886795"/>
            <a:ext cx="6350" cy="244733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4" name="Border"/>
          <p:cNvSpPr/>
          <p:nvPr/>
        </p:nvSpPr>
        <p:spPr>
          <a:xfrm>
            <a:off x="4245967" y="6327775"/>
            <a:ext cx="3699966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5" name="Border"/>
          <p:cNvSpPr/>
          <p:nvPr/>
        </p:nvSpPr>
        <p:spPr>
          <a:xfrm>
            <a:off x="4245967" y="3886795"/>
            <a:ext cx="6350" cy="244733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6" name="Rounded Rectangle"/>
          <p:cNvSpPr/>
          <p:nvPr/>
        </p:nvSpPr>
        <p:spPr>
          <a:xfrm>
            <a:off x="4433292" y="4104283"/>
            <a:ext cx="601762" cy="238125"/>
          </a:xfrm>
          <a:prstGeom prst="roundRect">
            <a:avLst>
              <a:gd name="adj" fmla="val 20000"/>
            </a:avLst>
          </a:prstGeom>
          <a:solidFill>
            <a:srgbClr val="F3E8FF"/>
          </a:solidFill>
          <a:ln w="6350" cap="flat" cmpd="sng" algn="ctr">
            <a:solidFill>
              <a:srgbClr val="D8B4FE"/>
            </a:solidFill>
            <a:miter lim="800000"/>
          </a:ln>
        </p:spPr>
      </p:sp>
      <p:sp>
        <p:nvSpPr>
          <p:cNvPr id="57" name="Text: PART 05"/>
          <p:cNvSpPr txBox="1"/>
          <p:nvPr/>
        </p:nvSpPr>
        <p:spPr>
          <a:xfrm>
            <a:off x="4538067" y="4142383"/>
            <a:ext cx="392212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7C3AED"/>
                </a:solidFill>
                <a:latin typeface="Segoe UI"/>
                <a:ea typeface="Segoe UI"/>
                <a:cs typeface="Segoe UI"/>
              </a:rPr>
              <a:t>PART 05</a:t>
            </a:r>
            <a:endParaRPr lang="en-US" sz="750" dirty="0"/>
          </a:p>
        </p:txBody>
      </p:sp>
      <p:sp>
        <p:nvSpPr>
          <p:cNvPr id="58" name="Text: 05"/>
          <p:cNvSpPr txBox="1"/>
          <p:nvPr/>
        </p:nvSpPr>
        <p:spPr>
          <a:xfrm>
            <a:off x="7556599" y="4070945"/>
            <a:ext cx="20518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7C3AED"/>
                </a:solidFill>
                <a:latin typeface="Segoe UI"/>
                <a:ea typeface="Segoe UI"/>
                <a:cs typeface="Segoe UI"/>
              </a:rPr>
              <a:t>05</a:t>
            </a:r>
            <a:endParaRPr lang="en-US" sz="1400" dirty="0"/>
          </a:p>
        </p:txBody>
      </p:sp>
      <p:sp>
        <p:nvSpPr>
          <p:cNvPr id="59" name="Text: 손 제스처 음악 변환과 실시간 악기"/>
          <p:cNvSpPr txBox="1"/>
          <p:nvPr/>
        </p:nvSpPr>
        <p:spPr>
          <a:xfrm>
            <a:off x="4430117" y="4407495"/>
            <a:ext cx="239186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손 제스처 음악 변환과 실시간 악기</a:t>
            </a:r>
            <a:endParaRPr lang="en-US" sz="1200" dirty="0"/>
          </a:p>
        </p:txBody>
      </p:sp>
      <p:sp>
        <p:nvSpPr>
          <p:cNvPr id="60" name="Text: 손가락 펴짐/접힘 조합으로 피아노 코드를 연주하고, 오른손으로 볼륨과 음"/>
          <p:cNvSpPr txBox="1"/>
          <p:nvPr/>
        </p:nvSpPr>
        <p:spPr>
          <a:xfrm>
            <a:off x="4430117" y="4694535"/>
            <a:ext cx="3265984" cy="365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손가락 펴짐/접힘 조합으로 피아노 코드를 연주하고, 오른손으로</a:t>
            </a:r>
            <a:br>
              <a:rPr lang="en-US" sz="900"/>
            </a:br>
            <a:r>
              <a:rPr lang="en-US" sz="90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볼륨과 음색을 실시간 제어</a:t>
            </a:r>
            <a:endParaRPr lang="en-US" sz="900" dirty="0"/>
          </a:p>
        </p:txBody>
      </p:sp>
      <p:sp>
        <p:nvSpPr>
          <p:cNvPr id="61" name="Text: 제스처 코드 매핑 &amp; 악기 연주"/>
          <p:cNvSpPr txBox="1"/>
          <p:nvPr/>
        </p:nvSpPr>
        <p:spPr>
          <a:xfrm>
            <a:off x="4430117" y="6010275"/>
            <a:ext cx="1288256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-4" dirty="0">
                <a:solidFill>
                  <a:srgbClr val="7C3AED"/>
                </a:solidFill>
                <a:latin typeface="Segoe UI"/>
                <a:ea typeface="Segoe UI"/>
                <a:cs typeface="Segoe UI"/>
              </a:rPr>
              <a:t>제스처 코드 매핑 &amp; 악기 연주</a:t>
            </a:r>
            <a:endParaRPr lang="en-US" sz="750" dirty="0"/>
          </a:p>
        </p:txBody>
      </p:sp>
      <p:sp>
        <p:nvSpPr>
          <p:cNvPr id="62" name="Rounded Rectangle"/>
          <p:cNvSpPr/>
          <p:nvPr/>
        </p:nvSpPr>
        <p:spPr>
          <a:xfrm>
            <a:off x="8111034" y="3886795"/>
            <a:ext cx="3699966" cy="2447330"/>
          </a:xfrm>
          <a:prstGeom prst="roundRect">
            <a:avLst>
              <a:gd name="adj" fmla="val 4670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sx="99314" sy="98962" algn="ctr" rotWithShape="0">
              <a:srgbClr val="000000">
                <a:alpha val="5000"/>
              </a:srgbClr>
            </a:outerShdw>
          </a:effectLst>
        </p:spPr>
      </p:sp>
      <p:sp>
        <p:nvSpPr>
          <p:cNvPr id="63" name="Border"/>
          <p:cNvSpPr/>
          <p:nvPr/>
        </p:nvSpPr>
        <p:spPr>
          <a:xfrm>
            <a:off x="8111034" y="3886795"/>
            <a:ext cx="3699966" cy="38100"/>
          </a:xfrm>
          <a:prstGeom prst="rect">
            <a:avLst/>
          </a:prstGeom>
          <a:solidFill>
            <a:srgbClr val="475569"/>
          </a:solidFill>
          <a:ln>
            <a:noFill/>
          </a:ln>
        </p:spPr>
      </p:sp>
      <p:sp>
        <p:nvSpPr>
          <p:cNvPr id="64" name="Border"/>
          <p:cNvSpPr/>
          <p:nvPr/>
        </p:nvSpPr>
        <p:spPr>
          <a:xfrm>
            <a:off x="11804650" y="3886795"/>
            <a:ext cx="6350" cy="244733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5" name="Border"/>
          <p:cNvSpPr/>
          <p:nvPr/>
        </p:nvSpPr>
        <p:spPr>
          <a:xfrm>
            <a:off x="8111034" y="6327775"/>
            <a:ext cx="3699966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6" name="Border"/>
          <p:cNvSpPr/>
          <p:nvPr/>
        </p:nvSpPr>
        <p:spPr>
          <a:xfrm>
            <a:off x="8111034" y="3886795"/>
            <a:ext cx="6350" cy="244733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7" name="Rounded Rectangle"/>
          <p:cNvSpPr/>
          <p:nvPr/>
        </p:nvSpPr>
        <p:spPr>
          <a:xfrm>
            <a:off x="8298359" y="4104283"/>
            <a:ext cx="601762" cy="238125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6350" cap="flat" cmpd="sng" algn="ctr">
            <a:solidFill>
              <a:srgbClr val="CBD5E1"/>
            </a:solidFill>
            <a:miter lim="800000"/>
          </a:ln>
        </p:spPr>
      </p:sp>
      <p:sp>
        <p:nvSpPr>
          <p:cNvPr id="68" name="Text: PART 06"/>
          <p:cNvSpPr txBox="1"/>
          <p:nvPr/>
        </p:nvSpPr>
        <p:spPr>
          <a:xfrm>
            <a:off x="8403134" y="4142383"/>
            <a:ext cx="392212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PART 06</a:t>
            </a:r>
            <a:endParaRPr lang="en-US" sz="750" dirty="0"/>
          </a:p>
        </p:txBody>
      </p:sp>
      <p:sp>
        <p:nvSpPr>
          <p:cNvPr id="69" name="Text: 06"/>
          <p:cNvSpPr txBox="1"/>
          <p:nvPr/>
        </p:nvSpPr>
        <p:spPr>
          <a:xfrm>
            <a:off x="11421666" y="4070945"/>
            <a:ext cx="20518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06</a:t>
            </a:r>
            <a:endParaRPr lang="en-US" sz="1400" dirty="0"/>
          </a:p>
        </p:txBody>
      </p:sp>
      <p:sp>
        <p:nvSpPr>
          <p:cNvPr id="70" name="Text: Intel Geti &amp; OpenVINO 핵심 성과"/>
          <p:cNvSpPr txBox="1"/>
          <p:nvPr/>
        </p:nvSpPr>
        <p:spPr>
          <a:xfrm>
            <a:off x="8295184" y="4407495"/>
            <a:ext cx="239186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Intel Geti &amp; OpenVINO 핵심 성과</a:t>
            </a:r>
            <a:endParaRPr lang="en-US" sz="1200" dirty="0"/>
          </a:p>
        </p:txBody>
      </p:sp>
      <p:sp>
        <p:nvSpPr>
          <p:cNvPr id="71" name="Text: Intel Geti 노코드 훈련 경험과 OpenVINO GPU 가속 최적"/>
          <p:cNvSpPr txBox="1"/>
          <p:nvPr/>
        </p:nvSpPr>
        <p:spPr>
          <a:xfrm>
            <a:off x="8295184" y="4694535"/>
            <a:ext cx="3301206" cy="365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Intel Geti 노코드 훈련 경험과 OpenVINO GPU 가속 최적화, 그리</a:t>
            </a:r>
            <a:br>
              <a:rPr lang="en-US" sz="900"/>
            </a:br>
            <a:r>
              <a:rPr lang="en-US" sz="90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고 실시간 악기 완성까지의 엔지니어링 결론</a:t>
            </a:r>
            <a:endParaRPr lang="en-US" sz="900" dirty="0"/>
          </a:p>
        </p:txBody>
      </p:sp>
      <p:sp>
        <p:nvSpPr>
          <p:cNvPr id="72" name="Text: Geti &amp; OpenVINO 성과 및 고찰"/>
          <p:cNvSpPr txBox="1"/>
          <p:nvPr/>
        </p:nvSpPr>
        <p:spPr>
          <a:xfrm>
            <a:off x="8295184" y="6010275"/>
            <a:ext cx="1384895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Geti &amp; OpenVINO 성과 및 고찰</a:t>
            </a:r>
            <a:endParaRPr lang="en-US" sz="750" dirty="0"/>
          </a:p>
        </p:txBody>
      </p:sp>
      <p:sp>
        <p:nvSpPr>
          <p:cNvPr id="73" name="Border"/>
          <p:cNvSpPr/>
          <p:nvPr/>
        </p:nvSpPr>
        <p:spPr>
          <a:xfrm>
            <a:off x="381000" y="6334125"/>
            <a:ext cx="11430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4" name="Text: AuraSynth: Computer Vision &amp; Interactive"/>
          <p:cNvSpPr txBox="1"/>
          <p:nvPr/>
        </p:nvSpPr>
        <p:spPr>
          <a:xfrm>
            <a:off x="381000" y="6451600"/>
            <a:ext cx="3247628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AuraSynth: Computer Vision &amp; Interactive Web Audio Research</a:t>
            </a:r>
            <a:endParaRPr lang="en-US" sz="850" dirty="0"/>
          </a:p>
        </p:txBody>
      </p:sp>
      <p:sp>
        <p:nvSpPr>
          <p:cNvPr id="75" name="Rounded Rectangle"/>
          <p:cNvSpPr/>
          <p:nvPr/>
        </p:nvSpPr>
        <p:spPr>
          <a:xfrm>
            <a:off x="11237714" y="6429375"/>
            <a:ext cx="573286" cy="225425"/>
          </a:xfrm>
          <a:prstGeom prst="roundRect">
            <a:avLst>
              <a:gd name="adj" fmla="val 22535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76" name="Text: 02 / 12"/>
          <p:cNvSpPr txBox="1"/>
          <p:nvPr/>
        </p:nvSpPr>
        <p:spPr>
          <a:xfrm>
            <a:off x="11339314" y="6451600"/>
            <a:ext cx="37008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02 / 12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4175" y="244475"/>
            <a:ext cx="1681163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3" name="Text: PART 01 • 관절 구조 &amp; 데이터셋"/>
          <p:cNvSpPr txBox="1"/>
          <p:nvPr/>
        </p:nvSpPr>
        <p:spPr>
          <a:xfrm>
            <a:off x="488950" y="282575"/>
            <a:ext cx="1471613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PART 01 • 관절 구조 &amp; 데이터셋</a:t>
            </a:r>
            <a:endParaRPr lang="en-US" sz="750" dirty="0"/>
          </a:p>
        </p:txBody>
      </p:sp>
      <p:sp>
        <p:nvSpPr>
          <p:cNvPr id="4" name="Text: AuraSynth Engine Architecture"/>
          <p:cNvSpPr txBox="1"/>
          <p:nvPr/>
        </p:nvSpPr>
        <p:spPr>
          <a:xfrm>
            <a:off x="2157413" y="265113"/>
            <a:ext cx="1658739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AuraSynth Engine Architecture</a:t>
            </a:r>
            <a:endParaRPr lang="en-US" sz="900" dirty="0"/>
          </a:p>
        </p:txBody>
      </p:sp>
      <p:sp>
        <p:nvSpPr>
          <p:cNvPr id="5" name="Text: 21개 손 관절 구조와 데이터셋"/>
          <p:cNvSpPr txBox="1"/>
          <p:nvPr/>
        </p:nvSpPr>
        <p:spPr>
          <a:xfrm>
            <a:off x="381000" y="555625"/>
            <a:ext cx="4145161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75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21개 손 관절 구조와 데이터셋</a:t>
            </a:r>
            <a:endParaRPr lang="en-US" sz="2500" dirty="0"/>
          </a:p>
        </p:txBody>
      </p:sp>
      <p:sp>
        <p:nvSpPr>
          <p:cNvPr id="6" name="Text: 손목(0번)부터 손끝(20번)까지의 21개 관절 마디 구조와 2.7만 장"/>
          <p:cNvSpPr txBox="1"/>
          <p:nvPr/>
        </p:nvSpPr>
        <p:spPr>
          <a:xfrm>
            <a:off x="381000" y="948055"/>
            <a:ext cx="5641677" cy="2044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손목(0번)부터 손끝(20번)까지의 21개 관절 마디 구조와 2.7만 장 글로벌 표준 데이터셋</a:t>
            </a:r>
            <a:endParaRPr lang="en-US" sz="1150" dirty="0"/>
          </a:p>
        </p:txBody>
      </p:sp>
      <p:sp>
        <p:nvSpPr>
          <p:cNvPr id="7" name="Rounded Rectangle"/>
          <p:cNvSpPr/>
          <p:nvPr/>
        </p:nvSpPr>
        <p:spPr>
          <a:xfrm>
            <a:off x="384175" y="1277541"/>
            <a:ext cx="6110387" cy="5053409"/>
          </a:xfrm>
          <a:prstGeom prst="roundRect">
            <a:avLst>
              <a:gd name="adj" fmla="val 2199"/>
            </a:avLst>
          </a:prstGeom>
          <a:solidFill>
            <a:srgbClr val="FFFFFF"/>
          </a:solidFill>
          <a:ln w="6350" cap="flat" cmpd="sng" algn="ctr">
            <a:solidFill>
              <a:srgbClr val="E2E8F0"/>
            </a:solidFill>
            <a:miter lim="800000"/>
          </a:ln>
          <a:effectLst>
            <a:outerShdw blurRad="101600" dist="50800" dir="5400000" sx="99584" sy="99497" algn="ctr" rotWithShape="0">
              <a:srgbClr val="000000">
                <a:alpha val="5000"/>
              </a:srgbClr>
            </a:outerShdw>
          </a:effectLst>
        </p:spPr>
      </p:sp>
      <p:sp>
        <p:nvSpPr>
          <p:cNvPr id="8" name="Rounded Rectangle"/>
          <p:cNvSpPr/>
          <p:nvPr/>
        </p:nvSpPr>
        <p:spPr>
          <a:xfrm>
            <a:off x="581025" y="1436291"/>
            <a:ext cx="5716687" cy="4445397"/>
          </a:xfrm>
          <a:prstGeom prst="roundRect">
            <a:avLst>
              <a:gd name="adj" fmla="val 2214"/>
            </a:avLst>
          </a:prstGeom>
          <a:solidFill>
            <a:srgbClr val="F8FAFC"/>
          </a:solidFill>
          <a:ln w="6350" cap="flat" cmpd="sng" algn="ctr">
            <a:solidFill>
              <a:srgbClr val="E2E8F0"/>
            </a:solidFill>
            <a:miter lim="800000"/>
          </a:ln>
        </p:spPr>
      </p:sp>
      <p:pic>
        <p:nvPicPr>
          <p:cNvPr id="9" name="Image: 21 Hand Keypoint Landmark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41" y="2651423"/>
            <a:ext cx="5507055" cy="2015034"/>
          </a:xfrm>
          <a:prstGeom prst="rect">
            <a:avLst/>
          </a:prstGeom>
          <a:ln>
            <a:noFill/>
          </a:ln>
        </p:spPr>
      </p:pic>
      <p:sp>
        <p:nvSpPr>
          <p:cNvPr id="10" name="Text: 21개 손 관절(Keypoint) 표준 해부학 매핑. 출처: Resear"/>
          <p:cNvSpPr txBox="1"/>
          <p:nvPr/>
        </p:nvSpPr>
        <p:spPr>
          <a:xfrm>
            <a:off x="1777008" y="5981700"/>
            <a:ext cx="3324721" cy="1762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5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21개 손 관절(Keypoint) 표준 해부학 매핑. 출처: ResearchGate</a:t>
            </a:r>
            <a:endParaRPr lang="en-US" sz="925" dirty="0"/>
          </a:p>
        </p:txBody>
      </p:sp>
      <p:sp>
        <p:nvSpPr>
          <p:cNvPr id="11" name="Rounded Rectangle"/>
          <p:cNvSpPr/>
          <p:nvPr/>
        </p:nvSpPr>
        <p:spPr>
          <a:xfrm>
            <a:off x="6713637" y="2054423"/>
            <a:ext cx="5097264" cy="1660922"/>
          </a:xfrm>
          <a:prstGeom prst="roundRect">
            <a:avLst>
              <a:gd name="adj" fmla="val 6882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sx="99502" sy="98471" algn="ctr" rotWithShape="0">
              <a:srgbClr val="000000">
                <a:alpha val="5000"/>
              </a:srgbClr>
            </a:outerShdw>
          </a:effectLst>
        </p:spPr>
      </p:sp>
      <p:sp>
        <p:nvSpPr>
          <p:cNvPr id="12" name="Border"/>
          <p:cNvSpPr/>
          <p:nvPr/>
        </p:nvSpPr>
        <p:spPr>
          <a:xfrm>
            <a:off x="6713637" y="2054423"/>
            <a:ext cx="5097264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3" name="Border"/>
          <p:cNvSpPr/>
          <p:nvPr/>
        </p:nvSpPr>
        <p:spPr>
          <a:xfrm>
            <a:off x="11804551" y="2054423"/>
            <a:ext cx="6350" cy="1660922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4" name="Border"/>
          <p:cNvSpPr/>
          <p:nvPr/>
        </p:nvSpPr>
        <p:spPr>
          <a:xfrm>
            <a:off x="6713637" y="3708995"/>
            <a:ext cx="5097264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5" name="Border"/>
          <p:cNvSpPr/>
          <p:nvPr/>
        </p:nvSpPr>
        <p:spPr>
          <a:xfrm>
            <a:off x="6713637" y="2054423"/>
            <a:ext cx="50800" cy="166092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6" name="Text: 01 • 해부학적 21개 관절 구조"/>
          <p:cNvSpPr txBox="1"/>
          <p:nvPr/>
        </p:nvSpPr>
        <p:spPr>
          <a:xfrm>
            <a:off x="6993037" y="2267148"/>
            <a:ext cx="144700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01 • 해부학적 21개 관절 구조</a:t>
            </a:r>
            <a:endParaRPr lang="en-US" sz="850" dirty="0"/>
          </a:p>
        </p:txBody>
      </p:sp>
      <p:sp>
        <p:nvSpPr>
          <p:cNvPr id="17" name="Text: 손목(Root) 기준 5개 손가락 독립 추적"/>
          <p:cNvSpPr txBox="1"/>
          <p:nvPr/>
        </p:nvSpPr>
        <p:spPr>
          <a:xfrm>
            <a:off x="6993037" y="2486223"/>
            <a:ext cx="2954536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손목(Root) 기준 5개 손가락 독립 추적</a:t>
            </a:r>
            <a:endParaRPr lang="en-US" sz="1350" dirty="0"/>
          </a:p>
        </p:txBody>
      </p:sp>
      <p:sp>
        <p:nvSpPr>
          <p:cNvPr id="18" name="Text: •  손목(0번 Root):  5개 손가락으로 뻗어 나가는 해부학적 기준"/>
          <p:cNvSpPr txBox="1"/>
          <p:nvPr/>
        </p:nvSpPr>
        <p:spPr>
          <a:xfrm>
            <a:off x="6993037" y="2827853"/>
            <a:ext cx="3809901" cy="198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75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손목(0번 Root):</a:t>
            </a: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5개 손가락으로 뻗어 나가는 해부학적 기준점 역할</a:t>
            </a:r>
            <a:endParaRPr lang="en-US" sz="975" dirty="0"/>
          </a:p>
        </p:txBody>
      </p:sp>
      <p:sp>
        <p:nvSpPr>
          <p:cNvPr id="19" name="Text: •  21개 관절 마디:  엄지(1~4), 검지(5~8), 중지(9~12"/>
          <p:cNvSpPr txBox="1"/>
          <p:nvPr/>
        </p:nvSpPr>
        <p:spPr>
          <a:xfrm>
            <a:off x="6993037" y="3076773"/>
            <a:ext cx="4511179" cy="39608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75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21개 관절 마디:</a:t>
            </a: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엄지(1~4), 검지(5~8), 중지(9~12), 약지(13~16), 새끼(17~20) 독</a:t>
            </a:r>
            <a:br>
              <a:rPr lang="en-US" sz="975"/>
            </a:b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립 좌표 추적</a:t>
            </a:r>
            <a:endParaRPr lang="en-US" sz="975" dirty="0"/>
          </a:p>
        </p:txBody>
      </p:sp>
      <p:sp>
        <p:nvSpPr>
          <p:cNvPr id="20" name="Rounded Rectangle"/>
          <p:cNvSpPr/>
          <p:nvPr/>
        </p:nvSpPr>
        <p:spPr>
          <a:xfrm>
            <a:off x="6713637" y="3893145"/>
            <a:ext cx="5097264" cy="1660922"/>
          </a:xfrm>
          <a:prstGeom prst="roundRect">
            <a:avLst>
              <a:gd name="adj" fmla="val 6882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sx="99502" sy="98471" algn="ctr" rotWithShape="0">
              <a:srgbClr val="000000">
                <a:alpha val="5000"/>
              </a:srgbClr>
            </a:outerShdw>
          </a:effectLst>
        </p:spPr>
      </p:sp>
      <p:sp>
        <p:nvSpPr>
          <p:cNvPr id="21" name="Border"/>
          <p:cNvSpPr/>
          <p:nvPr/>
        </p:nvSpPr>
        <p:spPr>
          <a:xfrm>
            <a:off x="6713637" y="3893145"/>
            <a:ext cx="5097264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2" name="Border"/>
          <p:cNvSpPr/>
          <p:nvPr/>
        </p:nvSpPr>
        <p:spPr>
          <a:xfrm>
            <a:off x="11804551" y="3893145"/>
            <a:ext cx="6350" cy="1660922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3" name="Border"/>
          <p:cNvSpPr/>
          <p:nvPr/>
        </p:nvSpPr>
        <p:spPr>
          <a:xfrm>
            <a:off x="6713637" y="5547717"/>
            <a:ext cx="5097264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4" name="Border"/>
          <p:cNvSpPr/>
          <p:nvPr/>
        </p:nvSpPr>
        <p:spPr>
          <a:xfrm>
            <a:off x="6713637" y="3893145"/>
            <a:ext cx="50800" cy="1660922"/>
          </a:xfrm>
          <a:prstGeom prst="rect">
            <a:avLst/>
          </a:prstGeom>
          <a:solidFill>
            <a:srgbClr val="0284C7"/>
          </a:solidFill>
          <a:ln>
            <a:noFill/>
          </a:ln>
        </p:spPr>
      </p:sp>
      <p:sp>
        <p:nvSpPr>
          <p:cNvPr id="25" name="Text: 02 • 대규모 표준 데이터셋 활용"/>
          <p:cNvSpPr txBox="1"/>
          <p:nvPr/>
        </p:nvSpPr>
        <p:spPr>
          <a:xfrm>
            <a:off x="6993037" y="4105870"/>
            <a:ext cx="1537791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0284C7"/>
                </a:solidFill>
                <a:latin typeface="Segoe UI"/>
                <a:ea typeface="Segoe UI"/>
                <a:cs typeface="Segoe UI"/>
              </a:rPr>
              <a:t>02 • 대규모 표준 데이터셋 활용</a:t>
            </a:r>
            <a:endParaRPr lang="en-US" sz="850" dirty="0"/>
          </a:p>
        </p:txBody>
      </p:sp>
      <p:sp>
        <p:nvSpPr>
          <p:cNvPr id="26" name="Text: 총 26,768장 (학습 1.8만 + 검증 8천 장)"/>
          <p:cNvSpPr txBox="1"/>
          <p:nvPr/>
        </p:nvSpPr>
        <p:spPr>
          <a:xfrm>
            <a:off x="6993037" y="4324945"/>
            <a:ext cx="3081040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총 26,768장 (학습 1.8만 + 검증 8천 장)</a:t>
            </a:r>
            <a:endParaRPr lang="en-US" sz="1350" dirty="0"/>
          </a:p>
        </p:txBody>
      </p:sp>
      <p:sp>
        <p:nvSpPr>
          <p:cNvPr id="27" name="Text: •  글로벌 표준 규격:  Ultralytics Hand-Keypoint"/>
          <p:cNvSpPr txBox="1"/>
          <p:nvPr/>
        </p:nvSpPr>
        <p:spPr>
          <a:xfrm>
            <a:off x="6993037" y="4666575"/>
            <a:ext cx="4119463" cy="198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75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글로벌 표준 규격:</a:t>
            </a: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Ultralytics Hand-Keypoints 공인 딥러닝 데이터셋 채택</a:t>
            </a:r>
            <a:endParaRPr lang="en-US" sz="975" dirty="0"/>
          </a:p>
        </p:txBody>
      </p:sp>
      <p:sp>
        <p:nvSpPr>
          <p:cNvPr id="28" name="Text: •  100% 정밀 라벨링:  학습 세트 18,776장 + 검증 세트 7"/>
          <p:cNvSpPr txBox="1"/>
          <p:nvPr/>
        </p:nvSpPr>
        <p:spPr>
          <a:xfrm>
            <a:off x="6993037" y="4915495"/>
            <a:ext cx="4437955" cy="39608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75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100% 정밀 라벨링:</a:t>
            </a: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학습 세트 18,776장 + 검증 세트 7,992장 전량에 21개 관절</a:t>
            </a:r>
            <a:br>
              <a:rPr lang="en-US" sz="975"/>
            </a:b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좌표 완비</a:t>
            </a:r>
            <a:endParaRPr lang="en-US" sz="975" dirty="0"/>
          </a:p>
        </p:txBody>
      </p:sp>
      <p:sp>
        <p:nvSpPr>
          <p:cNvPr id="29" name="Border"/>
          <p:cNvSpPr/>
          <p:nvPr/>
        </p:nvSpPr>
        <p:spPr>
          <a:xfrm>
            <a:off x="381000" y="6334125"/>
            <a:ext cx="11430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0" name="Text: AuraSynth: Computer Vision &amp; Interactive"/>
          <p:cNvSpPr txBox="1"/>
          <p:nvPr/>
        </p:nvSpPr>
        <p:spPr>
          <a:xfrm>
            <a:off x="381000" y="6451600"/>
            <a:ext cx="3247628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AuraSynth: Computer Vision &amp; Interactive Web Audio Research</a:t>
            </a:r>
            <a:endParaRPr lang="en-US" sz="850" dirty="0"/>
          </a:p>
        </p:txBody>
      </p:sp>
      <p:sp>
        <p:nvSpPr>
          <p:cNvPr id="31" name="Rounded Rectangle"/>
          <p:cNvSpPr/>
          <p:nvPr/>
        </p:nvSpPr>
        <p:spPr>
          <a:xfrm>
            <a:off x="11237714" y="6429375"/>
            <a:ext cx="573286" cy="225425"/>
          </a:xfrm>
          <a:prstGeom prst="roundRect">
            <a:avLst>
              <a:gd name="adj" fmla="val 22535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2" name="Text: 03 / 12"/>
          <p:cNvSpPr txBox="1"/>
          <p:nvPr/>
        </p:nvSpPr>
        <p:spPr>
          <a:xfrm>
            <a:off x="11339314" y="6451600"/>
            <a:ext cx="37008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03 / 12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4175" y="244475"/>
            <a:ext cx="1465163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3" name="Text: PART 02 • 플랫폼 결함 분석"/>
          <p:cNvSpPr txBox="1"/>
          <p:nvPr/>
        </p:nvSpPr>
        <p:spPr>
          <a:xfrm>
            <a:off x="488950" y="282575"/>
            <a:ext cx="1255613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PART 02 • 플랫폼 결함 분석</a:t>
            </a:r>
            <a:endParaRPr lang="en-US" sz="750" dirty="0"/>
          </a:p>
        </p:txBody>
      </p:sp>
      <p:sp>
        <p:nvSpPr>
          <p:cNvPr id="4" name="Text: AuraSynth Engine Architecture"/>
          <p:cNvSpPr txBox="1"/>
          <p:nvPr/>
        </p:nvSpPr>
        <p:spPr>
          <a:xfrm>
            <a:off x="1941413" y="265113"/>
            <a:ext cx="1658739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AuraSynth Engine Architecture</a:t>
            </a:r>
            <a:endParaRPr lang="en-US" sz="900" dirty="0"/>
          </a:p>
        </p:txBody>
      </p:sp>
      <p:sp>
        <p:nvSpPr>
          <p:cNvPr id="5" name="Text: 학습 플랫폼 오류와 라벨 유실"/>
          <p:cNvSpPr txBox="1"/>
          <p:nvPr/>
        </p:nvSpPr>
        <p:spPr>
          <a:xfrm>
            <a:off x="381000" y="555625"/>
            <a:ext cx="410408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75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학습 플랫폼 오류와 라벨 유실</a:t>
            </a:r>
            <a:endParaRPr lang="en-US" sz="2500" dirty="0"/>
          </a:p>
        </p:txBody>
      </p:sp>
      <p:sp>
        <p:nvSpPr>
          <p:cNvPr id="6" name="Text: 인텔 Geti 플랫폼의 데이터 임포트 불가와 자체 라벨 유실 결함을 분석"/>
          <p:cNvSpPr txBox="1"/>
          <p:nvPr/>
        </p:nvSpPr>
        <p:spPr>
          <a:xfrm>
            <a:off x="381000" y="948055"/>
            <a:ext cx="5044877" cy="2044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인텔 Geti 플랫폼의 데이터 임포트 불가와 자체 라벨 유실 결함을 분석한 과정</a:t>
            </a:r>
            <a:endParaRPr lang="en-US" sz="1150" dirty="0"/>
          </a:p>
        </p:txBody>
      </p:sp>
      <p:sp>
        <p:nvSpPr>
          <p:cNvPr id="7" name="Rounded Rectangle"/>
          <p:cNvSpPr/>
          <p:nvPr/>
        </p:nvSpPr>
        <p:spPr>
          <a:xfrm>
            <a:off x="384175" y="1277541"/>
            <a:ext cx="3693517" cy="5053409"/>
          </a:xfrm>
          <a:prstGeom prst="roundRect">
            <a:avLst>
              <a:gd name="adj" fmla="val 3009"/>
            </a:avLst>
          </a:prstGeom>
          <a:solidFill>
            <a:srgbClr val="FFFFFF"/>
          </a:solidFill>
          <a:ln w="6350" cap="flat" cmpd="sng" algn="ctr">
            <a:solidFill>
              <a:srgbClr val="E2E8F0"/>
            </a:solidFill>
            <a:miter lim="800000"/>
          </a:ln>
          <a:effectLst>
            <a:outerShdw blurRad="101600" dist="50800" dir="5400000" sx="99312" sy="99497" algn="ctr" rotWithShape="0">
              <a:srgbClr val="000000">
                <a:alpha val="5000"/>
              </a:srgbClr>
            </a:outerShdw>
          </a:effectLst>
        </p:spPr>
      </p:sp>
      <p:sp>
        <p:nvSpPr>
          <p:cNvPr id="8" name="Rounded Rectangle"/>
          <p:cNvSpPr/>
          <p:nvPr/>
        </p:nvSpPr>
        <p:spPr>
          <a:xfrm>
            <a:off x="568325" y="1461691"/>
            <a:ext cx="802481" cy="238125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 w="6350" cap="flat" cmpd="sng" algn="ctr">
            <a:solidFill>
              <a:srgbClr val="FCA5A5"/>
            </a:solidFill>
            <a:miter lim="800000"/>
          </a:ln>
        </p:spPr>
      </p:sp>
      <p:sp>
        <p:nvSpPr>
          <p:cNvPr id="9" name="Text: ATTEMPT 01"/>
          <p:cNvSpPr txBox="1"/>
          <p:nvPr/>
        </p:nvSpPr>
        <p:spPr>
          <a:xfrm>
            <a:off x="673100" y="1499791"/>
            <a:ext cx="592931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B91C1C"/>
                </a:solidFill>
                <a:latin typeface="Segoe UI"/>
                <a:ea typeface="Segoe UI"/>
                <a:cs typeface="Segoe UI"/>
              </a:rPr>
              <a:t>ATTEMPT 01</a:t>
            </a:r>
            <a:endParaRPr lang="en-US" sz="750" dirty="0"/>
          </a:p>
        </p:txBody>
      </p:sp>
      <p:sp>
        <p:nvSpPr>
          <p:cNvPr id="10" name="Text: Format Packing"/>
          <p:cNvSpPr txBox="1"/>
          <p:nvPr/>
        </p:nvSpPr>
        <p:spPr>
          <a:xfrm>
            <a:off x="3149600" y="1491853"/>
            <a:ext cx="747117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Format Packing</a:t>
            </a:r>
            <a:endParaRPr lang="en-US" sz="800" dirty="0"/>
          </a:p>
        </p:txBody>
      </p:sp>
      <p:sp>
        <p:nvSpPr>
          <p:cNvPr id="11" name="Text: COCO &amp; Datumaro 변환 시도"/>
          <p:cNvSpPr txBox="1"/>
          <p:nvPr/>
        </p:nvSpPr>
        <p:spPr>
          <a:xfrm>
            <a:off x="565150" y="1779191"/>
            <a:ext cx="209599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COCO &amp; Datumaro 변환 시도</a:t>
            </a:r>
            <a:endParaRPr lang="en-US" sz="1200" dirty="0"/>
          </a:p>
        </p:txBody>
      </p:sp>
      <p:sp>
        <p:nvSpPr>
          <p:cNvPr id="12" name="Text: • YOLO Pose 상대좌표를 픽셀 절대좌표로 역산"/>
          <p:cNvSpPr txBox="1"/>
          <p:nvPr/>
        </p:nvSpPr>
        <p:spPr>
          <a:xfrm>
            <a:off x="565150" y="2082403"/>
            <a:ext cx="2336105" cy="1666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YOLO Pose 상대좌표를 픽셀 절대좌표로 역산</a:t>
            </a:r>
            <a:endParaRPr lang="en-US" sz="875" dirty="0"/>
          </a:p>
        </p:txBody>
      </p:sp>
      <p:sp>
        <p:nvSpPr>
          <p:cNvPr id="13" name="Text: • 공식  coco_person_keypoints  규격으로 패킹"/>
          <p:cNvSpPr txBox="1"/>
          <p:nvPr/>
        </p:nvSpPr>
        <p:spPr>
          <a:xfrm>
            <a:off x="565150" y="2287191"/>
            <a:ext cx="2441873" cy="1666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공식 </a:t>
            </a:r>
            <a:r>
              <a:rPr lang="en-US" sz="875" b="1" spc="-4" dirty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coco_person_keypoints</a:t>
            </a:r>
            <a:r>
              <a:rPr lang="en-US" sz="8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규격으로 패킹</a:t>
            </a:r>
            <a:endParaRPr lang="en-US" sz="875" dirty="0"/>
          </a:p>
        </p:txBody>
      </p:sp>
      <p:sp>
        <p:nvSpPr>
          <p:cNvPr id="14" name="Rounded Rectangle"/>
          <p:cNvSpPr/>
          <p:nvPr/>
        </p:nvSpPr>
        <p:spPr>
          <a:xfrm>
            <a:off x="571500" y="3254375"/>
            <a:ext cx="3318867" cy="1149350"/>
          </a:xfrm>
          <a:prstGeom prst="roundRect">
            <a:avLst>
              <a:gd name="adj" fmla="val 6077"/>
            </a:avLst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miter lim="800000"/>
          </a:ln>
        </p:spPr>
      </p:sp>
      <p:sp>
        <p:nvSpPr>
          <p:cNvPr id="15" name="Text: 1단계 핵심 요약"/>
          <p:cNvSpPr txBox="1"/>
          <p:nvPr/>
        </p:nvSpPr>
        <p:spPr>
          <a:xfrm>
            <a:off x="886718" y="3349625"/>
            <a:ext cx="827881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1단계 핵심 요약</a:t>
            </a:r>
            <a:endParaRPr lang="en-US" sz="900" dirty="0"/>
          </a:p>
        </p:txBody>
      </p:sp>
      <p:sp>
        <p:nvSpPr>
          <p:cNvPr id="16" name="Text: ❌"/>
          <p:cNvSpPr txBox="1"/>
          <p:nvPr/>
        </p:nvSpPr>
        <p:spPr>
          <a:xfrm>
            <a:off x="692150" y="3349625"/>
            <a:ext cx="156468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❌</a:t>
            </a:r>
            <a:endParaRPr lang="en-US" sz="900" dirty="0"/>
          </a:p>
        </p:txBody>
      </p:sp>
      <p:sp>
        <p:nvSpPr>
          <p:cNvPr id="17" name="Text: • 사진 1.8만 장과 좌표를 표준 형식으로 바꿔서 게티에 업로드 해 봄"/>
          <p:cNvSpPr txBox="1"/>
          <p:nvPr/>
        </p:nvSpPr>
        <p:spPr>
          <a:xfrm>
            <a:off x="692150" y="3587750"/>
            <a:ext cx="3004641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• 사진 1.8만 장과 좌표를 표준 형식으로 바꿔서 게티에 업로드</a:t>
            </a:r>
            <a:br>
              <a:rPr lang="en-US" sz="850"/>
            </a:br>
            <a:r>
              <a:rPr lang="en-US" sz="850" b="1" spc="-4" dirty="0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해 봄.</a:t>
            </a:r>
            <a:endParaRPr lang="en-US" sz="850" dirty="0"/>
          </a:p>
        </p:txBody>
      </p:sp>
      <p:sp>
        <p:nvSpPr>
          <p:cNvPr id="18" name="Text: • 하지만 게티가 외부에서 만든 라벨 파일을 아예 인식하지 못하 고 거부"/>
          <p:cNvSpPr txBox="1"/>
          <p:nvPr/>
        </p:nvSpPr>
        <p:spPr>
          <a:xfrm>
            <a:off x="692150" y="3962400"/>
            <a:ext cx="3067645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• 하지만 게티가 외부에서 만든 라벨 파일을 아예 인식하지 못하</a:t>
            </a:r>
            <a:br>
              <a:rPr lang="en-US" sz="850"/>
            </a:br>
            <a:r>
              <a:rPr lang="en-US" sz="850" b="1" spc="-4" dirty="0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고 거부함.</a:t>
            </a:r>
            <a:endParaRPr lang="en-US" sz="850" dirty="0"/>
          </a:p>
        </p:txBody>
      </p:sp>
      <p:sp>
        <p:nvSpPr>
          <p:cNvPr id="19" name="Rounded Rectangle"/>
          <p:cNvSpPr/>
          <p:nvPr/>
        </p:nvSpPr>
        <p:spPr>
          <a:xfrm>
            <a:off x="568325" y="5199459"/>
            <a:ext cx="3325217" cy="947341"/>
          </a:xfrm>
          <a:prstGeom prst="roundRect">
            <a:avLst>
              <a:gd name="adj" fmla="val 7708"/>
            </a:avLst>
          </a:prstGeom>
          <a:solidFill>
            <a:srgbClr val="0F172A"/>
          </a:solidFill>
          <a:ln w="6350" cap="flat" cmpd="sng" algn="ctr">
            <a:solidFill>
              <a:srgbClr val="1E293B"/>
            </a:solidFill>
            <a:miter lim="800000"/>
          </a:ln>
        </p:spPr>
      </p:sp>
      <p:sp>
        <p:nvSpPr>
          <p:cNvPr id="20" name="Text: [Error] Datumaro Extractor &gt; Detected fo"/>
          <p:cNvSpPr txBox="1"/>
          <p:nvPr/>
        </p:nvSpPr>
        <p:spPr>
          <a:xfrm>
            <a:off x="723900" y="5291237"/>
            <a:ext cx="2189361" cy="71239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[Error] Datumaro Extractor</a:t>
            </a:r>
            <a:br>
              <a:rPr lang="en-US" sz="850"/>
            </a:br>
            <a:r>
              <a:rPr lang="en-US" sz="850" spc="-4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 Detected format not supported</a:t>
            </a:r>
            <a:br>
              <a:rPr lang="en-US" sz="850"/>
            </a:br>
            <a:r>
              <a:rPr lang="en-US" sz="850" spc="-4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 Validation Error: Unknown key</a:t>
            </a:r>
            <a:br>
              <a:rPr lang="en-US" sz="850"/>
            </a:br>
            <a:r>
              <a:rPr lang="en-US" sz="850" spc="-4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*Keypoint 태스크 외부 스키마 병합 차단</a:t>
            </a:r>
            <a:endParaRPr lang="en-US" sz="850" dirty="0"/>
          </a:p>
        </p:txBody>
      </p:sp>
      <p:sp>
        <p:nvSpPr>
          <p:cNvPr id="21" name="Rounded Rectangle"/>
          <p:cNvSpPr/>
          <p:nvPr/>
        </p:nvSpPr>
        <p:spPr>
          <a:xfrm>
            <a:off x="4249142" y="1277541"/>
            <a:ext cx="3693616" cy="5053409"/>
          </a:xfrm>
          <a:prstGeom prst="roundRect">
            <a:avLst>
              <a:gd name="adj" fmla="val 3009"/>
            </a:avLst>
          </a:prstGeom>
          <a:solidFill>
            <a:srgbClr val="FFFFFF"/>
          </a:solidFill>
          <a:ln w="6350" cap="flat" cmpd="sng" algn="ctr">
            <a:solidFill>
              <a:srgbClr val="E2E8F0"/>
            </a:solidFill>
            <a:miter lim="800000"/>
          </a:ln>
          <a:effectLst>
            <a:outerShdw blurRad="101600" dist="50800" dir="5400000" sx="99312" sy="99497" algn="ctr" rotWithShape="0">
              <a:srgbClr val="000000">
                <a:alpha val="5000"/>
              </a:srgbClr>
            </a:outerShdw>
          </a:effectLst>
        </p:spPr>
      </p:sp>
      <p:sp>
        <p:nvSpPr>
          <p:cNvPr id="22" name="Rounded Rectangle"/>
          <p:cNvSpPr/>
          <p:nvPr/>
        </p:nvSpPr>
        <p:spPr>
          <a:xfrm>
            <a:off x="4433292" y="1461691"/>
            <a:ext cx="802481" cy="238125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6350" cap="flat" cmpd="sng" algn="ctr">
            <a:solidFill>
              <a:srgbClr val="FDE68A"/>
            </a:solidFill>
            <a:miter lim="800000"/>
          </a:ln>
        </p:spPr>
      </p:sp>
      <p:sp>
        <p:nvSpPr>
          <p:cNvPr id="23" name="Text: ATTEMPT 02"/>
          <p:cNvSpPr txBox="1"/>
          <p:nvPr/>
        </p:nvSpPr>
        <p:spPr>
          <a:xfrm>
            <a:off x="4538067" y="1499791"/>
            <a:ext cx="592931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D97706"/>
                </a:solidFill>
                <a:latin typeface="Segoe UI"/>
                <a:ea typeface="Segoe UI"/>
                <a:cs typeface="Segoe UI"/>
              </a:rPr>
              <a:t>ATTEMPT 02</a:t>
            </a:r>
            <a:endParaRPr lang="en-US" sz="750" dirty="0"/>
          </a:p>
        </p:txBody>
      </p:sp>
      <p:sp>
        <p:nvSpPr>
          <p:cNvPr id="24" name="Text: AST Re-engineering"/>
          <p:cNvSpPr txBox="1"/>
          <p:nvPr/>
        </p:nvSpPr>
        <p:spPr>
          <a:xfrm>
            <a:off x="6809184" y="1491853"/>
            <a:ext cx="952599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AST Re-engineering</a:t>
            </a:r>
            <a:endParaRPr lang="en-US" sz="800" dirty="0"/>
          </a:p>
        </p:txBody>
      </p:sp>
      <p:sp>
        <p:nvSpPr>
          <p:cNvPr id="25" name="Text: Geti 템플릿(default.json) 역공학"/>
          <p:cNvSpPr txBox="1"/>
          <p:nvPr/>
        </p:nvSpPr>
        <p:spPr>
          <a:xfrm>
            <a:off x="4430117" y="1779191"/>
            <a:ext cx="2263577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Geti 템플릿(default.json) 역공학</a:t>
            </a:r>
            <a:endParaRPr lang="en-US" sz="1200" dirty="0"/>
          </a:p>
        </p:txBody>
      </p:sp>
      <p:sp>
        <p:nvSpPr>
          <p:cNvPr id="26" name="Text: • 빈 프로젝트 Export로 내부 JSON 헤더 복제"/>
          <p:cNvSpPr txBox="1"/>
          <p:nvPr/>
        </p:nvSpPr>
        <p:spPr>
          <a:xfrm>
            <a:off x="4430117" y="2082403"/>
            <a:ext cx="2233017" cy="1666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빈 프로젝트 Export로 내부 JSON 헤더 복제</a:t>
            </a:r>
            <a:endParaRPr lang="en-US" sz="875" dirty="0"/>
          </a:p>
        </p:txBody>
      </p:sp>
      <p:sp>
        <p:nvSpPr>
          <p:cNvPr id="27" name="Text: • 21개 관절 위상 재정렬(LUT Remapping) 수행"/>
          <p:cNvSpPr txBox="1"/>
          <p:nvPr/>
        </p:nvSpPr>
        <p:spPr>
          <a:xfrm>
            <a:off x="4430117" y="2287191"/>
            <a:ext cx="2325886" cy="1666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21개 관절 위상 재정렬(LUT Remapping) 수행</a:t>
            </a:r>
            <a:endParaRPr lang="en-US" sz="875" dirty="0"/>
          </a:p>
        </p:txBody>
      </p:sp>
      <p:sp>
        <p:nvSpPr>
          <p:cNvPr id="28" name="Rounded Rectangle"/>
          <p:cNvSpPr/>
          <p:nvPr/>
        </p:nvSpPr>
        <p:spPr>
          <a:xfrm>
            <a:off x="4436467" y="3251200"/>
            <a:ext cx="3318966" cy="1149350"/>
          </a:xfrm>
          <a:prstGeom prst="roundRect">
            <a:avLst>
              <a:gd name="adj" fmla="val 6077"/>
            </a:avLst>
          </a:prstGeom>
          <a:solidFill>
            <a:srgbClr val="FFFBEB"/>
          </a:solidFill>
          <a:ln w="12700" cap="flat" cmpd="sng" algn="ctr">
            <a:solidFill>
              <a:srgbClr val="FDE68A"/>
            </a:solidFill>
            <a:miter lim="800000"/>
          </a:ln>
        </p:spPr>
      </p:sp>
      <p:sp>
        <p:nvSpPr>
          <p:cNvPr id="29" name="Text: 2단계 핵심 요약"/>
          <p:cNvSpPr txBox="1"/>
          <p:nvPr/>
        </p:nvSpPr>
        <p:spPr>
          <a:xfrm>
            <a:off x="4751685" y="3346450"/>
            <a:ext cx="827881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2단계 핵심 요약</a:t>
            </a:r>
            <a:endParaRPr lang="en-US" sz="900" dirty="0"/>
          </a:p>
        </p:txBody>
      </p:sp>
      <p:sp>
        <p:nvSpPr>
          <p:cNvPr id="30" name="Text: ⚠️"/>
          <p:cNvSpPr txBox="1"/>
          <p:nvPr/>
        </p:nvSpPr>
        <p:spPr>
          <a:xfrm>
            <a:off x="4557117" y="3346450"/>
            <a:ext cx="156468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⚠️</a:t>
            </a:r>
            <a:endParaRPr lang="en-US" sz="900" dirty="0"/>
          </a:p>
        </p:txBody>
      </p:sp>
      <p:sp>
        <p:nvSpPr>
          <p:cNvPr id="31" name="Text: • 게티 내부 파일 구조를 분석해 손목(0➔16번) 등 21개 관절 번 "/>
          <p:cNvSpPr txBox="1"/>
          <p:nvPr/>
        </p:nvSpPr>
        <p:spPr>
          <a:xfrm>
            <a:off x="4557117" y="3584575"/>
            <a:ext cx="3061891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92400E"/>
                </a:solidFill>
                <a:latin typeface="Segoe UI"/>
                <a:ea typeface="Segoe UI"/>
                <a:cs typeface="Segoe UI"/>
              </a:rPr>
              <a:t>• 게티 내부 파일 구조를 분석해 손목(0➔16번) 등 21개 관절 번</a:t>
            </a:r>
            <a:br>
              <a:rPr lang="en-US" sz="850"/>
            </a:br>
            <a:r>
              <a:rPr lang="en-US" sz="850" b="1" spc="-4" dirty="0">
                <a:solidFill>
                  <a:srgbClr val="92400E"/>
                </a:solidFill>
                <a:latin typeface="Segoe UI"/>
                <a:ea typeface="Segoe UI"/>
                <a:cs typeface="Segoe UI"/>
              </a:rPr>
              <a:t>호를 게티에 맞춰줌.</a:t>
            </a:r>
            <a:endParaRPr lang="en-US" sz="850" dirty="0"/>
          </a:p>
        </p:txBody>
      </p:sp>
      <p:sp>
        <p:nvSpPr>
          <p:cNvPr id="32" name="Text: • 화면에는 간신히 불러왔으나, 저장 버튼을 누르자마자 관절 점 들이 다"/>
          <p:cNvSpPr txBox="1"/>
          <p:nvPr/>
        </p:nvSpPr>
        <p:spPr>
          <a:xfrm>
            <a:off x="4557117" y="3959225"/>
            <a:ext cx="3057922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• 화면에는 간신히 불러왔으나, 저장 버튼을 누르자마자 관절 점</a:t>
            </a:r>
            <a:br>
              <a:rPr lang="en-US" sz="850"/>
            </a:br>
            <a:r>
              <a:rPr lang="en-US" sz="850" b="1" spc="-4" dirty="0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들이 다 사라져 버림.</a:t>
            </a:r>
            <a:endParaRPr lang="en-US" sz="850" dirty="0"/>
          </a:p>
        </p:txBody>
      </p:sp>
      <p:sp>
        <p:nvSpPr>
          <p:cNvPr id="33" name="Rounded Rectangle"/>
          <p:cNvSpPr/>
          <p:nvPr/>
        </p:nvSpPr>
        <p:spPr>
          <a:xfrm>
            <a:off x="4433292" y="5199459"/>
            <a:ext cx="3325316" cy="947341"/>
          </a:xfrm>
          <a:prstGeom prst="roundRect">
            <a:avLst>
              <a:gd name="adj" fmla="val 7708"/>
            </a:avLst>
          </a:prstGeom>
          <a:solidFill>
            <a:srgbClr val="0F172A"/>
          </a:solidFill>
          <a:ln w="6350" cap="flat" cmpd="sng" algn="ctr">
            <a:solidFill>
              <a:srgbClr val="1E293B"/>
            </a:solidFill>
            <a:miter lim="800000"/>
          </a:ln>
        </p:spPr>
      </p:sp>
      <p:sp>
        <p:nvSpPr>
          <p:cNvPr id="34" name="Text: # 위상 재정렬 (LUT Remapping) MediaPipe:  0: "/>
          <p:cNvSpPr txBox="1"/>
          <p:nvPr/>
        </p:nvSpPr>
        <p:spPr>
          <a:xfrm>
            <a:off x="4588867" y="5291237"/>
            <a:ext cx="1916609" cy="71239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# 위상 재정렬 (LUT Remapping)</a:t>
            </a:r>
            <a:br>
              <a:rPr lang="en-US" sz="850"/>
            </a:br>
            <a:r>
              <a:rPr lang="en-US" sz="850" spc="-4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MediaPipe: </a:t>
            </a:r>
            <a:r>
              <a:rPr lang="en-US" sz="850" spc="-4" dirty="0">
                <a:solidFill>
                  <a:srgbClr val="FACC15"/>
                </a:solidFill>
                <a:latin typeface="Consolas"/>
                <a:ea typeface="Consolas"/>
                <a:cs typeface="Consolas"/>
              </a:rPr>
              <a:t>0: WRIST</a:t>
            </a:r>
            <a:br>
              <a:rPr lang="en-US" sz="850"/>
            </a:br>
            <a:r>
              <a:rPr lang="en-US" sz="850" spc="-4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Geti Schema: </a:t>
            </a:r>
            <a:r>
              <a:rPr lang="en-US" sz="850" spc="-4" dirty="0">
                <a:solidFill>
                  <a:srgbClr val="FACC15"/>
                </a:solidFill>
                <a:latin typeface="Consolas"/>
                <a:ea typeface="Consolas"/>
                <a:cs typeface="Consolas"/>
              </a:rPr>
              <a:t>16: WRIST</a:t>
            </a:r>
            <a:br>
              <a:rPr lang="en-US" sz="850"/>
            </a:br>
            <a:r>
              <a:rPr lang="en-US" sz="850" spc="-4" dirty="0">
                <a:solidFill>
                  <a:srgbClr val="34D479"/>
                </a:solidFill>
                <a:latin typeface="Consolas"/>
                <a:ea typeface="Consolas"/>
                <a:cs typeface="Consolas"/>
              </a:rPr>
              <a:t>✓ 1:1 매핑으로 스키마 크래시 해결</a:t>
            </a:r>
            <a:endParaRPr lang="en-US" sz="850" dirty="0"/>
          </a:p>
        </p:txBody>
      </p:sp>
      <p:sp>
        <p:nvSpPr>
          <p:cNvPr id="35" name="Rounded Rectangle"/>
          <p:cNvSpPr/>
          <p:nvPr/>
        </p:nvSpPr>
        <p:spPr>
          <a:xfrm>
            <a:off x="8114209" y="1277541"/>
            <a:ext cx="3693616" cy="5053409"/>
          </a:xfrm>
          <a:prstGeom prst="roundRect">
            <a:avLst>
              <a:gd name="adj" fmla="val 3009"/>
            </a:avLst>
          </a:prstGeom>
          <a:solidFill>
            <a:srgbClr val="FFFFFF"/>
          </a:solidFill>
          <a:ln w="6350" cap="flat" cmpd="sng" algn="ctr">
            <a:solidFill>
              <a:srgbClr val="E2E8F0"/>
            </a:solidFill>
            <a:miter lim="800000"/>
          </a:ln>
          <a:effectLst>
            <a:outerShdw blurRad="101600" dist="50800" dir="5400000" sx="99312" sy="99497" algn="ctr" rotWithShape="0">
              <a:srgbClr val="000000">
                <a:alpha val="5000"/>
              </a:srgbClr>
            </a:outerShdw>
          </a:effectLst>
        </p:spPr>
      </p:sp>
      <p:sp>
        <p:nvSpPr>
          <p:cNvPr id="36" name="Rounded Rectangle"/>
          <p:cNvSpPr/>
          <p:nvPr/>
        </p:nvSpPr>
        <p:spPr>
          <a:xfrm>
            <a:off x="8298359" y="1461691"/>
            <a:ext cx="802481" cy="238125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 w="6350" cap="flat" cmpd="sng" algn="ctr">
            <a:solidFill>
              <a:srgbClr val="FCA5A5"/>
            </a:solidFill>
            <a:miter lim="800000"/>
          </a:ln>
        </p:spPr>
      </p:sp>
      <p:sp>
        <p:nvSpPr>
          <p:cNvPr id="37" name="Text: ATTEMPT 03"/>
          <p:cNvSpPr txBox="1"/>
          <p:nvPr/>
        </p:nvSpPr>
        <p:spPr>
          <a:xfrm>
            <a:off x="8403134" y="1499791"/>
            <a:ext cx="592931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B91C1C"/>
                </a:solidFill>
                <a:latin typeface="Segoe UI"/>
                <a:ea typeface="Segoe UI"/>
                <a:cs typeface="Segoe UI"/>
              </a:rPr>
              <a:t>ATTEMPT 03</a:t>
            </a:r>
            <a:endParaRPr lang="en-US" sz="750" dirty="0"/>
          </a:p>
        </p:txBody>
      </p:sp>
      <p:sp>
        <p:nvSpPr>
          <p:cNvPr id="38" name="Text: Silent Drop Discovered"/>
          <p:cNvSpPr txBox="1"/>
          <p:nvPr/>
        </p:nvSpPr>
        <p:spPr>
          <a:xfrm>
            <a:off x="10523438" y="1491853"/>
            <a:ext cx="1103412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-4" dirty="0">
                <a:solidFill>
                  <a:srgbClr val="B91C1C"/>
                </a:solidFill>
                <a:latin typeface="Segoe UI"/>
                <a:ea typeface="Segoe UI"/>
                <a:cs typeface="Segoe UI"/>
              </a:rPr>
              <a:t>Silent Drop Discovered</a:t>
            </a:r>
            <a:endParaRPr lang="en-US" sz="800" dirty="0"/>
          </a:p>
        </p:txBody>
      </p:sp>
      <p:sp>
        <p:nvSpPr>
          <p:cNvPr id="39" name="Text: 자체 라벨링 데이터 재임포트 실패"/>
          <p:cNvSpPr txBox="1"/>
          <p:nvPr/>
        </p:nvSpPr>
        <p:spPr>
          <a:xfrm>
            <a:off x="8295184" y="1779191"/>
            <a:ext cx="233878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자체 라벨링 데이터 재임포트 실패</a:t>
            </a:r>
            <a:endParaRPr lang="en-US" sz="1200" dirty="0"/>
          </a:p>
        </p:txBody>
      </p:sp>
      <p:sp>
        <p:nvSpPr>
          <p:cNvPr id="40" name="Text: • 플랫폼 결함 확인 위해 웹에서 직접 수동 라벨링"/>
          <p:cNvSpPr txBox="1"/>
          <p:nvPr/>
        </p:nvSpPr>
        <p:spPr>
          <a:xfrm>
            <a:off x="8295184" y="2082403"/>
            <a:ext cx="2456160" cy="1666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플랫폼 결함 확인 위해 웹에서 직접 수동 라벨링</a:t>
            </a:r>
            <a:endParaRPr lang="en-US" sz="875" dirty="0"/>
          </a:p>
        </p:txBody>
      </p:sp>
      <p:sp>
        <p:nvSpPr>
          <p:cNvPr id="41" name="Text: • Export한 순정 데이터셋 재임포트 시에도 전량 증발"/>
          <p:cNvSpPr txBox="1"/>
          <p:nvPr/>
        </p:nvSpPr>
        <p:spPr>
          <a:xfrm>
            <a:off x="8295184" y="2287191"/>
            <a:ext cx="2627412" cy="1666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Export한 순정 데이터셋 재임포트 시에도 전량 증발</a:t>
            </a:r>
            <a:endParaRPr lang="en-US" sz="875" dirty="0"/>
          </a:p>
        </p:txBody>
      </p:sp>
      <p:sp>
        <p:nvSpPr>
          <p:cNvPr id="42" name="Rounded Rectangle"/>
          <p:cNvSpPr/>
          <p:nvPr/>
        </p:nvSpPr>
        <p:spPr>
          <a:xfrm>
            <a:off x="8301534" y="3251200"/>
            <a:ext cx="3318966" cy="1149350"/>
          </a:xfrm>
          <a:prstGeom prst="roundRect">
            <a:avLst>
              <a:gd name="adj" fmla="val 6077"/>
            </a:avLst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miter lim="800000"/>
          </a:ln>
        </p:spPr>
      </p:sp>
      <p:sp>
        <p:nvSpPr>
          <p:cNvPr id="43" name="Text: 3단계 핵심 요약"/>
          <p:cNvSpPr txBox="1"/>
          <p:nvPr/>
        </p:nvSpPr>
        <p:spPr>
          <a:xfrm>
            <a:off x="8616752" y="3346450"/>
            <a:ext cx="827881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3단계 핵심 요약</a:t>
            </a:r>
            <a:endParaRPr lang="en-US" sz="900" dirty="0"/>
          </a:p>
        </p:txBody>
      </p:sp>
      <p:sp>
        <p:nvSpPr>
          <p:cNvPr id="44" name="Text: ❌"/>
          <p:cNvSpPr txBox="1"/>
          <p:nvPr/>
        </p:nvSpPr>
        <p:spPr>
          <a:xfrm>
            <a:off x="8422184" y="3346450"/>
            <a:ext cx="156468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❌</a:t>
            </a:r>
            <a:endParaRPr lang="en-US" sz="900" dirty="0"/>
          </a:p>
        </p:txBody>
      </p:sp>
      <p:sp>
        <p:nvSpPr>
          <p:cNvPr id="45" name="Text: • 파일 변환 탓인가 싶어, 게티 화면에서 마우스로 31장을 직접 찍어 "/>
          <p:cNvSpPr txBox="1"/>
          <p:nvPr/>
        </p:nvSpPr>
        <p:spPr>
          <a:xfrm>
            <a:off x="8422184" y="3584575"/>
            <a:ext cx="3004641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• 파일 변환 탓인가 싶어, 게티 화면에서 마우스로 31장을 직접</a:t>
            </a:r>
            <a:br>
              <a:rPr lang="en-US" sz="850"/>
            </a:br>
            <a:r>
              <a:rPr lang="en-US" sz="850" b="1" spc="-4" dirty="0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찍어 저장함.</a:t>
            </a:r>
            <a:endParaRPr lang="en-US" sz="850" dirty="0"/>
          </a:p>
        </p:txBody>
      </p:sp>
      <p:sp>
        <p:nvSpPr>
          <p:cNvPr id="46" name="Text: • 그런데 게티가 직접 만든 파일조차 다시 열면 라벨이 싹 지워 지는 플"/>
          <p:cNvSpPr txBox="1"/>
          <p:nvPr/>
        </p:nvSpPr>
        <p:spPr>
          <a:xfrm>
            <a:off x="8422184" y="3959225"/>
            <a:ext cx="2997696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• 그런데 게티가 직접 만든 파일조차 다시 열면 라벨이 싹 지워</a:t>
            </a:r>
            <a:br>
              <a:rPr lang="en-US" sz="850"/>
            </a:br>
            <a:r>
              <a:rPr lang="en-US" sz="850" b="1" spc="-4" dirty="0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지는 플랫폼 자체 버그 확인.</a:t>
            </a:r>
            <a:endParaRPr lang="en-US" sz="850" dirty="0"/>
          </a:p>
        </p:txBody>
      </p:sp>
      <p:sp>
        <p:nvSpPr>
          <p:cNvPr id="47" name="Rounded Rectangle"/>
          <p:cNvSpPr/>
          <p:nvPr/>
        </p:nvSpPr>
        <p:spPr>
          <a:xfrm>
            <a:off x="8295184" y="5196284"/>
            <a:ext cx="3331666" cy="953691"/>
          </a:xfrm>
          <a:prstGeom prst="roundRect">
            <a:avLst>
              <a:gd name="adj" fmla="val 7990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48" name="Border"/>
          <p:cNvSpPr/>
          <p:nvPr/>
        </p:nvSpPr>
        <p:spPr>
          <a:xfrm>
            <a:off x="8295184" y="5196284"/>
            <a:ext cx="3331666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9" name="Border"/>
          <p:cNvSpPr/>
          <p:nvPr/>
        </p:nvSpPr>
        <p:spPr>
          <a:xfrm>
            <a:off x="11620500" y="5196284"/>
            <a:ext cx="6350" cy="953691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50" name="Border"/>
          <p:cNvSpPr/>
          <p:nvPr/>
        </p:nvSpPr>
        <p:spPr>
          <a:xfrm>
            <a:off x="8295184" y="6143625"/>
            <a:ext cx="3331666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51" name="Border"/>
          <p:cNvSpPr/>
          <p:nvPr/>
        </p:nvSpPr>
        <p:spPr>
          <a:xfrm>
            <a:off x="8295184" y="5196284"/>
            <a:ext cx="25400" cy="953691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52" name="Text: [확인된 플랫폼 결함: Silent Drop] Geti 자체 라벨링 데이"/>
          <p:cNvSpPr txBox="1"/>
          <p:nvPr/>
        </p:nvSpPr>
        <p:spPr>
          <a:xfrm>
            <a:off x="8472984" y="5291237"/>
            <a:ext cx="2978150" cy="71239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F87171"/>
                </a:solidFill>
                <a:latin typeface="Consolas"/>
                <a:ea typeface="Consolas"/>
                <a:cs typeface="Consolas"/>
              </a:rPr>
              <a:t>[확인된 플랫폼 결함: Silent Drop]</a:t>
            </a:r>
            <a:br>
              <a:rPr lang="en-US" sz="850"/>
            </a:br>
            <a:r>
              <a:rPr lang="en-US" sz="850" spc="-4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Geti 자체 라벨링 데이터조차 재임포트 시 라벨 증발.</a:t>
            </a:r>
            <a:br>
              <a:rPr lang="en-US" sz="850"/>
            </a:br>
            <a:r>
              <a:rPr lang="en-US" sz="850" spc="-4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*플랫폼 자체 버그로 인해 외부/내부 라벨 일괄 유실 확</a:t>
            </a:r>
            <a:br>
              <a:rPr lang="en-US" sz="850"/>
            </a:br>
            <a:r>
              <a:rPr lang="en-US" sz="850" spc="-4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인 (미해결)</a:t>
            </a:r>
            <a:endParaRPr lang="en-US" sz="850" dirty="0"/>
          </a:p>
        </p:txBody>
      </p:sp>
      <p:sp>
        <p:nvSpPr>
          <p:cNvPr id="53" name="Border"/>
          <p:cNvSpPr/>
          <p:nvPr/>
        </p:nvSpPr>
        <p:spPr>
          <a:xfrm>
            <a:off x="381000" y="6334125"/>
            <a:ext cx="11430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4" name="Text: AuraSynth: Computer Vision &amp; Interactive"/>
          <p:cNvSpPr txBox="1"/>
          <p:nvPr/>
        </p:nvSpPr>
        <p:spPr>
          <a:xfrm>
            <a:off x="381000" y="6451600"/>
            <a:ext cx="3247628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AuraSynth: Computer Vision &amp; Interactive Web Audio Research</a:t>
            </a:r>
            <a:endParaRPr lang="en-US" sz="850" dirty="0"/>
          </a:p>
        </p:txBody>
      </p:sp>
      <p:sp>
        <p:nvSpPr>
          <p:cNvPr id="55" name="Rounded Rectangle"/>
          <p:cNvSpPr/>
          <p:nvPr/>
        </p:nvSpPr>
        <p:spPr>
          <a:xfrm>
            <a:off x="11237714" y="6429375"/>
            <a:ext cx="573286" cy="225425"/>
          </a:xfrm>
          <a:prstGeom prst="roundRect">
            <a:avLst>
              <a:gd name="adj" fmla="val 22535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56" name="Text: 04 / 12"/>
          <p:cNvSpPr txBox="1"/>
          <p:nvPr/>
        </p:nvSpPr>
        <p:spPr>
          <a:xfrm>
            <a:off x="11339314" y="6451600"/>
            <a:ext cx="37008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04 / 12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4175" y="244475"/>
            <a:ext cx="1367929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3" name="Text: PART 02 • 모델 구축 방향"/>
          <p:cNvSpPr txBox="1"/>
          <p:nvPr/>
        </p:nvSpPr>
        <p:spPr>
          <a:xfrm>
            <a:off x="488950" y="282575"/>
            <a:ext cx="1158379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PART 02 • 모델 구축 방향</a:t>
            </a:r>
            <a:endParaRPr lang="en-US" sz="750" dirty="0"/>
          </a:p>
        </p:txBody>
      </p:sp>
      <p:sp>
        <p:nvSpPr>
          <p:cNvPr id="4" name="Text: AuraSynth Engine Architecture"/>
          <p:cNvSpPr txBox="1"/>
          <p:nvPr/>
        </p:nvSpPr>
        <p:spPr>
          <a:xfrm>
            <a:off x="1844179" y="265113"/>
            <a:ext cx="1658739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AuraSynth Engine Architecture</a:t>
            </a:r>
            <a:endParaRPr lang="en-US" sz="900" dirty="0"/>
          </a:p>
        </p:txBody>
      </p:sp>
      <p:sp>
        <p:nvSpPr>
          <p:cNvPr id="5" name="Text: 오류 이후 3가지 AI 모델 구축 방향"/>
          <p:cNvSpPr txBox="1"/>
          <p:nvPr/>
        </p:nvSpPr>
        <p:spPr>
          <a:xfrm>
            <a:off x="381000" y="555625"/>
            <a:ext cx="4785618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75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오류 이후 3가지 AI 모델 구축 방향</a:t>
            </a:r>
            <a:endParaRPr lang="en-US" sz="2500" dirty="0"/>
          </a:p>
        </p:txBody>
      </p:sp>
      <p:sp>
        <p:nvSpPr>
          <p:cNvPr id="6" name="Text: 기존 저장된 라벨을 쓸 수 없게 됨에 따라 수작업 라벨링, 터미널 직접 "/>
          <p:cNvSpPr txBox="1"/>
          <p:nvPr/>
        </p:nvSpPr>
        <p:spPr>
          <a:xfrm>
            <a:off x="381000" y="948055"/>
            <a:ext cx="7170738" cy="2044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기존 저장된 라벨을 쓸 수 없게 됨에 따라 수작업 라벨링, 터미널 직접 학습, 상용 모델을 병행한 3대 개발 전략</a:t>
            </a:r>
            <a:endParaRPr lang="en-US" sz="1150" dirty="0"/>
          </a:p>
        </p:txBody>
      </p:sp>
      <p:sp>
        <p:nvSpPr>
          <p:cNvPr id="7" name="Rounded Rectangle"/>
          <p:cNvSpPr/>
          <p:nvPr/>
        </p:nvSpPr>
        <p:spPr>
          <a:xfrm>
            <a:off x="381000" y="1274366"/>
            <a:ext cx="3699867" cy="5059759"/>
          </a:xfrm>
          <a:prstGeom prst="roundRect">
            <a:avLst>
              <a:gd name="adj" fmla="val 3089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sx="99313" sy="99498" algn="ctr" rotWithShape="0">
              <a:srgbClr val="000000">
                <a:alpha val="5000"/>
              </a:srgbClr>
            </a:outerShdw>
          </a:effectLst>
        </p:spPr>
      </p:sp>
      <p:sp>
        <p:nvSpPr>
          <p:cNvPr id="8" name="Border"/>
          <p:cNvSpPr/>
          <p:nvPr/>
        </p:nvSpPr>
        <p:spPr>
          <a:xfrm>
            <a:off x="381000" y="1274366"/>
            <a:ext cx="3699867" cy="444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" name="Border"/>
          <p:cNvSpPr/>
          <p:nvPr/>
        </p:nvSpPr>
        <p:spPr>
          <a:xfrm>
            <a:off x="4074517" y="1274366"/>
            <a:ext cx="6350" cy="5059759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0" name="Border"/>
          <p:cNvSpPr/>
          <p:nvPr/>
        </p:nvSpPr>
        <p:spPr>
          <a:xfrm>
            <a:off x="381000" y="6327775"/>
            <a:ext cx="3699867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1" name="Border"/>
          <p:cNvSpPr/>
          <p:nvPr/>
        </p:nvSpPr>
        <p:spPr>
          <a:xfrm>
            <a:off x="381000" y="1274366"/>
            <a:ext cx="6350" cy="5059759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2" name="Text: MODEL 01"/>
          <p:cNvSpPr txBox="1"/>
          <p:nvPr/>
        </p:nvSpPr>
        <p:spPr>
          <a:xfrm>
            <a:off x="565150" y="1515666"/>
            <a:ext cx="579537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34" dirty="0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MODEL 01</a:t>
            </a:r>
            <a:endParaRPr lang="en-US" sz="850" dirty="0"/>
          </a:p>
        </p:txBody>
      </p:sp>
      <p:sp>
        <p:nvSpPr>
          <p:cNvPr id="13" name="Rounded Rectangle"/>
          <p:cNvSpPr/>
          <p:nvPr/>
        </p:nvSpPr>
        <p:spPr>
          <a:xfrm>
            <a:off x="2871291" y="1487091"/>
            <a:ext cx="1022251" cy="238125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6350" cap="flat" cmpd="sng" algn="ctr">
            <a:solidFill>
              <a:srgbClr val="FDE68A"/>
            </a:solidFill>
            <a:miter lim="800000"/>
          </a:ln>
        </p:spPr>
      </p:sp>
      <p:sp>
        <p:nvSpPr>
          <p:cNvPr id="14" name="Text: 수작업 베이스라인"/>
          <p:cNvSpPr txBox="1"/>
          <p:nvPr/>
        </p:nvSpPr>
        <p:spPr>
          <a:xfrm>
            <a:off x="2976066" y="1525191"/>
            <a:ext cx="812701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D97706"/>
                </a:solidFill>
                <a:latin typeface="Segoe UI"/>
                <a:ea typeface="Segoe UI"/>
                <a:cs typeface="Segoe UI"/>
              </a:rPr>
              <a:t>수작업 베이스라인</a:t>
            </a:r>
            <a:endParaRPr lang="en-US" sz="750" dirty="0"/>
          </a:p>
        </p:txBody>
      </p:sp>
      <p:sp>
        <p:nvSpPr>
          <p:cNvPr id="15" name="Text: Intel Geti"/>
          <p:cNvSpPr txBox="1"/>
          <p:nvPr/>
        </p:nvSpPr>
        <p:spPr>
          <a:xfrm>
            <a:off x="565150" y="1760141"/>
            <a:ext cx="907852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spc="-3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Intel Geti</a:t>
            </a:r>
            <a:endParaRPr lang="en-US" sz="1700" dirty="0"/>
          </a:p>
        </p:txBody>
      </p:sp>
      <p:sp>
        <p:nvSpPr>
          <p:cNvPr id="16" name="Text: 31장 직접 라벨링 모델"/>
          <p:cNvSpPr txBox="1"/>
          <p:nvPr/>
        </p:nvSpPr>
        <p:spPr>
          <a:xfrm>
            <a:off x="565150" y="2114153"/>
            <a:ext cx="1128415" cy="1666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b="1" spc="-4" dirty="0">
                <a:solidFill>
                  <a:srgbClr val="D97706"/>
                </a:solidFill>
                <a:latin typeface="Segoe UI"/>
                <a:ea typeface="Segoe UI"/>
                <a:cs typeface="Segoe UI"/>
              </a:rPr>
              <a:t>31장 직접 라벨링 모델</a:t>
            </a:r>
            <a:endParaRPr lang="en-US" sz="875" dirty="0"/>
          </a:p>
        </p:txBody>
      </p:sp>
      <p:sp>
        <p:nvSpPr>
          <p:cNvPr id="17" name="Rounded Rectangle"/>
          <p:cNvSpPr/>
          <p:nvPr/>
        </p:nvSpPr>
        <p:spPr>
          <a:xfrm>
            <a:off x="568325" y="2387203"/>
            <a:ext cx="3325217" cy="1485900"/>
          </a:xfrm>
          <a:prstGeom prst="roundRect">
            <a:avLst>
              <a:gd name="adj" fmla="val 5769"/>
            </a:avLst>
          </a:prstGeom>
          <a:solidFill>
            <a:srgbClr val="0F172A"/>
          </a:solidFill>
          <a:ln w="6350" cap="flat" cmpd="sng" algn="ctr">
            <a:solidFill>
              <a:srgbClr val="E2E8F0"/>
            </a:solidFill>
            <a:miter lim="800000"/>
          </a:ln>
          <a:effectLst>
            <a:outerShdw blurRad="76200" dist="25400" dir="5400000" sx="100000" sy="100000" algn="ctr" rotWithShape="0">
              <a:srgbClr val="000000">
                <a:alpha val="6000"/>
              </a:srgbClr>
            </a:outerShdw>
          </a:effectLst>
        </p:spPr>
      </p:sp>
      <p:pic>
        <p:nvPicPr>
          <p:cNvPr id="18" name="Image: Intel Geti Manual Labeling"/>
          <p:cNvPicPr>
            <a:picLocks noChangeAspect="1"/>
          </p:cNvPicPr>
          <p:nvPr/>
        </p:nvPicPr>
        <p:blipFill>
          <a:blip r:embed="rId2"/>
          <a:srcRect l="0" t="10064" r="0" b="10064"/>
          <a:stretch>
            <a:fillRect/>
          </a:stretch>
        </p:blipFill>
        <p:spPr>
          <a:xfrm>
            <a:off x="571500" y="2390378"/>
            <a:ext cx="3318867" cy="1479550"/>
          </a:xfrm>
          <a:prstGeom prst="rect">
            <a:avLst/>
          </a:prstGeom>
          <a:ln>
            <a:noFill/>
          </a:ln>
        </p:spPr>
      </p:pic>
      <p:sp>
        <p:nvSpPr>
          <p:cNvPr id="19" name="Text: •  수동 라벨링 대체:  플랫폼 오류 우회를 위해 31장 마우스 직접 "/>
          <p:cNvSpPr txBox="1"/>
          <p:nvPr/>
        </p:nvSpPr>
        <p:spPr>
          <a:xfrm>
            <a:off x="565150" y="3951684"/>
            <a:ext cx="3275013" cy="344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75" b="1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수동 라벨링 대체:</a:t>
            </a:r>
            <a:r>
              <a:rPr lang="en-US" sz="875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 플랫폼 오류 우회를 위해 31장 마우스 직접 라</a:t>
            </a:r>
            <a:br>
              <a:rPr lang="en-US" sz="875"/>
            </a:br>
            <a:r>
              <a:rPr lang="en-US" sz="875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벨링</a:t>
            </a:r>
            <a:endParaRPr lang="en-US" sz="875" dirty="0"/>
          </a:p>
        </p:txBody>
      </p:sp>
      <p:sp>
        <p:nvSpPr>
          <p:cNvPr id="20" name="Text: •  임시 베이스라인:  플랫폼 내 최소 관절 인식 가능 여부를 검증하 "/>
          <p:cNvSpPr txBox="1"/>
          <p:nvPr/>
        </p:nvSpPr>
        <p:spPr>
          <a:xfrm>
            <a:off x="565150" y="4346972"/>
            <a:ext cx="3225602" cy="344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75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임시 베이스라인:</a:t>
            </a:r>
            <a:r>
              <a:rPr lang="en-US" sz="875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 플랫폼 내 최소 관절 인식 가능 여부를 검증하</a:t>
            </a:r>
            <a:br>
              <a:rPr lang="en-US" sz="875"/>
            </a:br>
            <a:r>
              <a:rPr lang="en-US" sz="875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기 위한 기준 모델</a:t>
            </a:r>
            <a:endParaRPr lang="en-US" sz="875" dirty="0"/>
          </a:p>
        </p:txBody>
      </p:sp>
      <p:sp>
        <p:nvSpPr>
          <p:cNvPr id="21" name="Rounded Rectangle"/>
          <p:cNvSpPr/>
          <p:nvPr/>
        </p:nvSpPr>
        <p:spPr>
          <a:xfrm>
            <a:off x="568325" y="5842000"/>
            <a:ext cx="3325217" cy="317500"/>
          </a:xfrm>
          <a:prstGeom prst="roundRect">
            <a:avLst>
              <a:gd name="adj" fmla="val 23000"/>
            </a:avLst>
          </a:prstGeom>
          <a:solidFill>
            <a:srgbClr val="FFFBEB"/>
          </a:solidFill>
          <a:ln w="6350" cap="flat" cmpd="sng" algn="ctr">
            <a:solidFill>
              <a:srgbClr val="FDE68A"/>
            </a:solidFill>
            <a:miter lim="800000"/>
          </a:ln>
        </p:spPr>
      </p:sp>
      <p:sp>
        <p:nvSpPr>
          <p:cNvPr id="22" name="Text: ⚠️ 최소 동작 검증용 (데이터 부족으로 실전 불가)"/>
          <p:cNvSpPr txBox="1"/>
          <p:nvPr/>
        </p:nvSpPr>
        <p:spPr>
          <a:xfrm>
            <a:off x="673100" y="5915025"/>
            <a:ext cx="2348508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spc="-4" dirty="0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⚠️ 최소 동작 검증용 (데이터 부족으로 실전 불가)</a:t>
            </a:r>
            <a:endParaRPr lang="en-US" sz="825" dirty="0"/>
          </a:p>
        </p:txBody>
      </p:sp>
      <p:sp>
        <p:nvSpPr>
          <p:cNvPr id="23" name="Rounded Rectangle"/>
          <p:cNvSpPr/>
          <p:nvPr/>
        </p:nvSpPr>
        <p:spPr>
          <a:xfrm>
            <a:off x="4245967" y="1274366"/>
            <a:ext cx="3699966" cy="5059759"/>
          </a:xfrm>
          <a:prstGeom prst="roundRect">
            <a:avLst>
              <a:gd name="adj" fmla="val 3089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sx="99314" sy="99498" algn="ctr" rotWithShape="0">
              <a:srgbClr val="000000">
                <a:alpha val="5000"/>
              </a:srgbClr>
            </a:outerShdw>
          </a:effectLst>
        </p:spPr>
      </p:sp>
      <p:sp>
        <p:nvSpPr>
          <p:cNvPr id="24" name="Border"/>
          <p:cNvSpPr/>
          <p:nvPr/>
        </p:nvSpPr>
        <p:spPr>
          <a:xfrm>
            <a:off x="4245967" y="1274366"/>
            <a:ext cx="3699966" cy="444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Border"/>
          <p:cNvSpPr/>
          <p:nvPr/>
        </p:nvSpPr>
        <p:spPr>
          <a:xfrm>
            <a:off x="7939584" y="1274366"/>
            <a:ext cx="6350" cy="5059759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6" name="Border"/>
          <p:cNvSpPr/>
          <p:nvPr/>
        </p:nvSpPr>
        <p:spPr>
          <a:xfrm>
            <a:off x="4245967" y="6327775"/>
            <a:ext cx="3699966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7" name="Border"/>
          <p:cNvSpPr/>
          <p:nvPr/>
        </p:nvSpPr>
        <p:spPr>
          <a:xfrm>
            <a:off x="4245967" y="1274366"/>
            <a:ext cx="6350" cy="5059759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8" name="Text: MODEL 02"/>
          <p:cNvSpPr txBox="1"/>
          <p:nvPr/>
        </p:nvSpPr>
        <p:spPr>
          <a:xfrm>
            <a:off x="4430117" y="1515666"/>
            <a:ext cx="579537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34" dirty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MODEL 02</a:t>
            </a:r>
            <a:endParaRPr lang="en-US" sz="850" dirty="0"/>
          </a:p>
        </p:txBody>
      </p:sp>
      <p:sp>
        <p:nvSpPr>
          <p:cNvPr id="29" name="Rounded Rectangle"/>
          <p:cNvSpPr/>
          <p:nvPr/>
        </p:nvSpPr>
        <p:spPr>
          <a:xfrm>
            <a:off x="6930727" y="1487091"/>
            <a:ext cx="827881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30" name="Text: 독자 전이학습"/>
          <p:cNvSpPr txBox="1"/>
          <p:nvPr/>
        </p:nvSpPr>
        <p:spPr>
          <a:xfrm>
            <a:off x="7035502" y="1525191"/>
            <a:ext cx="618331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독자 전이학습</a:t>
            </a:r>
            <a:endParaRPr lang="en-US" sz="750" dirty="0"/>
          </a:p>
        </p:txBody>
      </p:sp>
      <p:sp>
        <p:nvSpPr>
          <p:cNvPr id="31" name="Text: Custom YOLOv8"/>
          <p:cNvSpPr txBox="1"/>
          <p:nvPr/>
        </p:nvSpPr>
        <p:spPr>
          <a:xfrm>
            <a:off x="4430117" y="1760141"/>
            <a:ext cx="1609923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spc="-3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Custom YOLOv8</a:t>
            </a:r>
            <a:endParaRPr lang="en-US" sz="1700" dirty="0"/>
          </a:p>
        </p:txBody>
      </p:sp>
      <p:sp>
        <p:nvSpPr>
          <p:cNvPr id="32" name="Text: 1.8만 장 터미널 직접 학습 (CLI)"/>
          <p:cNvSpPr txBox="1"/>
          <p:nvPr/>
        </p:nvSpPr>
        <p:spPr>
          <a:xfrm>
            <a:off x="4430117" y="2114153"/>
            <a:ext cx="1584127" cy="1666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b="1" spc="-4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1.8만 장 터미널 직접 학습 (CLI)</a:t>
            </a:r>
            <a:endParaRPr lang="en-US" sz="875" dirty="0"/>
          </a:p>
        </p:txBody>
      </p:sp>
      <p:sp>
        <p:nvSpPr>
          <p:cNvPr id="33" name="Rounded Rectangle"/>
          <p:cNvSpPr/>
          <p:nvPr/>
        </p:nvSpPr>
        <p:spPr>
          <a:xfrm>
            <a:off x="4433292" y="2387203"/>
            <a:ext cx="3325316" cy="1485900"/>
          </a:xfrm>
          <a:prstGeom prst="roundRect">
            <a:avLst>
              <a:gd name="adj" fmla="val 5769"/>
            </a:avLst>
          </a:prstGeom>
          <a:solidFill>
            <a:srgbClr val="0F172A"/>
          </a:solidFill>
          <a:ln w="6350" cap="flat" cmpd="sng" algn="ctr">
            <a:solidFill>
              <a:srgbClr val="E2E8F0"/>
            </a:solidFill>
            <a:miter lim="800000"/>
          </a:ln>
          <a:effectLst>
            <a:outerShdw blurRad="76200" dist="25400" dir="5400000" sx="100000" sy="100000" algn="ctr" rotWithShape="0">
              <a:srgbClr val="000000">
                <a:alpha val="6000"/>
              </a:srgbClr>
            </a:outerShdw>
          </a:effectLst>
        </p:spPr>
      </p:sp>
      <p:pic>
        <p:nvPicPr>
          <p:cNvPr id="34" name="Image: Terminal Dataset Training Batch"/>
          <p:cNvPicPr>
            <a:picLocks noChangeAspect="1"/>
          </p:cNvPicPr>
          <p:nvPr/>
        </p:nvPicPr>
        <p:blipFill>
          <a:blip r:embed="rId3"/>
          <a:srcRect l="0" t="27711" r="0" b="27711"/>
          <a:stretch>
            <a:fillRect/>
          </a:stretch>
        </p:blipFill>
        <p:spPr>
          <a:xfrm>
            <a:off x="4436467" y="2390378"/>
            <a:ext cx="3318966" cy="1479550"/>
          </a:xfrm>
          <a:prstGeom prst="rect">
            <a:avLst/>
          </a:prstGeom>
          <a:ln>
            <a:noFill/>
          </a:ln>
        </p:spPr>
      </p:pic>
      <p:sp>
        <p:nvSpPr>
          <p:cNvPr id="35" name="Text: •  1.8만 장 100% 보존:  플랫폼을 거치지 않고 원본 18,77"/>
          <p:cNvSpPr txBox="1"/>
          <p:nvPr/>
        </p:nvSpPr>
        <p:spPr>
          <a:xfrm>
            <a:off x="4430117" y="3951684"/>
            <a:ext cx="3223419" cy="344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75" b="1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1.8만 장 100% 보존:</a:t>
            </a:r>
            <a:r>
              <a:rPr lang="en-US" sz="875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 플랫폼을 거치지 않고 원본 18,776장 전체</a:t>
            </a:r>
            <a:br>
              <a:rPr lang="en-US" sz="875"/>
            </a:br>
            <a:r>
              <a:rPr lang="en-US" sz="875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라벨 온전 활용</a:t>
            </a:r>
            <a:endParaRPr lang="en-US" sz="875" dirty="0"/>
          </a:p>
        </p:txBody>
      </p:sp>
      <p:sp>
        <p:nvSpPr>
          <p:cNvPr id="36" name="Text: •  CLI 학습 완주:  로컬 터미널 환경에서 64분 만에 직접 전이학"/>
          <p:cNvSpPr txBox="1"/>
          <p:nvPr/>
        </p:nvSpPr>
        <p:spPr>
          <a:xfrm>
            <a:off x="4430117" y="4346972"/>
            <a:ext cx="3325217" cy="344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75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CLI 학습 완주:</a:t>
            </a:r>
            <a:r>
              <a:rPr lang="en-US" sz="875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 로컬 터미널 환경에서 64분 만에 직접 전이학습 완</a:t>
            </a:r>
            <a:br>
              <a:rPr lang="en-US" sz="875"/>
            </a:br>
            <a:r>
              <a:rPr lang="en-US" sz="875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주 (mAP 99.2%)</a:t>
            </a:r>
            <a:endParaRPr lang="en-US" sz="875" dirty="0"/>
          </a:p>
        </p:txBody>
      </p:sp>
      <p:sp>
        <p:nvSpPr>
          <p:cNvPr id="37" name="Rounded Rectangle"/>
          <p:cNvSpPr/>
          <p:nvPr/>
        </p:nvSpPr>
        <p:spPr>
          <a:xfrm>
            <a:off x="4433292" y="5842000"/>
            <a:ext cx="3325316" cy="317500"/>
          </a:xfrm>
          <a:prstGeom prst="roundRect">
            <a:avLst>
              <a:gd name="adj" fmla="val 23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38" name="Text: ⭐ 18,776장 전량 온전히 전이학습 (mAP 99.2% 달성)"/>
          <p:cNvSpPr txBox="1"/>
          <p:nvPr/>
        </p:nvSpPr>
        <p:spPr>
          <a:xfrm>
            <a:off x="4538067" y="5915025"/>
            <a:ext cx="2583061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spc="-4" dirty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⭐ 18,776장 전량 온전히 전이학습 (mAP 99.2% 달성)</a:t>
            </a:r>
            <a:endParaRPr lang="en-US" sz="825" dirty="0"/>
          </a:p>
        </p:txBody>
      </p:sp>
      <p:sp>
        <p:nvSpPr>
          <p:cNvPr id="39" name="Rounded Rectangle"/>
          <p:cNvSpPr/>
          <p:nvPr/>
        </p:nvSpPr>
        <p:spPr>
          <a:xfrm>
            <a:off x="8111034" y="1274366"/>
            <a:ext cx="3699966" cy="5059759"/>
          </a:xfrm>
          <a:prstGeom prst="roundRect">
            <a:avLst>
              <a:gd name="adj" fmla="val 3089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sx="99314" sy="99498" algn="ctr" rotWithShape="0">
              <a:srgbClr val="000000">
                <a:alpha val="5000"/>
              </a:srgbClr>
            </a:outerShdw>
          </a:effectLst>
        </p:spPr>
      </p:sp>
      <p:sp>
        <p:nvSpPr>
          <p:cNvPr id="40" name="Border"/>
          <p:cNvSpPr/>
          <p:nvPr/>
        </p:nvSpPr>
        <p:spPr>
          <a:xfrm>
            <a:off x="8111034" y="1274366"/>
            <a:ext cx="3699966" cy="4445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41" name="Border"/>
          <p:cNvSpPr/>
          <p:nvPr/>
        </p:nvSpPr>
        <p:spPr>
          <a:xfrm>
            <a:off x="11804650" y="1274366"/>
            <a:ext cx="6350" cy="5059759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2" name="Border"/>
          <p:cNvSpPr/>
          <p:nvPr/>
        </p:nvSpPr>
        <p:spPr>
          <a:xfrm>
            <a:off x="8111034" y="6327775"/>
            <a:ext cx="3699966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3" name="Border"/>
          <p:cNvSpPr/>
          <p:nvPr/>
        </p:nvSpPr>
        <p:spPr>
          <a:xfrm>
            <a:off x="8111034" y="1274366"/>
            <a:ext cx="6350" cy="5059759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4" name="Text: MODEL 03"/>
          <p:cNvSpPr txBox="1"/>
          <p:nvPr/>
        </p:nvSpPr>
        <p:spPr>
          <a:xfrm>
            <a:off x="8295184" y="1515666"/>
            <a:ext cx="579537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34" dirty="0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MODEL 03</a:t>
            </a:r>
            <a:endParaRPr lang="en-US" sz="850" dirty="0"/>
          </a:p>
        </p:txBody>
      </p:sp>
      <p:sp>
        <p:nvSpPr>
          <p:cNvPr id="45" name="Rounded Rectangle"/>
          <p:cNvSpPr/>
          <p:nvPr/>
        </p:nvSpPr>
        <p:spPr>
          <a:xfrm>
            <a:off x="10708084" y="1487091"/>
            <a:ext cx="915591" cy="238125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 cap="flat" cmpd="sng" algn="ctr">
            <a:solidFill>
              <a:srgbClr val="86EFAC"/>
            </a:solidFill>
            <a:miter lim="800000"/>
          </a:ln>
        </p:spPr>
      </p:sp>
      <p:sp>
        <p:nvSpPr>
          <p:cNvPr id="46" name="Text: 상용 SOTA 기준"/>
          <p:cNvSpPr txBox="1"/>
          <p:nvPr/>
        </p:nvSpPr>
        <p:spPr>
          <a:xfrm>
            <a:off x="10812859" y="1525191"/>
            <a:ext cx="706041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059669"/>
                </a:solidFill>
                <a:latin typeface="Segoe UI"/>
                <a:ea typeface="Segoe UI"/>
                <a:cs typeface="Segoe UI"/>
              </a:rPr>
              <a:t>상용 SOTA 기준</a:t>
            </a:r>
            <a:endParaRPr lang="en-US" sz="750" dirty="0"/>
          </a:p>
        </p:txBody>
      </p:sp>
      <p:sp>
        <p:nvSpPr>
          <p:cNvPr id="47" name="Text: Google MediaPipe"/>
          <p:cNvSpPr txBox="1"/>
          <p:nvPr/>
        </p:nvSpPr>
        <p:spPr>
          <a:xfrm>
            <a:off x="8295184" y="1760141"/>
            <a:ext cx="1827907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spc="-3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Google MediaPipe</a:t>
            </a:r>
            <a:endParaRPr lang="en-US" sz="1700" dirty="0"/>
          </a:p>
        </p:txBody>
      </p:sp>
      <p:sp>
        <p:nvSpPr>
          <p:cNvPr id="48" name="Text: 실시간 악기 연주 기준 모델"/>
          <p:cNvSpPr txBox="1"/>
          <p:nvPr/>
        </p:nvSpPr>
        <p:spPr>
          <a:xfrm>
            <a:off x="8295184" y="2114153"/>
            <a:ext cx="1371104" cy="1666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b="1" spc="-4" dirty="0">
                <a:solidFill>
                  <a:srgbClr val="059669"/>
                </a:solidFill>
                <a:latin typeface="Segoe UI"/>
                <a:ea typeface="Segoe UI"/>
                <a:cs typeface="Segoe UI"/>
              </a:rPr>
              <a:t>실시간 악기 연주 기준 모델</a:t>
            </a:r>
            <a:endParaRPr lang="en-US" sz="875" dirty="0"/>
          </a:p>
        </p:txBody>
      </p:sp>
      <p:sp>
        <p:nvSpPr>
          <p:cNvPr id="49" name="Rounded Rectangle"/>
          <p:cNvSpPr/>
          <p:nvPr/>
        </p:nvSpPr>
        <p:spPr>
          <a:xfrm>
            <a:off x="8298359" y="2387203"/>
            <a:ext cx="3325316" cy="1485900"/>
          </a:xfrm>
          <a:prstGeom prst="roundRect">
            <a:avLst>
              <a:gd name="adj" fmla="val 5769"/>
            </a:avLst>
          </a:prstGeom>
          <a:solidFill>
            <a:srgbClr val="0F172A"/>
          </a:solidFill>
          <a:ln w="6350" cap="flat" cmpd="sng" algn="ctr">
            <a:solidFill>
              <a:srgbClr val="E2E8F0"/>
            </a:solidFill>
            <a:miter lim="800000"/>
          </a:ln>
          <a:effectLst>
            <a:outerShdw blurRad="76200" dist="25400" dir="5400000" sx="100000" sy="100000" algn="ctr" rotWithShape="0">
              <a:srgbClr val="000000">
                <a:alpha val="6000"/>
              </a:srgbClr>
            </a:outerShdw>
          </a:effectLst>
        </p:spPr>
      </p:sp>
      <p:pic>
        <p:nvPicPr>
          <p:cNvPr id="50" name="Image: MediaPipe Web Realtime Tracking"/>
          <p:cNvPicPr>
            <a:picLocks noChangeAspect="1"/>
          </p:cNvPicPr>
          <p:nvPr/>
        </p:nvPicPr>
        <p:blipFill>
          <a:blip r:embed="rId4"/>
          <a:srcRect l="0" t="10065" r="0" b="10065"/>
          <a:stretch>
            <a:fillRect/>
          </a:stretch>
        </p:blipFill>
        <p:spPr>
          <a:xfrm>
            <a:off x="8301534" y="2390378"/>
            <a:ext cx="3318966" cy="1479550"/>
          </a:xfrm>
          <a:prstGeom prst="rect">
            <a:avLst/>
          </a:prstGeom>
          <a:ln>
            <a:noFill/>
          </a:ln>
        </p:spPr>
      </p:pic>
      <p:sp>
        <p:nvSpPr>
          <p:cNvPr id="51" name="Text: •  60 FPS 무지연 엔진:  브라우저 WebGL 가속 기반 초고속 "/>
          <p:cNvSpPr txBox="1"/>
          <p:nvPr/>
        </p:nvSpPr>
        <p:spPr>
          <a:xfrm>
            <a:off x="8295184" y="3951684"/>
            <a:ext cx="3235821" cy="344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75" b="1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60 FPS 무지연 엔진:</a:t>
            </a:r>
            <a:r>
              <a:rPr lang="en-US" sz="875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 브라우저 WebGL 가속 기반 초고속 실시간</a:t>
            </a:r>
            <a:br>
              <a:rPr lang="en-US" sz="875"/>
            </a:br>
            <a:r>
              <a:rPr lang="en-US" sz="875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추론 달성</a:t>
            </a:r>
            <a:endParaRPr lang="en-US" sz="875" dirty="0"/>
          </a:p>
        </p:txBody>
      </p:sp>
      <p:sp>
        <p:nvSpPr>
          <p:cNvPr id="52" name="Text: •  프로덕션 레퍼런스:  실시간 악기 구동의 핵심 엔진이자 성능 평가 "/>
          <p:cNvSpPr txBox="1"/>
          <p:nvPr/>
        </p:nvSpPr>
        <p:spPr>
          <a:xfrm>
            <a:off x="8295184" y="4346972"/>
            <a:ext cx="3297734" cy="344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75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프로덕션 레퍼런스:</a:t>
            </a:r>
            <a:r>
              <a:rPr lang="en-US" sz="875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 실시간 악기 구동의 핵심 엔진이자 성능 평가</a:t>
            </a:r>
            <a:br>
              <a:rPr lang="en-US" sz="875"/>
            </a:br>
            <a:r>
              <a:rPr lang="en-US" sz="875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의 상용 기준점</a:t>
            </a:r>
            <a:endParaRPr lang="en-US" sz="875" dirty="0"/>
          </a:p>
        </p:txBody>
      </p:sp>
      <p:sp>
        <p:nvSpPr>
          <p:cNvPr id="53" name="Rounded Rectangle"/>
          <p:cNvSpPr/>
          <p:nvPr/>
        </p:nvSpPr>
        <p:spPr>
          <a:xfrm>
            <a:off x="8298359" y="5842000"/>
            <a:ext cx="3325316" cy="317500"/>
          </a:xfrm>
          <a:prstGeom prst="roundRect">
            <a:avLst>
              <a:gd name="adj" fmla="val 23000"/>
            </a:avLst>
          </a:prstGeom>
          <a:solidFill>
            <a:srgbClr val="F0FDF4"/>
          </a:solidFill>
          <a:ln w="6350" cap="flat" cmpd="sng" algn="ctr">
            <a:solidFill>
              <a:srgbClr val="86EFAC"/>
            </a:solidFill>
            <a:miter lim="800000"/>
          </a:ln>
        </p:spPr>
      </p:sp>
      <p:sp>
        <p:nvSpPr>
          <p:cNvPr id="54" name="Text: 🎹 60 FPS 무지연 실시간 악기 구동 엔진 탑재"/>
          <p:cNvSpPr txBox="1"/>
          <p:nvPr/>
        </p:nvSpPr>
        <p:spPr>
          <a:xfrm>
            <a:off x="8403134" y="5915025"/>
            <a:ext cx="2187674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spc="-4" dirty="0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🎹 60 FPS 무지연 실시간 악기 구동 엔진 탑재</a:t>
            </a:r>
            <a:endParaRPr lang="en-US" sz="825" dirty="0"/>
          </a:p>
        </p:txBody>
      </p:sp>
      <p:sp>
        <p:nvSpPr>
          <p:cNvPr id="55" name="Border"/>
          <p:cNvSpPr/>
          <p:nvPr/>
        </p:nvSpPr>
        <p:spPr>
          <a:xfrm>
            <a:off x="381000" y="6334125"/>
            <a:ext cx="11430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6" name="Text: AuraSynth: Computer Vision &amp; Interactive"/>
          <p:cNvSpPr txBox="1"/>
          <p:nvPr/>
        </p:nvSpPr>
        <p:spPr>
          <a:xfrm>
            <a:off x="381000" y="6451600"/>
            <a:ext cx="3247628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AuraSynth: Computer Vision &amp; Interactive Web Audio Research</a:t>
            </a:r>
            <a:endParaRPr lang="en-US" sz="850" dirty="0"/>
          </a:p>
        </p:txBody>
      </p:sp>
      <p:sp>
        <p:nvSpPr>
          <p:cNvPr id="57" name="Rounded Rectangle"/>
          <p:cNvSpPr/>
          <p:nvPr/>
        </p:nvSpPr>
        <p:spPr>
          <a:xfrm>
            <a:off x="11237714" y="6429375"/>
            <a:ext cx="573286" cy="225425"/>
          </a:xfrm>
          <a:prstGeom prst="roundRect">
            <a:avLst>
              <a:gd name="adj" fmla="val 22535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58" name="Text: 05 / 12"/>
          <p:cNvSpPr txBox="1"/>
          <p:nvPr/>
        </p:nvSpPr>
        <p:spPr>
          <a:xfrm>
            <a:off x="11339314" y="6451600"/>
            <a:ext cx="37008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05 / 12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4175" y="244475"/>
            <a:ext cx="1273969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3" name="Text: PART 03 • AI 모델 비교"/>
          <p:cNvSpPr txBox="1"/>
          <p:nvPr/>
        </p:nvSpPr>
        <p:spPr>
          <a:xfrm>
            <a:off x="488950" y="282575"/>
            <a:ext cx="1064419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PART 03 • AI 모델 비교</a:t>
            </a:r>
            <a:endParaRPr lang="en-US" sz="750" dirty="0"/>
          </a:p>
        </p:txBody>
      </p:sp>
      <p:sp>
        <p:nvSpPr>
          <p:cNvPr id="4" name="Text: AuraSynth Engine Architecture"/>
          <p:cNvSpPr txBox="1"/>
          <p:nvPr/>
        </p:nvSpPr>
        <p:spPr>
          <a:xfrm>
            <a:off x="1750219" y="265113"/>
            <a:ext cx="1658739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AuraSynth Engine Architecture</a:t>
            </a:r>
            <a:endParaRPr lang="en-US" sz="900" dirty="0"/>
          </a:p>
        </p:txBody>
      </p:sp>
      <p:sp>
        <p:nvSpPr>
          <p:cNvPr id="5" name="Text: 3가지 AI 모델 성능 비교"/>
          <p:cNvSpPr txBox="1"/>
          <p:nvPr/>
        </p:nvSpPr>
        <p:spPr>
          <a:xfrm>
            <a:off x="381000" y="555625"/>
            <a:ext cx="3349526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75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3가지 AI 모델 성능 비교</a:t>
            </a:r>
            <a:endParaRPr lang="en-US" sz="2500" dirty="0"/>
          </a:p>
        </p:txBody>
      </p:sp>
      <p:sp>
        <p:nvSpPr>
          <p:cNvPr id="6" name="Text: 31장 수작업 모델 vs 1.8만 장 직접 학습 모델 vs 구글 미디어파"/>
          <p:cNvSpPr txBox="1"/>
          <p:nvPr/>
        </p:nvSpPr>
        <p:spPr>
          <a:xfrm>
            <a:off x="381000" y="948055"/>
            <a:ext cx="5841603" cy="2044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31장 수작업 모델 vs 1.8만 장 직접 학습 모델 vs 구글 미디어파이프의 인식률과 속도 비교</a:t>
            </a:r>
            <a:endParaRPr lang="en-US" sz="1150" dirty="0"/>
          </a:p>
        </p:txBody>
      </p:sp>
      <p:sp>
        <p:nvSpPr>
          <p:cNvPr id="7" name="Rounded Rectangle"/>
          <p:cNvSpPr/>
          <p:nvPr/>
        </p:nvSpPr>
        <p:spPr>
          <a:xfrm>
            <a:off x="384175" y="1277541"/>
            <a:ext cx="11423650" cy="5053409"/>
          </a:xfrm>
          <a:prstGeom prst="roundRect">
            <a:avLst>
              <a:gd name="adj" fmla="val 2199"/>
            </a:avLst>
          </a:prstGeom>
          <a:solidFill>
            <a:srgbClr val="FFFFFF"/>
          </a:solidFill>
          <a:ln w="6350" cap="flat" cmpd="sng" algn="ctr">
            <a:solidFill>
              <a:srgbClr val="E2E8F0"/>
            </a:solidFill>
            <a:miter lim="800000"/>
          </a:ln>
          <a:effectLst>
            <a:outerShdw blurRad="101600" dist="50800" dir="5400000" sx="99778" sy="99497" algn="ctr" rotWithShape="0">
              <a:srgbClr val="000000">
                <a:alpha val="5000"/>
              </a:srgbClr>
            </a:outerShdw>
          </a:effectLst>
        </p:spPr>
      </p:sp>
      <p:sp>
        <p:nvSpPr>
          <p:cNvPr id="8" name="Rectangle"/>
          <p:cNvSpPr/>
          <p:nvPr/>
        </p:nvSpPr>
        <p:spPr>
          <a:xfrm>
            <a:off x="641350" y="2011958"/>
            <a:ext cx="10909300" cy="395288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9" name="Border"/>
          <p:cNvSpPr/>
          <p:nvPr/>
        </p:nvSpPr>
        <p:spPr>
          <a:xfrm>
            <a:off x="641350" y="2394545"/>
            <a:ext cx="109093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" name="Text: 구분"/>
          <p:cNvSpPr txBox="1"/>
          <p:nvPr/>
        </p:nvSpPr>
        <p:spPr>
          <a:xfrm>
            <a:off x="781050" y="2099270"/>
            <a:ext cx="246658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구분</a:t>
            </a:r>
            <a:endParaRPr lang="en-US" sz="975" dirty="0"/>
          </a:p>
        </p:txBody>
      </p:sp>
      <p:sp>
        <p:nvSpPr>
          <p:cNvPr id="11" name="Text: Model 1: Intel Geti (31장 수작업)"/>
          <p:cNvSpPr txBox="1"/>
          <p:nvPr/>
        </p:nvSpPr>
        <p:spPr>
          <a:xfrm>
            <a:off x="2744688" y="2099270"/>
            <a:ext cx="1912243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0284C7"/>
                </a:solidFill>
                <a:latin typeface="Segoe UI"/>
                <a:ea typeface="Segoe UI"/>
                <a:cs typeface="Segoe UI"/>
              </a:rPr>
              <a:t>Model 1: Intel Geti (31장 수작업)</a:t>
            </a:r>
            <a:endParaRPr lang="en-US" sz="975" dirty="0"/>
          </a:p>
        </p:txBody>
      </p:sp>
      <p:sp>
        <p:nvSpPr>
          <p:cNvPr id="12" name="Text: Model 2: Custom YOLOv8-Pose (CLI)"/>
          <p:cNvSpPr txBox="1"/>
          <p:nvPr/>
        </p:nvSpPr>
        <p:spPr>
          <a:xfrm>
            <a:off x="5690195" y="2099270"/>
            <a:ext cx="2144018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Model 2: Custom YOLOv8-Pose (CLI)</a:t>
            </a:r>
            <a:endParaRPr lang="en-US" sz="975" dirty="0"/>
          </a:p>
        </p:txBody>
      </p:sp>
      <p:sp>
        <p:nvSpPr>
          <p:cNvPr id="13" name="Text: Model 3: Google MediaPipe (상용 기준)"/>
          <p:cNvSpPr txBox="1"/>
          <p:nvPr/>
        </p:nvSpPr>
        <p:spPr>
          <a:xfrm>
            <a:off x="8635702" y="2099270"/>
            <a:ext cx="2309217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059669"/>
                </a:solidFill>
                <a:latin typeface="Segoe UI"/>
                <a:ea typeface="Segoe UI"/>
                <a:cs typeface="Segoe UI"/>
              </a:rPr>
              <a:t>Model 3: Google MediaPipe (상용 기준)</a:t>
            </a:r>
            <a:endParaRPr lang="en-US" sz="975" dirty="0"/>
          </a:p>
        </p:txBody>
      </p:sp>
      <p:sp>
        <p:nvSpPr>
          <p:cNvPr id="14" name="Border"/>
          <p:cNvSpPr/>
          <p:nvPr/>
        </p:nvSpPr>
        <p:spPr>
          <a:xfrm>
            <a:off x="641350" y="2773958"/>
            <a:ext cx="10909300" cy="635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15" name="Text: 학습 데이터셋"/>
          <p:cNvSpPr txBox="1"/>
          <p:nvPr/>
        </p:nvSpPr>
        <p:spPr>
          <a:xfrm>
            <a:off x="781050" y="2488208"/>
            <a:ext cx="782935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학습 데이터셋</a:t>
            </a:r>
            <a:endParaRPr lang="en-US" sz="975" dirty="0"/>
          </a:p>
        </p:txBody>
      </p:sp>
      <p:sp>
        <p:nvSpPr>
          <p:cNvPr id="16" name="Text: 31장 (수동 라벨링)"/>
          <p:cNvSpPr txBox="1"/>
          <p:nvPr/>
        </p:nvSpPr>
        <p:spPr>
          <a:xfrm>
            <a:off x="2744688" y="2488208"/>
            <a:ext cx="1056184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31장 (수동 라벨링)</a:t>
            </a:r>
            <a:endParaRPr lang="en-US" sz="975" dirty="0"/>
          </a:p>
        </p:txBody>
      </p:sp>
      <p:sp>
        <p:nvSpPr>
          <p:cNvPr id="17" name="Text: 18,776장 (원본 데이터 100% 온전 학습)"/>
          <p:cNvSpPr txBox="1"/>
          <p:nvPr/>
        </p:nvSpPr>
        <p:spPr>
          <a:xfrm>
            <a:off x="5690195" y="2488208"/>
            <a:ext cx="2245816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18,776장 (원본 데이터 100% 온전 학습)</a:t>
            </a:r>
            <a:endParaRPr lang="en-US" sz="975" dirty="0"/>
          </a:p>
        </p:txBody>
      </p:sp>
      <p:sp>
        <p:nvSpPr>
          <p:cNvPr id="18" name="Text: 수백만 장 대규모 데이터 (합성+실사)"/>
          <p:cNvSpPr txBox="1"/>
          <p:nvPr/>
        </p:nvSpPr>
        <p:spPr>
          <a:xfrm>
            <a:off x="8635702" y="2488208"/>
            <a:ext cx="2059285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수백만 장 대규모 데이터 (합성+실사)</a:t>
            </a:r>
            <a:endParaRPr lang="en-US" sz="975" dirty="0"/>
          </a:p>
        </p:txBody>
      </p:sp>
      <p:sp>
        <p:nvSpPr>
          <p:cNvPr id="19" name="Border"/>
          <p:cNvSpPr/>
          <p:nvPr/>
        </p:nvSpPr>
        <p:spPr>
          <a:xfrm>
            <a:off x="641350" y="3143845"/>
            <a:ext cx="10909300" cy="635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20" name="Text: 모델 아키텍처"/>
          <p:cNvSpPr txBox="1"/>
          <p:nvPr/>
        </p:nvSpPr>
        <p:spPr>
          <a:xfrm>
            <a:off x="781050" y="2858095"/>
            <a:ext cx="782935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모델 아키텍처</a:t>
            </a:r>
            <a:endParaRPr lang="en-US" sz="975" dirty="0"/>
          </a:p>
        </p:txBody>
      </p:sp>
      <p:sp>
        <p:nvSpPr>
          <p:cNvPr id="21" name="Text: RTMPose-Tiny OpenVINO (FP16 / FP32)"/>
          <p:cNvSpPr txBox="1"/>
          <p:nvPr/>
        </p:nvSpPr>
        <p:spPr>
          <a:xfrm>
            <a:off x="2744688" y="2858095"/>
            <a:ext cx="2220416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RTMPose-Tiny OpenVINO (FP16 / FP32)</a:t>
            </a:r>
            <a:endParaRPr lang="en-US" sz="975" dirty="0"/>
          </a:p>
        </p:txBody>
      </p:sp>
      <p:sp>
        <p:nvSpPr>
          <p:cNvPr id="22" name="Text: YOLOv8n-Pose (PyTorch / ONNX)"/>
          <p:cNvSpPr txBox="1"/>
          <p:nvPr/>
        </p:nvSpPr>
        <p:spPr>
          <a:xfrm>
            <a:off x="5690195" y="2858095"/>
            <a:ext cx="1854398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YOLOv8n-Pose (PyTorch / ONNX)</a:t>
            </a:r>
            <a:endParaRPr lang="en-US" sz="975" dirty="0"/>
          </a:p>
        </p:txBody>
      </p:sp>
      <p:sp>
        <p:nvSpPr>
          <p:cNvPr id="23" name="Text: Palm Detector + Hand Landmarker"/>
          <p:cNvSpPr txBox="1"/>
          <p:nvPr/>
        </p:nvSpPr>
        <p:spPr>
          <a:xfrm>
            <a:off x="8635702" y="2858095"/>
            <a:ext cx="1953915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Palm Detector + Hand Landmarker</a:t>
            </a:r>
            <a:endParaRPr lang="en-US" sz="975" dirty="0"/>
          </a:p>
        </p:txBody>
      </p:sp>
      <p:sp>
        <p:nvSpPr>
          <p:cNvPr id="24" name="Border"/>
          <p:cNvSpPr/>
          <p:nvPr/>
        </p:nvSpPr>
        <p:spPr>
          <a:xfrm>
            <a:off x="641350" y="3675658"/>
            <a:ext cx="10909300" cy="635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25" name="Text: 학습 및 증강 설정"/>
          <p:cNvSpPr txBox="1"/>
          <p:nvPr/>
        </p:nvSpPr>
        <p:spPr>
          <a:xfrm>
            <a:off x="781050" y="3308945"/>
            <a:ext cx="992386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학습 및 증강 설정</a:t>
            </a:r>
            <a:endParaRPr lang="en-US" sz="975" dirty="0"/>
          </a:p>
        </p:txBody>
      </p:sp>
      <p:sp>
        <p:nvSpPr>
          <p:cNvPr id="26" name="Text: 512×512 / Max 200 Ep (Patience 10) / LR "/>
          <p:cNvSpPr txBox="1"/>
          <p:nvPr/>
        </p:nvSpPr>
        <p:spPr>
          <a:xfrm>
            <a:off x="2744688" y="3227983"/>
            <a:ext cx="2654796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512×512 / Max 200 Ep (Patience 10) / LR 0.001</a:t>
            </a:r>
            <a:endParaRPr lang="en-US" sz="975" dirty="0"/>
          </a:p>
        </p:txBody>
      </p:sp>
      <p:sp>
        <p:nvSpPr>
          <p:cNvPr id="27" name="Text: Topdown Affine On (1.0) / Blur·Noise Off"/>
          <p:cNvSpPr txBox="1"/>
          <p:nvPr/>
        </p:nvSpPr>
        <p:spPr>
          <a:xfrm>
            <a:off x="2744688" y="3437533"/>
            <a:ext cx="1745655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Topdown Affine On (1.0) / Blur·Noise Off</a:t>
            </a:r>
            <a:endParaRPr lang="en-US" sz="750" dirty="0"/>
          </a:p>
        </p:txBody>
      </p:sp>
      <p:sp>
        <p:nvSpPr>
          <p:cNvPr id="28" name="Text: 640×640 / 100 Ep / Batch 64 / LR 0.01"/>
          <p:cNvSpPr txBox="1"/>
          <p:nvPr/>
        </p:nvSpPr>
        <p:spPr>
          <a:xfrm>
            <a:off x="5690195" y="3227983"/>
            <a:ext cx="2169914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640×640 / 100 Ep / Batch 64 / LR 0.01</a:t>
            </a:r>
            <a:endParaRPr lang="en-US" sz="975" dirty="0"/>
          </a:p>
        </p:txBody>
      </p:sp>
      <p:sp>
        <p:nvSpPr>
          <p:cNvPr id="29" name="Text: Mosaic, Random Flip, HSV 실전 풀 증강"/>
          <p:cNvSpPr txBox="1"/>
          <p:nvPr/>
        </p:nvSpPr>
        <p:spPr>
          <a:xfrm>
            <a:off x="5690195" y="3437533"/>
            <a:ext cx="1699915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Mosaic, Random Flip, HSV 실전 풀 증강</a:t>
            </a:r>
            <a:endParaRPr lang="en-US" sz="750" dirty="0"/>
          </a:p>
        </p:txBody>
      </p:sp>
      <p:sp>
        <p:nvSpPr>
          <p:cNvPr id="30" name="Text: 구글 프로덕션 완성형 파이프라인"/>
          <p:cNvSpPr txBox="1"/>
          <p:nvPr/>
        </p:nvSpPr>
        <p:spPr>
          <a:xfrm>
            <a:off x="8635702" y="3227983"/>
            <a:ext cx="1855589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구글 프로덕션 완성형 파이프라인</a:t>
            </a:r>
            <a:endParaRPr lang="en-US" sz="975" dirty="0"/>
          </a:p>
        </p:txBody>
      </p:sp>
      <p:sp>
        <p:nvSpPr>
          <p:cNvPr id="31" name="Text: 대규모 3D 합성 데이터 전이학습"/>
          <p:cNvSpPr txBox="1"/>
          <p:nvPr/>
        </p:nvSpPr>
        <p:spPr>
          <a:xfrm>
            <a:off x="8635702" y="3437533"/>
            <a:ext cx="1388666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대규모 3D 합성 데이터 전이학습</a:t>
            </a:r>
            <a:endParaRPr lang="en-US" sz="750" dirty="0"/>
          </a:p>
        </p:txBody>
      </p:sp>
      <p:sp>
        <p:nvSpPr>
          <p:cNvPr id="32" name="Border"/>
          <p:cNvSpPr/>
          <p:nvPr/>
        </p:nvSpPr>
        <p:spPr>
          <a:xfrm>
            <a:off x="641350" y="4045545"/>
            <a:ext cx="10909300" cy="635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3" name="Text: 모델 용량 (Size)"/>
          <p:cNvSpPr txBox="1"/>
          <p:nvPr/>
        </p:nvSpPr>
        <p:spPr>
          <a:xfrm>
            <a:off x="781050" y="3759795"/>
            <a:ext cx="896938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모델 용량 (Size)</a:t>
            </a:r>
            <a:endParaRPr lang="en-US" sz="975" dirty="0"/>
          </a:p>
        </p:txBody>
      </p:sp>
      <p:sp>
        <p:nvSpPr>
          <p:cNvPr id="34" name="Text: 7.72 MB (FP16) / 15.18 MB (FP32)"/>
          <p:cNvSpPr txBox="1"/>
          <p:nvPr/>
        </p:nvSpPr>
        <p:spPr>
          <a:xfrm>
            <a:off x="2744688" y="3759795"/>
            <a:ext cx="2009577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0284C7"/>
                </a:solidFill>
                <a:latin typeface="Segoe UI"/>
                <a:ea typeface="Segoe UI"/>
                <a:cs typeface="Segoe UI"/>
              </a:rPr>
              <a:t>7.72 MB (FP16) / 15.18 MB (FP32)</a:t>
            </a:r>
            <a:endParaRPr lang="en-US" sz="975" dirty="0"/>
          </a:p>
        </p:txBody>
      </p:sp>
      <p:sp>
        <p:nvSpPr>
          <p:cNvPr id="35" name="Text: 6.5 MB (ONNX 경량화)"/>
          <p:cNvSpPr txBox="1"/>
          <p:nvPr/>
        </p:nvSpPr>
        <p:spPr>
          <a:xfrm>
            <a:off x="5690195" y="3759795"/>
            <a:ext cx="1331020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6.5 MB (ONNX 경량화)</a:t>
            </a:r>
            <a:endParaRPr lang="en-US" sz="975" dirty="0"/>
          </a:p>
        </p:txBody>
      </p:sp>
      <p:sp>
        <p:nvSpPr>
          <p:cNvPr id="36" name="Text: ~12.0 MB (Tasks-Vision 번들)"/>
          <p:cNvSpPr txBox="1"/>
          <p:nvPr/>
        </p:nvSpPr>
        <p:spPr>
          <a:xfrm>
            <a:off x="8635702" y="3759795"/>
            <a:ext cx="1620738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~12.0 MB (Tasks-Vision 번들)</a:t>
            </a:r>
            <a:endParaRPr lang="en-US" sz="975" dirty="0"/>
          </a:p>
        </p:txBody>
      </p:sp>
      <p:sp>
        <p:nvSpPr>
          <p:cNvPr id="37" name="Border"/>
          <p:cNvSpPr/>
          <p:nvPr/>
        </p:nvSpPr>
        <p:spPr>
          <a:xfrm>
            <a:off x="641350" y="4715470"/>
            <a:ext cx="10909300" cy="635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8" name="Text: 인식 성능 (정확도)"/>
          <p:cNvSpPr txBox="1"/>
          <p:nvPr/>
        </p:nvSpPr>
        <p:spPr>
          <a:xfrm>
            <a:off x="781050" y="4279702"/>
            <a:ext cx="1036935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인식 성능 (정확도)</a:t>
            </a:r>
            <a:endParaRPr lang="en-US" sz="975" dirty="0"/>
          </a:p>
        </p:txBody>
      </p:sp>
      <p:sp>
        <p:nvSpPr>
          <p:cNvPr id="39" name="Text: PCK (Correct Keypoints): 0.94 (94.0%)"/>
          <p:cNvSpPr txBox="1"/>
          <p:nvPr/>
        </p:nvSpPr>
        <p:spPr>
          <a:xfrm>
            <a:off x="2744688" y="4129683"/>
            <a:ext cx="2213868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PCK (Correct Keypoints): 0.94 (94.0%)</a:t>
            </a:r>
            <a:endParaRPr lang="en-US" sz="975" dirty="0"/>
          </a:p>
        </p:txBody>
      </p:sp>
      <p:sp>
        <p:nvSpPr>
          <p:cNvPr id="40" name="Text: Geti 화면 표기 Score: 93.7%"/>
          <p:cNvSpPr txBox="1"/>
          <p:nvPr/>
        </p:nvSpPr>
        <p:spPr>
          <a:xfrm>
            <a:off x="2744688" y="4326533"/>
            <a:ext cx="1193205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Geti 화면 표기 Score: 93.7%</a:t>
            </a:r>
            <a:endParaRPr lang="en-US" sz="750" dirty="0"/>
          </a:p>
        </p:txBody>
      </p:sp>
      <p:sp>
        <p:nvSpPr>
          <p:cNvPr id="41" name="Text: (※ 31장 고정 포즈 한정 평가 / 실전 미검증)"/>
          <p:cNvSpPr txBox="1"/>
          <p:nvPr/>
        </p:nvSpPr>
        <p:spPr>
          <a:xfrm>
            <a:off x="2744688" y="4480520"/>
            <a:ext cx="1820565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5" b="1" spc="-4" dirty="0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(※ 31장 고정 포즈 한정 평가 / 실전 미검증)</a:t>
            </a:r>
            <a:endParaRPr lang="en-US" sz="725" dirty="0"/>
          </a:p>
        </p:txBody>
      </p:sp>
      <p:sp>
        <p:nvSpPr>
          <p:cNvPr id="42" name="Text: Box 99.2% / Pose 87.9% (mAP50)"/>
          <p:cNvSpPr txBox="1"/>
          <p:nvPr/>
        </p:nvSpPr>
        <p:spPr>
          <a:xfrm>
            <a:off x="5690195" y="4204295"/>
            <a:ext cx="1972667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Box 99.2% / Pose 87.9% (mAP50)</a:t>
            </a:r>
            <a:endParaRPr lang="en-US" sz="975" dirty="0"/>
          </a:p>
        </p:txBody>
      </p:sp>
      <p:sp>
        <p:nvSpPr>
          <p:cNvPr id="43" name="Text: (1.8만 장 실측 검증 완료)"/>
          <p:cNvSpPr txBox="1"/>
          <p:nvPr/>
        </p:nvSpPr>
        <p:spPr>
          <a:xfrm>
            <a:off x="5690195" y="4405908"/>
            <a:ext cx="1054199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5" b="1" spc="-4" dirty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(1.8만 장 실측 검증 완료)</a:t>
            </a:r>
            <a:endParaRPr lang="en-US" sz="725" dirty="0"/>
          </a:p>
        </p:txBody>
      </p:sp>
      <p:sp>
        <p:nvSpPr>
          <p:cNvPr id="44" name="Text: 상용 최고 수준 (SOTA ~95%+)"/>
          <p:cNvSpPr txBox="1"/>
          <p:nvPr/>
        </p:nvSpPr>
        <p:spPr>
          <a:xfrm>
            <a:off x="8635702" y="4204295"/>
            <a:ext cx="1735832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059669"/>
                </a:solidFill>
                <a:latin typeface="Segoe UI"/>
                <a:ea typeface="Segoe UI"/>
                <a:cs typeface="Segoe UI"/>
              </a:rPr>
              <a:t>상용 최고 수준 (SOTA ~95%+)</a:t>
            </a:r>
            <a:endParaRPr lang="en-US" sz="975" dirty="0"/>
          </a:p>
        </p:txBody>
      </p:sp>
      <p:sp>
        <p:nvSpPr>
          <p:cNvPr id="45" name="Text: (글로벌 공인 벤치마크)"/>
          <p:cNvSpPr txBox="1"/>
          <p:nvPr/>
        </p:nvSpPr>
        <p:spPr>
          <a:xfrm>
            <a:off x="8635702" y="4405908"/>
            <a:ext cx="952798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5" b="1" spc="-4" dirty="0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(글로벌 공인 벤치마크)</a:t>
            </a:r>
            <a:endParaRPr lang="en-US" sz="725" dirty="0"/>
          </a:p>
        </p:txBody>
      </p:sp>
      <p:sp>
        <p:nvSpPr>
          <p:cNvPr id="46" name="Border"/>
          <p:cNvSpPr/>
          <p:nvPr/>
        </p:nvSpPr>
        <p:spPr>
          <a:xfrm>
            <a:off x="641350" y="5085358"/>
            <a:ext cx="10909300" cy="635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47" name="Text: 실측 추론 속도"/>
          <p:cNvSpPr txBox="1"/>
          <p:nvPr/>
        </p:nvSpPr>
        <p:spPr>
          <a:xfrm>
            <a:off x="781050" y="4799608"/>
            <a:ext cx="825996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실측 추론 속도</a:t>
            </a:r>
            <a:endParaRPr lang="en-US" sz="975" dirty="0"/>
          </a:p>
        </p:txBody>
      </p:sp>
      <p:sp>
        <p:nvSpPr>
          <p:cNvPr id="48" name="Text: ~45ms (OpenVINO CPU)"/>
          <p:cNvSpPr txBox="1"/>
          <p:nvPr/>
        </p:nvSpPr>
        <p:spPr>
          <a:xfrm>
            <a:off x="2744688" y="4799608"/>
            <a:ext cx="1384895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~45ms (OpenVINO CPU)</a:t>
            </a:r>
            <a:endParaRPr lang="en-US" sz="975" dirty="0"/>
          </a:p>
        </p:txBody>
      </p:sp>
      <p:sp>
        <p:nvSpPr>
          <p:cNvPr id="49" name="Text: GPU 2.6ms (380 FPS) / CPU 39ms"/>
          <p:cNvSpPr txBox="1"/>
          <p:nvPr/>
        </p:nvSpPr>
        <p:spPr>
          <a:xfrm>
            <a:off x="5690195" y="4799608"/>
            <a:ext cx="1979712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GPU 2.6ms (380 FPS) / CPU 39ms</a:t>
            </a:r>
            <a:endParaRPr lang="en-US" sz="975" dirty="0"/>
          </a:p>
        </p:txBody>
      </p:sp>
      <p:sp>
        <p:nvSpPr>
          <p:cNvPr id="50" name="Text: ~16ms (60 FPS 실시간 보장)"/>
          <p:cNvSpPr txBox="1"/>
          <p:nvPr/>
        </p:nvSpPr>
        <p:spPr>
          <a:xfrm>
            <a:off x="8635702" y="4799608"/>
            <a:ext cx="1630065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059669"/>
                </a:solidFill>
                <a:latin typeface="Segoe UI"/>
                <a:ea typeface="Segoe UI"/>
                <a:cs typeface="Segoe UI"/>
              </a:rPr>
              <a:t>~16ms (60 FPS 실시간 보장)</a:t>
            </a:r>
            <a:endParaRPr lang="en-US" sz="975" dirty="0"/>
          </a:p>
        </p:txBody>
      </p:sp>
      <p:sp>
        <p:nvSpPr>
          <p:cNvPr id="51" name="Text: 특징 및 역할"/>
          <p:cNvSpPr txBox="1"/>
          <p:nvPr/>
        </p:nvSpPr>
        <p:spPr>
          <a:xfrm>
            <a:off x="781050" y="5238552"/>
            <a:ext cx="702667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특징 및 역할</a:t>
            </a:r>
            <a:endParaRPr lang="en-US" sz="975" dirty="0"/>
          </a:p>
        </p:txBody>
      </p:sp>
      <p:sp>
        <p:nvSpPr>
          <p:cNvPr id="52" name="Text: 플랫폼 결함 속 최소 데이터(31장)로 강행한 베이스라인"/>
          <p:cNvSpPr txBox="1"/>
          <p:nvPr/>
        </p:nvSpPr>
        <p:spPr>
          <a:xfrm>
            <a:off x="2744688" y="5255220"/>
            <a:ext cx="2663627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플랫폼 결함 속 최소 데이터(31장)로 강행한 베이스라인</a:t>
            </a:r>
            <a:endParaRPr lang="en-US" sz="850" dirty="0"/>
          </a:p>
        </p:txBody>
      </p:sp>
      <p:sp>
        <p:nvSpPr>
          <p:cNvPr id="53" name="Text: 1.8만 장 라벨 좌표를 손실 없이 64분 만에 직접 완성한 정통 모델"/>
          <p:cNvSpPr txBox="1"/>
          <p:nvPr/>
        </p:nvSpPr>
        <p:spPr>
          <a:xfrm>
            <a:off x="5690195" y="5174258"/>
            <a:ext cx="2654399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1.8만 장 라벨 좌표를 손실 없이 64분 만에 직접 완성한</a:t>
            </a:r>
            <a:br>
              <a:rPr lang="en-US" sz="850"/>
            </a:br>
            <a:r>
              <a:rPr lang="en-US" sz="850" b="1" spc="-4" dirty="0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정통 모델</a:t>
            </a:r>
            <a:endParaRPr lang="en-US" sz="850" dirty="0"/>
          </a:p>
        </p:txBody>
      </p:sp>
      <p:sp>
        <p:nvSpPr>
          <p:cNvPr id="54" name="Text: 웹 브라우저 실시간 무지연 연주를 위한 최종 프로덕션 엔 진"/>
          <p:cNvSpPr txBox="1"/>
          <p:nvPr/>
        </p:nvSpPr>
        <p:spPr>
          <a:xfrm>
            <a:off x="8635702" y="5174258"/>
            <a:ext cx="2770783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웹 브라우저 실시간 무지연 연주를 위한 최종 프로덕션 엔</a:t>
            </a:r>
            <a:br>
              <a:rPr lang="en-US" sz="850"/>
            </a:br>
            <a:r>
              <a:rPr lang="en-US" sz="8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진</a:t>
            </a:r>
            <a:endParaRPr lang="en-US" sz="850" dirty="0"/>
          </a:p>
        </p:txBody>
      </p:sp>
      <p:sp>
        <p:nvSpPr>
          <p:cNvPr id="55" name="Border"/>
          <p:cNvSpPr/>
          <p:nvPr/>
        </p:nvSpPr>
        <p:spPr>
          <a:xfrm>
            <a:off x="381000" y="6334125"/>
            <a:ext cx="11430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6" name="Text: AuraSynth: Computer Vision &amp; Interactive"/>
          <p:cNvSpPr txBox="1"/>
          <p:nvPr/>
        </p:nvSpPr>
        <p:spPr>
          <a:xfrm>
            <a:off x="381000" y="6451600"/>
            <a:ext cx="3247628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AuraSynth: Computer Vision &amp; Interactive Web Audio Research</a:t>
            </a:r>
            <a:endParaRPr lang="en-US" sz="850" dirty="0"/>
          </a:p>
        </p:txBody>
      </p:sp>
      <p:sp>
        <p:nvSpPr>
          <p:cNvPr id="57" name="Rounded Rectangle"/>
          <p:cNvSpPr/>
          <p:nvPr/>
        </p:nvSpPr>
        <p:spPr>
          <a:xfrm>
            <a:off x="11237714" y="6429375"/>
            <a:ext cx="573286" cy="225425"/>
          </a:xfrm>
          <a:prstGeom prst="roundRect">
            <a:avLst>
              <a:gd name="adj" fmla="val 22535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58" name="Text: 06 / 12"/>
          <p:cNvSpPr txBox="1"/>
          <p:nvPr/>
        </p:nvSpPr>
        <p:spPr>
          <a:xfrm>
            <a:off x="11339314" y="6451600"/>
            <a:ext cx="37008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06 / 12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4175" y="244475"/>
            <a:ext cx="1960166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3" name="Text: PART 04 • 모델별 실전 추론 결과 (1/3)"/>
          <p:cNvSpPr txBox="1"/>
          <p:nvPr/>
        </p:nvSpPr>
        <p:spPr>
          <a:xfrm>
            <a:off x="488950" y="282575"/>
            <a:ext cx="1750616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PART 04 • 모델별 실전 추론 결과 (1/3)</a:t>
            </a:r>
            <a:endParaRPr lang="en-US" sz="750" dirty="0"/>
          </a:p>
        </p:txBody>
      </p:sp>
      <p:sp>
        <p:nvSpPr>
          <p:cNvPr id="4" name="Text: AuraSynth Engine Architecture"/>
          <p:cNvSpPr txBox="1"/>
          <p:nvPr/>
        </p:nvSpPr>
        <p:spPr>
          <a:xfrm>
            <a:off x="2436416" y="265113"/>
            <a:ext cx="1658739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AuraSynth Engine Architecture</a:t>
            </a:r>
            <a:endParaRPr lang="en-US" sz="900" dirty="0"/>
          </a:p>
        </p:txBody>
      </p:sp>
      <p:sp>
        <p:nvSpPr>
          <p:cNvPr id="5" name="Text: [Model 1] Intel Geti 실전 결과: 시험 점수 94%의 함"/>
          <p:cNvSpPr txBox="1"/>
          <p:nvPr/>
        </p:nvSpPr>
        <p:spPr>
          <a:xfrm>
            <a:off x="381000" y="555625"/>
            <a:ext cx="7497266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75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[Model 1] Intel Geti 실전 결과: 시험 점수 94%의 함정</a:t>
            </a:r>
            <a:endParaRPr lang="en-US" sz="2500" dirty="0"/>
          </a:p>
        </p:txBody>
      </p:sp>
      <p:sp>
        <p:nvSpPr>
          <p:cNvPr id="6" name="Text: 31장 고정 데이터셋에서는 94%가 나왔으나, 실제 카메라에서는 배경 노"/>
          <p:cNvSpPr txBox="1"/>
          <p:nvPr/>
        </p:nvSpPr>
        <p:spPr>
          <a:xfrm>
            <a:off x="381000" y="948055"/>
            <a:ext cx="7588448" cy="2044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31장 고정 데이터셋에서는 94%가 나왔으나, 실제 카메라에서는 배경 노이즈를 손으로 오인하는 유령 관절 현상 발생</a:t>
            </a:r>
            <a:endParaRPr lang="en-US" sz="1150" dirty="0"/>
          </a:p>
        </p:txBody>
      </p:sp>
      <p:sp>
        <p:nvSpPr>
          <p:cNvPr id="7" name="Rounded Rectangle"/>
          <p:cNvSpPr/>
          <p:nvPr/>
        </p:nvSpPr>
        <p:spPr>
          <a:xfrm>
            <a:off x="387350" y="1280716"/>
            <a:ext cx="5144492" cy="5047059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12700" cap="flat" cmpd="sng" algn="ctr">
            <a:solidFill>
              <a:srgbClr val="EF4444"/>
            </a:solidFill>
            <a:miter lim="800000"/>
          </a:ln>
          <a:effectLst>
            <a:outerShdw blurRad="101600" dist="50800" dir="5400000" sx="99506" sy="99497" algn="ctr" rotWithShape="0">
              <a:srgbClr val="000000">
                <a:alpha val="5000"/>
              </a:srgbClr>
            </a:outerShdw>
          </a:effectLst>
        </p:spPr>
      </p:sp>
      <p:sp>
        <p:nvSpPr>
          <p:cNvPr id="8" name="Rounded Rectangle"/>
          <p:cNvSpPr/>
          <p:nvPr/>
        </p:nvSpPr>
        <p:spPr>
          <a:xfrm>
            <a:off x="561975" y="1442641"/>
            <a:ext cx="960438" cy="238125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6350" cap="flat" cmpd="sng" algn="ctr">
            <a:solidFill>
              <a:srgbClr val="FCA5A5"/>
            </a:solidFill>
            <a:miter lim="800000"/>
          </a:ln>
        </p:spPr>
      </p:sp>
      <p:sp>
        <p:nvSpPr>
          <p:cNvPr id="9" name="Text: 실전 추론 테스트"/>
          <p:cNvSpPr txBox="1"/>
          <p:nvPr/>
        </p:nvSpPr>
        <p:spPr>
          <a:xfrm>
            <a:off x="666750" y="1480741"/>
            <a:ext cx="750888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실전 추론 테스트</a:t>
            </a:r>
            <a:endParaRPr lang="en-US" sz="750" dirty="0"/>
          </a:p>
        </p:txBody>
      </p:sp>
      <p:sp>
        <p:nvSpPr>
          <p:cNvPr id="10" name="Text: 실제 웹캠 추론 화면"/>
          <p:cNvSpPr txBox="1"/>
          <p:nvPr/>
        </p:nvSpPr>
        <p:spPr>
          <a:xfrm>
            <a:off x="1576388" y="1463278"/>
            <a:ext cx="102939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991B1B"/>
                </a:solidFill>
                <a:latin typeface="Segoe UI"/>
                <a:ea typeface="Segoe UI"/>
                <a:cs typeface="Segoe UI"/>
              </a:rPr>
              <a:t>실제 웹캠 추론 화면</a:t>
            </a:r>
            <a:endParaRPr lang="en-US" sz="900" dirty="0"/>
          </a:p>
        </p:txBody>
      </p:sp>
      <p:sp>
        <p:nvSpPr>
          <p:cNvPr id="11" name="Rounded Rectangle"/>
          <p:cNvSpPr/>
          <p:nvPr/>
        </p:nvSpPr>
        <p:spPr>
          <a:xfrm>
            <a:off x="4490145" y="1475978"/>
            <a:ext cx="870248" cy="17145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>
            <a:noFill/>
          </a:ln>
        </p:spPr>
      </p:sp>
      <p:sp>
        <p:nvSpPr>
          <p:cNvPr id="12" name="Text: 치명적 오인식 발생"/>
          <p:cNvSpPr txBox="1"/>
          <p:nvPr/>
        </p:nvSpPr>
        <p:spPr>
          <a:xfrm>
            <a:off x="4540945" y="1482328"/>
            <a:ext cx="768648" cy="1333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spc="-4" dirty="0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치명적 오인식 발생</a:t>
            </a:r>
            <a:endParaRPr lang="en-US" sz="700" dirty="0"/>
          </a:p>
        </p:txBody>
      </p:sp>
      <p:sp>
        <p:nvSpPr>
          <p:cNvPr id="13" name="Rounded Rectangle"/>
          <p:cNvSpPr/>
          <p:nvPr/>
        </p:nvSpPr>
        <p:spPr>
          <a:xfrm>
            <a:off x="565150" y="1766491"/>
            <a:ext cx="4788892" cy="2209800"/>
          </a:xfrm>
          <a:prstGeom prst="roundRect">
            <a:avLst>
              <a:gd name="adj" fmla="val 3736"/>
            </a:avLst>
          </a:prstGeom>
          <a:solidFill>
            <a:srgbClr val="000000"/>
          </a:solidFill>
          <a:ln w="12700" cap="flat" cmpd="sng" algn="ctr">
            <a:solidFill>
              <a:srgbClr val="334155"/>
            </a:solidFill>
            <a:miter lim="800000"/>
          </a:ln>
          <a:effectLst>
            <a:outerShdw blurRad="152400" dist="50800" dir="5400000" sx="100000" sy="100000" algn="ctr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: Intel Geti Inference Ghost Keypoi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579" y="1772841"/>
            <a:ext cx="2972035" cy="2197100"/>
          </a:xfrm>
          <a:prstGeom prst="rect">
            <a:avLst/>
          </a:prstGeom>
          <a:ln>
            <a:noFill/>
          </a:ln>
        </p:spPr>
      </p:pic>
      <p:sp>
        <p:nvSpPr>
          <p:cNvPr id="15" name="Text: ▲  실제 카메라 추론 화면:  손 형태를 전혀 잡지 못하고, 어두운 배"/>
          <p:cNvSpPr txBox="1"/>
          <p:nvPr/>
        </p:nvSpPr>
        <p:spPr>
          <a:xfrm>
            <a:off x="558800" y="4055269"/>
            <a:ext cx="4765080" cy="3246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▲ </a:t>
            </a:r>
            <a:r>
              <a:rPr lang="en-US" sz="825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실제 카메라 추론 화면:</a:t>
            </a:r>
            <a:r>
              <a:rPr lang="en-US" sz="82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손 형태를 전혀 잡지 못하고, 어두운 배경 노이즈를 손가락으로 착각하여 허</a:t>
            </a:r>
            <a:br>
              <a:rPr lang="en-US" sz="825"/>
            </a:br>
            <a:r>
              <a:rPr lang="en-US" sz="825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공에 관절 점들이 무작위로 흩뿌려지는 현상 발생</a:t>
            </a:r>
            <a:endParaRPr lang="en-US" sz="825" dirty="0"/>
          </a:p>
        </p:txBody>
      </p:sp>
      <p:sp>
        <p:nvSpPr>
          <p:cNvPr id="16" name="Rounded Rectangle"/>
          <p:cNvSpPr/>
          <p:nvPr/>
        </p:nvSpPr>
        <p:spPr>
          <a:xfrm>
            <a:off x="558800" y="5864225"/>
            <a:ext cx="4801592" cy="30480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>
            <a:noFill/>
          </a:ln>
        </p:spPr>
      </p:sp>
      <p:sp>
        <p:nvSpPr>
          <p:cNvPr id="17" name="Border"/>
          <p:cNvSpPr/>
          <p:nvPr/>
        </p:nvSpPr>
        <p:spPr>
          <a:xfrm>
            <a:off x="558800" y="5864225"/>
            <a:ext cx="25400" cy="3048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: ❌ 실전 사용 불가: 손 뼈대 추적 실패 &amp; 허공에 유령 관절(Ghost"/>
          <p:cNvSpPr txBox="1"/>
          <p:nvPr/>
        </p:nvSpPr>
        <p:spPr>
          <a:xfrm>
            <a:off x="685800" y="5927725"/>
            <a:ext cx="3712468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-4" dirty="0">
                <a:solidFill>
                  <a:srgbClr val="B91C1C"/>
                </a:solidFill>
                <a:latin typeface="Segoe UI"/>
                <a:ea typeface="Segoe UI"/>
                <a:cs typeface="Segoe UI"/>
              </a:rPr>
              <a:t>❌ 실전 사용 불가: 손 뼈대 추적 실패 &amp; 허공에 유령 관절(Ghost Keypoint) 난무</a:t>
            </a:r>
            <a:endParaRPr lang="en-US" sz="800" dirty="0"/>
          </a:p>
        </p:txBody>
      </p:sp>
      <p:sp>
        <p:nvSpPr>
          <p:cNvPr id="19" name="Rounded Rectangle"/>
          <p:cNvSpPr/>
          <p:nvPr/>
        </p:nvSpPr>
        <p:spPr>
          <a:xfrm>
            <a:off x="5719167" y="1277541"/>
            <a:ext cx="6088559" cy="5053409"/>
          </a:xfrm>
          <a:prstGeom prst="roundRect">
            <a:avLst>
              <a:gd name="adj" fmla="val 2199"/>
            </a:avLst>
          </a:prstGeom>
          <a:solidFill>
            <a:srgbClr val="FFFFFF"/>
          </a:solidFill>
          <a:ln w="6350" cap="flat" cmpd="sng" algn="ctr">
            <a:solidFill>
              <a:srgbClr val="E2E8F0"/>
            </a:solidFill>
            <a:miter lim="800000"/>
          </a:ln>
          <a:effectLst>
            <a:outerShdw blurRad="101600" dist="50800" dir="5400000" sx="99583" sy="99497" algn="ctr" rotWithShape="0">
              <a:srgbClr val="000000">
                <a:alpha val="5000"/>
              </a:srgbClr>
            </a:outerShdw>
          </a:effectLst>
        </p:spPr>
      </p:sp>
      <p:sp>
        <p:nvSpPr>
          <p:cNvPr id="20" name="Rounded Rectangle"/>
          <p:cNvSpPr/>
          <p:nvPr/>
        </p:nvSpPr>
        <p:spPr>
          <a:xfrm>
            <a:off x="5916017" y="1450578"/>
            <a:ext cx="633611" cy="238125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6350" cap="flat" cmpd="sng" algn="ctr">
            <a:solidFill>
              <a:srgbClr val="FDE68A"/>
            </a:solidFill>
            <a:miter lim="800000"/>
          </a:ln>
        </p:spPr>
      </p:sp>
      <p:sp>
        <p:nvSpPr>
          <p:cNvPr id="21" name="Text: 원인 분석"/>
          <p:cNvSpPr txBox="1"/>
          <p:nvPr/>
        </p:nvSpPr>
        <p:spPr>
          <a:xfrm>
            <a:off x="6020792" y="1488678"/>
            <a:ext cx="424061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D97706"/>
                </a:solidFill>
                <a:latin typeface="Segoe UI"/>
                <a:ea typeface="Segoe UI"/>
                <a:cs typeface="Segoe UI"/>
              </a:rPr>
              <a:t>원인 분석</a:t>
            </a:r>
            <a:endParaRPr lang="en-US" sz="750" dirty="0"/>
          </a:p>
        </p:txBody>
      </p:sp>
      <p:sp>
        <p:nvSpPr>
          <p:cNvPr id="22" name="Text: 왜 게티의 시험 점수(PCK 94%)는 높게 나왔을까?"/>
          <p:cNvSpPr txBox="1"/>
          <p:nvPr/>
        </p:nvSpPr>
        <p:spPr>
          <a:xfrm>
            <a:off x="6616303" y="1426766"/>
            <a:ext cx="365174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왜 게티의 시험 점수(PCK 94%)는 높게 나왔을까?</a:t>
            </a:r>
            <a:endParaRPr lang="en-US" sz="1300" dirty="0"/>
          </a:p>
        </p:txBody>
      </p:sp>
      <p:sp>
        <p:nvSpPr>
          <p:cNvPr id="23" name="Rounded Rectangle"/>
          <p:cNvSpPr/>
          <p:nvPr/>
        </p:nvSpPr>
        <p:spPr>
          <a:xfrm>
            <a:off x="5912842" y="1807766"/>
            <a:ext cx="5701209" cy="859036"/>
          </a:xfrm>
          <a:prstGeom prst="roundRect">
            <a:avLst>
              <a:gd name="adj" fmla="val 887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4" name="Border"/>
          <p:cNvSpPr/>
          <p:nvPr/>
        </p:nvSpPr>
        <p:spPr>
          <a:xfrm>
            <a:off x="5912842" y="1807766"/>
            <a:ext cx="5701209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5" name="Border"/>
          <p:cNvSpPr/>
          <p:nvPr/>
        </p:nvSpPr>
        <p:spPr>
          <a:xfrm>
            <a:off x="11607701" y="1807766"/>
            <a:ext cx="6350" cy="859036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6" name="Border"/>
          <p:cNvSpPr/>
          <p:nvPr/>
        </p:nvSpPr>
        <p:spPr>
          <a:xfrm>
            <a:off x="5912842" y="2660452"/>
            <a:ext cx="5701209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7" name="Border"/>
          <p:cNvSpPr/>
          <p:nvPr/>
        </p:nvSpPr>
        <p:spPr>
          <a:xfrm>
            <a:off x="5912842" y="1807766"/>
            <a:ext cx="38100" cy="859036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8" name="Text: 1. 극소량 데이터셋(31장)의 심각한 과적합 (Overfitting)"/>
          <p:cNvSpPr txBox="1"/>
          <p:nvPr/>
        </p:nvSpPr>
        <p:spPr>
          <a:xfrm>
            <a:off x="6077942" y="1899841"/>
            <a:ext cx="3365500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1. 극소량 데이터셋(31장)의 심각한 과적합 (Overfitting)</a:t>
            </a:r>
            <a:endParaRPr lang="en-US" sz="1050" dirty="0"/>
          </a:p>
        </p:txBody>
      </p:sp>
      <p:sp>
        <p:nvSpPr>
          <p:cNvPr id="29" name="Text: •  31장 픽셀 단순 암기:  손의 해부학적 일반 원리를 배운 것이 아"/>
          <p:cNvSpPr txBox="1"/>
          <p:nvPr/>
        </p:nvSpPr>
        <p:spPr>
          <a:xfrm>
            <a:off x="6077942" y="2148126"/>
            <a:ext cx="5104110" cy="1771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0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31장 픽셀 단순 암기: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손의 해부학적 일반 원리를 배운 것이 아니라 특정 31장 속 좌표만 외운 상태</a:t>
            </a:r>
            <a:endParaRPr lang="en-US" sz="900" dirty="0"/>
          </a:p>
        </p:txBody>
      </p:sp>
      <p:sp>
        <p:nvSpPr>
          <p:cNvPr id="30" name="Text: •  새 환경 대응력 0%:  조금만 각도나 조명이 바뀌어도 관절을 전혀"/>
          <p:cNvSpPr txBox="1"/>
          <p:nvPr/>
        </p:nvSpPr>
        <p:spPr>
          <a:xfrm>
            <a:off x="6077942" y="2363331"/>
            <a:ext cx="5047456" cy="1771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0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새 환경 대응력 0%: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조금만 각도나 조명이 바뀌어도 관절을 전혀 찾지 못하는 극단적 과적합 발생</a:t>
            </a:r>
            <a:endParaRPr lang="en-US" sz="900" dirty="0"/>
          </a:p>
        </p:txBody>
      </p:sp>
      <p:sp>
        <p:nvSpPr>
          <p:cNvPr id="31" name="Rounded Rectangle"/>
          <p:cNvSpPr/>
          <p:nvPr/>
        </p:nvSpPr>
        <p:spPr>
          <a:xfrm>
            <a:off x="5912842" y="2768402"/>
            <a:ext cx="5701209" cy="859036"/>
          </a:xfrm>
          <a:prstGeom prst="roundRect">
            <a:avLst>
              <a:gd name="adj" fmla="val 887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2" name="Border"/>
          <p:cNvSpPr/>
          <p:nvPr/>
        </p:nvSpPr>
        <p:spPr>
          <a:xfrm>
            <a:off x="5912842" y="2768402"/>
            <a:ext cx="5701209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3" name="Border"/>
          <p:cNvSpPr/>
          <p:nvPr/>
        </p:nvSpPr>
        <p:spPr>
          <a:xfrm>
            <a:off x="11607701" y="2768402"/>
            <a:ext cx="6350" cy="859036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4" name="Border"/>
          <p:cNvSpPr/>
          <p:nvPr/>
        </p:nvSpPr>
        <p:spPr>
          <a:xfrm>
            <a:off x="5912842" y="3621088"/>
            <a:ext cx="5701209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5" name="Border"/>
          <p:cNvSpPr/>
          <p:nvPr/>
        </p:nvSpPr>
        <p:spPr>
          <a:xfrm>
            <a:off x="5912842" y="2768402"/>
            <a:ext cx="38100" cy="85903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6" name="Text: 2. 정형화된 정면 포즈에 국한된 평가의 착시 현상"/>
          <p:cNvSpPr txBox="1"/>
          <p:nvPr/>
        </p:nvSpPr>
        <p:spPr>
          <a:xfrm>
            <a:off x="6077942" y="2860477"/>
            <a:ext cx="2959795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2. 정형화된 정면 포즈에 국한된 평가의 착시 현상</a:t>
            </a:r>
            <a:endParaRPr lang="en-US" sz="1050" dirty="0"/>
          </a:p>
        </p:txBody>
      </p:sp>
      <p:sp>
        <p:nvSpPr>
          <p:cNvPr id="37" name="Text: •  단순 포즈로만 라벨링:  31장 전체가 비슷한 조명과 배경에서 정면"/>
          <p:cNvSpPr txBox="1"/>
          <p:nvPr/>
        </p:nvSpPr>
        <p:spPr>
          <a:xfrm>
            <a:off x="6077942" y="3108762"/>
            <a:ext cx="4813995" cy="1771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0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단순 포즈로만 라벨링: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31장 전체가 비슷한 조명과 배경에서 정면으로 활짝 편 손으로만 구성</a:t>
            </a:r>
            <a:endParaRPr lang="en-US" sz="900" dirty="0"/>
          </a:p>
        </p:txBody>
      </p:sp>
      <p:sp>
        <p:nvSpPr>
          <p:cNvPr id="38" name="Text: •  시험 문제 동일 출제:  검증(Validation)도 똑같은 포즈에"/>
          <p:cNvSpPr txBox="1"/>
          <p:nvPr/>
        </p:nvSpPr>
        <p:spPr>
          <a:xfrm>
            <a:off x="6077942" y="3323967"/>
            <a:ext cx="5254724" cy="1771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0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시험 문제 동일 출제: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검증(Validation)도 똑같은 포즈에서만 출제되어 점수만 94%로 높게 측정된 허수</a:t>
            </a:r>
            <a:endParaRPr lang="en-US" sz="900" dirty="0"/>
          </a:p>
        </p:txBody>
      </p:sp>
      <p:sp>
        <p:nvSpPr>
          <p:cNvPr id="39" name="Rounded Rectangle"/>
          <p:cNvSpPr/>
          <p:nvPr/>
        </p:nvSpPr>
        <p:spPr>
          <a:xfrm>
            <a:off x="5912842" y="3729038"/>
            <a:ext cx="5701209" cy="859036"/>
          </a:xfrm>
          <a:prstGeom prst="roundRect">
            <a:avLst>
              <a:gd name="adj" fmla="val 887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0" name="Border"/>
          <p:cNvSpPr/>
          <p:nvPr/>
        </p:nvSpPr>
        <p:spPr>
          <a:xfrm>
            <a:off x="5912842" y="3729038"/>
            <a:ext cx="5701209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1" name="Border"/>
          <p:cNvSpPr/>
          <p:nvPr/>
        </p:nvSpPr>
        <p:spPr>
          <a:xfrm>
            <a:off x="11607701" y="3729038"/>
            <a:ext cx="6350" cy="859036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2" name="Border"/>
          <p:cNvSpPr/>
          <p:nvPr/>
        </p:nvSpPr>
        <p:spPr>
          <a:xfrm>
            <a:off x="5912842" y="4581723"/>
            <a:ext cx="5701209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3" name="Border"/>
          <p:cNvSpPr/>
          <p:nvPr/>
        </p:nvSpPr>
        <p:spPr>
          <a:xfrm>
            <a:off x="5912842" y="3729038"/>
            <a:ext cx="38100" cy="85903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4" name="Text: 3. 실전 환경 노이즈 필터링 능력 완전 부재"/>
          <p:cNvSpPr txBox="1"/>
          <p:nvPr/>
        </p:nvSpPr>
        <p:spPr>
          <a:xfrm>
            <a:off x="6077942" y="3821113"/>
            <a:ext cx="2561332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3. 실전 환경 노이즈 필터링 능력 완전 부재</a:t>
            </a:r>
            <a:endParaRPr lang="en-US" sz="1050" dirty="0"/>
          </a:p>
        </p:txBody>
      </p:sp>
      <p:sp>
        <p:nvSpPr>
          <p:cNvPr id="45" name="Text: •  배경 픽셀 관절 오인:  웹캠의 어두운 배경 노이즈와 그림자를 손가"/>
          <p:cNvSpPr txBox="1"/>
          <p:nvPr/>
        </p:nvSpPr>
        <p:spPr>
          <a:xfrm>
            <a:off x="6077942" y="4069398"/>
            <a:ext cx="4194274" cy="1771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0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배경 픽셀 관절 오인: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웹캠의 어두운 배경 노이즈와 그림자를 손가락 관절로 오판</a:t>
            </a:r>
            <a:endParaRPr lang="en-US" sz="900" dirty="0"/>
          </a:p>
        </p:txBody>
      </p:sp>
      <p:sp>
        <p:nvSpPr>
          <p:cNvPr id="46" name="Text: •  유령 관절(Ghost Keypoint):  손 형태를 잡지 못하고 "/>
          <p:cNvSpPr txBox="1"/>
          <p:nvPr/>
        </p:nvSpPr>
        <p:spPr>
          <a:xfrm>
            <a:off x="6077942" y="4284603"/>
            <a:ext cx="5264745" cy="1771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0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유령 관절(Ghost Keypoint):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손 형태를 잡지 못하고 허공에 마구잡이로 점을 찍는 치명적 오작동 발생</a:t>
            </a:r>
            <a:endParaRPr lang="en-US" sz="900" dirty="0"/>
          </a:p>
        </p:txBody>
      </p:sp>
      <p:sp>
        <p:nvSpPr>
          <p:cNvPr id="47" name="Rounded Rectangle"/>
          <p:cNvSpPr/>
          <p:nvPr/>
        </p:nvSpPr>
        <p:spPr>
          <a:xfrm>
            <a:off x="5919192" y="5529064"/>
            <a:ext cx="5688509" cy="627261"/>
          </a:xfrm>
          <a:prstGeom prst="roundRect">
            <a:avLst>
              <a:gd name="adj" fmla="val 13160"/>
            </a:avLst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miter lim="800000"/>
          </a:ln>
          <a:effectLst>
            <a:outerShdw blurRad="76200" dist="25400" dir="5400000" sx="100000" sy="100000" algn="ctr" rotWithShape="0">
              <a:srgbClr val="000000">
                <a:alpha val="3000"/>
              </a:srgbClr>
            </a:outerShdw>
          </a:effectLst>
        </p:spPr>
      </p:sp>
      <p:sp>
        <p:nvSpPr>
          <p:cNvPr id="48" name="Text: 💡  핵심 고찰:  &quot;학습 데이터가 부족하면 검증 점수가 94%로 높게"/>
          <p:cNvSpPr txBox="1"/>
          <p:nvPr/>
        </p:nvSpPr>
        <p:spPr>
          <a:xfrm>
            <a:off x="6077942" y="5634534"/>
            <a:ext cx="5251152" cy="3859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💡 </a:t>
            </a:r>
            <a:r>
              <a:rPr lang="en-US" sz="950" b="1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핵심 고찰:</a:t>
            </a:r>
            <a:r>
              <a:rPr lang="en-US" sz="950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 "학습 데이터가 부족하면 검증 점수가 94%로 높게 나와도, 실제 웹캠에서는 전혀 작</a:t>
            </a:r>
            <a:br>
              <a:rPr lang="en-US" sz="950"/>
            </a:br>
            <a:r>
              <a:rPr lang="en-US" sz="950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동하지 않는 </a:t>
            </a:r>
            <a:r>
              <a:rPr lang="en-US" sz="950" b="1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'과적합(Overfitting)'</a:t>
            </a:r>
            <a:r>
              <a:rPr lang="en-US" sz="950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이 발생함"</a:t>
            </a:r>
            <a:endParaRPr lang="en-US" sz="950" dirty="0"/>
          </a:p>
        </p:txBody>
      </p:sp>
      <p:sp>
        <p:nvSpPr>
          <p:cNvPr id="49" name="Border"/>
          <p:cNvSpPr/>
          <p:nvPr/>
        </p:nvSpPr>
        <p:spPr>
          <a:xfrm>
            <a:off x="381000" y="6334125"/>
            <a:ext cx="11430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0" name="Text: AuraSynth: Computer Vision &amp; Interactive"/>
          <p:cNvSpPr txBox="1"/>
          <p:nvPr/>
        </p:nvSpPr>
        <p:spPr>
          <a:xfrm>
            <a:off x="381000" y="6451600"/>
            <a:ext cx="3247628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AuraSynth: Computer Vision &amp; Interactive Web Audio Research</a:t>
            </a:r>
            <a:endParaRPr lang="en-US" sz="850" dirty="0"/>
          </a:p>
        </p:txBody>
      </p:sp>
      <p:sp>
        <p:nvSpPr>
          <p:cNvPr id="51" name="Rounded Rectangle"/>
          <p:cNvSpPr/>
          <p:nvPr/>
        </p:nvSpPr>
        <p:spPr>
          <a:xfrm>
            <a:off x="11237714" y="6429375"/>
            <a:ext cx="573286" cy="225425"/>
          </a:xfrm>
          <a:prstGeom prst="roundRect">
            <a:avLst>
              <a:gd name="adj" fmla="val 22535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52" name="Text: 07 / 12"/>
          <p:cNvSpPr txBox="1"/>
          <p:nvPr/>
        </p:nvSpPr>
        <p:spPr>
          <a:xfrm>
            <a:off x="11339314" y="6451600"/>
            <a:ext cx="37008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07 / 12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4175" y="244475"/>
            <a:ext cx="1960166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3" name="Text: PART 04 • 모델별 실전 추론 결과 (2/3)"/>
          <p:cNvSpPr txBox="1"/>
          <p:nvPr/>
        </p:nvSpPr>
        <p:spPr>
          <a:xfrm>
            <a:off x="488950" y="282575"/>
            <a:ext cx="1750616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PART 04 • 모델별 실전 추론 결과 (2/3)</a:t>
            </a:r>
            <a:endParaRPr lang="en-US" sz="750" dirty="0"/>
          </a:p>
        </p:txBody>
      </p:sp>
      <p:sp>
        <p:nvSpPr>
          <p:cNvPr id="4" name="Text: AuraSynth Engine Architecture"/>
          <p:cNvSpPr txBox="1"/>
          <p:nvPr/>
        </p:nvSpPr>
        <p:spPr>
          <a:xfrm>
            <a:off x="2436416" y="265113"/>
            <a:ext cx="1658739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AuraSynth Engine Architecture</a:t>
            </a:r>
            <a:endParaRPr lang="en-US" sz="900" dirty="0"/>
          </a:p>
        </p:txBody>
      </p:sp>
      <p:sp>
        <p:nvSpPr>
          <p:cNvPr id="5" name="Text: [Model 2] Custom YOLOv8-Pose 실전 결과 &amp; 데이터"/>
          <p:cNvSpPr txBox="1"/>
          <p:nvPr/>
        </p:nvSpPr>
        <p:spPr>
          <a:xfrm>
            <a:off x="381000" y="555625"/>
            <a:ext cx="8160048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75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[Model 2] Custom YOLOv8-Pose 실전 결과 &amp; 데이터 분석</a:t>
            </a:r>
            <a:endParaRPr lang="en-US" sz="2500" dirty="0"/>
          </a:p>
        </p:txBody>
      </p:sp>
      <p:sp>
        <p:nvSpPr>
          <p:cNvPr id="6" name="Text: 18,776장 학습으로 펼친 손은 정밀 추적했으나, 접힌 손(V·주먹)에"/>
          <p:cNvSpPr txBox="1"/>
          <p:nvPr/>
        </p:nvSpPr>
        <p:spPr>
          <a:xfrm>
            <a:off x="381000" y="948055"/>
            <a:ext cx="6271320" cy="2044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18,776장 학습으로 펼친 손은 정밀 추적했으나, 접힌 손(V·주먹)에서 드러난 2D 자가 가림의 한계</a:t>
            </a:r>
            <a:endParaRPr lang="en-US" sz="1150" dirty="0"/>
          </a:p>
        </p:txBody>
      </p:sp>
      <p:sp>
        <p:nvSpPr>
          <p:cNvPr id="7" name="Rounded Rectangle"/>
          <p:cNvSpPr/>
          <p:nvPr/>
        </p:nvSpPr>
        <p:spPr>
          <a:xfrm>
            <a:off x="387350" y="1280716"/>
            <a:ext cx="5854402" cy="5047059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12700" cap="flat" cmpd="sng" algn="ctr">
            <a:solidFill>
              <a:srgbClr val="2563EB"/>
            </a:solidFill>
            <a:miter lim="800000"/>
          </a:ln>
          <a:effectLst>
            <a:outerShdw blurRad="101600" dist="50800" dir="5400000" sx="99566" sy="99497" algn="ctr" rotWithShape="0">
              <a:srgbClr val="000000">
                <a:alpha val="5000"/>
              </a:srgbClr>
            </a:outerShdw>
          </a:effectLst>
        </p:spPr>
      </p:sp>
      <p:sp>
        <p:nvSpPr>
          <p:cNvPr id="8" name="Rounded Rectangle"/>
          <p:cNvSpPr/>
          <p:nvPr/>
        </p:nvSpPr>
        <p:spPr>
          <a:xfrm>
            <a:off x="549275" y="1429941"/>
            <a:ext cx="1190129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9" name="Text: 실시간 웹캠 추론 비교"/>
          <p:cNvSpPr txBox="1"/>
          <p:nvPr/>
        </p:nvSpPr>
        <p:spPr>
          <a:xfrm>
            <a:off x="654050" y="1468041"/>
            <a:ext cx="980579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실시간 웹캠 추론 비교</a:t>
            </a:r>
            <a:endParaRPr lang="en-US" sz="750" dirty="0"/>
          </a:p>
        </p:txBody>
      </p:sp>
      <p:sp>
        <p:nvSpPr>
          <p:cNvPr id="10" name="Text: 펼친 손 vs 브이(V) 제스처"/>
          <p:cNvSpPr txBox="1"/>
          <p:nvPr/>
        </p:nvSpPr>
        <p:spPr>
          <a:xfrm>
            <a:off x="1793379" y="1450578"/>
            <a:ext cx="133915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펼친 손 vs 브이(V) 제스처</a:t>
            </a:r>
            <a:endParaRPr lang="en-US" sz="900" dirty="0"/>
          </a:p>
        </p:txBody>
      </p:sp>
      <p:sp>
        <p:nvSpPr>
          <p:cNvPr id="11" name="Rounded Rectangle"/>
          <p:cNvSpPr/>
          <p:nvPr/>
        </p:nvSpPr>
        <p:spPr>
          <a:xfrm>
            <a:off x="4962624" y="1463278"/>
            <a:ext cx="1120378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</p:spPr>
      </p:sp>
      <p:sp>
        <p:nvSpPr>
          <p:cNvPr id="12" name="Text: Box 99.2% / Pose 87.9%"/>
          <p:cNvSpPr txBox="1"/>
          <p:nvPr/>
        </p:nvSpPr>
        <p:spPr>
          <a:xfrm>
            <a:off x="5013424" y="1469628"/>
            <a:ext cx="1018778" cy="1333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spc="-4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Box 99.2% / Pose 87.9%</a:t>
            </a:r>
            <a:endParaRPr lang="en-US" sz="700" dirty="0"/>
          </a:p>
        </p:txBody>
      </p:sp>
      <p:sp>
        <p:nvSpPr>
          <p:cNvPr id="13" name="Rounded Rectangle"/>
          <p:cNvSpPr/>
          <p:nvPr/>
        </p:nvSpPr>
        <p:spPr>
          <a:xfrm>
            <a:off x="549275" y="1725216"/>
            <a:ext cx="2723952" cy="1325563"/>
          </a:xfrm>
          <a:prstGeom prst="roundRect">
            <a:avLst>
              <a:gd name="adj" fmla="val 4551"/>
            </a:avLst>
          </a:prstGeom>
          <a:solidFill>
            <a:srgbClr val="0A0F1D"/>
          </a:solidFill>
          <a:ln w="6350" cap="flat" cmpd="sng" algn="ctr">
            <a:solidFill>
              <a:srgbClr val="3B82F6"/>
            </a:solidFill>
            <a:miter lim="800000"/>
          </a:ln>
        </p:spPr>
      </p:sp>
      <p:sp>
        <p:nvSpPr>
          <p:cNvPr id="14" name="Rounded Rectangle"/>
          <p:cNvSpPr/>
          <p:nvPr/>
        </p:nvSpPr>
        <p:spPr>
          <a:xfrm>
            <a:off x="603250" y="1779191"/>
            <a:ext cx="2616002" cy="901700"/>
          </a:xfrm>
          <a:prstGeom prst="roundRect">
            <a:avLst>
              <a:gd name="adj" fmla="val 4225"/>
            </a:avLst>
          </a:prstGeom>
          <a:solidFill>
            <a:srgbClr val="000000"/>
          </a:solidFill>
          <a:ln>
            <a:noFill/>
          </a:ln>
        </p:spPr>
      </p:sp>
      <p:pic>
        <p:nvPicPr>
          <p:cNvPr id="15" name="Image: YOLO Open Palm Succe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57" y="1779191"/>
            <a:ext cx="812988" cy="901700"/>
          </a:xfrm>
          <a:prstGeom prst="rect">
            <a:avLst/>
          </a:prstGeom>
          <a:ln>
            <a:noFill/>
          </a:ln>
        </p:spPr>
      </p:pic>
      <p:sp>
        <p:nvSpPr>
          <p:cNvPr id="16" name="Rounded Rectangle"/>
          <p:cNvSpPr/>
          <p:nvPr/>
        </p:nvSpPr>
        <p:spPr>
          <a:xfrm>
            <a:off x="1453555" y="2718991"/>
            <a:ext cx="915293" cy="13970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>
            <a:noFill/>
          </a:ln>
        </p:spPr>
      </p:sp>
      <p:sp>
        <p:nvSpPr>
          <p:cNvPr id="17" name="Text: ✓ 펼친 손 (정밀 검출)"/>
          <p:cNvSpPr txBox="1"/>
          <p:nvPr/>
        </p:nvSpPr>
        <p:spPr>
          <a:xfrm>
            <a:off x="1491655" y="2693591"/>
            <a:ext cx="839093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1" spc="-4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✓ 펼친 손 (정밀 검출)</a:t>
            </a:r>
            <a:endParaRPr lang="en-US" sz="675" dirty="0"/>
          </a:p>
        </p:txBody>
      </p:sp>
      <p:sp>
        <p:nvSpPr>
          <p:cNvPr id="18" name="Text: 5개 손가락 끝마디까지 관절 정밀 추적"/>
          <p:cNvSpPr txBox="1"/>
          <p:nvPr/>
        </p:nvSpPr>
        <p:spPr>
          <a:xfrm>
            <a:off x="1229618" y="2866628"/>
            <a:ext cx="1363266" cy="11906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9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5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5개 손가락 끝마디까지 관절 정밀 추적</a:t>
            </a:r>
            <a:endParaRPr lang="en-US" sz="625" dirty="0"/>
          </a:p>
        </p:txBody>
      </p:sp>
      <p:sp>
        <p:nvSpPr>
          <p:cNvPr id="19" name="Rounded Rectangle"/>
          <p:cNvSpPr/>
          <p:nvPr/>
        </p:nvSpPr>
        <p:spPr>
          <a:xfrm>
            <a:off x="3355777" y="1725216"/>
            <a:ext cx="2724051" cy="1325563"/>
          </a:xfrm>
          <a:prstGeom prst="roundRect">
            <a:avLst>
              <a:gd name="adj" fmla="val 4551"/>
            </a:avLst>
          </a:prstGeom>
          <a:solidFill>
            <a:srgbClr val="0A0F1D"/>
          </a:solidFill>
          <a:ln w="6350" cap="flat" cmpd="sng" algn="ctr">
            <a:solidFill>
              <a:srgbClr val="EF4444"/>
            </a:solidFill>
            <a:miter lim="800000"/>
          </a:ln>
        </p:spPr>
      </p:sp>
      <p:sp>
        <p:nvSpPr>
          <p:cNvPr id="20" name="Rounded Rectangle"/>
          <p:cNvSpPr/>
          <p:nvPr/>
        </p:nvSpPr>
        <p:spPr>
          <a:xfrm>
            <a:off x="3409752" y="1779191"/>
            <a:ext cx="2616101" cy="901700"/>
          </a:xfrm>
          <a:prstGeom prst="roundRect">
            <a:avLst>
              <a:gd name="adj" fmla="val 4225"/>
            </a:avLst>
          </a:prstGeom>
          <a:solidFill>
            <a:srgbClr val="000000"/>
          </a:solidFill>
          <a:ln>
            <a:noFill/>
          </a:ln>
        </p:spPr>
      </p:sp>
      <p:pic>
        <p:nvPicPr>
          <p:cNvPr id="21" name="Image: YOLO V-Sign Fail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929" y="1779191"/>
            <a:ext cx="595745" cy="901700"/>
          </a:xfrm>
          <a:prstGeom prst="rect">
            <a:avLst/>
          </a:prstGeom>
          <a:ln>
            <a:noFill/>
          </a:ln>
        </p:spPr>
      </p:pic>
      <p:sp>
        <p:nvSpPr>
          <p:cNvPr id="22" name="Rounded Rectangle"/>
          <p:cNvSpPr/>
          <p:nvPr/>
        </p:nvSpPr>
        <p:spPr>
          <a:xfrm>
            <a:off x="4089499" y="2718991"/>
            <a:ext cx="1256605" cy="139700"/>
          </a:xfrm>
          <a:prstGeom prst="roundRect">
            <a:avLst>
              <a:gd name="adj" fmla="val 18182"/>
            </a:avLst>
          </a:prstGeom>
          <a:solidFill>
            <a:srgbClr val="FEF2F2"/>
          </a:solidFill>
          <a:ln>
            <a:noFill/>
          </a:ln>
        </p:spPr>
      </p:sp>
      <p:sp>
        <p:nvSpPr>
          <p:cNvPr id="23" name="Text: ❌ 브이(V) 제스처 (관절 뭉침)"/>
          <p:cNvSpPr txBox="1"/>
          <p:nvPr/>
        </p:nvSpPr>
        <p:spPr>
          <a:xfrm>
            <a:off x="4127599" y="2693591"/>
            <a:ext cx="1180405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1" spc="-4" dirty="0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❌ 브이(V) 제스처 (관절 뭉침)</a:t>
            </a:r>
            <a:endParaRPr lang="en-US" sz="675" dirty="0"/>
          </a:p>
        </p:txBody>
      </p:sp>
      <p:sp>
        <p:nvSpPr>
          <p:cNvPr id="24" name="Text: 손가락 끝 미인식 &amp; 손바닥 중앙에 뭉침"/>
          <p:cNvSpPr txBox="1"/>
          <p:nvPr/>
        </p:nvSpPr>
        <p:spPr>
          <a:xfrm>
            <a:off x="4011811" y="2866628"/>
            <a:ext cx="1411883" cy="11906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9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5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손가락 끝 미인식 &amp; 손바닥 중앙에 뭉침</a:t>
            </a:r>
            <a:endParaRPr lang="en-US" sz="625" dirty="0"/>
          </a:p>
        </p:txBody>
      </p:sp>
      <p:sp>
        <p:nvSpPr>
          <p:cNvPr id="25" name="Border"/>
          <p:cNvSpPr/>
          <p:nvPr/>
        </p:nvSpPr>
        <p:spPr>
          <a:xfrm>
            <a:off x="546100" y="3130153"/>
            <a:ext cx="5536902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6" name="Text: 📊 15 Epochs 학습 곡선: 손실(Loss) 급감 &amp; 정확도(mA"/>
          <p:cNvSpPr txBox="1"/>
          <p:nvPr/>
        </p:nvSpPr>
        <p:spPr>
          <a:xfrm>
            <a:off x="546100" y="3190478"/>
            <a:ext cx="3793430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📊 15 Epochs 학습 곡선: 손실(Loss) 급감 &amp; 정확도(mAP) 99.2% 고득점 수렴</a:t>
            </a:r>
            <a:endParaRPr lang="en-US" sz="850" dirty="0"/>
          </a:p>
        </p:txBody>
      </p:sp>
      <p:sp>
        <p:nvSpPr>
          <p:cNvPr id="27" name="Rounded Rectangle"/>
          <p:cNvSpPr/>
          <p:nvPr/>
        </p:nvSpPr>
        <p:spPr>
          <a:xfrm>
            <a:off x="4963220" y="3200003"/>
            <a:ext cx="1119783" cy="161925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>
            <a:noFill/>
          </a:ln>
        </p:spPr>
      </p:sp>
      <p:sp>
        <p:nvSpPr>
          <p:cNvPr id="28" name="Text: 18,776장 학습 • 64분 완주"/>
          <p:cNvSpPr txBox="1"/>
          <p:nvPr/>
        </p:nvSpPr>
        <p:spPr>
          <a:xfrm>
            <a:off x="5026720" y="3209528"/>
            <a:ext cx="992783" cy="1238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 spc="-4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18,776장 학습 • 64분 완주</a:t>
            </a:r>
            <a:endParaRPr lang="en-US" sz="650" dirty="0"/>
          </a:p>
        </p:txBody>
      </p:sp>
      <p:sp>
        <p:nvSpPr>
          <p:cNvPr id="29" name="Rounded Rectangle"/>
          <p:cNvSpPr/>
          <p:nvPr/>
        </p:nvSpPr>
        <p:spPr>
          <a:xfrm>
            <a:off x="549275" y="3415903"/>
            <a:ext cx="5530552" cy="1676400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6350" cap="flat" cmpd="sng" algn="ctr">
            <a:solidFill>
              <a:srgbClr val="CBD5E1"/>
            </a:solidFill>
            <a:miter lim="800000"/>
          </a:ln>
          <a:effectLst>
            <a:outerShdw blurRad="76200" dist="25400" dir="5400000" sx="100000" sy="100000" algn="ctr" rotWithShape="0">
              <a:srgbClr val="000000">
                <a:alpha val="3000"/>
              </a:srgbClr>
            </a:outerShdw>
          </a:effectLst>
        </p:spPr>
      </p:sp>
      <p:pic>
        <p:nvPicPr>
          <p:cNvPr id="30" name="Image: YOLO Training Results Curves (Loss &amp; mAP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506" y="3419078"/>
            <a:ext cx="4406089" cy="1670050"/>
          </a:xfrm>
          <a:prstGeom prst="rect">
            <a:avLst/>
          </a:prstGeom>
          <a:ln>
            <a:noFill/>
          </a:ln>
        </p:spPr>
      </p:pic>
      <p:sp>
        <p:nvSpPr>
          <p:cNvPr id="31" name="Rounded Rectangle"/>
          <p:cNvSpPr/>
          <p:nvPr/>
        </p:nvSpPr>
        <p:spPr>
          <a:xfrm>
            <a:off x="549275" y="5162153"/>
            <a:ext cx="2730302" cy="504428"/>
          </a:xfrm>
          <a:prstGeom prst="roundRect">
            <a:avLst>
              <a:gd name="adj" fmla="val 9441"/>
            </a:avLst>
          </a:prstGeom>
          <a:solidFill>
            <a:srgbClr val="F8FAFC"/>
          </a:solidFill>
          <a:ln w="6350" cap="flat" cmpd="sng" algn="ctr">
            <a:solidFill>
              <a:srgbClr val="E2E8F0"/>
            </a:solidFill>
            <a:miter lim="800000"/>
          </a:ln>
        </p:spPr>
      </p:sp>
      <p:sp>
        <p:nvSpPr>
          <p:cNvPr id="32" name="Text: 📉 [왼쪽 차트] 관절 오차 (Loss)"/>
          <p:cNvSpPr txBox="1"/>
          <p:nvPr/>
        </p:nvSpPr>
        <p:spPr>
          <a:xfrm>
            <a:off x="628650" y="5205016"/>
            <a:ext cx="1328440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5" b="1" spc="-4" dirty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📉 [왼쪽 차트] 관절 오차 (Loss)</a:t>
            </a:r>
            <a:endParaRPr lang="en-US" sz="725" dirty="0"/>
          </a:p>
        </p:txBody>
      </p:sp>
      <p:sp>
        <p:nvSpPr>
          <p:cNvPr id="33" name="Text: •  7.79 ➔ 1.62 (-79.2%) : 학습을 거듭할수록 오차가 "/>
          <p:cNvSpPr txBox="1"/>
          <p:nvPr/>
        </p:nvSpPr>
        <p:spPr>
          <a:xfrm>
            <a:off x="628650" y="5361583"/>
            <a:ext cx="2548434" cy="2393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650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7.79 ➔ 1.62 (-79.2%)</a:t>
            </a:r>
            <a:r>
              <a:rPr lang="en-US" sz="6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: 학습을 거듭할수록 오차가 바닥으로 수직 하</a:t>
            </a:r>
            <a:br>
              <a:rPr lang="en-US" sz="650"/>
            </a:br>
            <a:r>
              <a:rPr lang="en-US" sz="6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강하며 안정 수렴</a:t>
            </a:r>
            <a:endParaRPr lang="en-US" sz="650" dirty="0"/>
          </a:p>
        </p:txBody>
      </p:sp>
      <p:sp>
        <p:nvSpPr>
          <p:cNvPr id="34" name="Rounded Rectangle"/>
          <p:cNvSpPr/>
          <p:nvPr/>
        </p:nvSpPr>
        <p:spPr>
          <a:xfrm>
            <a:off x="3349427" y="5162153"/>
            <a:ext cx="2730401" cy="504428"/>
          </a:xfrm>
          <a:prstGeom prst="roundRect">
            <a:avLst>
              <a:gd name="adj" fmla="val 9441"/>
            </a:avLst>
          </a:prstGeom>
          <a:solidFill>
            <a:srgbClr val="F8FAFC"/>
          </a:solidFill>
          <a:ln w="6350" cap="flat" cmpd="sng" algn="ctr">
            <a:solidFill>
              <a:srgbClr val="E2E8F0"/>
            </a:solidFill>
            <a:miter lim="800000"/>
          </a:ln>
        </p:spPr>
      </p:sp>
      <p:sp>
        <p:nvSpPr>
          <p:cNvPr id="35" name="Text: 📈 [오른쪽 차트] 검출 성능 (mAP50)"/>
          <p:cNvSpPr txBox="1"/>
          <p:nvPr/>
        </p:nvSpPr>
        <p:spPr>
          <a:xfrm>
            <a:off x="3428802" y="5205016"/>
            <a:ext cx="1543348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5" b="1" spc="-4" dirty="0">
                <a:solidFill>
                  <a:srgbClr val="059669"/>
                </a:solidFill>
                <a:latin typeface="Segoe UI"/>
                <a:ea typeface="Segoe UI"/>
                <a:cs typeface="Segoe UI"/>
              </a:rPr>
              <a:t>📈 [오른쪽 차트] 검출 성능 (mAP50)</a:t>
            </a:r>
            <a:endParaRPr lang="en-US" sz="725" dirty="0"/>
          </a:p>
        </p:txBody>
      </p:sp>
      <p:sp>
        <p:nvSpPr>
          <p:cNvPr id="36" name="Text: •  손 검출 99.2% / 관절 87.9% : 1.8만 장 검증셋에서 "/>
          <p:cNvSpPr txBox="1"/>
          <p:nvPr/>
        </p:nvSpPr>
        <p:spPr>
          <a:xfrm>
            <a:off x="3428802" y="5361583"/>
            <a:ext cx="2372916" cy="2393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650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손 검출 99.2% / 관절 87.9%</a:t>
            </a:r>
            <a:r>
              <a:rPr lang="en-US" sz="6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: 1.8만 장 검증셋에서 높은 정확도</a:t>
            </a:r>
            <a:br>
              <a:rPr lang="en-US" sz="650"/>
            </a:br>
            <a:r>
              <a:rPr lang="en-US" sz="6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(99.2%)에 도달</a:t>
            </a:r>
            <a:endParaRPr lang="en-US" sz="650" dirty="0"/>
          </a:p>
        </p:txBody>
      </p:sp>
      <p:sp>
        <p:nvSpPr>
          <p:cNvPr id="37" name="Rounded Rectangle"/>
          <p:cNvSpPr/>
          <p:nvPr/>
        </p:nvSpPr>
        <p:spPr>
          <a:xfrm>
            <a:off x="546100" y="5902325"/>
            <a:ext cx="5536902" cy="27940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>
            <a:noFill/>
          </a:ln>
        </p:spPr>
      </p:sp>
      <p:sp>
        <p:nvSpPr>
          <p:cNvPr id="38" name="Border"/>
          <p:cNvSpPr/>
          <p:nvPr/>
        </p:nvSpPr>
        <p:spPr>
          <a:xfrm>
            <a:off x="546100" y="5902325"/>
            <a:ext cx="25400" cy="2794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9" name="Text: 💡 핵심 반전: &quot;학습 지표는 99.2%로 높게 수렴했으나, 펴진 손 "/>
          <p:cNvSpPr txBox="1"/>
          <p:nvPr/>
        </p:nvSpPr>
        <p:spPr>
          <a:xfrm>
            <a:off x="660400" y="5953125"/>
            <a:ext cx="4601865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-4" dirty="0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💡 핵심 반전: "학습 지표는 99.2%로 높게 수렴했으나, 펴진 손 데이터 편향으로 접힌 제스처에서 관절 붕괴"</a:t>
            </a:r>
            <a:endParaRPr lang="en-US" sz="750" dirty="0"/>
          </a:p>
        </p:txBody>
      </p:sp>
      <p:sp>
        <p:nvSpPr>
          <p:cNvPr id="40" name="Rounded Rectangle"/>
          <p:cNvSpPr/>
          <p:nvPr/>
        </p:nvSpPr>
        <p:spPr>
          <a:xfrm>
            <a:off x="6416377" y="1277541"/>
            <a:ext cx="5391348" cy="5053409"/>
          </a:xfrm>
          <a:prstGeom prst="roundRect">
            <a:avLst>
              <a:gd name="adj" fmla="val 2199"/>
            </a:avLst>
          </a:prstGeom>
          <a:solidFill>
            <a:srgbClr val="FFFFFF"/>
          </a:solidFill>
          <a:ln w="6350" cap="flat" cmpd="sng" algn="ctr">
            <a:solidFill>
              <a:srgbClr val="E2E8F0"/>
            </a:solidFill>
            <a:miter lim="800000"/>
          </a:ln>
          <a:effectLst>
            <a:outerShdw blurRad="101600" dist="50800" dir="5400000" sx="99529" sy="99497" algn="ctr" rotWithShape="0">
              <a:srgbClr val="000000">
                <a:alpha val="5000"/>
              </a:srgbClr>
            </a:outerShdw>
          </a:effectLst>
        </p:spPr>
      </p:sp>
      <p:sp>
        <p:nvSpPr>
          <p:cNvPr id="41" name="Rounded Rectangle"/>
          <p:cNvSpPr/>
          <p:nvPr/>
        </p:nvSpPr>
        <p:spPr>
          <a:xfrm>
            <a:off x="6613227" y="1450578"/>
            <a:ext cx="633611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42" name="Text: 원인 분석"/>
          <p:cNvSpPr txBox="1"/>
          <p:nvPr/>
        </p:nvSpPr>
        <p:spPr>
          <a:xfrm>
            <a:off x="6718002" y="1488678"/>
            <a:ext cx="424061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원인 분석</a:t>
            </a:r>
            <a:endParaRPr lang="en-US" sz="750" dirty="0"/>
          </a:p>
        </p:txBody>
      </p:sp>
      <p:sp>
        <p:nvSpPr>
          <p:cNvPr id="43" name="Text: 수치(99.2%)와 실전의 괴리 심층 분석"/>
          <p:cNvSpPr txBox="1"/>
          <p:nvPr/>
        </p:nvSpPr>
        <p:spPr>
          <a:xfrm>
            <a:off x="7313513" y="1426766"/>
            <a:ext cx="2794794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수치(99.2%)와 실전의 괴리 심층 분석</a:t>
            </a:r>
            <a:endParaRPr lang="en-US" sz="1300" dirty="0"/>
          </a:p>
        </p:txBody>
      </p:sp>
      <p:sp>
        <p:nvSpPr>
          <p:cNvPr id="44" name="Rounded Rectangle"/>
          <p:cNvSpPr/>
          <p:nvPr/>
        </p:nvSpPr>
        <p:spPr>
          <a:xfrm>
            <a:off x="6610052" y="1807766"/>
            <a:ext cx="5003998" cy="859036"/>
          </a:xfrm>
          <a:prstGeom prst="roundRect">
            <a:avLst>
              <a:gd name="adj" fmla="val 887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5" name="Border"/>
          <p:cNvSpPr/>
          <p:nvPr/>
        </p:nvSpPr>
        <p:spPr>
          <a:xfrm>
            <a:off x="6610052" y="1807766"/>
            <a:ext cx="5003998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6" name="Border"/>
          <p:cNvSpPr/>
          <p:nvPr/>
        </p:nvSpPr>
        <p:spPr>
          <a:xfrm>
            <a:off x="11607701" y="1807766"/>
            <a:ext cx="6350" cy="859036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7" name="Border"/>
          <p:cNvSpPr/>
          <p:nvPr/>
        </p:nvSpPr>
        <p:spPr>
          <a:xfrm>
            <a:off x="6610052" y="2660452"/>
            <a:ext cx="5003998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8" name="Border"/>
          <p:cNvSpPr/>
          <p:nvPr/>
        </p:nvSpPr>
        <p:spPr>
          <a:xfrm>
            <a:off x="6610052" y="1807766"/>
            <a:ext cx="38100" cy="85903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9" name="Text: 1. 자가 가림(Self-Occlusion)에 의한 2D 좌표 붕괴"/>
          <p:cNvSpPr txBox="1"/>
          <p:nvPr/>
        </p:nvSpPr>
        <p:spPr>
          <a:xfrm>
            <a:off x="6775152" y="1899841"/>
            <a:ext cx="3011190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1. 자가 가림(Self-Occlusion)에 의한 2D 좌표 붕괴</a:t>
            </a:r>
            <a:endParaRPr lang="en-US" sz="1050" dirty="0"/>
          </a:p>
        </p:txBody>
      </p:sp>
      <p:sp>
        <p:nvSpPr>
          <p:cNvPr id="50" name="Text: •  자가 가림(Occlusion):  손가락을 접으면 앞마디가 뒷마디를"/>
          <p:cNvSpPr txBox="1"/>
          <p:nvPr/>
        </p:nvSpPr>
        <p:spPr>
          <a:xfrm>
            <a:off x="6775152" y="2148126"/>
            <a:ext cx="4147741" cy="1771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0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자가 가림(Occlusion):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손가락을 접으면 앞마디가 뒷마디를 가려 관절 위치 은폐</a:t>
            </a:r>
            <a:endParaRPr lang="en-US" sz="900" dirty="0"/>
          </a:p>
        </p:txBody>
      </p:sp>
      <p:sp>
        <p:nvSpPr>
          <p:cNvPr id="51" name="Text: •  깊이(z축) 부재:  2D 평면 신경망은 입체 깊이를 알 수 없어 "/>
          <p:cNvSpPr txBox="1"/>
          <p:nvPr/>
        </p:nvSpPr>
        <p:spPr>
          <a:xfrm>
            <a:off x="6775152" y="2363331"/>
            <a:ext cx="4439245" cy="1771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0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깊이(z축) 부재: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2D 평면 신경망은 입체 깊이를 알 수 없어 좌표가 손바닥 중심에 뭉침</a:t>
            </a:r>
            <a:endParaRPr lang="en-US" sz="900" dirty="0"/>
          </a:p>
        </p:txBody>
      </p:sp>
      <p:sp>
        <p:nvSpPr>
          <p:cNvPr id="52" name="Rounded Rectangle"/>
          <p:cNvSpPr/>
          <p:nvPr/>
        </p:nvSpPr>
        <p:spPr>
          <a:xfrm>
            <a:off x="6610052" y="2768402"/>
            <a:ext cx="5003998" cy="859036"/>
          </a:xfrm>
          <a:prstGeom prst="roundRect">
            <a:avLst>
              <a:gd name="adj" fmla="val 887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53" name="Border"/>
          <p:cNvSpPr/>
          <p:nvPr/>
        </p:nvSpPr>
        <p:spPr>
          <a:xfrm>
            <a:off x="6610052" y="2768402"/>
            <a:ext cx="5003998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4" name="Border"/>
          <p:cNvSpPr/>
          <p:nvPr/>
        </p:nvSpPr>
        <p:spPr>
          <a:xfrm>
            <a:off x="11607701" y="2768402"/>
            <a:ext cx="6350" cy="859036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5" name="Border"/>
          <p:cNvSpPr/>
          <p:nvPr/>
        </p:nvSpPr>
        <p:spPr>
          <a:xfrm>
            <a:off x="6610052" y="3621088"/>
            <a:ext cx="5003998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6" name="Border"/>
          <p:cNvSpPr/>
          <p:nvPr/>
        </p:nvSpPr>
        <p:spPr>
          <a:xfrm>
            <a:off x="6610052" y="2768402"/>
            <a:ext cx="38100" cy="859036"/>
          </a:xfrm>
          <a:prstGeom prst="rect">
            <a:avLst/>
          </a:prstGeom>
          <a:solidFill>
            <a:srgbClr val="0284C7"/>
          </a:solidFill>
          <a:ln>
            <a:noFill/>
          </a:ln>
        </p:spPr>
      </p:sp>
      <p:sp>
        <p:nvSpPr>
          <p:cNvPr id="57" name="Text: 2. 펴진 손 위주의 학습 데이터 편향 (Open-Palm Bias)"/>
          <p:cNvSpPr txBox="1"/>
          <p:nvPr/>
        </p:nvSpPr>
        <p:spPr>
          <a:xfrm>
            <a:off x="6775152" y="2860477"/>
            <a:ext cx="3259634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2. 펴진 손 위주의 학습 데이터 편향 (Open-Palm Bias)</a:t>
            </a:r>
            <a:endParaRPr lang="en-US" sz="1050" dirty="0"/>
          </a:p>
        </p:txBody>
      </p:sp>
      <p:sp>
        <p:nvSpPr>
          <p:cNvPr id="58" name="Text: •  정면 펴진 손 편향:  18,776장 대다수가 활짝 편 손 위주로 "/>
          <p:cNvSpPr txBox="1"/>
          <p:nvPr/>
        </p:nvSpPr>
        <p:spPr>
          <a:xfrm>
            <a:off x="6775152" y="3108762"/>
            <a:ext cx="4536182" cy="1771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0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정면 펴진 손 편향: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18,776장 대다수가 활짝 편 손 위주로 구성되어 접힌 손 포즈 미학습</a:t>
            </a:r>
            <a:endParaRPr lang="en-US" sz="900" dirty="0"/>
          </a:p>
        </p:txBody>
      </p:sp>
      <p:sp>
        <p:nvSpPr>
          <p:cNvPr id="59" name="Text: •  비정형 포즈 취약:  펴진 손은 정밀 추적하나 V자·주먹 등 접힌 "/>
          <p:cNvSpPr txBox="1"/>
          <p:nvPr/>
        </p:nvSpPr>
        <p:spPr>
          <a:xfrm>
            <a:off x="6775152" y="3323967"/>
            <a:ext cx="4216598" cy="1771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0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비정형 포즈 취약: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펴진 손은 정밀 추적하나 V자·주먹 등 접힌 손에서 인식률 급락</a:t>
            </a:r>
            <a:endParaRPr lang="en-US" sz="900" dirty="0"/>
          </a:p>
        </p:txBody>
      </p:sp>
      <p:sp>
        <p:nvSpPr>
          <p:cNvPr id="60" name="Rounded Rectangle"/>
          <p:cNvSpPr/>
          <p:nvPr/>
        </p:nvSpPr>
        <p:spPr>
          <a:xfrm>
            <a:off x="6610052" y="3729038"/>
            <a:ext cx="5003998" cy="865386"/>
          </a:xfrm>
          <a:prstGeom prst="roundRect">
            <a:avLst>
              <a:gd name="adj" fmla="val 8805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61" name="Border"/>
          <p:cNvSpPr/>
          <p:nvPr/>
        </p:nvSpPr>
        <p:spPr>
          <a:xfrm>
            <a:off x="6610052" y="3729038"/>
            <a:ext cx="5003998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2" name="Border"/>
          <p:cNvSpPr/>
          <p:nvPr/>
        </p:nvSpPr>
        <p:spPr>
          <a:xfrm>
            <a:off x="11607701" y="3729038"/>
            <a:ext cx="6350" cy="865386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3" name="Border"/>
          <p:cNvSpPr/>
          <p:nvPr/>
        </p:nvSpPr>
        <p:spPr>
          <a:xfrm>
            <a:off x="6610052" y="4588073"/>
            <a:ext cx="5003998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4" name="Border"/>
          <p:cNvSpPr/>
          <p:nvPr/>
        </p:nvSpPr>
        <p:spPr>
          <a:xfrm>
            <a:off x="6610052" y="3729038"/>
            <a:ext cx="38100" cy="86538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65" name="Text: 3. 손바닥 미분리(1-Stage) 단일 회귀의 한계"/>
          <p:cNvSpPr txBox="1"/>
          <p:nvPr/>
        </p:nvSpPr>
        <p:spPr>
          <a:xfrm>
            <a:off x="6775152" y="3821113"/>
            <a:ext cx="2645569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3. 손바닥 미분리(1-Stage) 단일 회귀의 한계</a:t>
            </a:r>
            <a:endParaRPr lang="en-US" sz="1050" dirty="0"/>
          </a:p>
        </p:txBody>
      </p:sp>
      <p:sp>
        <p:nvSpPr>
          <p:cNvPr id="66" name="Text: •  손바닥 미분리(1-Stage):  손 영역 크롭 없이 전체 화면에서"/>
          <p:cNvSpPr txBox="1"/>
          <p:nvPr/>
        </p:nvSpPr>
        <p:spPr>
          <a:xfrm>
            <a:off x="6775152" y="4069398"/>
            <a:ext cx="4345484" cy="1771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0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손바닥 미분리(1-Stage):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손 영역 크롭 없이 전체 화면에서 예측하여 경계 혼선 발생</a:t>
            </a:r>
            <a:endParaRPr lang="en-US" sz="900" dirty="0"/>
          </a:p>
        </p:txBody>
      </p:sp>
      <p:sp>
        <p:nvSpPr>
          <p:cNvPr id="67" name="Text: •  회전 증강 부재:   degrees: 0.0  설정으로 손이 기울어"/>
          <p:cNvSpPr txBox="1"/>
          <p:nvPr/>
        </p:nvSpPr>
        <p:spPr>
          <a:xfrm>
            <a:off x="6775152" y="4284603"/>
            <a:ext cx="3888383" cy="1771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0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회전 증강 부재: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900" b="1" spc="-4" dirty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degrees: 0.0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설정으로 손이 기울어질 때 키포인트 엉킴</a:t>
            </a:r>
            <a:endParaRPr lang="en-US" sz="900" dirty="0"/>
          </a:p>
        </p:txBody>
      </p:sp>
      <p:sp>
        <p:nvSpPr>
          <p:cNvPr id="68" name="Rounded Rectangle"/>
          <p:cNvSpPr/>
          <p:nvPr/>
        </p:nvSpPr>
        <p:spPr>
          <a:xfrm>
            <a:off x="6616402" y="5529064"/>
            <a:ext cx="4991298" cy="627261"/>
          </a:xfrm>
          <a:prstGeom prst="roundRect">
            <a:avLst>
              <a:gd name="adj" fmla="val 13160"/>
            </a:avLst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miter lim="800000"/>
          </a:ln>
          <a:effectLst>
            <a:outerShdw blurRad="76200" dist="25400" dir="5400000" sx="100000" sy="100000" algn="ctr" rotWithShape="0">
              <a:srgbClr val="000000">
                <a:alpha val="3000"/>
              </a:srgbClr>
            </a:outerShdw>
          </a:effectLst>
        </p:spPr>
      </p:sp>
      <p:sp>
        <p:nvSpPr>
          <p:cNvPr id="69" name="Text: 💡  핵심 고찰:  &quot;1.8만 장 학습으로 펴진 손은 안정화했으나, 2"/>
          <p:cNvSpPr txBox="1"/>
          <p:nvPr/>
        </p:nvSpPr>
        <p:spPr>
          <a:xfrm>
            <a:off x="6775152" y="5634534"/>
            <a:ext cx="4565848" cy="3859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💡 </a:t>
            </a:r>
            <a:r>
              <a:rPr lang="en-US" sz="950" b="1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핵심 고찰:</a:t>
            </a:r>
            <a:r>
              <a:rPr lang="en-US" sz="950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 "1.8만 장 학습으로 펴진 손은 안정화했으나, 2D 모델의 자가 가림 한계</a:t>
            </a:r>
            <a:br>
              <a:rPr lang="en-US" sz="950"/>
            </a:br>
            <a:r>
              <a:rPr lang="en-US" sz="950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로 인해 3D 좌표 추정이 가능한 </a:t>
            </a:r>
            <a:r>
              <a:rPr lang="en-US" sz="950" b="1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MediaPipe</a:t>
            </a:r>
            <a:r>
              <a:rPr lang="en-US" sz="950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 도입이 필수적임을 규명함"</a:t>
            </a:r>
            <a:endParaRPr lang="en-US" sz="950" dirty="0"/>
          </a:p>
        </p:txBody>
      </p:sp>
      <p:sp>
        <p:nvSpPr>
          <p:cNvPr id="70" name="Border"/>
          <p:cNvSpPr/>
          <p:nvPr/>
        </p:nvSpPr>
        <p:spPr>
          <a:xfrm>
            <a:off x="381000" y="6334125"/>
            <a:ext cx="11430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1" name="Text: AuraSynth: Computer Vision &amp; Interactive"/>
          <p:cNvSpPr txBox="1"/>
          <p:nvPr/>
        </p:nvSpPr>
        <p:spPr>
          <a:xfrm>
            <a:off x="381000" y="6451600"/>
            <a:ext cx="3247628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AuraSynth: Computer Vision &amp; Interactive Web Audio Research</a:t>
            </a:r>
            <a:endParaRPr lang="en-US" sz="850" dirty="0"/>
          </a:p>
        </p:txBody>
      </p:sp>
      <p:sp>
        <p:nvSpPr>
          <p:cNvPr id="72" name="Rounded Rectangle"/>
          <p:cNvSpPr/>
          <p:nvPr/>
        </p:nvSpPr>
        <p:spPr>
          <a:xfrm>
            <a:off x="11237714" y="6429375"/>
            <a:ext cx="573286" cy="225425"/>
          </a:xfrm>
          <a:prstGeom prst="roundRect">
            <a:avLst>
              <a:gd name="adj" fmla="val 22535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73" name="Text: 08 / 12"/>
          <p:cNvSpPr txBox="1"/>
          <p:nvPr/>
        </p:nvSpPr>
        <p:spPr>
          <a:xfrm>
            <a:off x="11339314" y="6451600"/>
            <a:ext cx="37008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08 / 12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4175" y="244475"/>
            <a:ext cx="1960166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3" name="Text: PART 04 • 모델별 실전 추론 결과 (3/3)"/>
          <p:cNvSpPr txBox="1"/>
          <p:nvPr/>
        </p:nvSpPr>
        <p:spPr>
          <a:xfrm>
            <a:off x="488950" y="282575"/>
            <a:ext cx="1750616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PART 04 • 모델별 실전 추론 결과 (3/3)</a:t>
            </a:r>
            <a:endParaRPr lang="en-US" sz="750" dirty="0"/>
          </a:p>
        </p:txBody>
      </p:sp>
      <p:sp>
        <p:nvSpPr>
          <p:cNvPr id="4" name="Text: AuraSynth Engine Architecture"/>
          <p:cNvSpPr txBox="1"/>
          <p:nvPr/>
        </p:nvSpPr>
        <p:spPr>
          <a:xfrm>
            <a:off x="2436416" y="265113"/>
            <a:ext cx="1658739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AuraSynth Engine Architecture</a:t>
            </a:r>
            <a:endParaRPr lang="en-US" sz="900" dirty="0"/>
          </a:p>
        </p:txBody>
      </p:sp>
      <p:sp>
        <p:nvSpPr>
          <p:cNvPr id="5" name="Text: [Model 3] Google MediaPipe 상용 엔진 검증"/>
          <p:cNvSpPr txBox="1"/>
          <p:nvPr/>
        </p:nvSpPr>
        <p:spPr>
          <a:xfrm>
            <a:off x="381000" y="555625"/>
            <a:ext cx="6294041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75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[Model 3] Google MediaPipe 상용 엔진 검증</a:t>
            </a:r>
            <a:endParaRPr lang="en-US" sz="2500" dirty="0"/>
          </a:p>
        </p:txBody>
      </p:sp>
      <p:sp>
        <p:nvSpPr>
          <p:cNvPr id="6" name="Text: 손바닥 1차 검출과 3D 합성 데이터로 복합 포즈부터 주먹까지 무지연 실"/>
          <p:cNvSpPr txBox="1"/>
          <p:nvPr/>
        </p:nvSpPr>
        <p:spPr>
          <a:xfrm>
            <a:off x="381000" y="948055"/>
            <a:ext cx="5677098" cy="2044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손바닥 1차 검출과 3D 합성 데이터로 복합 포즈부터 주먹까지 무지연 실시간 연주 보장</a:t>
            </a:r>
            <a:endParaRPr lang="en-US" sz="1150" dirty="0"/>
          </a:p>
        </p:txBody>
      </p:sp>
      <p:sp>
        <p:nvSpPr>
          <p:cNvPr id="7" name="Rounded Rectangle"/>
          <p:cNvSpPr/>
          <p:nvPr/>
        </p:nvSpPr>
        <p:spPr>
          <a:xfrm>
            <a:off x="384175" y="1277541"/>
            <a:ext cx="5860752" cy="5374382"/>
          </a:xfrm>
          <a:prstGeom prst="roundRect">
            <a:avLst>
              <a:gd name="adj" fmla="val 2068"/>
            </a:avLst>
          </a:prstGeom>
          <a:solidFill>
            <a:srgbClr val="FFFFFF"/>
          </a:solidFill>
          <a:ln w="6350" cap="flat" cmpd="sng" algn="ctr">
            <a:solidFill>
              <a:srgbClr val="E2E8F0"/>
            </a:solidFill>
            <a:miter lim="800000"/>
          </a:ln>
          <a:effectLst>
            <a:outerShdw blurRad="101600" dist="50800" dir="5400000" sx="99567" sy="99527" algn="ctr" rotWithShape="0">
              <a:srgbClr val="000000">
                <a:alpha val="5000"/>
              </a:srgbClr>
            </a:outerShdw>
          </a:effectLst>
        </p:spPr>
      </p:sp>
      <p:sp>
        <p:nvSpPr>
          <p:cNvPr id="8" name="Rounded Rectangle"/>
          <p:cNvSpPr/>
          <p:nvPr/>
        </p:nvSpPr>
        <p:spPr>
          <a:xfrm>
            <a:off x="542925" y="1423591"/>
            <a:ext cx="960438" cy="238125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 cap="flat" cmpd="sng" algn="ctr">
            <a:solidFill>
              <a:srgbClr val="86EFAC"/>
            </a:solidFill>
            <a:miter lim="800000"/>
          </a:ln>
        </p:spPr>
      </p:sp>
      <p:sp>
        <p:nvSpPr>
          <p:cNvPr id="9" name="Text: 실전 추론 테스트"/>
          <p:cNvSpPr txBox="1"/>
          <p:nvPr/>
        </p:nvSpPr>
        <p:spPr>
          <a:xfrm>
            <a:off x="647700" y="1461691"/>
            <a:ext cx="750888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실전 추론 테스트</a:t>
            </a:r>
            <a:endParaRPr lang="en-US" sz="750" dirty="0"/>
          </a:p>
        </p:txBody>
      </p:sp>
      <p:sp>
        <p:nvSpPr>
          <p:cNvPr id="10" name="Text: 실제 웹캠 추론 화면 2종"/>
          <p:cNvSpPr txBox="1"/>
          <p:nvPr/>
        </p:nvSpPr>
        <p:spPr>
          <a:xfrm>
            <a:off x="1557338" y="1444228"/>
            <a:ext cx="1248668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실제 웹캠 추론 화면 2종</a:t>
            </a:r>
            <a:endParaRPr lang="en-US" sz="900" dirty="0"/>
          </a:p>
        </p:txBody>
      </p:sp>
      <p:sp>
        <p:nvSpPr>
          <p:cNvPr id="11" name="Rounded Rectangle"/>
          <p:cNvSpPr/>
          <p:nvPr/>
        </p:nvSpPr>
        <p:spPr>
          <a:xfrm>
            <a:off x="4917480" y="1453753"/>
            <a:ext cx="1168698" cy="177800"/>
          </a:xfrm>
          <a:prstGeom prst="roundRect">
            <a:avLst>
              <a:gd name="adj" fmla="val 19643"/>
            </a:avLst>
          </a:prstGeom>
          <a:solidFill>
            <a:srgbClr val="F0FDF4"/>
          </a:solidFill>
          <a:ln w="6350" cap="flat" cmpd="sng" algn="ctr">
            <a:solidFill>
              <a:srgbClr val="86EFAC"/>
            </a:solidFill>
            <a:miter lim="800000"/>
          </a:ln>
        </p:spPr>
      </p:sp>
      <p:sp>
        <p:nvSpPr>
          <p:cNvPr id="12" name="Text: SOTA 실시간 추적 (95%+)"/>
          <p:cNvSpPr txBox="1"/>
          <p:nvPr/>
        </p:nvSpPr>
        <p:spPr>
          <a:xfrm>
            <a:off x="4971455" y="1463278"/>
            <a:ext cx="1060748" cy="1333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spc="-4" dirty="0">
                <a:solidFill>
                  <a:srgbClr val="16A34A"/>
                </a:solidFill>
                <a:latin typeface="Segoe UI"/>
                <a:ea typeface="Segoe UI"/>
                <a:cs typeface="Segoe UI"/>
              </a:rPr>
              <a:t>SOTA 실시간 추적 (95%+)</a:t>
            </a:r>
            <a:endParaRPr lang="en-US" sz="700" dirty="0"/>
          </a:p>
        </p:txBody>
      </p:sp>
      <p:sp>
        <p:nvSpPr>
          <p:cNvPr id="13" name="Rounded Rectangle"/>
          <p:cNvSpPr/>
          <p:nvPr/>
        </p:nvSpPr>
        <p:spPr>
          <a:xfrm>
            <a:off x="542925" y="1744266"/>
            <a:ext cx="2730302" cy="2182813"/>
          </a:xfrm>
          <a:prstGeom prst="roundRect">
            <a:avLst>
              <a:gd name="adj" fmla="val 2764"/>
            </a:avLst>
          </a:prstGeom>
          <a:solidFill>
            <a:srgbClr val="0A0F1D"/>
          </a:solidFill>
          <a:ln w="6350" cap="flat" cmpd="sng" algn="ctr">
            <a:solidFill>
              <a:srgbClr val="10B981"/>
            </a:solidFill>
            <a:miter lim="800000"/>
          </a:ln>
        </p:spPr>
      </p:sp>
      <p:sp>
        <p:nvSpPr>
          <p:cNvPr id="14" name="Rounded Rectangle"/>
          <p:cNvSpPr/>
          <p:nvPr/>
        </p:nvSpPr>
        <p:spPr>
          <a:xfrm>
            <a:off x="596900" y="1798241"/>
            <a:ext cx="2622352" cy="1746250"/>
          </a:xfrm>
          <a:prstGeom prst="roundRect">
            <a:avLst>
              <a:gd name="adj" fmla="val 2182"/>
            </a:avLst>
          </a:prstGeom>
          <a:solidFill>
            <a:srgbClr val="000000"/>
          </a:solidFill>
          <a:ln>
            <a:noFill/>
          </a:ln>
        </p:spPr>
      </p:sp>
      <p:pic>
        <p:nvPicPr>
          <p:cNvPr id="15" name="Image: MediaPipe Complex Po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11" y="1798241"/>
            <a:ext cx="1836131" cy="1746250"/>
          </a:xfrm>
          <a:prstGeom prst="rect">
            <a:avLst/>
          </a:prstGeom>
          <a:ln>
            <a:noFill/>
          </a:ln>
        </p:spPr>
      </p:pic>
      <p:sp>
        <p:nvSpPr>
          <p:cNvPr id="16" name="Rounded Rectangle"/>
          <p:cNvSpPr/>
          <p:nvPr/>
        </p:nvSpPr>
        <p:spPr>
          <a:xfrm>
            <a:off x="1407815" y="3588941"/>
            <a:ext cx="1000522" cy="139700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>
            <a:noFill/>
          </a:ln>
        </p:spPr>
      </p:sp>
      <p:sp>
        <p:nvSpPr>
          <p:cNvPr id="17" name="Text: ✓ 복합 포즈 추적 (성공)"/>
          <p:cNvSpPr txBox="1"/>
          <p:nvPr/>
        </p:nvSpPr>
        <p:spPr>
          <a:xfrm>
            <a:off x="1445915" y="3563541"/>
            <a:ext cx="924322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1" spc="-4" dirty="0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✓ 복합 포즈 추적 (성공)</a:t>
            </a:r>
            <a:endParaRPr lang="en-US" sz="675" dirty="0"/>
          </a:p>
        </p:txBody>
      </p:sp>
      <p:sp>
        <p:nvSpPr>
          <p:cNvPr id="18" name="Text: 어두운 배경 노이즈 없이 21개 관절 정밀 고정"/>
          <p:cNvSpPr txBox="1"/>
          <p:nvPr/>
        </p:nvSpPr>
        <p:spPr>
          <a:xfrm>
            <a:off x="1098550" y="3742928"/>
            <a:ext cx="1618952" cy="11906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9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5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어두운 배경 노이즈 없이 21개 관절 정밀 고정</a:t>
            </a:r>
            <a:endParaRPr lang="en-US" sz="625" dirty="0"/>
          </a:p>
        </p:txBody>
      </p:sp>
      <p:sp>
        <p:nvSpPr>
          <p:cNvPr id="19" name="Rounded Rectangle"/>
          <p:cNvSpPr/>
          <p:nvPr/>
        </p:nvSpPr>
        <p:spPr>
          <a:xfrm>
            <a:off x="3355777" y="1744266"/>
            <a:ext cx="2730401" cy="2182813"/>
          </a:xfrm>
          <a:prstGeom prst="roundRect">
            <a:avLst>
              <a:gd name="adj" fmla="val 2764"/>
            </a:avLst>
          </a:prstGeom>
          <a:solidFill>
            <a:srgbClr val="0A0F1D"/>
          </a:solidFill>
          <a:ln w="6350" cap="flat" cmpd="sng" algn="ctr">
            <a:solidFill>
              <a:srgbClr val="10B981"/>
            </a:solidFill>
            <a:miter lim="800000"/>
          </a:ln>
        </p:spPr>
      </p:sp>
      <p:sp>
        <p:nvSpPr>
          <p:cNvPr id="20" name="Rounded Rectangle"/>
          <p:cNvSpPr/>
          <p:nvPr/>
        </p:nvSpPr>
        <p:spPr>
          <a:xfrm>
            <a:off x="3409752" y="1798241"/>
            <a:ext cx="2622451" cy="1746250"/>
          </a:xfrm>
          <a:prstGeom prst="roundRect">
            <a:avLst>
              <a:gd name="adj" fmla="val 2182"/>
            </a:avLst>
          </a:prstGeom>
          <a:solidFill>
            <a:srgbClr val="000000"/>
          </a:solidFill>
          <a:ln>
            <a:noFill/>
          </a:ln>
        </p:spPr>
      </p:sp>
      <p:pic>
        <p:nvPicPr>
          <p:cNvPr id="21" name="Image: MediaPipe Clenched Fi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526" y="1798241"/>
            <a:ext cx="1716901" cy="1746250"/>
          </a:xfrm>
          <a:prstGeom prst="rect">
            <a:avLst/>
          </a:prstGeom>
          <a:ln>
            <a:noFill/>
          </a:ln>
        </p:spPr>
      </p:pic>
      <p:sp>
        <p:nvSpPr>
          <p:cNvPr id="22" name="Rounded Rectangle"/>
          <p:cNvSpPr/>
          <p:nvPr/>
        </p:nvSpPr>
        <p:spPr>
          <a:xfrm>
            <a:off x="4074815" y="3588941"/>
            <a:ext cx="1292225" cy="139700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>
            <a:noFill/>
          </a:ln>
        </p:spPr>
      </p:sp>
      <p:sp>
        <p:nvSpPr>
          <p:cNvPr id="23" name="Text: ✓ ✊ 꽉 쥔 주먹 (3D 복원 성공)"/>
          <p:cNvSpPr txBox="1"/>
          <p:nvPr/>
        </p:nvSpPr>
        <p:spPr>
          <a:xfrm>
            <a:off x="4112915" y="3563541"/>
            <a:ext cx="1216025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1" spc="-4" dirty="0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✓ ✊ 꽉 쥔 주먹 (3D 복원 성공)</a:t>
            </a:r>
            <a:endParaRPr lang="en-US" sz="675" dirty="0"/>
          </a:p>
        </p:txBody>
      </p:sp>
      <p:sp>
        <p:nvSpPr>
          <p:cNvPr id="24" name="Text: 손가락이 완전히 접혀도 21개 관절 입체 복원!"/>
          <p:cNvSpPr txBox="1"/>
          <p:nvPr/>
        </p:nvSpPr>
        <p:spPr>
          <a:xfrm>
            <a:off x="3913981" y="3742928"/>
            <a:ext cx="1613991" cy="11906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9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5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손가락이 완전히 접혀도 21개 관절 입체 복원!</a:t>
            </a:r>
            <a:endParaRPr lang="en-US" sz="625" dirty="0"/>
          </a:p>
        </p:txBody>
      </p:sp>
      <p:sp>
        <p:nvSpPr>
          <p:cNvPr id="25" name="Rounded Rectangle"/>
          <p:cNvSpPr/>
          <p:nvPr/>
        </p:nvSpPr>
        <p:spPr>
          <a:xfrm>
            <a:off x="539750" y="6229648"/>
            <a:ext cx="5549602" cy="279400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>
            <a:noFill/>
          </a:ln>
        </p:spPr>
      </p:sp>
      <p:sp>
        <p:nvSpPr>
          <p:cNvPr id="26" name="Border"/>
          <p:cNvSpPr/>
          <p:nvPr/>
        </p:nvSpPr>
        <p:spPr>
          <a:xfrm>
            <a:off x="539750" y="6229648"/>
            <a:ext cx="25400" cy="2794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7" name="Text: ✓ 모델 2(YOLO)에서 붕괴되던 주먹 제스처를 3D 깊이 추정으로 정"/>
          <p:cNvSpPr txBox="1"/>
          <p:nvPr/>
        </p:nvSpPr>
        <p:spPr>
          <a:xfrm>
            <a:off x="654050" y="6280448"/>
            <a:ext cx="3168848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-4" dirty="0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✓ 모델 2(YOLO)에서 붕괴되던 주먹 제스처를 3D 깊이 추정으로 정상 복원</a:t>
            </a:r>
            <a:endParaRPr lang="en-US" sz="750" dirty="0"/>
          </a:p>
        </p:txBody>
      </p:sp>
      <p:sp>
        <p:nvSpPr>
          <p:cNvPr id="28" name="Rounded Rectangle"/>
          <p:cNvSpPr/>
          <p:nvPr/>
        </p:nvSpPr>
        <p:spPr>
          <a:xfrm>
            <a:off x="6416377" y="1277541"/>
            <a:ext cx="5391348" cy="5374382"/>
          </a:xfrm>
          <a:prstGeom prst="roundRect">
            <a:avLst>
              <a:gd name="adj" fmla="val 2068"/>
            </a:avLst>
          </a:prstGeom>
          <a:solidFill>
            <a:srgbClr val="FFFFFF"/>
          </a:solidFill>
          <a:ln w="6350" cap="flat" cmpd="sng" algn="ctr">
            <a:solidFill>
              <a:srgbClr val="E2E8F0"/>
            </a:solidFill>
            <a:miter lim="800000"/>
          </a:ln>
          <a:effectLst>
            <a:outerShdw blurRad="101600" dist="50800" dir="5400000" sx="99529" sy="99527" algn="ctr" rotWithShape="0">
              <a:srgbClr val="000000">
                <a:alpha val="5000"/>
              </a:srgbClr>
            </a:outerShdw>
          </a:effectLst>
        </p:spPr>
      </p:sp>
      <p:sp>
        <p:nvSpPr>
          <p:cNvPr id="29" name="Rounded Rectangle"/>
          <p:cNvSpPr/>
          <p:nvPr/>
        </p:nvSpPr>
        <p:spPr>
          <a:xfrm>
            <a:off x="6613227" y="1450578"/>
            <a:ext cx="730746" cy="238125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 cap="flat" cmpd="sng" algn="ctr">
            <a:solidFill>
              <a:srgbClr val="86EFAC"/>
            </a:solidFill>
            <a:miter lim="800000"/>
          </a:ln>
        </p:spPr>
      </p:sp>
      <p:sp>
        <p:nvSpPr>
          <p:cNvPr id="30" name="Text: 기술적 분석"/>
          <p:cNvSpPr txBox="1"/>
          <p:nvPr/>
        </p:nvSpPr>
        <p:spPr>
          <a:xfrm>
            <a:off x="6718002" y="1488678"/>
            <a:ext cx="521196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기술적 분석</a:t>
            </a:r>
            <a:endParaRPr lang="en-US" sz="750" dirty="0"/>
          </a:p>
        </p:txBody>
      </p:sp>
      <p:sp>
        <p:nvSpPr>
          <p:cNvPr id="31" name="Text: 구글 미디어파이프가 주먹까지 추적하는 핵심 원리"/>
          <p:cNvSpPr txBox="1"/>
          <p:nvPr/>
        </p:nvSpPr>
        <p:spPr>
          <a:xfrm>
            <a:off x="7410648" y="1426766"/>
            <a:ext cx="3744119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구글 미디어파이프가 주먹까지 추적하는 핵심 원리</a:t>
            </a:r>
            <a:endParaRPr lang="en-US" sz="1300" dirty="0"/>
          </a:p>
        </p:txBody>
      </p:sp>
      <p:sp>
        <p:nvSpPr>
          <p:cNvPr id="32" name="Rounded Rectangle"/>
          <p:cNvSpPr/>
          <p:nvPr/>
        </p:nvSpPr>
        <p:spPr>
          <a:xfrm>
            <a:off x="6610052" y="1807766"/>
            <a:ext cx="5003998" cy="1213247"/>
          </a:xfrm>
          <a:prstGeom prst="roundRect">
            <a:avLst>
              <a:gd name="adj" fmla="val 628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3" name="Border"/>
          <p:cNvSpPr/>
          <p:nvPr/>
        </p:nvSpPr>
        <p:spPr>
          <a:xfrm>
            <a:off x="6610052" y="1807766"/>
            <a:ext cx="5003998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4" name="Border"/>
          <p:cNvSpPr/>
          <p:nvPr/>
        </p:nvSpPr>
        <p:spPr>
          <a:xfrm>
            <a:off x="11607701" y="1807766"/>
            <a:ext cx="6350" cy="121324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5" name="Border"/>
          <p:cNvSpPr/>
          <p:nvPr/>
        </p:nvSpPr>
        <p:spPr>
          <a:xfrm>
            <a:off x="6610052" y="3014663"/>
            <a:ext cx="5003998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6" name="Border"/>
          <p:cNvSpPr/>
          <p:nvPr/>
        </p:nvSpPr>
        <p:spPr>
          <a:xfrm>
            <a:off x="6610052" y="1807766"/>
            <a:ext cx="38100" cy="1213247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7" name="Text: 1. 2-Stage 파이프라인 (손바닥 먼저 검출 후 영역 크롭)"/>
          <p:cNvSpPr txBox="1"/>
          <p:nvPr/>
        </p:nvSpPr>
        <p:spPr>
          <a:xfrm>
            <a:off x="6775152" y="1899841"/>
            <a:ext cx="3315990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1. 2-Stage 파이프라인 (손바닥 먼저 검출 후 영역 크롭)</a:t>
            </a:r>
            <a:endParaRPr lang="en-US" sz="1050" dirty="0"/>
          </a:p>
        </p:txBody>
      </p:sp>
      <p:sp>
        <p:nvSpPr>
          <p:cNvPr id="38" name="Text: •  손바닥 박스 먼저 추출:  1차 신경망(Palm Detector)이"/>
          <p:cNvSpPr txBox="1"/>
          <p:nvPr/>
        </p:nvSpPr>
        <p:spPr>
          <a:xfrm>
            <a:off x="6775152" y="2148185"/>
            <a:ext cx="4597202" cy="35421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0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손바닥 박스 먼저 추출: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1차 신경망(Palm Detector)이 손바닥을 정확히 오려낸 후 관절 추</a:t>
            </a:r>
            <a:br>
              <a:rPr lang="en-US" sz="900"/>
            </a:b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적</a:t>
            </a:r>
            <a:endParaRPr lang="en-US" sz="900" dirty="0"/>
          </a:p>
        </p:txBody>
      </p:sp>
      <p:sp>
        <p:nvSpPr>
          <p:cNvPr id="39" name="Text: •  배경 노이즈 원천 차단:  잘라낸 손 안에서만 점을 찍으므로 모델 "/>
          <p:cNvSpPr txBox="1"/>
          <p:nvPr/>
        </p:nvSpPr>
        <p:spPr>
          <a:xfrm>
            <a:off x="6775152" y="2540496"/>
            <a:ext cx="4611489" cy="35421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0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배경 노이즈 원천 차단: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잘라낸 손 안에서만 점을 찍으므로 모델 1(Geti)의 허공 유령 관절</a:t>
            </a:r>
            <a:br>
              <a:rPr lang="en-US" sz="900"/>
            </a:b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100% 방지</a:t>
            </a:r>
            <a:endParaRPr lang="en-US" sz="900" dirty="0"/>
          </a:p>
        </p:txBody>
      </p:sp>
      <p:sp>
        <p:nvSpPr>
          <p:cNvPr id="40" name="Rounded Rectangle"/>
          <p:cNvSpPr/>
          <p:nvPr/>
        </p:nvSpPr>
        <p:spPr>
          <a:xfrm>
            <a:off x="6610052" y="3122613"/>
            <a:ext cx="5003998" cy="1213247"/>
          </a:xfrm>
          <a:prstGeom prst="roundRect">
            <a:avLst>
              <a:gd name="adj" fmla="val 628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1" name="Border"/>
          <p:cNvSpPr/>
          <p:nvPr/>
        </p:nvSpPr>
        <p:spPr>
          <a:xfrm>
            <a:off x="6610052" y="3122613"/>
            <a:ext cx="5003998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2" name="Border"/>
          <p:cNvSpPr/>
          <p:nvPr/>
        </p:nvSpPr>
        <p:spPr>
          <a:xfrm>
            <a:off x="11607701" y="3122613"/>
            <a:ext cx="6350" cy="121324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3" name="Border"/>
          <p:cNvSpPr/>
          <p:nvPr/>
        </p:nvSpPr>
        <p:spPr>
          <a:xfrm>
            <a:off x="6610052" y="4329509"/>
            <a:ext cx="5003998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4" name="Border"/>
          <p:cNvSpPr/>
          <p:nvPr/>
        </p:nvSpPr>
        <p:spPr>
          <a:xfrm>
            <a:off x="6610052" y="3122613"/>
            <a:ext cx="38100" cy="1213247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45" name="Text: 2. 3D 입체 좌표 추정 (가려진 주먹 관절도 z축 깊이로 복원)"/>
          <p:cNvSpPr txBox="1"/>
          <p:nvPr/>
        </p:nvSpPr>
        <p:spPr>
          <a:xfrm>
            <a:off x="6775152" y="3214688"/>
            <a:ext cx="3565922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2. 3D 입체 좌표 추정 (가려진 주먹 관절도 z축 깊이로 복원)</a:t>
            </a:r>
            <a:endParaRPr lang="en-US" sz="1050" dirty="0"/>
          </a:p>
        </p:txBody>
      </p:sp>
      <p:sp>
        <p:nvSpPr>
          <p:cNvPr id="46" name="Text: •  해부학적 3D 관절 모델링:  수백만 장의 3D 합성 데이터로 관절"/>
          <p:cNvSpPr txBox="1"/>
          <p:nvPr/>
        </p:nvSpPr>
        <p:spPr>
          <a:xfrm>
            <a:off x="6775152" y="3463032"/>
            <a:ext cx="4607620" cy="35421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0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해부학적 3D 관절 모델링: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수백만 장의 3D 합성 데이터로 관절 간의 뼈대 연결 법칙 사전</a:t>
            </a:r>
            <a:br>
              <a:rPr lang="en-US" sz="900"/>
            </a:b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학습</a:t>
            </a:r>
            <a:endParaRPr lang="en-US" sz="900" dirty="0"/>
          </a:p>
        </p:txBody>
      </p:sp>
      <p:sp>
        <p:nvSpPr>
          <p:cNvPr id="47" name="Text: •  주먹 자가 가림 극복:  손가락이 안쪽으로 완전히 말려 가려져도 입"/>
          <p:cNvSpPr txBox="1"/>
          <p:nvPr/>
        </p:nvSpPr>
        <p:spPr>
          <a:xfrm>
            <a:off x="6775152" y="3855343"/>
            <a:ext cx="4638675" cy="35421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0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주먹 자가 가림 극복: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손가락이 안쪽으로 완전히 말려 가려져도 입체적인 z축 좌표로 21개</a:t>
            </a:r>
            <a:br>
              <a:rPr lang="en-US" sz="900"/>
            </a:b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점 정밀 복원</a:t>
            </a:r>
            <a:endParaRPr lang="en-US" sz="900" dirty="0"/>
          </a:p>
        </p:txBody>
      </p:sp>
      <p:sp>
        <p:nvSpPr>
          <p:cNvPr id="48" name="Rounded Rectangle"/>
          <p:cNvSpPr/>
          <p:nvPr/>
        </p:nvSpPr>
        <p:spPr>
          <a:xfrm>
            <a:off x="6610052" y="4437459"/>
            <a:ext cx="5003998" cy="1213247"/>
          </a:xfrm>
          <a:prstGeom prst="roundRect">
            <a:avLst>
              <a:gd name="adj" fmla="val 628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9" name="Border"/>
          <p:cNvSpPr/>
          <p:nvPr/>
        </p:nvSpPr>
        <p:spPr>
          <a:xfrm>
            <a:off x="6610052" y="4437459"/>
            <a:ext cx="5003998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0" name="Border"/>
          <p:cNvSpPr/>
          <p:nvPr/>
        </p:nvSpPr>
        <p:spPr>
          <a:xfrm>
            <a:off x="11607701" y="4437459"/>
            <a:ext cx="6350" cy="121324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1" name="Border"/>
          <p:cNvSpPr/>
          <p:nvPr/>
        </p:nvSpPr>
        <p:spPr>
          <a:xfrm>
            <a:off x="6610052" y="5644356"/>
            <a:ext cx="5003998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2" name="Border"/>
          <p:cNvSpPr/>
          <p:nvPr/>
        </p:nvSpPr>
        <p:spPr>
          <a:xfrm>
            <a:off x="6610052" y="4437459"/>
            <a:ext cx="38100" cy="1213247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3" name="Text: 3. 60 FPS 웹 브라우저 경량화 추론 (WASM / WebGL)"/>
          <p:cNvSpPr txBox="1"/>
          <p:nvPr/>
        </p:nvSpPr>
        <p:spPr>
          <a:xfrm>
            <a:off x="6775152" y="4529534"/>
            <a:ext cx="3264098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3. 60 FPS 웹 브라우저 경량화 추론 (WASM / WebGL)</a:t>
            </a:r>
            <a:endParaRPr lang="en-US" sz="1050" dirty="0"/>
          </a:p>
        </p:txBody>
      </p:sp>
      <p:sp>
        <p:nvSpPr>
          <p:cNvPr id="54" name="Text: •  온디바이스 WebGL 가속:  별도 GPU 서버 없이 브라우저 내에"/>
          <p:cNvSpPr txBox="1"/>
          <p:nvPr/>
        </p:nvSpPr>
        <p:spPr>
          <a:xfrm>
            <a:off x="6775152" y="4777879"/>
            <a:ext cx="4697016" cy="35421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0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온디바이스 WebGL 가속: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별도 GPU 서버 없이 브라우저 내에서 프레임당 16ms(60 FPS) 연</a:t>
            </a:r>
            <a:br>
              <a:rPr lang="en-US" sz="900"/>
            </a:b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산</a:t>
            </a:r>
            <a:endParaRPr lang="en-US" sz="900" dirty="0"/>
          </a:p>
        </p:txBody>
      </p:sp>
      <p:sp>
        <p:nvSpPr>
          <p:cNvPr id="55" name="Text: •  무지연 실시간 연주:  입력 지연(Latency)이 없어 손가락을 "/>
          <p:cNvSpPr txBox="1"/>
          <p:nvPr/>
        </p:nvSpPr>
        <p:spPr>
          <a:xfrm>
            <a:off x="6775152" y="5170190"/>
            <a:ext cx="4649688" cy="35421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90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무지연 실시간 연주:</a:t>
            </a: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입력 지연(Latency)이 없어 손가락을 움직이는 즉시 실시간 피아노 사</a:t>
            </a:r>
            <a:br>
              <a:rPr lang="en-US" sz="900"/>
            </a:br>
            <a:r>
              <a:rPr lang="en-US" sz="90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운드 생성</a:t>
            </a:r>
            <a:endParaRPr lang="en-US" sz="900" dirty="0"/>
          </a:p>
        </p:txBody>
      </p:sp>
      <p:sp>
        <p:nvSpPr>
          <p:cNvPr id="56" name="Rounded Rectangle"/>
          <p:cNvSpPr/>
          <p:nvPr/>
        </p:nvSpPr>
        <p:spPr>
          <a:xfrm>
            <a:off x="6616402" y="5657056"/>
            <a:ext cx="4991298" cy="820241"/>
          </a:xfrm>
          <a:prstGeom prst="roundRect">
            <a:avLst>
              <a:gd name="adj" fmla="val 10064"/>
            </a:avLst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miter lim="800000"/>
          </a:ln>
          <a:effectLst>
            <a:outerShdw blurRad="76200" dist="25400" dir="5400000" sx="100000" sy="100000" algn="ctr" rotWithShape="0">
              <a:srgbClr val="000000">
                <a:alpha val="3000"/>
              </a:srgbClr>
            </a:outerShdw>
          </a:effectLst>
        </p:spPr>
      </p:sp>
      <p:sp>
        <p:nvSpPr>
          <p:cNvPr id="57" name="Text: 💡  최종 결론:  &quot;3가지 AI 모델의 장단점을 직접 검증한 끝에, "/>
          <p:cNvSpPr txBox="1"/>
          <p:nvPr/>
        </p:nvSpPr>
        <p:spPr>
          <a:xfrm>
            <a:off x="6775152" y="5762526"/>
            <a:ext cx="4673302" cy="57894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💡 </a:t>
            </a:r>
            <a:r>
              <a:rPr lang="en-US" sz="950" b="1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최종 결론:</a:t>
            </a:r>
            <a:r>
              <a:rPr lang="en-US" sz="950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 "3가지 AI 모델의 장단점을 직접 검증한 끝에, 주먹을 포함한 모든 손가락</a:t>
            </a:r>
            <a:br>
              <a:rPr lang="en-US" sz="950"/>
            </a:br>
            <a:r>
              <a:rPr lang="en-US" sz="950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제스처를 안정적으로 인식하고 실시간 무지연 연주가 가능한 </a:t>
            </a:r>
            <a:r>
              <a:rPr lang="en-US" sz="950" b="1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Google MediaPipe</a:t>
            </a:r>
            <a:r>
              <a:rPr lang="en-US" sz="950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를</a:t>
            </a:r>
            <a:br>
              <a:rPr lang="en-US" sz="950"/>
            </a:br>
            <a:r>
              <a:rPr lang="en-US" sz="950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AuraSynth의 최종 악기 엔진으로 확정했습니다."</a:t>
            </a:r>
            <a:endParaRPr lang="en-US" sz="950" dirty="0"/>
          </a:p>
        </p:txBody>
      </p:sp>
      <p:sp>
        <p:nvSpPr>
          <p:cNvPr id="58" name="Border"/>
          <p:cNvSpPr/>
          <p:nvPr/>
        </p:nvSpPr>
        <p:spPr>
          <a:xfrm>
            <a:off x="381000" y="6334125"/>
            <a:ext cx="11430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9" name="Text: AuraSynth: Computer Vision &amp; Interactive"/>
          <p:cNvSpPr txBox="1"/>
          <p:nvPr/>
        </p:nvSpPr>
        <p:spPr>
          <a:xfrm>
            <a:off x="381000" y="6451600"/>
            <a:ext cx="3247628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AuraSynth: Computer Vision &amp; Interactive Web Audio Research</a:t>
            </a:r>
            <a:endParaRPr lang="en-US" sz="850" dirty="0"/>
          </a:p>
        </p:txBody>
      </p:sp>
      <p:sp>
        <p:nvSpPr>
          <p:cNvPr id="60" name="Rounded Rectangle"/>
          <p:cNvSpPr/>
          <p:nvPr/>
        </p:nvSpPr>
        <p:spPr>
          <a:xfrm>
            <a:off x="11237714" y="6429375"/>
            <a:ext cx="573286" cy="225425"/>
          </a:xfrm>
          <a:prstGeom prst="roundRect">
            <a:avLst>
              <a:gd name="adj" fmla="val 22535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61" name="Text: 09 / 12"/>
          <p:cNvSpPr txBox="1"/>
          <p:nvPr/>
        </p:nvSpPr>
        <p:spPr>
          <a:xfrm>
            <a:off x="11339314" y="6451600"/>
            <a:ext cx="37008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09 / 12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4175" y="244475"/>
            <a:ext cx="1562298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3" name="Text: PART 05 • 실시간 악기 시스템"/>
          <p:cNvSpPr txBox="1"/>
          <p:nvPr/>
        </p:nvSpPr>
        <p:spPr>
          <a:xfrm>
            <a:off x="488950" y="282575"/>
            <a:ext cx="1352748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PART 05 • 실시간 악기 시스템</a:t>
            </a:r>
            <a:endParaRPr lang="en-US" sz="750" dirty="0"/>
          </a:p>
        </p:txBody>
      </p:sp>
      <p:sp>
        <p:nvSpPr>
          <p:cNvPr id="4" name="Text: AuraSynth Engine Architecture"/>
          <p:cNvSpPr txBox="1"/>
          <p:nvPr/>
        </p:nvSpPr>
        <p:spPr>
          <a:xfrm>
            <a:off x="2038548" y="265113"/>
            <a:ext cx="1658739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AuraSynth Engine Architecture</a:t>
            </a:r>
            <a:endParaRPr lang="en-US" sz="900" dirty="0"/>
          </a:p>
        </p:txBody>
      </p:sp>
      <p:sp>
        <p:nvSpPr>
          <p:cNvPr id="5" name="Text: 손 제스처 음악 변환과 실시간 악기 연동"/>
          <p:cNvSpPr txBox="1"/>
          <p:nvPr/>
        </p:nvSpPr>
        <p:spPr>
          <a:xfrm>
            <a:off x="381000" y="555625"/>
            <a:ext cx="5540177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75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손 제스처 음악 변환과 실시간 악기 연동</a:t>
            </a:r>
            <a:endParaRPr lang="en-US" sz="2500" dirty="0"/>
          </a:p>
        </p:txBody>
      </p:sp>
      <p:sp>
        <p:nvSpPr>
          <p:cNvPr id="6" name="Text: 카메라 앞에서 양손의 제스처만으로 피아노 화음과 음색을 자유롭게 연주하는"/>
          <p:cNvSpPr txBox="1"/>
          <p:nvPr/>
        </p:nvSpPr>
        <p:spPr>
          <a:xfrm>
            <a:off x="381000" y="948055"/>
            <a:ext cx="6330156" cy="2044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카메라 앞에서 양손의 제스처만으로 피아노 화음과 음색을 자유롭게 연주하는 비접촉 신디사이저</a:t>
            </a:r>
            <a:endParaRPr lang="en-US" sz="1150" dirty="0"/>
          </a:p>
        </p:txBody>
      </p:sp>
      <p:sp>
        <p:nvSpPr>
          <p:cNvPr id="7" name="Rounded Rectangle"/>
          <p:cNvSpPr/>
          <p:nvPr/>
        </p:nvSpPr>
        <p:spPr>
          <a:xfrm>
            <a:off x="384175" y="1277541"/>
            <a:ext cx="5619750" cy="4069159"/>
          </a:xfrm>
          <a:prstGeom prst="roundRect">
            <a:avLst>
              <a:gd name="adj" fmla="val 2731"/>
            </a:avLst>
          </a:prstGeom>
          <a:solidFill>
            <a:srgbClr val="FFFFFF"/>
          </a:solidFill>
          <a:ln w="6350" cap="flat" cmpd="sng" algn="ctr">
            <a:solidFill>
              <a:srgbClr val="E2E8F0"/>
            </a:solidFill>
            <a:miter lim="800000"/>
          </a:ln>
          <a:effectLst>
            <a:outerShdw blurRad="101600" dist="50800" dir="5400000" sx="99548" sy="99376" algn="ctr" rotWithShape="0">
              <a:srgbClr val="000000">
                <a:alpha val="5000"/>
              </a:srgbClr>
            </a:outerShdw>
          </a:effectLst>
        </p:spPr>
      </p:sp>
      <p:sp>
        <p:nvSpPr>
          <p:cNvPr id="8" name="Rounded Rectangle"/>
          <p:cNvSpPr/>
          <p:nvPr/>
        </p:nvSpPr>
        <p:spPr>
          <a:xfrm>
            <a:off x="555625" y="1423591"/>
            <a:ext cx="754261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9" name="Text: LEFT HAND"/>
          <p:cNvSpPr txBox="1"/>
          <p:nvPr/>
        </p:nvSpPr>
        <p:spPr>
          <a:xfrm>
            <a:off x="660400" y="1461691"/>
            <a:ext cx="544711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LEFT HAND</a:t>
            </a:r>
            <a:endParaRPr lang="en-US" sz="750" dirty="0"/>
          </a:p>
        </p:txBody>
      </p:sp>
      <p:sp>
        <p:nvSpPr>
          <p:cNvPr id="10" name="Text: 왼손: 피아노 화음(코드) 만들기"/>
          <p:cNvSpPr txBox="1"/>
          <p:nvPr/>
        </p:nvSpPr>
        <p:spPr>
          <a:xfrm>
            <a:off x="1389261" y="1407716"/>
            <a:ext cx="2218531" cy="238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왼손: 피아노 화음(코드) 만들기</a:t>
            </a:r>
            <a:endParaRPr lang="en-US" sz="1250" dirty="0"/>
          </a:p>
        </p:txBody>
      </p:sp>
      <p:sp>
        <p:nvSpPr>
          <p:cNvPr id="11" name="Text: Chord &amp; Mode"/>
          <p:cNvSpPr txBox="1"/>
          <p:nvPr/>
        </p:nvSpPr>
        <p:spPr>
          <a:xfrm>
            <a:off x="5155902" y="1461691"/>
            <a:ext cx="679748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Chord &amp; Mode</a:t>
            </a:r>
            <a:endParaRPr lang="en-US" sz="750" dirty="0"/>
          </a:p>
        </p:txBody>
      </p:sp>
      <p:sp>
        <p:nvSpPr>
          <p:cNvPr id="12" name="Rounded Rectangle"/>
          <p:cNvSpPr/>
          <p:nvPr/>
        </p:nvSpPr>
        <p:spPr>
          <a:xfrm>
            <a:off x="552450" y="3253383"/>
            <a:ext cx="5283200" cy="596900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3" name="Border"/>
          <p:cNvSpPr/>
          <p:nvPr/>
        </p:nvSpPr>
        <p:spPr>
          <a:xfrm>
            <a:off x="552450" y="3253383"/>
            <a:ext cx="25400" cy="5969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4" name="Text: 🖐️ 손가락 모양으로 원하는 화음(Chord) 즉시 선택"/>
          <p:cNvSpPr txBox="1"/>
          <p:nvPr/>
        </p:nvSpPr>
        <p:spPr>
          <a:xfrm>
            <a:off x="666750" y="3307358"/>
            <a:ext cx="2464792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🖐️ 손가락 모양으로 원하는 화음(Chord) 즉시 선택</a:t>
            </a:r>
            <a:endParaRPr lang="en-US" sz="850" dirty="0"/>
          </a:p>
        </p:txBody>
      </p:sp>
      <p:sp>
        <p:nvSpPr>
          <p:cNvPr id="15" name="Text: •  손가락 개수 매핑:  1~5개 펴짐에 따라 C, Dm, Em, F,"/>
          <p:cNvSpPr txBox="1"/>
          <p:nvPr/>
        </p:nvSpPr>
        <p:spPr>
          <a:xfrm>
            <a:off x="666750" y="3486745"/>
            <a:ext cx="3693220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750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손가락 개수 매핑:</a:t>
            </a: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1~5개 펴짐에 따라 C, Dm, Em, F, G 등 기본 피아노 화음 즉각 선택</a:t>
            </a:r>
            <a:endParaRPr lang="en-US" sz="750" dirty="0"/>
          </a:p>
        </p:txBody>
      </p:sp>
      <p:sp>
        <p:nvSpPr>
          <p:cNvPr id="16" name="Text: •  직관적 반주:  건반을 직접 누르지 않고 손가락 포즈만으로 풍성한 "/>
          <p:cNvSpPr txBox="1"/>
          <p:nvPr/>
        </p:nvSpPr>
        <p:spPr>
          <a:xfrm>
            <a:off x="666750" y="3637558"/>
            <a:ext cx="3491309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750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직관적 반주:</a:t>
            </a: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건반을 직접 누르지 않고 손가락 포즈만으로 풍성한 코드 연주 가능</a:t>
            </a:r>
            <a:endParaRPr lang="en-US" sz="750" dirty="0"/>
          </a:p>
        </p:txBody>
      </p:sp>
      <p:sp>
        <p:nvSpPr>
          <p:cNvPr id="17" name="Rounded Rectangle"/>
          <p:cNvSpPr/>
          <p:nvPr/>
        </p:nvSpPr>
        <p:spPr>
          <a:xfrm>
            <a:off x="552450" y="3907433"/>
            <a:ext cx="5283200" cy="596900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8" name="Border"/>
          <p:cNvSpPr/>
          <p:nvPr/>
        </p:nvSpPr>
        <p:spPr>
          <a:xfrm>
            <a:off x="552450" y="3907433"/>
            <a:ext cx="25400" cy="596900"/>
          </a:xfrm>
          <a:prstGeom prst="rect">
            <a:avLst/>
          </a:prstGeom>
          <a:solidFill>
            <a:srgbClr val="0284C7"/>
          </a:solidFill>
          <a:ln>
            <a:noFill/>
          </a:ln>
        </p:spPr>
      </p:sp>
      <p:sp>
        <p:nvSpPr>
          <p:cNvPr id="19" name="Text: 🔄 손목을 살짝 기울여 밝은 장조 / 슬픈 단조 전환"/>
          <p:cNvSpPr txBox="1"/>
          <p:nvPr/>
        </p:nvSpPr>
        <p:spPr>
          <a:xfrm>
            <a:off x="666750" y="3961408"/>
            <a:ext cx="246558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🔄 손목을 살짝 기울여 밝은 장조 / 슬픈 단조 전환</a:t>
            </a:r>
            <a:endParaRPr lang="en-US" sz="850" dirty="0"/>
          </a:p>
        </p:txBody>
      </p:sp>
      <p:sp>
        <p:nvSpPr>
          <p:cNvPr id="20" name="Text: •  손목 기울기 감지:  좌우 틸트(Tilt) 각도에 따라 메이저(Ma"/>
          <p:cNvSpPr txBox="1"/>
          <p:nvPr/>
        </p:nvSpPr>
        <p:spPr>
          <a:xfrm>
            <a:off x="666750" y="4140795"/>
            <a:ext cx="3909814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750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손목 기울기 감지:</a:t>
            </a: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좌우 틸트(Tilt) 각도에 따라 메이저(Major) ↔ 마이너(Minor) 실시간 전환</a:t>
            </a:r>
            <a:endParaRPr lang="en-US" sz="750" dirty="0"/>
          </a:p>
        </p:txBody>
      </p:sp>
      <p:sp>
        <p:nvSpPr>
          <p:cNvPr id="21" name="Text: •  감정선 표현:  별도 버튼 없이 손목 각도 조작만으로 곡의 분위기와"/>
          <p:cNvSpPr txBox="1"/>
          <p:nvPr/>
        </p:nvSpPr>
        <p:spPr>
          <a:xfrm>
            <a:off x="666750" y="4291608"/>
            <a:ext cx="3808512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750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감정선 표현:</a:t>
            </a: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별도 버튼 없이 손목 각도 조작만으로 곡의 분위기와 무드를 자유롭게 변형</a:t>
            </a:r>
            <a:endParaRPr lang="en-US" sz="750" dirty="0"/>
          </a:p>
        </p:txBody>
      </p:sp>
      <p:sp>
        <p:nvSpPr>
          <p:cNvPr id="22" name="Rounded Rectangle"/>
          <p:cNvSpPr/>
          <p:nvPr/>
        </p:nvSpPr>
        <p:spPr>
          <a:xfrm>
            <a:off x="552450" y="4561483"/>
            <a:ext cx="5283200" cy="596900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3" name="Border"/>
          <p:cNvSpPr/>
          <p:nvPr/>
        </p:nvSpPr>
        <p:spPr>
          <a:xfrm>
            <a:off x="552450" y="4561483"/>
            <a:ext cx="25400" cy="5969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4" name="Text: ✨ 화면 하단 네온 텍스트로 현재 연주 코드 실시간 표시"/>
          <p:cNvSpPr txBox="1"/>
          <p:nvPr/>
        </p:nvSpPr>
        <p:spPr>
          <a:xfrm>
            <a:off x="666750" y="4615458"/>
            <a:ext cx="2741017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✨ 화면 하단 네온 텍스트로 현재 연주 코드 실시간 표시</a:t>
            </a:r>
            <a:endParaRPr lang="en-US" sz="850" dirty="0"/>
          </a:p>
        </p:txBody>
      </p:sp>
      <p:sp>
        <p:nvSpPr>
          <p:cNvPr id="25" name="Text: •  실시간 시각 피드백:  연주 중인 코드명(C Major, Am 등)"/>
          <p:cNvSpPr txBox="1"/>
          <p:nvPr/>
        </p:nvSpPr>
        <p:spPr>
          <a:xfrm>
            <a:off x="666750" y="4794845"/>
            <a:ext cx="4080669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750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실시간 시각 피드백:</a:t>
            </a: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연주 중인 코드명(C Major, Am 등)이 화면 하단 네온으로 즉시 디스플레이</a:t>
            </a:r>
            <a:endParaRPr lang="en-US" sz="750" dirty="0"/>
          </a:p>
        </p:txBody>
      </p:sp>
      <p:sp>
        <p:nvSpPr>
          <p:cNvPr id="26" name="Text: •  안정적 모니터링:  현재 잡힌 손가락 모양과 코드 상태를 눈으로 보"/>
          <p:cNvSpPr txBox="1"/>
          <p:nvPr/>
        </p:nvSpPr>
        <p:spPr>
          <a:xfrm>
            <a:off x="666750" y="4945658"/>
            <a:ext cx="3586063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750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안정적 모니터링:</a:t>
            </a: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현재 잡힌 손가락 모양과 코드 상태를 눈으로 보며 안심하고 연주</a:t>
            </a:r>
            <a:endParaRPr lang="en-US" sz="750" dirty="0"/>
          </a:p>
        </p:txBody>
      </p:sp>
      <p:sp>
        <p:nvSpPr>
          <p:cNvPr id="27" name="Rounded Rectangle"/>
          <p:cNvSpPr/>
          <p:nvPr/>
        </p:nvSpPr>
        <p:spPr>
          <a:xfrm>
            <a:off x="555625" y="1756966"/>
            <a:ext cx="5276850" cy="1358900"/>
          </a:xfrm>
          <a:prstGeom prst="roundRect">
            <a:avLst>
              <a:gd name="adj" fmla="val 5374"/>
            </a:avLst>
          </a:prstGeom>
          <a:solidFill>
            <a:srgbClr val="090D16"/>
          </a:solidFill>
          <a:ln w="6350" cap="flat" cmpd="sng" algn="ctr">
            <a:solidFill>
              <a:srgbClr val="CBD5E1"/>
            </a:solidFill>
            <a:miter lim="800000"/>
          </a:ln>
        </p:spPr>
      </p:sp>
      <p:pic>
        <p:nvPicPr>
          <p:cNvPr id="28" name="Image: 왼손 화음 제스처 매핑"/>
          <p:cNvPicPr>
            <a:picLocks noChangeAspect="1"/>
          </p:cNvPicPr>
          <p:nvPr/>
        </p:nvPicPr>
        <p:blipFill>
          <a:blip r:embed="rId2"/>
          <a:srcRect l="0" t="32815" r="0" b="32815"/>
          <a:stretch>
            <a:fillRect/>
          </a:stretch>
        </p:blipFill>
        <p:spPr>
          <a:xfrm>
            <a:off x="558800" y="1760141"/>
            <a:ext cx="5270500" cy="1352550"/>
          </a:xfrm>
          <a:prstGeom prst="rect">
            <a:avLst/>
          </a:prstGeom>
          <a:ln>
            <a:noFill/>
          </a:ln>
        </p:spPr>
      </p:pic>
      <p:pic>
        <p:nvPicPr>
          <p:cNvPr id="29" name="Rendered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050" y="2876550"/>
            <a:ext cx="1670050" cy="171450"/>
          </a:xfrm>
          <a:prstGeom prst="rect">
            <a:avLst/>
          </a:prstGeom>
          <a:ln>
            <a:noFill/>
          </a:ln>
        </p:spPr>
      </p:pic>
      <p:sp>
        <p:nvSpPr>
          <p:cNvPr id="30" name="Rounded Rectangle"/>
          <p:cNvSpPr/>
          <p:nvPr/>
        </p:nvSpPr>
        <p:spPr>
          <a:xfrm>
            <a:off x="6188075" y="1277541"/>
            <a:ext cx="5619750" cy="4069159"/>
          </a:xfrm>
          <a:prstGeom prst="roundRect">
            <a:avLst>
              <a:gd name="adj" fmla="val 2731"/>
            </a:avLst>
          </a:prstGeom>
          <a:solidFill>
            <a:srgbClr val="FFFFFF"/>
          </a:solidFill>
          <a:ln w="6350" cap="flat" cmpd="sng" algn="ctr">
            <a:solidFill>
              <a:srgbClr val="E2E8F0"/>
            </a:solidFill>
            <a:miter lim="800000"/>
          </a:ln>
          <a:effectLst>
            <a:outerShdw blurRad="101600" dist="50800" dir="5400000" sx="99548" sy="99376" algn="ctr" rotWithShape="0">
              <a:srgbClr val="000000">
                <a:alpha val="5000"/>
              </a:srgbClr>
            </a:outerShdw>
          </a:effectLst>
        </p:spPr>
      </p:sp>
      <p:sp>
        <p:nvSpPr>
          <p:cNvPr id="31" name="Rounded Rectangle"/>
          <p:cNvSpPr/>
          <p:nvPr/>
        </p:nvSpPr>
        <p:spPr>
          <a:xfrm>
            <a:off x="6359525" y="1423591"/>
            <a:ext cx="838795" cy="238125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 cap="flat" cmpd="sng" algn="ctr">
            <a:solidFill>
              <a:srgbClr val="86EFAC"/>
            </a:solidFill>
            <a:miter lim="800000"/>
          </a:ln>
        </p:spPr>
      </p:sp>
      <p:sp>
        <p:nvSpPr>
          <p:cNvPr id="32" name="Text: RIGHT HAND"/>
          <p:cNvSpPr txBox="1"/>
          <p:nvPr/>
        </p:nvSpPr>
        <p:spPr>
          <a:xfrm>
            <a:off x="6464300" y="1461691"/>
            <a:ext cx="629245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RIGHT HAND</a:t>
            </a:r>
            <a:endParaRPr lang="en-US" sz="750" dirty="0"/>
          </a:p>
        </p:txBody>
      </p:sp>
      <p:sp>
        <p:nvSpPr>
          <p:cNvPr id="33" name="Text: 오른손: 볼륨(소리 크기)과 음색 조절"/>
          <p:cNvSpPr txBox="1"/>
          <p:nvPr/>
        </p:nvSpPr>
        <p:spPr>
          <a:xfrm>
            <a:off x="7277695" y="1407716"/>
            <a:ext cx="2590304" cy="238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오른손: 볼륨(소리 크기)과 음색 조절</a:t>
            </a:r>
            <a:endParaRPr lang="en-US" sz="1250" dirty="0"/>
          </a:p>
        </p:txBody>
      </p:sp>
      <p:sp>
        <p:nvSpPr>
          <p:cNvPr id="34" name="Text: Volume &amp; Expression"/>
          <p:cNvSpPr txBox="1"/>
          <p:nvPr/>
        </p:nvSpPr>
        <p:spPr>
          <a:xfrm>
            <a:off x="10677128" y="1461691"/>
            <a:ext cx="962422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Volume &amp; Expression</a:t>
            </a:r>
            <a:endParaRPr lang="en-US" sz="750" dirty="0"/>
          </a:p>
        </p:txBody>
      </p:sp>
      <p:sp>
        <p:nvSpPr>
          <p:cNvPr id="35" name="Rounded Rectangle"/>
          <p:cNvSpPr/>
          <p:nvPr/>
        </p:nvSpPr>
        <p:spPr>
          <a:xfrm>
            <a:off x="6356350" y="3253383"/>
            <a:ext cx="5283200" cy="596900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6" name="Border"/>
          <p:cNvSpPr/>
          <p:nvPr/>
        </p:nvSpPr>
        <p:spPr>
          <a:xfrm>
            <a:off x="6356350" y="3253383"/>
            <a:ext cx="25400" cy="5969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7" name="Text: 🔊 손을 올리고 내리는 높낮이로 볼륨 조절"/>
          <p:cNvSpPr txBox="1"/>
          <p:nvPr/>
        </p:nvSpPr>
        <p:spPr>
          <a:xfrm>
            <a:off x="6470650" y="3307358"/>
            <a:ext cx="2091531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🔊 손을 올리고 내리는 높낮이로 볼륨 조절</a:t>
            </a:r>
            <a:endParaRPr lang="en-US" sz="850" dirty="0"/>
          </a:p>
        </p:txBody>
      </p:sp>
      <p:sp>
        <p:nvSpPr>
          <p:cNvPr id="38" name="Text: •  높낮이(Y축) 연동:  손을 높이 올리면 웅장하고 풍성하게, 내리면"/>
          <p:cNvSpPr txBox="1"/>
          <p:nvPr/>
        </p:nvSpPr>
        <p:spPr>
          <a:xfrm>
            <a:off x="6470650" y="3486745"/>
            <a:ext cx="3380680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750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높낮이(Y축) 연동:</a:t>
            </a: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손을 높이 올리면 웅장하고 풍성하게, 내리면 부드럽게 감쇄</a:t>
            </a:r>
            <a:endParaRPr lang="en-US" sz="750" dirty="0"/>
          </a:p>
        </p:txBody>
      </p:sp>
      <p:sp>
        <p:nvSpPr>
          <p:cNvPr id="39" name="Text: •  비접촉 다이내믹스:  하드웨어 노브 없이 허공의 손 높이(Y축)만으"/>
          <p:cNvSpPr txBox="1"/>
          <p:nvPr/>
        </p:nvSpPr>
        <p:spPr>
          <a:xfrm>
            <a:off x="6470650" y="3637558"/>
            <a:ext cx="3568601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750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비접촉 다이내믹스:</a:t>
            </a: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하드웨어 노브 없이 허공의 손 높이(Y축)만으로 음량 정밀 제어</a:t>
            </a:r>
            <a:endParaRPr lang="en-US" sz="750" dirty="0"/>
          </a:p>
        </p:txBody>
      </p:sp>
      <p:sp>
        <p:nvSpPr>
          <p:cNvPr id="40" name="Rounded Rectangle"/>
          <p:cNvSpPr/>
          <p:nvPr/>
        </p:nvSpPr>
        <p:spPr>
          <a:xfrm>
            <a:off x="6356350" y="3907433"/>
            <a:ext cx="5283200" cy="596900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1" name="Border"/>
          <p:cNvSpPr/>
          <p:nvPr/>
        </p:nvSpPr>
        <p:spPr>
          <a:xfrm>
            <a:off x="6356350" y="3907433"/>
            <a:ext cx="25400" cy="5969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42" name="Text: 🎛️ 손목을 기울여 부드러운 피아노 ➔ 날카로운 신스 변신"/>
          <p:cNvSpPr txBox="1"/>
          <p:nvPr/>
        </p:nvSpPr>
        <p:spPr>
          <a:xfrm>
            <a:off x="6470650" y="3961408"/>
            <a:ext cx="281106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🎛️ 손목을 기울여 부드러운 피아노 ➔ 날카로운 신스 변신</a:t>
            </a:r>
            <a:endParaRPr lang="en-US" sz="850" dirty="0"/>
          </a:p>
        </p:txBody>
      </p:sp>
      <p:sp>
        <p:nvSpPr>
          <p:cNvPr id="43" name="Text: •  로우패스 필터 개폐:  안쪽으로 꺾으면 아날로그 피아노 톤, 바깥으"/>
          <p:cNvSpPr txBox="1"/>
          <p:nvPr/>
        </p:nvSpPr>
        <p:spPr>
          <a:xfrm>
            <a:off x="6470650" y="4140795"/>
            <a:ext cx="4113113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750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로우패스 필터 개폐:</a:t>
            </a: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안쪽으로 꺾으면 아날로그 피아노 톤, 바깥으로 젖히면 날카로운 전자 신스</a:t>
            </a:r>
            <a:endParaRPr lang="en-US" sz="750" dirty="0"/>
          </a:p>
        </p:txBody>
      </p:sp>
      <p:sp>
        <p:nvSpPr>
          <p:cNvPr id="44" name="Text: •  다이내믹 질감 변형:  연주 도중 손목 각도를 열어 EDM·신스팝 "/>
          <p:cNvSpPr txBox="1"/>
          <p:nvPr/>
        </p:nvSpPr>
        <p:spPr>
          <a:xfrm>
            <a:off x="6470650" y="4291608"/>
            <a:ext cx="3620294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750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다이내믹 질감 변형:</a:t>
            </a: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연주 도중 손목 각도를 열어 EDM·신스팝 사운드로 즉각 빌드업</a:t>
            </a:r>
            <a:endParaRPr lang="en-US" sz="750" dirty="0"/>
          </a:p>
        </p:txBody>
      </p:sp>
      <p:sp>
        <p:nvSpPr>
          <p:cNvPr id="45" name="Rounded Rectangle"/>
          <p:cNvSpPr/>
          <p:nvPr/>
        </p:nvSpPr>
        <p:spPr>
          <a:xfrm>
            <a:off x="6356350" y="4561483"/>
            <a:ext cx="5283200" cy="596900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6" name="Border"/>
          <p:cNvSpPr/>
          <p:nvPr/>
        </p:nvSpPr>
        <p:spPr>
          <a:xfrm>
            <a:off x="6356350" y="4561483"/>
            <a:ext cx="25400" cy="5969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7" name="Text: 🎶 엄지를 펼치면 웅장한 저음 베이스(-1옥타브) 추가"/>
          <p:cNvSpPr txBox="1"/>
          <p:nvPr/>
        </p:nvSpPr>
        <p:spPr>
          <a:xfrm>
            <a:off x="6470650" y="4615458"/>
            <a:ext cx="2596257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🎶 엄지를 펼치면 웅장한 저음 베이스(-1옥타브) 추가</a:t>
            </a:r>
            <a:endParaRPr lang="en-US" sz="850" dirty="0"/>
          </a:p>
        </p:txBody>
      </p:sp>
      <p:sp>
        <p:nvSpPr>
          <p:cNvPr id="48" name="Text: •  서브 베이스 레이어:  엄지손가락을 펴는 순간 묵직한 -1옥타브 근"/>
          <p:cNvSpPr txBox="1"/>
          <p:nvPr/>
        </p:nvSpPr>
        <p:spPr>
          <a:xfrm>
            <a:off x="6470650" y="4794845"/>
            <a:ext cx="3696692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750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서브 베이스 레이어:</a:t>
            </a: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엄지손가락을 펴는 순간 묵직한 -1옥타브 근음(Bass)이 함께 울림</a:t>
            </a:r>
            <a:endParaRPr lang="en-US" sz="750" dirty="0"/>
          </a:p>
        </p:txBody>
      </p:sp>
      <p:sp>
        <p:nvSpPr>
          <p:cNvPr id="49" name="Text: •  화려한 7th 텐션:  오른손 손가락 개수에 따라 재즈풍 고급 텐션"/>
          <p:cNvSpPr txBox="1"/>
          <p:nvPr/>
        </p:nvSpPr>
        <p:spPr>
          <a:xfrm>
            <a:off x="6470650" y="4945658"/>
            <a:ext cx="3861891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750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화려한 7th 텐션:</a:t>
            </a: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오른손 손가락 개수에 따라 재즈풍 고급 텐션 코드가 자동으로 레이어링</a:t>
            </a:r>
            <a:endParaRPr lang="en-US" sz="750" dirty="0"/>
          </a:p>
        </p:txBody>
      </p:sp>
      <p:sp>
        <p:nvSpPr>
          <p:cNvPr id="50" name="Rounded Rectangle"/>
          <p:cNvSpPr/>
          <p:nvPr/>
        </p:nvSpPr>
        <p:spPr>
          <a:xfrm>
            <a:off x="6359525" y="1756966"/>
            <a:ext cx="5276850" cy="1358900"/>
          </a:xfrm>
          <a:prstGeom prst="roundRect">
            <a:avLst>
              <a:gd name="adj" fmla="val 5374"/>
            </a:avLst>
          </a:prstGeom>
          <a:solidFill>
            <a:srgbClr val="090D16"/>
          </a:solidFill>
          <a:ln w="6350" cap="flat" cmpd="sng" algn="ctr">
            <a:solidFill>
              <a:srgbClr val="CBD5E1"/>
            </a:solidFill>
            <a:miter lim="800000"/>
          </a:ln>
        </p:spPr>
      </p:sp>
      <p:pic>
        <p:nvPicPr>
          <p:cNvPr id="51" name="Image: 오른손 볼륨 및 필터 음색 조절"/>
          <p:cNvPicPr>
            <a:picLocks noChangeAspect="1"/>
          </p:cNvPicPr>
          <p:nvPr/>
        </p:nvPicPr>
        <p:blipFill>
          <a:blip r:embed="rId4"/>
          <a:srcRect l="0" t="32815" r="0" b="32815"/>
          <a:stretch>
            <a:fillRect/>
          </a:stretch>
        </p:blipFill>
        <p:spPr>
          <a:xfrm>
            <a:off x="6362700" y="1760141"/>
            <a:ext cx="5270500" cy="1352550"/>
          </a:xfrm>
          <a:prstGeom prst="rect">
            <a:avLst/>
          </a:prstGeom>
          <a:ln>
            <a:noFill/>
          </a:ln>
        </p:spPr>
      </p:pic>
      <p:pic>
        <p:nvPicPr>
          <p:cNvPr id="52" name="Rendered 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2650" y="2876550"/>
            <a:ext cx="1784350" cy="171450"/>
          </a:xfrm>
          <a:prstGeom prst="rect">
            <a:avLst/>
          </a:prstGeom>
          <a:ln>
            <a:noFill/>
          </a:ln>
        </p:spPr>
      </p:pic>
      <p:sp>
        <p:nvSpPr>
          <p:cNvPr id="53" name="Rounded Rectangle"/>
          <p:cNvSpPr/>
          <p:nvPr/>
        </p:nvSpPr>
        <p:spPr>
          <a:xfrm>
            <a:off x="384175" y="5441950"/>
            <a:ext cx="11423650" cy="889000"/>
          </a:xfrm>
          <a:prstGeom prst="roundRect">
            <a:avLst>
              <a:gd name="adj" fmla="val 9643"/>
            </a:avLst>
          </a:prstGeom>
          <a:solidFill>
            <a:srgbClr val="FFFFFF"/>
          </a:solidFill>
          <a:ln w="6350" cap="flat" cmpd="sng" algn="ctr">
            <a:solidFill>
              <a:srgbClr val="CBD5E1"/>
            </a:solidFill>
            <a:miter lim="800000"/>
          </a:ln>
          <a:effectLst>
            <a:outerShdw blurRad="76200" dist="25400" dir="5400000" sx="99778" sy="97143" algn="ctr" rotWithShape="0">
              <a:srgbClr val="0F172A">
                <a:alpha val="5000"/>
              </a:srgbClr>
            </a:outerShdw>
          </a:effectLst>
        </p:spPr>
      </p:sp>
      <p:sp>
        <p:nvSpPr>
          <p:cNvPr id="54" name="Text: 실제 신디사이저 연주 화면:  E(V) Dominant 7th (-8ve"/>
          <p:cNvSpPr txBox="1"/>
          <p:nvPr/>
        </p:nvSpPr>
        <p:spPr>
          <a:xfrm>
            <a:off x="2419350" y="5624513"/>
            <a:ext cx="280422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실제 신디사이저 연주 화면: </a:t>
            </a:r>
            <a:r>
              <a:rPr lang="en-US" sz="900" b="1" spc="-4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E(V) Dominant 7th (-8ve)</a:t>
            </a:r>
            <a:endParaRPr lang="en-US" sz="900" dirty="0"/>
          </a:p>
        </p:txBody>
      </p:sp>
      <p:sp>
        <p:nvSpPr>
          <p:cNvPr id="55" name="Rounded Rectangle"/>
          <p:cNvSpPr/>
          <p:nvPr/>
        </p:nvSpPr>
        <p:spPr>
          <a:xfrm>
            <a:off x="10092432" y="5603875"/>
            <a:ext cx="1582043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56" name="Text: 양손 인터랙티브 AI 신디사이저"/>
          <p:cNvSpPr txBox="1"/>
          <p:nvPr/>
        </p:nvSpPr>
        <p:spPr>
          <a:xfrm>
            <a:off x="10197207" y="5641975"/>
            <a:ext cx="1372493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양손 인터랙티브 AI 신디사이저</a:t>
            </a:r>
            <a:endParaRPr lang="en-US" sz="750" dirty="0"/>
          </a:p>
        </p:txBody>
      </p:sp>
      <p:sp>
        <p:nvSpPr>
          <p:cNvPr id="57" name="Text: •  실시간 시각 피드백:  왼손 5손가락 화음(E)과 오른손 7th 텐"/>
          <p:cNvSpPr txBox="1"/>
          <p:nvPr/>
        </p:nvSpPr>
        <p:spPr>
          <a:xfrm>
            <a:off x="2419350" y="5865813"/>
            <a:ext cx="4921052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750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실시간 시각 피드백:</a:t>
            </a: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왼손 5손가락 화음(E)과 오른손 7th 텐션 및 엄지 옥타브(-8ve)가 화면 중앙에 즉시 디스플레이</a:t>
            </a:r>
            <a:endParaRPr lang="en-US" sz="750" dirty="0"/>
          </a:p>
        </p:txBody>
      </p:sp>
      <p:sp>
        <p:nvSpPr>
          <p:cNvPr id="58" name="Text: •  오디오 파형 &amp; 원클릭 연주:  하단 오렌지색 네온 파형으로 실시간"/>
          <p:cNvSpPr txBox="1"/>
          <p:nvPr/>
        </p:nvSpPr>
        <p:spPr>
          <a:xfrm>
            <a:off x="2419350" y="6022975"/>
            <a:ext cx="5631458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750" b="1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오디오 파형 &amp; 원클릭 연주:</a:t>
            </a:r>
            <a:r>
              <a:rPr lang="en-US" sz="7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 하단 오렌지색 네온 파형으로 실시간 사운드 합성 시각화, 복잡한 설정 없이 .exe 실행만으로 즉시 연주</a:t>
            </a:r>
            <a:endParaRPr lang="en-US" sz="750" dirty="0"/>
          </a:p>
        </p:txBody>
      </p:sp>
      <p:sp>
        <p:nvSpPr>
          <p:cNvPr id="59" name="Rounded Rectangle"/>
          <p:cNvSpPr/>
          <p:nvPr/>
        </p:nvSpPr>
        <p:spPr>
          <a:xfrm>
            <a:off x="520700" y="5527675"/>
            <a:ext cx="1765300" cy="717550"/>
          </a:xfrm>
          <a:prstGeom prst="roundRect">
            <a:avLst>
              <a:gd name="adj" fmla="val 7965"/>
            </a:avLst>
          </a:prstGeom>
          <a:solidFill>
            <a:srgbClr val="040711"/>
          </a:solidFill>
          <a:ln w="12700" cap="flat" cmpd="sng" algn="ctr">
            <a:solidFill>
              <a:srgbClr val="0284C7"/>
            </a:solidFill>
            <a:miter lim="800000"/>
          </a:ln>
          <a:effectLst>
            <a:outerShdw blurRad="88900" dist="25400" dir="5400000" sx="97842" sy="94690" algn="ctr" rotWithShape="0">
              <a:srgbClr val="0284C7">
                <a:alpha val="30000"/>
              </a:srgbClr>
            </a:outerShdw>
          </a:effectLst>
        </p:spPr>
      </p:sp>
      <p:pic>
        <p:nvPicPr>
          <p:cNvPr id="60" name="Image: AuraSynth 실제 연주 화면"/>
          <p:cNvPicPr>
            <a:picLocks noChangeAspect="1"/>
          </p:cNvPicPr>
          <p:nvPr/>
        </p:nvPicPr>
        <p:blipFill>
          <a:blip r:embed="rId6"/>
          <a:srcRect l="0" t="1146" r="0" b="1146"/>
          <a:stretch>
            <a:fillRect/>
          </a:stretch>
        </p:blipFill>
        <p:spPr>
          <a:xfrm>
            <a:off x="527050" y="5534025"/>
            <a:ext cx="1752600" cy="704850"/>
          </a:xfrm>
          <a:prstGeom prst="rect">
            <a:avLst/>
          </a:prstGeom>
          <a:ln>
            <a:noFill/>
          </a:ln>
        </p:spPr>
      </p:pic>
      <p:pic>
        <p:nvPicPr>
          <p:cNvPr id="61" name="Rendered 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150" y="6070600"/>
            <a:ext cx="711200" cy="139700"/>
          </a:xfrm>
          <a:prstGeom prst="rect">
            <a:avLst/>
          </a:prstGeom>
          <a:ln>
            <a:noFill/>
          </a:ln>
        </p:spPr>
      </p:pic>
      <p:sp>
        <p:nvSpPr>
          <p:cNvPr id="62" name="Rounded Rectangle"/>
          <p:cNvSpPr/>
          <p:nvPr/>
        </p:nvSpPr>
        <p:spPr>
          <a:xfrm>
            <a:off x="1829197" y="5565775"/>
            <a:ext cx="412353" cy="130175"/>
          </a:xfrm>
          <a:prstGeom prst="roundRect">
            <a:avLst>
              <a:gd name="adj" fmla="val 19512"/>
            </a:avLst>
          </a:prstGeom>
          <a:solidFill>
            <a:srgbClr val="0F172A">
              <a:alpha val="88000"/>
            </a:srgbClr>
          </a:solidFill>
          <a:ln>
            <a:noFill/>
          </a:ln>
        </p:spPr>
      </p:sp>
      <p:sp>
        <p:nvSpPr>
          <p:cNvPr id="63" name="Text: ⚡ 30 FPS"/>
          <p:cNvSpPr txBox="1"/>
          <p:nvPr/>
        </p:nvSpPr>
        <p:spPr>
          <a:xfrm>
            <a:off x="1867297" y="5568950"/>
            <a:ext cx="336153" cy="1047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" b="1" spc="-4" dirty="0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⚡ 30 FPS</a:t>
            </a:r>
            <a:endParaRPr lang="en-US" sz="550" dirty="0"/>
          </a:p>
        </p:txBody>
      </p:sp>
      <p:sp>
        <p:nvSpPr>
          <p:cNvPr id="64" name="Border"/>
          <p:cNvSpPr/>
          <p:nvPr/>
        </p:nvSpPr>
        <p:spPr>
          <a:xfrm>
            <a:off x="381000" y="6334125"/>
            <a:ext cx="11430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5" name="Text: AuraSynth: Computer Vision &amp; Interactive"/>
          <p:cNvSpPr txBox="1"/>
          <p:nvPr/>
        </p:nvSpPr>
        <p:spPr>
          <a:xfrm>
            <a:off x="381000" y="6451600"/>
            <a:ext cx="3247628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AuraSynth: Computer Vision &amp; Interactive Web Audio Research</a:t>
            </a:r>
            <a:endParaRPr lang="en-US" sz="850" dirty="0"/>
          </a:p>
        </p:txBody>
      </p:sp>
      <p:sp>
        <p:nvSpPr>
          <p:cNvPr id="66" name="Rounded Rectangle"/>
          <p:cNvSpPr/>
          <p:nvPr/>
        </p:nvSpPr>
        <p:spPr>
          <a:xfrm>
            <a:off x="11237714" y="6429375"/>
            <a:ext cx="573286" cy="225425"/>
          </a:xfrm>
          <a:prstGeom prst="roundRect">
            <a:avLst>
              <a:gd name="adj" fmla="val 22535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67" name="Text: 10 / 12"/>
          <p:cNvSpPr txBox="1"/>
          <p:nvPr/>
        </p:nvSpPr>
        <p:spPr>
          <a:xfrm>
            <a:off x="11339314" y="6451600"/>
            <a:ext cx="37008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10 / 12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4175" y="244475"/>
            <a:ext cx="1562298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3" name="Text: PART 05 • 실시간 악기 시스템"/>
          <p:cNvSpPr txBox="1"/>
          <p:nvPr/>
        </p:nvSpPr>
        <p:spPr>
          <a:xfrm>
            <a:off x="488950" y="282575"/>
            <a:ext cx="1352748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PART 05 • 실시간 악기 시스템</a:t>
            </a:r>
            <a:endParaRPr lang="en-US" sz="750" dirty="0"/>
          </a:p>
        </p:txBody>
      </p:sp>
      <p:sp>
        <p:nvSpPr>
          <p:cNvPr id="4" name="Text: AuraSynth Engine Architecture"/>
          <p:cNvSpPr txBox="1"/>
          <p:nvPr/>
        </p:nvSpPr>
        <p:spPr>
          <a:xfrm>
            <a:off x="2038548" y="265113"/>
            <a:ext cx="1658739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AuraSynth Engine Architecture</a:t>
            </a:r>
            <a:endParaRPr lang="en-US" sz="900" dirty="0"/>
          </a:p>
        </p:txBody>
      </p:sp>
      <p:sp>
        <p:nvSpPr>
          <p:cNvPr id="5" name="Text: AuraSynth 상단 제어 바(Control Bar) 주요 기능"/>
          <p:cNvSpPr txBox="1"/>
          <p:nvPr/>
        </p:nvSpPr>
        <p:spPr>
          <a:xfrm>
            <a:off x="381000" y="555625"/>
            <a:ext cx="6596261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75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AuraSynth 상단 제어 바(Control Bar) 주요 기능</a:t>
            </a:r>
            <a:endParaRPr lang="en-US" sz="2500" dirty="0"/>
          </a:p>
        </p:txBody>
      </p:sp>
      <p:sp>
        <p:nvSpPr>
          <p:cNvPr id="6" name="Text: 연주 중 AI 모델 전환부터 음색, 조옮김, 볼륨 및 필터까지 한눈에 조"/>
          <p:cNvSpPr txBox="1"/>
          <p:nvPr/>
        </p:nvSpPr>
        <p:spPr>
          <a:xfrm>
            <a:off x="381000" y="948055"/>
            <a:ext cx="5661223" cy="2044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연주 중 AI 모델 전환부터 음색, 조옮김, 볼륨 및 필터까지 한눈에 조작하는 컨트롤 타워</a:t>
            </a:r>
            <a:endParaRPr lang="en-US" sz="1150" dirty="0"/>
          </a:p>
        </p:txBody>
      </p:sp>
      <p:sp>
        <p:nvSpPr>
          <p:cNvPr id="7" name="Rounded Rectangle"/>
          <p:cNvSpPr/>
          <p:nvPr/>
        </p:nvSpPr>
        <p:spPr>
          <a:xfrm>
            <a:off x="387350" y="1280716"/>
            <a:ext cx="11417300" cy="1098252"/>
          </a:xfrm>
          <a:prstGeom prst="roundRect">
            <a:avLst>
              <a:gd name="adj" fmla="val 9829"/>
            </a:avLst>
          </a:prstGeom>
          <a:solidFill>
            <a:srgbClr val="07090E"/>
          </a:solidFill>
          <a:ln w="12700" cap="flat" cmpd="sng" algn="ctr">
            <a:solidFill>
              <a:srgbClr val="1E293B"/>
            </a:solidFill>
            <a:miter lim="800000"/>
          </a:ln>
          <a:effectLst>
            <a:outerShdw blurRad="190500" dist="50800" dir="5400000" sx="100000" sy="100000" algn="ctr" rotWithShape="0">
              <a:srgbClr val="000000">
                <a:alpha val="25000"/>
              </a:srgbClr>
            </a:outerShdw>
          </a:effectLst>
        </p:spPr>
      </p:sp>
      <p:sp>
        <p:nvSpPr>
          <p:cNvPr id="8" name="Text: 🖥️ AuraSynth 실제 실행 화면 상단 헤더 (스튜디오 DAW 스"/>
          <p:cNvSpPr txBox="1"/>
          <p:nvPr/>
        </p:nvSpPr>
        <p:spPr>
          <a:xfrm>
            <a:off x="558800" y="1429941"/>
            <a:ext cx="3692723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🖥️ AuraSynth 실제 실행 화면 상단 헤더 (스튜디오 DAW 스타일 제로-오버랩 고정 바)</a:t>
            </a:r>
            <a:endParaRPr lang="en-US" sz="750" dirty="0"/>
          </a:p>
        </p:txBody>
      </p:sp>
      <p:sp>
        <p:nvSpPr>
          <p:cNvPr id="9" name="Rounded Rectangle"/>
          <p:cNvSpPr/>
          <p:nvPr/>
        </p:nvSpPr>
        <p:spPr>
          <a:xfrm>
            <a:off x="9956602" y="1391841"/>
            <a:ext cx="1673423" cy="238125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6350" cap="flat" cmpd="sng" algn="ctr">
            <a:solidFill>
              <a:srgbClr val="0284C7"/>
            </a:solidFill>
            <a:miter lim="800000"/>
          </a:ln>
        </p:spPr>
      </p:sp>
      <p:sp>
        <p:nvSpPr>
          <p:cNvPr id="10" name="Text: ZERO-OVERLAP CONTROL BAR"/>
          <p:cNvSpPr txBox="1"/>
          <p:nvPr/>
        </p:nvSpPr>
        <p:spPr>
          <a:xfrm>
            <a:off x="10061377" y="1429941"/>
            <a:ext cx="1463873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38BDF8"/>
                </a:solidFill>
                <a:latin typeface="Segoe UI"/>
                <a:ea typeface="Segoe UI"/>
                <a:cs typeface="Segoe UI"/>
              </a:rPr>
              <a:t>ZERO-OVERLAP CONTROL BAR</a:t>
            </a:r>
            <a:endParaRPr lang="en-US" sz="750" dirty="0"/>
          </a:p>
        </p:txBody>
      </p:sp>
      <p:sp>
        <p:nvSpPr>
          <p:cNvPr id="11" name="Rounded Rectangle"/>
          <p:cNvSpPr/>
          <p:nvPr/>
        </p:nvSpPr>
        <p:spPr>
          <a:xfrm>
            <a:off x="561975" y="1699816"/>
            <a:ext cx="11068050" cy="568027"/>
          </a:xfrm>
          <a:prstGeom prst="roundRect">
            <a:avLst>
              <a:gd name="adj" fmla="val 8384"/>
            </a:avLst>
          </a:prstGeom>
          <a:noFill/>
          <a:ln w="6350" cap="flat" cmpd="sng" algn="ctr">
            <a:solidFill>
              <a:srgbClr val="FFFFFF">
                <a:alpha val="12000"/>
              </a:srgbClr>
            </a:solidFill>
            <a:miter lim="800000"/>
          </a:ln>
        </p:spPr>
      </p:sp>
      <p:pic>
        <p:nvPicPr>
          <p:cNvPr id="12" name="Image: AuraSynth 상단 제어 바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0" y="1702991"/>
            <a:ext cx="11061700" cy="561677"/>
          </a:xfrm>
          <a:prstGeom prst="rect">
            <a:avLst/>
          </a:prstGeom>
          <a:ln>
            <a:noFill/>
          </a:ln>
        </p:spPr>
      </p:pic>
      <p:sp>
        <p:nvSpPr>
          <p:cNvPr id="13" name="Rounded Rectangle"/>
          <p:cNvSpPr/>
          <p:nvPr/>
        </p:nvSpPr>
        <p:spPr>
          <a:xfrm>
            <a:off x="381000" y="2512318"/>
            <a:ext cx="2762250" cy="3259832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sx="99080" sy="99221" algn="ctr" rotWithShape="0">
              <a:srgbClr val="000000">
                <a:alpha val="5000"/>
              </a:srgbClr>
            </a:outerShdw>
          </a:effectLst>
        </p:spPr>
      </p:sp>
      <p:sp>
        <p:nvSpPr>
          <p:cNvPr id="14" name="Border"/>
          <p:cNvSpPr/>
          <p:nvPr/>
        </p:nvSpPr>
        <p:spPr>
          <a:xfrm>
            <a:off x="381000" y="2512318"/>
            <a:ext cx="276225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Border"/>
          <p:cNvSpPr/>
          <p:nvPr/>
        </p:nvSpPr>
        <p:spPr>
          <a:xfrm>
            <a:off x="3136900" y="2512318"/>
            <a:ext cx="6350" cy="3259832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6" name="Border"/>
          <p:cNvSpPr/>
          <p:nvPr/>
        </p:nvSpPr>
        <p:spPr>
          <a:xfrm>
            <a:off x="381000" y="5765800"/>
            <a:ext cx="276225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7" name="Border"/>
          <p:cNvSpPr/>
          <p:nvPr/>
        </p:nvSpPr>
        <p:spPr>
          <a:xfrm>
            <a:off x="381000" y="2512318"/>
            <a:ext cx="6350" cy="3259832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8" name="Rounded Rectangle"/>
          <p:cNvSpPr/>
          <p:nvPr/>
        </p:nvSpPr>
        <p:spPr>
          <a:xfrm>
            <a:off x="555625" y="2705993"/>
            <a:ext cx="709712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19" name="Text: AI ENGINE"/>
          <p:cNvSpPr txBox="1"/>
          <p:nvPr/>
        </p:nvSpPr>
        <p:spPr>
          <a:xfrm>
            <a:off x="660400" y="2744093"/>
            <a:ext cx="500162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AI ENGINE</a:t>
            </a:r>
            <a:endParaRPr lang="en-US" sz="750" dirty="0"/>
          </a:p>
        </p:txBody>
      </p:sp>
      <p:sp>
        <p:nvSpPr>
          <p:cNvPr id="20" name="Text: 01"/>
          <p:cNvSpPr txBox="1"/>
          <p:nvPr/>
        </p:nvSpPr>
        <p:spPr>
          <a:xfrm>
            <a:off x="2862362" y="2744093"/>
            <a:ext cx="109438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01</a:t>
            </a:r>
            <a:endParaRPr lang="en-US" sz="750" dirty="0"/>
          </a:p>
        </p:txBody>
      </p:sp>
      <p:sp>
        <p:nvSpPr>
          <p:cNvPr id="21" name="Text: 3대 AI 모델 실시간 스위칭"/>
          <p:cNvSpPr txBox="1"/>
          <p:nvPr/>
        </p:nvSpPr>
        <p:spPr>
          <a:xfrm>
            <a:off x="552450" y="3020318"/>
            <a:ext cx="1744464" cy="2190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3대 AI 모델 실시간 스위칭</a:t>
            </a:r>
            <a:endParaRPr lang="en-US" sz="1150" dirty="0"/>
          </a:p>
        </p:txBody>
      </p:sp>
      <p:sp>
        <p:nvSpPr>
          <p:cNvPr id="22" name="Text: •  무중단 모델 교체:  드롭다운 클릭만으로 MediaPipe, Get"/>
          <p:cNvSpPr txBox="1"/>
          <p:nvPr/>
        </p:nvSpPr>
        <p:spPr>
          <a:xfrm>
            <a:off x="552450" y="3330674"/>
            <a:ext cx="2037358" cy="344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75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무중단 모델 교체:</a:t>
            </a: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드롭다운 클릭만으로</a:t>
            </a:r>
            <a:br>
              <a:rPr lang="en-US" sz="875"/>
            </a:b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MediaPipe, Geti, YOLOv8을 실시간 전환</a:t>
            </a:r>
            <a:endParaRPr lang="en-US" sz="875" dirty="0"/>
          </a:p>
        </p:txBody>
      </p:sp>
      <p:sp>
        <p:nvSpPr>
          <p:cNvPr id="23" name="Text: •  AI 상태 배지:  현재 어떤 엔진으로 손을 인식 중 인지 상단 배"/>
          <p:cNvSpPr txBox="1"/>
          <p:nvPr/>
        </p:nvSpPr>
        <p:spPr>
          <a:xfrm>
            <a:off x="552450" y="3738662"/>
            <a:ext cx="2413794" cy="344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75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AI 상태 배지:</a:t>
            </a: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현재 어떤 엔진으로 손을 인식 중</a:t>
            </a:r>
            <a:br>
              <a:rPr lang="en-US" sz="875"/>
            </a:b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인지 상단 배지에서 즉각 확인</a:t>
            </a:r>
            <a:endParaRPr lang="en-US" sz="875" dirty="0"/>
          </a:p>
        </p:txBody>
      </p:sp>
      <p:sp>
        <p:nvSpPr>
          <p:cNvPr id="24" name="Text: •  무지연 스트리밍:  웹소켓 브릿지 연동으로 연주 중 끊김 없는 제로"/>
          <p:cNvSpPr txBox="1"/>
          <p:nvPr/>
        </p:nvSpPr>
        <p:spPr>
          <a:xfrm>
            <a:off x="552450" y="4146649"/>
            <a:ext cx="2407741" cy="344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75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무지연 스트리밍:</a:t>
            </a: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웹소켓 브릿지 연동으로 연주</a:t>
            </a:r>
            <a:br>
              <a:rPr lang="en-US" sz="875"/>
            </a:b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중 끊김 없는 제로-딜레이 스왑</a:t>
            </a:r>
            <a:endParaRPr lang="en-US" sz="875" dirty="0"/>
          </a:p>
        </p:txBody>
      </p:sp>
      <p:sp>
        <p:nvSpPr>
          <p:cNvPr id="25" name="Rounded Rectangle"/>
          <p:cNvSpPr/>
          <p:nvPr/>
        </p:nvSpPr>
        <p:spPr>
          <a:xfrm>
            <a:off x="552450" y="5373688"/>
            <a:ext cx="2419350" cy="239713"/>
          </a:xfrm>
          <a:prstGeom prst="roundRect">
            <a:avLst>
              <a:gd name="adj" fmla="val 1589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6" name="Text: ✓ 런타임 실시간 모델 교체 지원"/>
          <p:cNvSpPr txBox="1"/>
          <p:nvPr/>
        </p:nvSpPr>
        <p:spPr>
          <a:xfrm>
            <a:off x="628650" y="5413375"/>
            <a:ext cx="1326654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5" b="1" spc="-4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✓ 런타임 실시간 모델 교체 지원</a:t>
            </a:r>
            <a:endParaRPr lang="en-US" sz="725" dirty="0"/>
          </a:p>
        </p:txBody>
      </p:sp>
      <p:sp>
        <p:nvSpPr>
          <p:cNvPr id="27" name="Rounded Rectangle"/>
          <p:cNvSpPr/>
          <p:nvPr/>
        </p:nvSpPr>
        <p:spPr>
          <a:xfrm>
            <a:off x="3270250" y="2512318"/>
            <a:ext cx="2762250" cy="3259832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sx="99080" sy="99221" algn="ctr" rotWithShape="0">
              <a:srgbClr val="000000">
                <a:alpha val="5000"/>
              </a:srgbClr>
            </a:outerShdw>
          </a:effectLst>
        </p:spPr>
      </p:sp>
      <p:sp>
        <p:nvSpPr>
          <p:cNvPr id="28" name="Border"/>
          <p:cNvSpPr/>
          <p:nvPr/>
        </p:nvSpPr>
        <p:spPr>
          <a:xfrm>
            <a:off x="3270250" y="2512318"/>
            <a:ext cx="276225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</p:sp>
      <p:sp>
        <p:nvSpPr>
          <p:cNvPr id="29" name="Border"/>
          <p:cNvSpPr/>
          <p:nvPr/>
        </p:nvSpPr>
        <p:spPr>
          <a:xfrm>
            <a:off x="6026150" y="2512318"/>
            <a:ext cx="6350" cy="3259832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0" name="Border"/>
          <p:cNvSpPr/>
          <p:nvPr/>
        </p:nvSpPr>
        <p:spPr>
          <a:xfrm>
            <a:off x="3270250" y="5765800"/>
            <a:ext cx="276225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1" name="Border"/>
          <p:cNvSpPr/>
          <p:nvPr/>
        </p:nvSpPr>
        <p:spPr>
          <a:xfrm>
            <a:off x="3270250" y="2512318"/>
            <a:ext cx="6350" cy="3259832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2" name="Rounded Rectangle"/>
          <p:cNvSpPr/>
          <p:nvPr/>
        </p:nvSpPr>
        <p:spPr>
          <a:xfrm>
            <a:off x="3444875" y="2705993"/>
            <a:ext cx="943967" cy="238125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6350" cap="flat" cmpd="sng" algn="ctr">
            <a:solidFill>
              <a:srgbClr val="BAE6FD"/>
            </a:solidFill>
            <a:miter lim="800000"/>
          </a:ln>
        </p:spPr>
      </p:sp>
      <p:sp>
        <p:nvSpPr>
          <p:cNvPr id="33" name="Text: SOUND PRESET"/>
          <p:cNvSpPr txBox="1"/>
          <p:nvPr/>
        </p:nvSpPr>
        <p:spPr>
          <a:xfrm>
            <a:off x="3549650" y="2744093"/>
            <a:ext cx="734417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0284C7"/>
                </a:solidFill>
                <a:latin typeface="Segoe UI"/>
                <a:ea typeface="Segoe UI"/>
                <a:cs typeface="Segoe UI"/>
              </a:rPr>
              <a:t>SOUND PRESET</a:t>
            </a:r>
            <a:endParaRPr lang="en-US" sz="750" dirty="0"/>
          </a:p>
        </p:txBody>
      </p:sp>
      <p:sp>
        <p:nvSpPr>
          <p:cNvPr id="34" name="Text: 02"/>
          <p:cNvSpPr txBox="1"/>
          <p:nvPr/>
        </p:nvSpPr>
        <p:spPr>
          <a:xfrm>
            <a:off x="5751612" y="2744093"/>
            <a:ext cx="109438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02</a:t>
            </a:r>
            <a:endParaRPr lang="en-US" sz="750" dirty="0"/>
          </a:p>
        </p:txBody>
      </p:sp>
      <p:sp>
        <p:nvSpPr>
          <p:cNvPr id="35" name="Text: 조옮김(Key) &amp; 음색 프리셋"/>
          <p:cNvSpPr txBox="1"/>
          <p:nvPr/>
        </p:nvSpPr>
        <p:spPr>
          <a:xfrm>
            <a:off x="3441700" y="3020318"/>
            <a:ext cx="1794570" cy="2190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조옮김(Key) &amp; 음색 프리셋</a:t>
            </a:r>
            <a:endParaRPr lang="en-US" sz="1150" dirty="0"/>
          </a:p>
        </p:txBody>
      </p:sp>
      <p:sp>
        <p:nvSpPr>
          <p:cNvPr id="36" name="Text: •  12키 조옮김:  A, C, G 등 원하는 악곡의 조에 맞 춰 기준"/>
          <p:cNvSpPr txBox="1"/>
          <p:nvPr/>
        </p:nvSpPr>
        <p:spPr>
          <a:xfrm>
            <a:off x="3441700" y="3330674"/>
            <a:ext cx="2408436" cy="344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75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12키 조옮김:</a:t>
            </a: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A, C, G 등 원하는 악곡의 조에 맞</a:t>
            </a:r>
            <a:br>
              <a:rPr lang="en-US" sz="875"/>
            </a:b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춰 기준 음을 즉시 변경 (Transpose)</a:t>
            </a:r>
            <a:endParaRPr lang="en-US" sz="875" dirty="0"/>
          </a:p>
        </p:txBody>
      </p:sp>
      <p:sp>
        <p:nvSpPr>
          <p:cNvPr id="37" name="Text: •  3종 음색 선택:  따뜻한 신스(삼각파), 밝은 신스 (톱니파), "/>
          <p:cNvSpPr txBox="1"/>
          <p:nvPr/>
        </p:nvSpPr>
        <p:spPr>
          <a:xfrm>
            <a:off x="3441700" y="3738662"/>
            <a:ext cx="2379464" cy="344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75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3종 음색 선택:</a:t>
            </a: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따뜻한 신스(삼각파), 밝은 신스</a:t>
            </a:r>
            <a:br>
              <a:rPr lang="en-US" sz="875"/>
            </a:b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(톱니파), 레트로 신스(사각파)</a:t>
            </a:r>
            <a:endParaRPr lang="en-US" sz="875" dirty="0"/>
          </a:p>
        </p:txBody>
      </p:sp>
      <p:sp>
        <p:nvSpPr>
          <p:cNvPr id="38" name="Text: •  실시간 배음 합성:  음색 모드별 오실레이터 주 파수 배율을 오디오"/>
          <p:cNvSpPr txBox="1"/>
          <p:nvPr/>
        </p:nvSpPr>
        <p:spPr>
          <a:xfrm>
            <a:off x="3441700" y="4146649"/>
            <a:ext cx="2335709" cy="344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75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실시간 배음 합성:</a:t>
            </a: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음색 모드별 오실레이터 주</a:t>
            </a:r>
            <a:br>
              <a:rPr lang="en-US" sz="875"/>
            </a:b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파수 배율을 오디오 파이프라인에 반영</a:t>
            </a:r>
            <a:endParaRPr lang="en-US" sz="875" dirty="0"/>
          </a:p>
        </p:txBody>
      </p:sp>
      <p:sp>
        <p:nvSpPr>
          <p:cNvPr id="39" name="Rounded Rectangle"/>
          <p:cNvSpPr/>
          <p:nvPr/>
        </p:nvSpPr>
        <p:spPr>
          <a:xfrm>
            <a:off x="3441700" y="5373688"/>
            <a:ext cx="2419350" cy="239713"/>
          </a:xfrm>
          <a:prstGeom prst="roundRect">
            <a:avLst>
              <a:gd name="adj" fmla="val 1589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0" name="Text: ✓ 12 Key &amp; 3 Color Presets"/>
          <p:cNvSpPr txBox="1"/>
          <p:nvPr/>
        </p:nvSpPr>
        <p:spPr>
          <a:xfrm>
            <a:off x="3517900" y="5413375"/>
            <a:ext cx="1195784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5" b="1" spc="-4" dirty="0">
                <a:solidFill>
                  <a:srgbClr val="0284C7"/>
                </a:solidFill>
                <a:latin typeface="Segoe UI"/>
                <a:ea typeface="Segoe UI"/>
                <a:cs typeface="Segoe UI"/>
              </a:rPr>
              <a:t>✓ 12 Key &amp; 3 Color Presets</a:t>
            </a:r>
            <a:endParaRPr lang="en-US" sz="725" dirty="0"/>
          </a:p>
        </p:txBody>
      </p:sp>
      <p:sp>
        <p:nvSpPr>
          <p:cNvPr id="41" name="Rounded Rectangle"/>
          <p:cNvSpPr/>
          <p:nvPr/>
        </p:nvSpPr>
        <p:spPr>
          <a:xfrm>
            <a:off x="6159500" y="2512318"/>
            <a:ext cx="2762250" cy="3259832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sx="99080" sy="99221" algn="ctr" rotWithShape="0">
              <a:srgbClr val="000000">
                <a:alpha val="5000"/>
              </a:srgbClr>
            </a:outerShdw>
          </a:effectLst>
        </p:spPr>
      </p:sp>
      <p:sp>
        <p:nvSpPr>
          <p:cNvPr id="42" name="Border"/>
          <p:cNvSpPr/>
          <p:nvPr/>
        </p:nvSpPr>
        <p:spPr>
          <a:xfrm>
            <a:off x="6159500" y="2512318"/>
            <a:ext cx="276225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3" name="Border"/>
          <p:cNvSpPr/>
          <p:nvPr/>
        </p:nvSpPr>
        <p:spPr>
          <a:xfrm>
            <a:off x="8915400" y="2512318"/>
            <a:ext cx="6350" cy="3259832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4" name="Border"/>
          <p:cNvSpPr/>
          <p:nvPr/>
        </p:nvSpPr>
        <p:spPr>
          <a:xfrm>
            <a:off x="6159500" y="5765800"/>
            <a:ext cx="276225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5" name="Border"/>
          <p:cNvSpPr/>
          <p:nvPr/>
        </p:nvSpPr>
        <p:spPr>
          <a:xfrm>
            <a:off x="6159500" y="2512318"/>
            <a:ext cx="6350" cy="3259832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6" name="Rounded Rectangle"/>
          <p:cNvSpPr/>
          <p:nvPr/>
        </p:nvSpPr>
        <p:spPr>
          <a:xfrm>
            <a:off x="6334125" y="2705993"/>
            <a:ext cx="1086743" cy="238125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 cap="flat" cmpd="sng" algn="ctr">
            <a:solidFill>
              <a:srgbClr val="86EFAC"/>
            </a:solidFill>
            <a:miter lim="800000"/>
          </a:ln>
        </p:spPr>
      </p:sp>
      <p:sp>
        <p:nvSpPr>
          <p:cNvPr id="47" name="Text: INTERACTIVE HUD"/>
          <p:cNvSpPr txBox="1"/>
          <p:nvPr/>
        </p:nvSpPr>
        <p:spPr>
          <a:xfrm>
            <a:off x="6438900" y="2744093"/>
            <a:ext cx="877193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15803D"/>
                </a:solidFill>
                <a:latin typeface="Segoe UI"/>
                <a:ea typeface="Segoe UI"/>
                <a:cs typeface="Segoe UI"/>
              </a:rPr>
              <a:t>INTERACTIVE HUD</a:t>
            </a:r>
            <a:endParaRPr lang="en-US" sz="750" dirty="0"/>
          </a:p>
        </p:txBody>
      </p:sp>
      <p:sp>
        <p:nvSpPr>
          <p:cNvPr id="48" name="Text: 03"/>
          <p:cNvSpPr txBox="1"/>
          <p:nvPr/>
        </p:nvSpPr>
        <p:spPr>
          <a:xfrm>
            <a:off x="8640862" y="2744093"/>
            <a:ext cx="109438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03</a:t>
            </a:r>
            <a:endParaRPr lang="en-US" sz="750" dirty="0"/>
          </a:p>
        </p:txBody>
      </p:sp>
      <p:sp>
        <p:nvSpPr>
          <p:cNvPr id="49" name="Text: 초보자를 위한 실시간 가이드"/>
          <p:cNvSpPr txBox="1"/>
          <p:nvPr/>
        </p:nvSpPr>
        <p:spPr>
          <a:xfrm>
            <a:off x="6330950" y="3020318"/>
            <a:ext cx="1899047" cy="2190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초보자를 위한 실시간 가이드</a:t>
            </a:r>
            <a:endParaRPr lang="en-US" sz="1150" dirty="0"/>
          </a:p>
        </p:txBody>
      </p:sp>
      <p:sp>
        <p:nvSpPr>
          <p:cNvPr id="50" name="Text: •  화음 매핑 HUD:  가이드 버튼 클릭 시 손가락- 화음표(도, 레"/>
          <p:cNvSpPr txBox="1"/>
          <p:nvPr/>
        </p:nvSpPr>
        <p:spPr>
          <a:xfrm>
            <a:off x="6330950" y="3330674"/>
            <a:ext cx="2335609" cy="344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75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화음 매핑 HUD:</a:t>
            </a: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가이드 버튼 클릭 시 손가락-</a:t>
            </a:r>
            <a:br>
              <a:rPr lang="en-US" sz="875"/>
            </a:b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화음표(도, 레, 미...)가 반투명 오버레이</a:t>
            </a:r>
            <a:endParaRPr lang="en-US" sz="875" dirty="0"/>
          </a:p>
        </p:txBody>
      </p:sp>
      <p:sp>
        <p:nvSpPr>
          <p:cNvPr id="51" name="Text: •  직관적 즉석 연주:  코드를 모르는 사용자도 손 모양을 보며 누구나"/>
          <p:cNvSpPr txBox="1"/>
          <p:nvPr/>
        </p:nvSpPr>
        <p:spPr>
          <a:xfrm>
            <a:off x="6330950" y="3738662"/>
            <a:ext cx="2335709" cy="344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75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직관적 즉석 연주:</a:t>
            </a: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코드를 모르는 사용자도 손</a:t>
            </a:r>
            <a:br>
              <a:rPr lang="en-US" sz="875"/>
            </a:b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모양을 보며 누구나 즉시 쉽게 연주</a:t>
            </a:r>
            <a:endParaRPr lang="en-US" sz="875" dirty="0"/>
          </a:p>
        </p:txBody>
      </p:sp>
      <p:sp>
        <p:nvSpPr>
          <p:cNvPr id="52" name="Text: •  제스처 피드백:  왼손 제스처 변화에 따라 현재 잡힌 코드가 화면에"/>
          <p:cNvSpPr txBox="1"/>
          <p:nvPr/>
        </p:nvSpPr>
        <p:spPr>
          <a:xfrm>
            <a:off x="6330950" y="4146649"/>
            <a:ext cx="2335609" cy="344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75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제스처 피드백:</a:t>
            </a: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왼손 제스처 변화에 따라 현재</a:t>
            </a:r>
            <a:br>
              <a:rPr lang="en-US" sz="875"/>
            </a:b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잡힌 코드가 화면에 실시간 점등</a:t>
            </a:r>
            <a:endParaRPr lang="en-US" sz="875" dirty="0"/>
          </a:p>
        </p:txBody>
      </p:sp>
      <p:sp>
        <p:nvSpPr>
          <p:cNvPr id="53" name="Rounded Rectangle"/>
          <p:cNvSpPr/>
          <p:nvPr/>
        </p:nvSpPr>
        <p:spPr>
          <a:xfrm>
            <a:off x="6330950" y="5373688"/>
            <a:ext cx="2419350" cy="239713"/>
          </a:xfrm>
          <a:prstGeom prst="roundRect">
            <a:avLst>
              <a:gd name="adj" fmla="val 1589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54" name="Text: ✓ On-Screen Interactive Guide"/>
          <p:cNvSpPr txBox="1"/>
          <p:nvPr/>
        </p:nvSpPr>
        <p:spPr>
          <a:xfrm>
            <a:off x="6407150" y="5413375"/>
            <a:ext cx="1323975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5" b="1" spc="-4" dirty="0">
                <a:solidFill>
                  <a:srgbClr val="16A34A"/>
                </a:solidFill>
                <a:latin typeface="Segoe UI"/>
                <a:ea typeface="Segoe UI"/>
                <a:cs typeface="Segoe UI"/>
              </a:rPr>
              <a:t>✓ On-Screen Interactive Guide</a:t>
            </a:r>
            <a:endParaRPr lang="en-US" sz="725" dirty="0"/>
          </a:p>
        </p:txBody>
      </p:sp>
      <p:sp>
        <p:nvSpPr>
          <p:cNvPr id="55" name="Rounded Rectangle"/>
          <p:cNvSpPr/>
          <p:nvPr/>
        </p:nvSpPr>
        <p:spPr>
          <a:xfrm>
            <a:off x="9048750" y="2512318"/>
            <a:ext cx="2762250" cy="3259832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sx="99080" sy="99221" algn="ctr" rotWithShape="0">
              <a:srgbClr val="000000">
                <a:alpha val="5000"/>
              </a:srgbClr>
            </a:outerShdw>
          </a:effectLst>
        </p:spPr>
      </p:sp>
      <p:sp>
        <p:nvSpPr>
          <p:cNvPr id="56" name="Border"/>
          <p:cNvSpPr/>
          <p:nvPr/>
        </p:nvSpPr>
        <p:spPr>
          <a:xfrm>
            <a:off x="9048750" y="2512318"/>
            <a:ext cx="276225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7" name="Border"/>
          <p:cNvSpPr/>
          <p:nvPr/>
        </p:nvSpPr>
        <p:spPr>
          <a:xfrm>
            <a:off x="11804650" y="2512318"/>
            <a:ext cx="6350" cy="3259832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8" name="Border"/>
          <p:cNvSpPr/>
          <p:nvPr/>
        </p:nvSpPr>
        <p:spPr>
          <a:xfrm>
            <a:off x="9048750" y="5765800"/>
            <a:ext cx="276225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9" name="Border"/>
          <p:cNvSpPr/>
          <p:nvPr/>
        </p:nvSpPr>
        <p:spPr>
          <a:xfrm>
            <a:off x="9048750" y="2512318"/>
            <a:ext cx="6350" cy="3259832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0" name="Rounded Rectangle"/>
          <p:cNvSpPr/>
          <p:nvPr/>
        </p:nvSpPr>
        <p:spPr>
          <a:xfrm>
            <a:off x="9223375" y="2705993"/>
            <a:ext cx="939998" cy="238125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6350" cap="flat" cmpd="sng" algn="ctr">
            <a:solidFill>
              <a:srgbClr val="FDE68A"/>
            </a:solidFill>
            <a:miter lim="800000"/>
          </a:ln>
        </p:spPr>
      </p:sp>
      <p:sp>
        <p:nvSpPr>
          <p:cNvPr id="61" name="Text: LEVEL &amp; FILTER"/>
          <p:cNvSpPr txBox="1"/>
          <p:nvPr/>
        </p:nvSpPr>
        <p:spPr>
          <a:xfrm>
            <a:off x="9328150" y="2744093"/>
            <a:ext cx="730448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D97706"/>
                </a:solidFill>
                <a:latin typeface="Segoe UI"/>
                <a:ea typeface="Segoe UI"/>
                <a:cs typeface="Segoe UI"/>
              </a:rPr>
              <a:t>LEVEL &amp; FILTER</a:t>
            </a:r>
            <a:endParaRPr lang="en-US" sz="750" dirty="0"/>
          </a:p>
        </p:txBody>
      </p:sp>
      <p:sp>
        <p:nvSpPr>
          <p:cNvPr id="62" name="Text: 04"/>
          <p:cNvSpPr txBox="1"/>
          <p:nvPr/>
        </p:nvSpPr>
        <p:spPr>
          <a:xfrm>
            <a:off x="11530112" y="2744093"/>
            <a:ext cx="109438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04</a:t>
            </a:r>
            <a:endParaRPr lang="en-US" sz="750" dirty="0"/>
          </a:p>
        </p:txBody>
      </p:sp>
      <p:sp>
        <p:nvSpPr>
          <p:cNvPr id="63" name="Text: 볼륨 슬라이더 &amp; LED 미터"/>
          <p:cNvSpPr txBox="1"/>
          <p:nvPr/>
        </p:nvSpPr>
        <p:spPr>
          <a:xfrm>
            <a:off x="9220200" y="3020318"/>
            <a:ext cx="1753195" cy="2190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볼륨 슬라이더 &amp; LED 미터</a:t>
            </a:r>
            <a:endParaRPr lang="en-US" sz="1150" dirty="0"/>
          </a:p>
        </p:txBody>
      </p:sp>
      <p:sp>
        <p:nvSpPr>
          <p:cNvPr id="64" name="Text: •  마스터 볼륨:  0%부터 150%(사운드 증폭)까지 마우스 슬라이더"/>
          <p:cNvSpPr txBox="1"/>
          <p:nvPr/>
        </p:nvSpPr>
        <p:spPr>
          <a:xfrm>
            <a:off x="9220200" y="3330674"/>
            <a:ext cx="2310507" cy="344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75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마스터 볼륨:</a:t>
            </a: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0%부터 150%(사운드 증폭)까지</a:t>
            </a:r>
            <a:br>
              <a:rPr lang="en-US" sz="875"/>
            </a:b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마우스 슬라이더로 출력 음량 조절</a:t>
            </a:r>
            <a:endParaRPr lang="en-US" sz="875" dirty="0"/>
          </a:p>
        </p:txBody>
      </p:sp>
      <p:sp>
        <p:nvSpPr>
          <p:cNvPr id="65" name="Text: •  네온 LED 미터:  손목 기울기에 따른 음량 레벨 과 필터 개방도"/>
          <p:cNvSpPr txBox="1"/>
          <p:nvPr/>
        </p:nvSpPr>
        <p:spPr>
          <a:xfrm>
            <a:off x="9220200" y="3738662"/>
            <a:ext cx="2351088" cy="344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75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네온 LED 미터:</a:t>
            </a: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손목 기울기에 따른 음량 레벨</a:t>
            </a:r>
            <a:br>
              <a:rPr lang="en-US" sz="875"/>
            </a:b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과 필터 개방도 실시간 시각화</a:t>
            </a:r>
            <a:endParaRPr lang="en-US" sz="875" dirty="0"/>
          </a:p>
        </p:txBody>
      </p:sp>
      <p:sp>
        <p:nvSpPr>
          <p:cNvPr id="66" name="Text: •  필터 상태 HUD:  오른손 틸트 각도에 따른 로우 패스 필터 개방"/>
          <p:cNvSpPr txBox="1"/>
          <p:nvPr/>
        </p:nvSpPr>
        <p:spPr>
          <a:xfrm>
            <a:off x="9220200" y="4146649"/>
            <a:ext cx="2401094" cy="3444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75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필터 상태 HUD:</a:t>
            </a: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오른손 틸트 각도에 따른 로우</a:t>
            </a:r>
            <a:br>
              <a:rPr lang="en-US" sz="875"/>
            </a:br>
            <a:r>
              <a:rPr lang="en-US" sz="875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패스 필터 개방치(+7%) 실시간 표시</a:t>
            </a:r>
            <a:endParaRPr lang="en-US" sz="875" dirty="0"/>
          </a:p>
        </p:txBody>
      </p:sp>
      <p:sp>
        <p:nvSpPr>
          <p:cNvPr id="67" name="Rounded Rectangle"/>
          <p:cNvSpPr/>
          <p:nvPr/>
        </p:nvSpPr>
        <p:spPr>
          <a:xfrm>
            <a:off x="9220200" y="5373688"/>
            <a:ext cx="2419350" cy="239713"/>
          </a:xfrm>
          <a:prstGeom prst="roundRect">
            <a:avLst>
              <a:gd name="adj" fmla="val 1589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68" name="Text: ✓ Dynamic Output &amp; Filter HUD"/>
          <p:cNvSpPr txBox="1"/>
          <p:nvPr/>
        </p:nvSpPr>
        <p:spPr>
          <a:xfrm>
            <a:off x="9296400" y="5413375"/>
            <a:ext cx="1413570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5" b="1" spc="-4" dirty="0">
                <a:solidFill>
                  <a:srgbClr val="D97706"/>
                </a:solidFill>
                <a:latin typeface="Segoe UI"/>
                <a:ea typeface="Segoe UI"/>
                <a:cs typeface="Segoe UI"/>
              </a:rPr>
              <a:t>✓ Dynamic Output &amp; Filter HUD</a:t>
            </a:r>
            <a:endParaRPr lang="en-US" sz="725" dirty="0"/>
          </a:p>
        </p:txBody>
      </p:sp>
      <p:sp>
        <p:nvSpPr>
          <p:cNvPr id="69" name="Rounded Rectangle"/>
          <p:cNvSpPr/>
          <p:nvPr/>
        </p:nvSpPr>
        <p:spPr>
          <a:xfrm>
            <a:off x="384175" y="5876925"/>
            <a:ext cx="11423650" cy="454025"/>
          </a:xfrm>
          <a:prstGeom prst="roundRect">
            <a:avLst>
              <a:gd name="adj" fmla="val 18881"/>
            </a:avLst>
          </a:prstGeom>
          <a:solidFill>
            <a:srgbClr val="FFFFFF"/>
          </a:solidFill>
          <a:ln w="6350" cap="flat" cmpd="sng" algn="ctr">
            <a:solidFill>
              <a:srgbClr val="CBD5E1"/>
            </a:solidFill>
            <a:miter lim="800000"/>
          </a:ln>
          <a:effectLst>
            <a:outerShdw blurRad="76200" dist="25400" dir="5400000" sx="100000" sy="100000" algn="ctr" rotWithShape="0">
              <a:srgbClr val="000000">
                <a:alpha val="3000"/>
              </a:srgbClr>
            </a:outerShdw>
          </a:effectLst>
        </p:spPr>
      </p:sp>
      <p:sp>
        <p:nvSpPr>
          <p:cNvPr id="70" name="Text: 💡  통합 제어 경험:  복잡한 터미널 명령이나 오디오 장비 없이, 단"/>
          <p:cNvSpPr txBox="1"/>
          <p:nvPr/>
        </p:nvSpPr>
        <p:spPr>
          <a:xfrm>
            <a:off x="565150" y="6005513"/>
            <a:ext cx="7609979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💡 </a:t>
            </a:r>
            <a:r>
              <a:rPr lang="en-US" sz="900" b="1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통합 제어 경험:</a:t>
            </a:r>
            <a:r>
              <a:rPr lang="en-US" sz="900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 복잡한 터미널 명령이나 오디오 장비 없이, 단 하나의 상단 바에서 </a:t>
            </a:r>
            <a:r>
              <a:rPr lang="en-US" sz="900" b="1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AI 모델 교체 ➔ 사운드 조율 ➔ 실시간 모니터링</a:t>
            </a:r>
            <a:r>
              <a:rPr lang="en-US" sz="900" spc="-4" dirty="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이 즉각 완결됨</a:t>
            </a:r>
            <a:endParaRPr lang="en-US" sz="900" dirty="0"/>
          </a:p>
        </p:txBody>
      </p:sp>
      <p:sp>
        <p:nvSpPr>
          <p:cNvPr id="71" name="Rounded Rectangle"/>
          <p:cNvSpPr/>
          <p:nvPr/>
        </p:nvSpPr>
        <p:spPr>
          <a:xfrm>
            <a:off x="10116145" y="5984875"/>
            <a:ext cx="1507530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72" name="Text: ALL-IN-ONE CONTROL BAR"/>
          <p:cNvSpPr txBox="1"/>
          <p:nvPr/>
        </p:nvSpPr>
        <p:spPr>
          <a:xfrm>
            <a:off x="10220920" y="6022975"/>
            <a:ext cx="1297980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ALL-IN-ONE CONTROL BAR</a:t>
            </a:r>
            <a:endParaRPr lang="en-US" sz="750" dirty="0"/>
          </a:p>
        </p:txBody>
      </p:sp>
      <p:sp>
        <p:nvSpPr>
          <p:cNvPr id="73" name="Border"/>
          <p:cNvSpPr/>
          <p:nvPr/>
        </p:nvSpPr>
        <p:spPr>
          <a:xfrm>
            <a:off x="381000" y="6334125"/>
            <a:ext cx="11430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4" name="Text: AuraSynth: Computer Vision &amp; Interactive"/>
          <p:cNvSpPr txBox="1"/>
          <p:nvPr/>
        </p:nvSpPr>
        <p:spPr>
          <a:xfrm>
            <a:off x="381000" y="6451600"/>
            <a:ext cx="3247628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AuraSynth: Computer Vision &amp; Interactive Web Audio Research</a:t>
            </a:r>
            <a:endParaRPr lang="en-US" sz="850" dirty="0"/>
          </a:p>
        </p:txBody>
      </p:sp>
      <p:sp>
        <p:nvSpPr>
          <p:cNvPr id="75" name="Rounded Rectangle"/>
          <p:cNvSpPr/>
          <p:nvPr/>
        </p:nvSpPr>
        <p:spPr>
          <a:xfrm>
            <a:off x="11237714" y="6429375"/>
            <a:ext cx="573286" cy="225425"/>
          </a:xfrm>
          <a:prstGeom prst="roundRect">
            <a:avLst>
              <a:gd name="adj" fmla="val 22535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76" name="Text: 11 / 12"/>
          <p:cNvSpPr txBox="1"/>
          <p:nvPr/>
        </p:nvSpPr>
        <p:spPr>
          <a:xfrm>
            <a:off x="11339314" y="6451600"/>
            <a:ext cx="37008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11 / 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4175" y="244475"/>
            <a:ext cx="1681163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3" name="Text: PART 06 • 결론 &amp; 프로젝트 성과"/>
          <p:cNvSpPr txBox="1"/>
          <p:nvPr/>
        </p:nvSpPr>
        <p:spPr>
          <a:xfrm>
            <a:off x="488950" y="282575"/>
            <a:ext cx="1471613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PART 06 • 결론 &amp; 프로젝트 성과</a:t>
            </a:r>
            <a:endParaRPr lang="en-US" sz="750" dirty="0"/>
          </a:p>
        </p:txBody>
      </p:sp>
      <p:sp>
        <p:nvSpPr>
          <p:cNvPr id="4" name="Text: AuraSynth Engine Architecture"/>
          <p:cNvSpPr txBox="1"/>
          <p:nvPr/>
        </p:nvSpPr>
        <p:spPr>
          <a:xfrm>
            <a:off x="2157413" y="265113"/>
            <a:ext cx="1658739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AuraSynth Engine Architecture</a:t>
            </a:r>
            <a:endParaRPr lang="en-US" sz="900" dirty="0"/>
          </a:p>
        </p:txBody>
      </p:sp>
      <p:sp>
        <p:nvSpPr>
          <p:cNvPr id="5" name="Text: Intel Geti &amp; OpenVINO 활용 성과 및 고찰"/>
          <p:cNvSpPr txBox="1"/>
          <p:nvPr/>
        </p:nvSpPr>
        <p:spPr>
          <a:xfrm>
            <a:off x="381000" y="555625"/>
            <a:ext cx="5882481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75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Intel Geti &amp; OpenVINO 활용 성과 및 고찰</a:t>
            </a:r>
            <a:endParaRPr lang="en-US" sz="2500" dirty="0"/>
          </a:p>
        </p:txBody>
      </p:sp>
      <p:sp>
        <p:nvSpPr>
          <p:cNvPr id="6" name="Text: Intel Geti를 통한 엣지 AI 프로토타이핑부터 OpenVINO G"/>
          <p:cNvSpPr txBox="1"/>
          <p:nvPr/>
        </p:nvSpPr>
        <p:spPr>
          <a:xfrm>
            <a:off x="381000" y="948055"/>
            <a:ext cx="7429401" cy="2044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4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Intel Geti를 통한 엣지 AI 프로토타이핑부터 OpenVINO GPU 런타임 가속, 그리고 실전 악기 구현까지의 핵심 결론</a:t>
            </a:r>
            <a:endParaRPr lang="en-US" sz="1150" dirty="0"/>
          </a:p>
        </p:txBody>
      </p:sp>
      <p:sp>
        <p:nvSpPr>
          <p:cNvPr id="7" name="Rounded Rectangle"/>
          <p:cNvSpPr/>
          <p:nvPr/>
        </p:nvSpPr>
        <p:spPr>
          <a:xfrm>
            <a:off x="384175" y="1277541"/>
            <a:ext cx="5868789" cy="5053409"/>
          </a:xfrm>
          <a:prstGeom prst="roundRect">
            <a:avLst>
              <a:gd name="adj" fmla="val 2199"/>
            </a:avLst>
          </a:prstGeom>
          <a:solidFill>
            <a:srgbClr val="FFFFFF"/>
          </a:solidFill>
          <a:ln w="6350" cap="flat" cmpd="sng" algn="ctr">
            <a:solidFill>
              <a:srgbClr val="E2E8F0"/>
            </a:solidFill>
            <a:miter lim="800000"/>
          </a:ln>
          <a:effectLst>
            <a:outerShdw blurRad="101600" dist="50800" dir="5400000" sx="99567" sy="99497" algn="ctr" rotWithShape="0">
              <a:srgbClr val="000000">
                <a:alpha val="5000"/>
              </a:srgbClr>
            </a:outerShdw>
          </a:effectLst>
        </p:spPr>
      </p:sp>
      <p:sp>
        <p:nvSpPr>
          <p:cNvPr id="8" name="Rounded Rectangle"/>
          <p:cNvSpPr/>
          <p:nvPr/>
        </p:nvSpPr>
        <p:spPr>
          <a:xfrm>
            <a:off x="581025" y="1450578"/>
            <a:ext cx="993775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9" name="Text: KEY TAKEAWAYS"/>
          <p:cNvSpPr txBox="1"/>
          <p:nvPr/>
        </p:nvSpPr>
        <p:spPr>
          <a:xfrm>
            <a:off x="685800" y="1488678"/>
            <a:ext cx="784225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KEY TAKEAWAYS</a:t>
            </a:r>
            <a:endParaRPr lang="en-US" sz="750" dirty="0"/>
          </a:p>
        </p:txBody>
      </p:sp>
      <p:sp>
        <p:nvSpPr>
          <p:cNvPr id="10" name="Text: Intel Geti &amp; OpenVINO 활용 핵심 성과"/>
          <p:cNvSpPr txBox="1"/>
          <p:nvPr/>
        </p:nvSpPr>
        <p:spPr>
          <a:xfrm>
            <a:off x="1641475" y="1426766"/>
            <a:ext cx="2979043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Intel Geti &amp; OpenVINO 활용 핵심 성과</a:t>
            </a:r>
            <a:endParaRPr lang="en-US" sz="1300" dirty="0"/>
          </a:p>
        </p:txBody>
      </p:sp>
      <p:sp>
        <p:nvSpPr>
          <p:cNvPr id="11" name="Rounded Rectangle"/>
          <p:cNvSpPr/>
          <p:nvPr/>
        </p:nvSpPr>
        <p:spPr>
          <a:xfrm>
            <a:off x="577850" y="1807766"/>
            <a:ext cx="5481439" cy="110490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2" name="Border"/>
          <p:cNvSpPr/>
          <p:nvPr/>
        </p:nvSpPr>
        <p:spPr>
          <a:xfrm>
            <a:off x="577850" y="1807766"/>
            <a:ext cx="5481439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3" name="Border"/>
          <p:cNvSpPr/>
          <p:nvPr/>
        </p:nvSpPr>
        <p:spPr>
          <a:xfrm>
            <a:off x="6052939" y="1807766"/>
            <a:ext cx="6350" cy="11049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4" name="Border"/>
          <p:cNvSpPr/>
          <p:nvPr/>
        </p:nvSpPr>
        <p:spPr>
          <a:xfrm>
            <a:off x="577850" y="2906316"/>
            <a:ext cx="5481439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5" name="Border"/>
          <p:cNvSpPr/>
          <p:nvPr/>
        </p:nvSpPr>
        <p:spPr>
          <a:xfrm>
            <a:off x="577850" y="1807766"/>
            <a:ext cx="38100" cy="11049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6" name="Text: 1. Intel Geti: 노코드(No-Code) 훈련의 생산성과 실무적"/>
          <p:cNvSpPr txBox="1"/>
          <p:nvPr/>
        </p:nvSpPr>
        <p:spPr>
          <a:xfrm>
            <a:off x="730250" y="1896666"/>
            <a:ext cx="3780334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1. Intel Geti: 노코드(No-Code) 훈련의 생산성과 실무적 한계 파악</a:t>
            </a:r>
            <a:endParaRPr lang="en-US" sz="1000" dirty="0"/>
          </a:p>
        </p:txBody>
      </p:sp>
      <p:sp>
        <p:nvSpPr>
          <p:cNvPr id="17" name="Text: •  웹 GUI 프로토타이핑:  복잡한 코드 없이 브라우저에서 라벨링부터"/>
          <p:cNvSpPr txBox="1"/>
          <p:nvPr/>
        </p:nvSpPr>
        <p:spPr>
          <a:xfrm>
            <a:off x="730250" y="2128441"/>
            <a:ext cx="5108773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5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웹 GUI 프로토타이핑:</a:t>
            </a: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복잡한 코드 없이 브라우저에서 라벨링부터 경량 모델(RTMPose) 학습·배포까지 단</a:t>
            </a:r>
            <a:br>
              <a:rPr lang="en-US" sz="850"/>
            </a:b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번에 완료하는 Geti의 뛰어난 생산성을 경험</a:t>
            </a:r>
            <a:endParaRPr lang="en-US" sz="850" dirty="0"/>
          </a:p>
        </p:txBody>
      </p:sp>
      <p:sp>
        <p:nvSpPr>
          <p:cNvPr id="18" name="Text: •  실무적 제약 조건 분석:  소표본 중심 툴의 1.8만 장 라벨 유실"/>
          <p:cNvSpPr txBox="1"/>
          <p:nvPr/>
        </p:nvSpPr>
        <p:spPr>
          <a:xfrm>
            <a:off x="730250" y="2477691"/>
            <a:ext cx="5129213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5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실무적 제약 조건 분석:</a:t>
            </a: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소표본 중심 툴의 1.8만 장 라벨 유실 한계와 2D 자가 가림 문제를 분석하고, 터미</a:t>
            </a:r>
            <a:br>
              <a:rPr lang="en-US" sz="850"/>
            </a:b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널 직접 학습으로 보완하며 엔지니어링 시야 확장</a:t>
            </a:r>
            <a:endParaRPr lang="en-US" sz="850" dirty="0"/>
          </a:p>
        </p:txBody>
      </p:sp>
      <p:sp>
        <p:nvSpPr>
          <p:cNvPr id="19" name="Rounded Rectangle"/>
          <p:cNvSpPr/>
          <p:nvPr/>
        </p:nvSpPr>
        <p:spPr>
          <a:xfrm>
            <a:off x="577850" y="3007916"/>
            <a:ext cx="5481439" cy="11176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0" name="Border"/>
          <p:cNvSpPr/>
          <p:nvPr/>
        </p:nvSpPr>
        <p:spPr>
          <a:xfrm>
            <a:off x="577850" y="3007916"/>
            <a:ext cx="5481439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1" name="Border"/>
          <p:cNvSpPr/>
          <p:nvPr/>
        </p:nvSpPr>
        <p:spPr>
          <a:xfrm>
            <a:off x="6052939" y="3007916"/>
            <a:ext cx="6350" cy="11176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2" name="Border"/>
          <p:cNvSpPr/>
          <p:nvPr/>
        </p:nvSpPr>
        <p:spPr>
          <a:xfrm>
            <a:off x="577850" y="4119166"/>
            <a:ext cx="5481439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3" name="Border"/>
          <p:cNvSpPr/>
          <p:nvPr/>
        </p:nvSpPr>
        <p:spPr>
          <a:xfrm>
            <a:off x="577850" y="3007916"/>
            <a:ext cx="38100" cy="1117600"/>
          </a:xfrm>
          <a:prstGeom prst="rect">
            <a:avLst/>
          </a:prstGeom>
          <a:solidFill>
            <a:srgbClr val="0284C7"/>
          </a:solidFill>
          <a:ln>
            <a:noFill/>
          </a:ln>
        </p:spPr>
      </p:sp>
      <p:sp>
        <p:nvSpPr>
          <p:cNvPr id="24" name="Text: 2. OpenVINO: GPU 하드웨어 가속을 통한 실시간 초고속 추론 "/>
          <p:cNvSpPr txBox="1"/>
          <p:nvPr/>
        </p:nvSpPr>
        <p:spPr>
          <a:xfrm>
            <a:off x="730250" y="3096816"/>
            <a:ext cx="3846016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2. OpenVINO: GPU 하드웨어 가속을 통한 실시간 초고속 추론 실현</a:t>
            </a:r>
            <a:endParaRPr lang="en-US" sz="1000" dirty="0"/>
          </a:p>
        </p:txBody>
      </p:sp>
      <p:sp>
        <p:nvSpPr>
          <p:cNvPr id="25" name="Text: •  GPU 런타임 가속:  OpenVINO IR 포맷(FP16/FP32"/>
          <p:cNvSpPr txBox="1"/>
          <p:nvPr/>
        </p:nvSpPr>
        <p:spPr>
          <a:xfrm>
            <a:off x="730250" y="3328591"/>
            <a:ext cx="5115322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5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GPU 런타임 가속:</a:t>
            </a: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OpenVINO IR 포맷(FP16/FP32) 변환 및 GPU 하드웨어 가속을 통해 밀리초(ms) 단위의</a:t>
            </a:r>
            <a:br>
              <a:rPr lang="en-US" sz="850"/>
            </a:b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초저지연 실시간 추론 달성</a:t>
            </a:r>
            <a:endParaRPr lang="en-US" sz="850" dirty="0"/>
          </a:p>
        </p:txBody>
      </p:sp>
      <p:sp>
        <p:nvSpPr>
          <p:cNvPr id="26" name="Text: •  실시간 스트리밍 연동:   bridge_openvino.py  기반"/>
          <p:cNvSpPr txBox="1"/>
          <p:nvPr/>
        </p:nvSpPr>
        <p:spPr>
          <a:xfrm>
            <a:off x="730250" y="3665141"/>
            <a:ext cx="5106194" cy="3492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5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실시간 스트리밍 연동:</a:t>
            </a: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850" b="1" spc="-4" dirty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bridge_openvino.py</a:t>
            </a: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기반의 파이썬-웹소켓 브릿지를 구축하여 21개 관절 좌표</a:t>
            </a:r>
            <a:br>
              <a:rPr lang="en-US" sz="850"/>
            </a:b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를 악기 UI로 지연 없이 고속 전송</a:t>
            </a:r>
            <a:endParaRPr lang="en-US" sz="850" dirty="0"/>
          </a:p>
        </p:txBody>
      </p:sp>
      <p:sp>
        <p:nvSpPr>
          <p:cNvPr id="27" name="Rounded Rectangle"/>
          <p:cNvSpPr/>
          <p:nvPr/>
        </p:nvSpPr>
        <p:spPr>
          <a:xfrm>
            <a:off x="577850" y="4220766"/>
            <a:ext cx="5481439" cy="110490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8" name="Border"/>
          <p:cNvSpPr/>
          <p:nvPr/>
        </p:nvSpPr>
        <p:spPr>
          <a:xfrm>
            <a:off x="577850" y="4220766"/>
            <a:ext cx="5481439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9" name="Border"/>
          <p:cNvSpPr/>
          <p:nvPr/>
        </p:nvSpPr>
        <p:spPr>
          <a:xfrm>
            <a:off x="6052939" y="4220766"/>
            <a:ext cx="6350" cy="11049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0" name="Border"/>
          <p:cNvSpPr/>
          <p:nvPr/>
        </p:nvSpPr>
        <p:spPr>
          <a:xfrm>
            <a:off x="577850" y="5319316"/>
            <a:ext cx="5481439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1" name="Border"/>
          <p:cNvSpPr/>
          <p:nvPr/>
        </p:nvSpPr>
        <p:spPr>
          <a:xfrm>
            <a:off x="577850" y="4220766"/>
            <a:ext cx="38100" cy="11049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32" name="Text: 3. Geti·OpenVINO 중심의 3대 모델 비교 &amp; 독립형 악기 완"/>
          <p:cNvSpPr txBox="1"/>
          <p:nvPr/>
        </p:nvSpPr>
        <p:spPr>
          <a:xfrm>
            <a:off x="730250" y="4309666"/>
            <a:ext cx="350351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3. Geti·OpenVINO 중심의 3대 모델 비교 &amp; 독립형 악기 완성</a:t>
            </a:r>
            <a:endParaRPr lang="en-US" sz="1000" dirty="0"/>
          </a:p>
        </p:txBody>
      </p:sp>
      <p:sp>
        <p:nvSpPr>
          <p:cNvPr id="33" name="Text: •  멀티 비전 모델 비교:  [Geti OpenVINO(GPU 가속 최"/>
          <p:cNvSpPr txBox="1"/>
          <p:nvPr/>
        </p:nvSpPr>
        <p:spPr>
          <a:xfrm>
            <a:off x="730250" y="4541441"/>
            <a:ext cx="5122267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5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멀티 비전 모델 비교:</a:t>
            </a: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[Geti OpenVINO(GPU 가속 최적화)] vs [YOLOv8(대용량 훈련)] vs [MediaPipe(3D 좌</a:t>
            </a:r>
            <a:br>
              <a:rPr lang="en-US" sz="850"/>
            </a:b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표)]를 다각도로 비교 분석하여 AI 비전 실무 지식 확립</a:t>
            </a:r>
            <a:endParaRPr lang="en-US" sz="850" dirty="0"/>
          </a:p>
        </p:txBody>
      </p:sp>
      <p:sp>
        <p:nvSpPr>
          <p:cNvPr id="34" name="Text: •  독립형 데스크톱 완성:  모델 평가에 그치지 않고 일반 PC에서 더"/>
          <p:cNvSpPr txBox="1"/>
          <p:nvPr/>
        </p:nvSpPr>
        <p:spPr>
          <a:xfrm>
            <a:off x="730250" y="4890691"/>
            <a:ext cx="5168404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• </a:t>
            </a:r>
            <a:r>
              <a:rPr lang="en-US" sz="85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독립형 데스크톱 완성:</a:t>
            </a: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 모델 평가에 그치지 않고 일반 PC에서 더블클릭으로 바로 연주 가능한 완성형 제스</a:t>
            </a:r>
            <a:br>
              <a:rPr lang="en-US" sz="850"/>
            </a:br>
            <a:r>
              <a:rPr lang="en-US" sz="850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처 악기(.exe) 최종 패키징</a:t>
            </a:r>
            <a:endParaRPr lang="en-US" sz="850" dirty="0"/>
          </a:p>
        </p:txBody>
      </p:sp>
      <p:sp>
        <p:nvSpPr>
          <p:cNvPr id="35" name="Rounded Rectangle"/>
          <p:cNvSpPr/>
          <p:nvPr/>
        </p:nvSpPr>
        <p:spPr>
          <a:xfrm>
            <a:off x="577850" y="5557838"/>
            <a:ext cx="5481439" cy="604838"/>
          </a:xfrm>
          <a:prstGeom prst="roundRect">
            <a:avLst>
              <a:gd name="adj" fmla="val 10499"/>
            </a:avLst>
          </a:prstGeom>
          <a:solidFill>
            <a:srgbClr val="EFF6FF"/>
          </a:solidFill>
          <a:ln>
            <a:noFill/>
          </a:ln>
        </p:spPr>
      </p:sp>
      <p:sp>
        <p:nvSpPr>
          <p:cNvPr id="36" name="Border"/>
          <p:cNvSpPr/>
          <p:nvPr/>
        </p:nvSpPr>
        <p:spPr>
          <a:xfrm>
            <a:off x="577850" y="5557838"/>
            <a:ext cx="31750" cy="60483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7" name="Text: 💡 프로젝트 최종 결론"/>
          <p:cNvSpPr txBox="1"/>
          <p:nvPr/>
        </p:nvSpPr>
        <p:spPr>
          <a:xfrm>
            <a:off x="723900" y="5622925"/>
            <a:ext cx="1049834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spc="-4" dirty="0">
                <a:solidFill>
                  <a:srgbClr val="1E40AF"/>
                </a:solidFill>
                <a:latin typeface="Segoe UI"/>
                <a:ea typeface="Segoe UI"/>
                <a:cs typeface="Segoe UI"/>
              </a:rPr>
              <a:t>💡 프로젝트 최종 결론</a:t>
            </a:r>
            <a:endParaRPr lang="en-US" sz="825" dirty="0"/>
          </a:p>
        </p:txBody>
      </p:sp>
      <p:sp>
        <p:nvSpPr>
          <p:cNvPr id="38" name="Text: &quot;Intel Geti와 OpenVINO의 GPU 런타임 가속 기술을 실시"/>
          <p:cNvSpPr txBox="1"/>
          <p:nvPr/>
        </p:nvSpPr>
        <p:spPr>
          <a:xfrm>
            <a:off x="723900" y="5799138"/>
            <a:ext cx="5220196" cy="2762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4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"Intel Geti와 OpenVINO의 GPU 런타임 가속 기술을 실시간 인터랙티브 악기에 성공적으로 접목하여, GPU 하드웨어 성능을</a:t>
            </a:r>
            <a:br>
              <a:rPr lang="en-US" sz="750"/>
            </a:br>
            <a:r>
              <a:rPr lang="en-US" sz="750" spc="-4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극대화한 비접촉 실시간 AI 음악 시스템을 완성함"</a:t>
            </a:r>
            <a:endParaRPr lang="en-US" sz="750" dirty="0"/>
          </a:p>
        </p:txBody>
      </p:sp>
      <p:sp>
        <p:nvSpPr>
          <p:cNvPr id="39" name="Rounded Rectangle"/>
          <p:cNvSpPr/>
          <p:nvPr/>
        </p:nvSpPr>
        <p:spPr>
          <a:xfrm>
            <a:off x="6449814" y="1277541"/>
            <a:ext cx="5358011" cy="5053409"/>
          </a:xfrm>
          <a:prstGeom prst="roundRect">
            <a:avLst>
              <a:gd name="adj" fmla="val 2199"/>
            </a:avLst>
          </a:prstGeom>
          <a:solidFill>
            <a:srgbClr val="FFFFFF"/>
          </a:solidFill>
          <a:ln w="6350" cap="flat" cmpd="sng" algn="ctr">
            <a:solidFill>
              <a:srgbClr val="E2E8F0"/>
            </a:solidFill>
            <a:miter lim="800000"/>
          </a:ln>
          <a:effectLst>
            <a:outerShdw blurRad="101600" dist="50800" dir="5400000" sx="99526" sy="99497" algn="ctr" rotWithShape="0">
              <a:srgbClr val="000000">
                <a:alpha val="5000"/>
              </a:srgbClr>
            </a:outerShdw>
          </a:effectLst>
        </p:spPr>
      </p:sp>
      <p:sp>
        <p:nvSpPr>
          <p:cNvPr id="40" name="Rounded Rectangle"/>
          <p:cNvSpPr/>
          <p:nvPr/>
        </p:nvSpPr>
        <p:spPr>
          <a:xfrm>
            <a:off x="6646664" y="1450578"/>
            <a:ext cx="799108" cy="238125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6350" cap="flat" cmpd="sng" algn="ctr">
            <a:solidFill>
              <a:srgbClr val="CBD5E1"/>
            </a:solidFill>
            <a:miter lim="800000"/>
          </a:ln>
        </p:spPr>
      </p:sp>
      <p:sp>
        <p:nvSpPr>
          <p:cNvPr id="41" name="Text: REFERENCES"/>
          <p:cNvSpPr txBox="1"/>
          <p:nvPr/>
        </p:nvSpPr>
        <p:spPr>
          <a:xfrm>
            <a:off x="6751439" y="1488678"/>
            <a:ext cx="589558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REFERENCES</a:t>
            </a:r>
            <a:endParaRPr lang="en-US" sz="750" dirty="0"/>
          </a:p>
        </p:txBody>
      </p:sp>
      <p:sp>
        <p:nvSpPr>
          <p:cNvPr id="42" name="Text: 공식 출처 및 데이터베이스 링크"/>
          <p:cNvSpPr txBox="1"/>
          <p:nvPr/>
        </p:nvSpPr>
        <p:spPr>
          <a:xfrm>
            <a:off x="7512447" y="1426766"/>
            <a:ext cx="2369840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공식 출처 및 데이터베이스 링크</a:t>
            </a:r>
            <a:endParaRPr lang="en-US" sz="1300" dirty="0"/>
          </a:p>
        </p:txBody>
      </p:sp>
      <p:sp>
        <p:nvSpPr>
          <p:cNvPr id="43" name="Rounded Rectangle"/>
          <p:cNvSpPr/>
          <p:nvPr/>
        </p:nvSpPr>
        <p:spPr>
          <a:xfrm>
            <a:off x="6643489" y="1807766"/>
            <a:ext cx="4970661" cy="931863"/>
          </a:xfrm>
          <a:prstGeom prst="roundRect">
            <a:avLst>
              <a:gd name="adj" fmla="val 8177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4" name="Border"/>
          <p:cNvSpPr/>
          <p:nvPr/>
        </p:nvSpPr>
        <p:spPr>
          <a:xfrm>
            <a:off x="6643489" y="1807766"/>
            <a:ext cx="4970661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5" name="Border"/>
          <p:cNvSpPr/>
          <p:nvPr/>
        </p:nvSpPr>
        <p:spPr>
          <a:xfrm>
            <a:off x="11607800" y="1807766"/>
            <a:ext cx="6350" cy="931863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6" name="Border"/>
          <p:cNvSpPr/>
          <p:nvPr/>
        </p:nvSpPr>
        <p:spPr>
          <a:xfrm>
            <a:off x="6643489" y="2733278"/>
            <a:ext cx="4970661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7" name="Border"/>
          <p:cNvSpPr/>
          <p:nvPr/>
        </p:nvSpPr>
        <p:spPr>
          <a:xfrm>
            <a:off x="6643489" y="1807766"/>
            <a:ext cx="31750" cy="931863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8" name="Rounded Rectangle"/>
          <p:cNvSpPr/>
          <p:nvPr/>
        </p:nvSpPr>
        <p:spPr>
          <a:xfrm>
            <a:off x="6792714" y="1906191"/>
            <a:ext cx="827881" cy="238125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6350" cap="flat" cmpd="sng" algn="ctr">
            <a:solidFill>
              <a:srgbClr val="BFDBFE"/>
            </a:solidFill>
            <a:miter lim="800000"/>
          </a:ln>
        </p:spPr>
      </p:sp>
      <p:sp>
        <p:nvSpPr>
          <p:cNvPr id="49" name="Text: 학습 데이터셋"/>
          <p:cNvSpPr txBox="1"/>
          <p:nvPr/>
        </p:nvSpPr>
        <p:spPr>
          <a:xfrm>
            <a:off x="6897489" y="1944291"/>
            <a:ext cx="618331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학습 데이터셋</a:t>
            </a:r>
            <a:endParaRPr lang="en-US" sz="750" dirty="0"/>
          </a:p>
        </p:txBody>
      </p:sp>
      <p:sp>
        <p:nvSpPr>
          <p:cNvPr id="50" name="Text: 26,768장 COCO-Pose"/>
          <p:cNvSpPr txBox="1"/>
          <p:nvPr/>
        </p:nvSpPr>
        <p:spPr>
          <a:xfrm>
            <a:off x="10649843" y="1953022"/>
            <a:ext cx="843657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26,768장 COCO-Pose</a:t>
            </a:r>
            <a:endParaRPr lang="en-US" sz="675" dirty="0"/>
          </a:p>
        </p:txBody>
      </p:sp>
      <p:sp>
        <p:nvSpPr>
          <p:cNvPr id="51" name="Text: Ultralytics Hand-Keypoints Dataset"/>
          <p:cNvSpPr txBox="1"/>
          <p:nvPr/>
        </p:nvSpPr>
        <p:spPr>
          <a:xfrm>
            <a:off x="6789539" y="2155428"/>
            <a:ext cx="1946374" cy="1762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5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Ultralytics Hand-Keypoints Dataset</a:t>
            </a:r>
            <a:endParaRPr lang="en-US" sz="925" dirty="0"/>
          </a:p>
        </p:txBody>
      </p:sp>
      <p:sp>
        <p:nvSpPr>
          <p:cNvPr id="52" name="Text: https://github.com/ultralytics/assets/re"/>
          <p:cNvSpPr txBox="1"/>
          <p:nvPr/>
        </p:nvSpPr>
        <p:spPr>
          <a:xfrm>
            <a:off x="6789539" y="2345928"/>
            <a:ext cx="3559373" cy="1238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spc="-4" dirty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https://github.com/ultralytics/assets/releases/download/v0.0.0/hand-keypoints.zip</a:t>
            </a:r>
            <a:endParaRPr lang="en-US" sz="650" dirty="0"/>
          </a:p>
        </p:txBody>
      </p:sp>
      <p:sp>
        <p:nvSpPr>
          <p:cNvPr id="53" name="Text: Train 18,776장 + Val 7,992장 / 21개 관절 키포인트"/>
          <p:cNvSpPr txBox="1"/>
          <p:nvPr/>
        </p:nvSpPr>
        <p:spPr>
          <a:xfrm>
            <a:off x="6789539" y="2498328"/>
            <a:ext cx="2723455" cy="1333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Train 18,776장 + Val 7,992장 / 21개 관절 키포인트 글로벌 공인 규격</a:t>
            </a:r>
            <a:endParaRPr lang="en-US" sz="700" dirty="0"/>
          </a:p>
        </p:txBody>
      </p:sp>
      <p:sp>
        <p:nvSpPr>
          <p:cNvPr id="54" name="Rounded Rectangle"/>
          <p:cNvSpPr/>
          <p:nvPr/>
        </p:nvSpPr>
        <p:spPr>
          <a:xfrm>
            <a:off x="6643489" y="2828528"/>
            <a:ext cx="4970661" cy="931863"/>
          </a:xfrm>
          <a:prstGeom prst="roundRect">
            <a:avLst>
              <a:gd name="adj" fmla="val 8177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55" name="Border"/>
          <p:cNvSpPr/>
          <p:nvPr/>
        </p:nvSpPr>
        <p:spPr>
          <a:xfrm>
            <a:off x="6643489" y="2828528"/>
            <a:ext cx="4970661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6" name="Border"/>
          <p:cNvSpPr/>
          <p:nvPr/>
        </p:nvSpPr>
        <p:spPr>
          <a:xfrm>
            <a:off x="11607800" y="2828528"/>
            <a:ext cx="6350" cy="931863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7" name="Border"/>
          <p:cNvSpPr/>
          <p:nvPr/>
        </p:nvSpPr>
        <p:spPr>
          <a:xfrm>
            <a:off x="6643489" y="3754041"/>
            <a:ext cx="4970661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8" name="Border"/>
          <p:cNvSpPr/>
          <p:nvPr/>
        </p:nvSpPr>
        <p:spPr>
          <a:xfrm>
            <a:off x="6643489" y="2828528"/>
            <a:ext cx="31750" cy="931863"/>
          </a:xfrm>
          <a:prstGeom prst="rect">
            <a:avLst/>
          </a:prstGeom>
          <a:solidFill>
            <a:srgbClr val="0284C7"/>
          </a:solidFill>
          <a:ln>
            <a:noFill/>
          </a:ln>
        </p:spPr>
      </p:sp>
      <p:sp>
        <p:nvSpPr>
          <p:cNvPr id="59" name="Rounded Rectangle"/>
          <p:cNvSpPr/>
          <p:nvPr/>
        </p:nvSpPr>
        <p:spPr>
          <a:xfrm>
            <a:off x="6792714" y="2926953"/>
            <a:ext cx="1057573" cy="238125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6350" cap="flat" cmpd="sng" algn="ctr">
            <a:solidFill>
              <a:srgbClr val="7DD3FC"/>
            </a:solidFill>
            <a:miter lim="800000"/>
          </a:ln>
        </p:spPr>
      </p:sp>
      <p:sp>
        <p:nvSpPr>
          <p:cNvPr id="60" name="Text: 프로젝트 핵심 기술"/>
          <p:cNvSpPr txBox="1"/>
          <p:nvPr/>
        </p:nvSpPr>
        <p:spPr>
          <a:xfrm>
            <a:off x="6897489" y="2965053"/>
            <a:ext cx="848023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0284C7"/>
                </a:solidFill>
                <a:latin typeface="Segoe UI"/>
                <a:ea typeface="Segoe UI"/>
                <a:cs typeface="Segoe UI"/>
              </a:rPr>
              <a:t>프로젝트 핵심 기술</a:t>
            </a:r>
            <a:endParaRPr lang="en-US" sz="750" dirty="0"/>
          </a:p>
        </p:txBody>
      </p:sp>
      <p:sp>
        <p:nvSpPr>
          <p:cNvPr id="61" name="Text: Intel 공식 플랫폼 &amp; 툴킷"/>
          <p:cNvSpPr txBox="1"/>
          <p:nvPr/>
        </p:nvSpPr>
        <p:spPr>
          <a:xfrm>
            <a:off x="10526018" y="2973784"/>
            <a:ext cx="967482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1" spc="-4" dirty="0">
                <a:solidFill>
                  <a:srgbClr val="0284C7"/>
                </a:solidFill>
                <a:latin typeface="Segoe UI"/>
                <a:ea typeface="Segoe UI"/>
                <a:cs typeface="Segoe UI"/>
              </a:rPr>
              <a:t>Intel 공식 플랫폼 &amp; 툴킷</a:t>
            </a:r>
            <a:endParaRPr lang="en-US" sz="675" dirty="0"/>
          </a:p>
        </p:txBody>
      </p:sp>
      <p:sp>
        <p:nvSpPr>
          <p:cNvPr id="62" name="Text: Intel Geti™ Platform &amp; OpenVINO™ Toolkit"/>
          <p:cNvSpPr txBox="1"/>
          <p:nvPr/>
        </p:nvSpPr>
        <p:spPr>
          <a:xfrm>
            <a:off x="6789539" y="3176191"/>
            <a:ext cx="2412305" cy="1762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5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Intel Geti™ Platform &amp; OpenVINO™ Toolkit</a:t>
            </a:r>
            <a:endParaRPr lang="en-US" sz="925" dirty="0"/>
          </a:p>
        </p:txBody>
      </p:sp>
      <p:sp>
        <p:nvSpPr>
          <p:cNvPr id="63" name="Text: https://geti.intel.com | https://docs.op"/>
          <p:cNvSpPr txBox="1"/>
          <p:nvPr/>
        </p:nvSpPr>
        <p:spPr>
          <a:xfrm>
            <a:off x="6789539" y="3366691"/>
            <a:ext cx="2153245" cy="1238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spc="-4" dirty="0">
                <a:solidFill>
                  <a:srgbClr val="0284C7"/>
                </a:solidFill>
                <a:latin typeface="Consolas"/>
                <a:ea typeface="Consolas"/>
                <a:cs typeface="Consolas"/>
              </a:rPr>
              <a:t>https://geti.intel.com | https://docs.openvino.ai</a:t>
            </a:r>
            <a:endParaRPr lang="en-US" sz="650" dirty="0"/>
          </a:p>
        </p:txBody>
      </p:sp>
      <p:sp>
        <p:nvSpPr>
          <p:cNvPr id="64" name="Text: Intel Geti 노코드 컴퓨터 비전 플랫폼 &amp; OpenVINO 202"/>
          <p:cNvSpPr txBox="1"/>
          <p:nvPr/>
        </p:nvSpPr>
        <p:spPr>
          <a:xfrm>
            <a:off x="6789539" y="3519091"/>
            <a:ext cx="3167063" cy="1333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Intel Geti 노코드 컴퓨터 비전 플랫폼 &amp; OpenVINO 2024 GPU 런타임 가속 엔진</a:t>
            </a:r>
            <a:endParaRPr lang="en-US" sz="700" dirty="0"/>
          </a:p>
        </p:txBody>
      </p:sp>
      <p:sp>
        <p:nvSpPr>
          <p:cNvPr id="65" name="Rounded Rectangle"/>
          <p:cNvSpPr/>
          <p:nvPr/>
        </p:nvSpPr>
        <p:spPr>
          <a:xfrm>
            <a:off x="6643489" y="3849291"/>
            <a:ext cx="4970661" cy="931863"/>
          </a:xfrm>
          <a:prstGeom prst="roundRect">
            <a:avLst>
              <a:gd name="adj" fmla="val 8177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66" name="Border"/>
          <p:cNvSpPr/>
          <p:nvPr/>
        </p:nvSpPr>
        <p:spPr>
          <a:xfrm>
            <a:off x="6643489" y="3849291"/>
            <a:ext cx="4970661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7" name="Border"/>
          <p:cNvSpPr/>
          <p:nvPr/>
        </p:nvSpPr>
        <p:spPr>
          <a:xfrm>
            <a:off x="11607800" y="3849291"/>
            <a:ext cx="6350" cy="931863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8" name="Border"/>
          <p:cNvSpPr/>
          <p:nvPr/>
        </p:nvSpPr>
        <p:spPr>
          <a:xfrm>
            <a:off x="6643489" y="4774803"/>
            <a:ext cx="4970661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9" name="Border"/>
          <p:cNvSpPr/>
          <p:nvPr/>
        </p:nvSpPr>
        <p:spPr>
          <a:xfrm>
            <a:off x="6643489" y="3849291"/>
            <a:ext cx="31750" cy="931863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70" name="Rounded Rectangle"/>
          <p:cNvSpPr/>
          <p:nvPr/>
        </p:nvSpPr>
        <p:spPr>
          <a:xfrm>
            <a:off x="6792714" y="3947716"/>
            <a:ext cx="982266" cy="238125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 cap="flat" cmpd="sng" algn="ctr">
            <a:solidFill>
              <a:srgbClr val="86EFAC"/>
            </a:solidFill>
            <a:miter lim="800000"/>
          </a:ln>
        </p:spPr>
      </p:sp>
      <p:sp>
        <p:nvSpPr>
          <p:cNvPr id="71" name="Text: 비교 모델 &amp; 원작"/>
          <p:cNvSpPr txBox="1"/>
          <p:nvPr/>
        </p:nvSpPr>
        <p:spPr>
          <a:xfrm>
            <a:off x="6897489" y="3985816"/>
            <a:ext cx="772716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spc="15" dirty="0">
                <a:solidFill>
                  <a:srgbClr val="059669"/>
                </a:solidFill>
                <a:latin typeface="Segoe UI"/>
                <a:ea typeface="Segoe UI"/>
                <a:cs typeface="Segoe UI"/>
              </a:rPr>
              <a:t>비교 모델 &amp; 원작</a:t>
            </a:r>
            <a:endParaRPr lang="en-US" sz="750" dirty="0"/>
          </a:p>
        </p:txBody>
      </p:sp>
      <p:sp>
        <p:nvSpPr>
          <p:cNvPr id="72" name="Text: 프레임워크 &amp; 프로토타입"/>
          <p:cNvSpPr txBox="1"/>
          <p:nvPr/>
        </p:nvSpPr>
        <p:spPr>
          <a:xfrm>
            <a:off x="10509052" y="3994547"/>
            <a:ext cx="984448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 b="1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프레임워크 &amp; 프로토타입</a:t>
            </a:r>
            <a:endParaRPr lang="en-US" sz="675" dirty="0"/>
          </a:p>
        </p:txBody>
      </p:sp>
      <p:sp>
        <p:nvSpPr>
          <p:cNvPr id="73" name="Text: Google MediaPipe &amp; YOLOv8 &amp; Gesture Synt"/>
          <p:cNvSpPr txBox="1"/>
          <p:nvPr/>
        </p:nvSpPr>
        <p:spPr>
          <a:xfrm>
            <a:off x="6789539" y="4196953"/>
            <a:ext cx="2602508" cy="1762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5" b="1" spc="-4" dirty="0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Google MediaPipe &amp; YOLOv8 &amp; Gesture Synth</a:t>
            </a:r>
            <a:endParaRPr lang="en-US" sz="925" dirty="0"/>
          </a:p>
        </p:txBody>
      </p:sp>
      <p:sp>
        <p:nvSpPr>
          <p:cNvPr id="74" name="Text: https://developers.google.com/mediapipe "/>
          <p:cNvSpPr txBox="1"/>
          <p:nvPr/>
        </p:nvSpPr>
        <p:spPr>
          <a:xfrm>
            <a:off x="6789539" y="4387453"/>
            <a:ext cx="3910905" cy="1238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spc="-4" dirty="0">
                <a:solidFill>
                  <a:srgbClr val="059669"/>
                </a:solidFill>
                <a:latin typeface="Consolas"/>
                <a:ea typeface="Consolas"/>
                <a:cs typeface="Consolas"/>
              </a:rPr>
              <a:t>https://developers.google.com/mediapipe | https://github.com/indecisiveeric/gesture-synth</a:t>
            </a:r>
            <a:endParaRPr lang="en-US" sz="650" dirty="0"/>
          </a:p>
        </p:txBody>
      </p:sp>
      <p:sp>
        <p:nvSpPr>
          <p:cNvPr id="75" name="Text: 3D 관절 추적 Tasks-Vision, YOLOv8 훈련 도구 및 We"/>
          <p:cNvSpPr txBox="1"/>
          <p:nvPr/>
        </p:nvSpPr>
        <p:spPr>
          <a:xfrm>
            <a:off x="6789539" y="4539853"/>
            <a:ext cx="2991743" cy="1333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spc="-4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3D 관절 추적 Tasks-Vision, YOLOv8 훈련 도구 및 Web Audio API 악기 원작</a:t>
            </a:r>
            <a:endParaRPr lang="en-US" sz="700" dirty="0"/>
          </a:p>
        </p:txBody>
      </p:sp>
      <p:sp>
        <p:nvSpPr>
          <p:cNvPr id="76" name="Border"/>
          <p:cNvSpPr/>
          <p:nvPr/>
        </p:nvSpPr>
        <p:spPr>
          <a:xfrm>
            <a:off x="6643489" y="5942013"/>
            <a:ext cx="4970661" cy="635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77" name="Text: ※ 모든 오픈소스 라이선스 및 인텔 공식 기술 규격을 준수하여 연구·발표"/>
          <p:cNvSpPr txBox="1"/>
          <p:nvPr/>
        </p:nvSpPr>
        <p:spPr>
          <a:xfrm>
            <a:off x="6643489" y="6013450"/>
            <a:ext cx="4065885" cy="13811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5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※ 모든 오픈소스 라이선스 및 인텔 공식 기술 규격을 준수하여 연구·발표 목적으로 제작되었습니다.</a:t>
            </a:r>
            <a:endParaRPr lang="en-US" sz="725" dirty="0"/>
          </a:p>
        </p:txBody>
      </p:sp>
      <p:sp>
        <p:nvSpPr>
          <p:cNvPr id="78" name="Border"/>
          <p:cNvSpPr/>
          <p:nvPr/>
        </p:nvSpPr>
        <p:spPr>
          <a:xfrm>
            <a:off x="381000" y="6334125"/>
            <a:ext cx="114300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9" name="Text: AuraSynth: Computer Vision &amp; Interactive"/>
          <p:cNvSpPr txBox="1"/>
          <p:nvPr/>
        </p:nvSpPr>
        <p:spPr>
          <a:xfrm>
            <a:off x="381000" y="6451600"/>
            <a:ext cx="3247628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AuraSynth: Computer Vision &amp; Interactive Web Audio Research</a:t>
            </a:r>
            <a:endParaRPr lang="en-US" sz="850" dirty="0"/>
          </a:p>
        </p:txBody>
      </p:sp>
      <p:sp>
        <p:nvSpPr>
          <p:cNvPr id="80" name="Rounded Rectangle"/>
          <p:cNvSpPr/>
          <p:nvPr/>
        </p:nvSpPr>
        <p:spPr>
          <a:xfrm>
            <a:off x="11237714" y="6429375"/>
            <a:ext cx="573286" cy="225425"/>
          </a:xfrm>
          <a:prstGeom prst="roundRect">
            <a:avLst>
              <a:gd name="adj" fmla="val 22535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81" name="Text: 12 / 12"/>
          <p:cNvSpPr txBox="1"/>
          <p:nvPr/>
        </p:nvSpPr>
        <p:spPr>
          <a:xfrm>
            <a:off x="11339314" y="6451600"/>
            <a:ext cx="37008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spc="-4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12 / 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