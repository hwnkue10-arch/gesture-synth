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eg" ContentType="image/jpeg"/>
  <Default Extension="gif" ContentType="image/gif"/>
  <Default Extension="svg" ContentType="image/svg+xml"/>
  <Override PartName="/ppt/presentation.xml" ContentType="application/vnd.openxmlformats-officedocument.presentationml.presentation.main+xml"/>
  <Override PartName="/ppt/presProps.xml" ContentType="application/vnd.openxmlformats-officedocument.presentationml.presProp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notesMasters/notesMaster1.xml" ContentType="application/vnd.openxmlformats-officedocument.presentationml.notesMaster+xml"/>
  <Override PartName="/ppt/theme/theme2.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371600" y="685800"/>
            <a:ext cx="4114800" cy="2314575"/>
          </a:xfrm>
          <a:prstGeom prst="rect">
            <a:avLst/>
          </a:prstGeom>
          <a:noFill/>
          <a:ln w="12700">
            <a:solidFill>
              <a:prstClr val="black"/>
            </a:solidFill>
          </a:ln>
        </p:spPr>
      </p:sp>
      <p:sp>
        <p:nvSpPr>
          <p:cNvPr id="3" name="Notes Placeholder 2"/>
          <p:cNvSpPr>
            <a:spLocks noGrp="1"/>
          </p:cNvSpPr>
          <p:nvPr>
            <p:ph type="body" sz="quarter" idx="3"/>
          </p:nvPr>
        </p:nvSpPr>
        <p:spPr>
          <a:xfrm>
            <a:off x="685800" y="4343400"/>
            <a:ext cx="5486400" cy="4114800"/>
          </a:xfrm>
          <a:prstGeom prst="rect">
            <a:avLst/>
          </a:prstGeom>
        </p:spPr>
        <p:txBody>
          <a:bodyPr vert="horz" lIns="91440" tIns="45720" rIns="91440" bIns="45720" rtlCol="0"/>
          <a:lstStyle/>
          <a:p>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'AI 제스처 신디사이저 AuraSynth' 프로젝트 발표를 맡은 박현규입니다.</a:t>
            </a:r>
          </a:p>
          <a:p>
            <a:r>
              <a:rPr lang="en-US" dirty="0"/>
              <a:t>본 프로젝트는 컴퓨터 비전 딥러닝과 웹 오디오 기술을 결합하여, 카메라 앞에서 맨손으로 화음과 음색을 제어하는 비접촉 전자 악기 시스템을 구현한 연구입니다.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화면에 보시는 것처럼 총 6단계로 진행됩니다.</a:t>
            </a:r>
          </a:p>
          <a:p>
            <a:r>
              <a:rPr lang="en-US" dirty="0"/>
              <a:t>먼저 손가락 21개 마디 구조와 2.7만 장의 표준 데이터셋을 살펴보고,</a:t>
            </a:r>
          </a:p>
          <a:p>
            <a:r>
              <a:rPr lang="en-US" dirty="0"/>
              <a:t>학습 플랫폼의 데이터 유실 결함과 이를 극복하기 위해 수립한 3가지 모델 구축 방향을 말씀드리겠습니다.</a:t>
            </a:r>
          </a:p>
          <a:p>
            <a:r>
              <a:rPr lang="en-US" dirty="0"/>
              <a:t>이어서 저희가 테스트한 3가지 AI 모델의 장단점을 비교하고,</a:t>
            </a:r>
          </a:p>
          <a:p>
            <a:r>
              <a:rPr lang="en-US" dirty="0"/>
              <a:t>점수는 99점인데 왜 실제 주먹 동작은 어려웠는지 그 흥미로운 원인을 짚어봅니다.</a:t>
            </a:r>
          </a:p>
          <a:p>
            <a:r>
              <a:rPr lang="en-US" dirty="0"/>
              <a:t>그리고 손 제스처를 피아노 코드로 변환해 직접 연주하는 실시간 악기 시스템과 최종 결론으로 마무리하겠습니다.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순서인 '21개 손 관절 구조와 데이터셋'입니다.</a:t>
            </a:r>
          </a:p>
          <a:p>
            <a:r>
              <a:rPr lang="en-US" dirty="0"/>
              <a:t>화면의 다이어그램을 보시면, 손목 0번 노드를 루트(Root)로 삼아 각 손가락마다 4개 마디씩 총 21개 관절이 연결되어 있습니다.</a:t>
            </a:r>
          </a:p>
          <a:p>
            <a:r>
              <a:rPr lang="en-US" dirty="0"/>
              <a:t>저희는 약 2.7만 장 규모의 글로벌 표준 오픈 데이터셋을 사용했으며, 손목부터 5개 손가락 마디를 독립적이고 정밀하게 추적합니다.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순서인 '학습 플랫폼 오류와 라벨 유실' 과정입니다.</a:t>
            </a:r>
          </a:p>
          <a:p>
            <a:r>
              <a:rPr lang="en-US" dirty="0"/>
              <a:t>다운로드한 1.8만 장의 데이터를 플랫폼에 넣으려고 처음엔 표준 파일로 변환해 넣어봤지만 플랫폼이 거부했고,</a:t>
            </a:r>
          </a:p>
          <a:p>
            <a:r>
              <a:rPr lang="en-US" dirty="0"/>
              <a:t>내부 코드를 뜯어 번호를 맞춰주었더니 화면에는 들어갔으나 저장할 때 점들이 증발해 버렸습니다.</a:t>
            </a:r>
          </a:p>
          <a:p>
            <a:r>
              <a:rPr lang="en-US" dirty="0"/>
              <a:t>혹시 외부 파일 문제인가 싶어 Geti 웹에서 직접 31장을 수동 라벨링하고 내보낸 파일조차, 다시 가져오면 라벨이 흔적도 없이 사라지는 플랫폼 자체의 치명적인 결함(Silent Drop)을 규명했습니다. 문제를 플랫폼 내부에서 해결할 수 없다는 최종 결론에 도달했습니다.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이에 따라 저희는 프로젝트를 완성하기 위해 3가지 방향으로 AI 모델 구축 전략을 수립했습니다.</a:t>
            </a:r>
          </a:p>
          <a:p>
            <a:r>
              <a:rPr lang="en-US" dirty="0"/>
              <a:t>첫째, 기존에 저장된 1.8만 장 라벨을 Geti에서 전혀 쓸 수 없게 되었기 때문에, 웹 화면에서 31장 정도를 손으로 직접 라벨링하여 최소 베이스라인 모델을 만들어 보았습니다.</a:t>
            </a:r>
          </a:p>
          <a:p>
            <a:r>
              <a:rPr lang="en-US" dirty="0"/>
              <a:t>둘째, 플랫폼 결함을 우회하여 원본 18,776장 전체 라벨을 터미널에서 YOLOv8-Pose로 직접 학습시켜 독자적인 딥러닝 모델을 완성했습니다.</a:t>
            </a:r>
          </a:p>
          <a:p>
            <a:r>
              <a:rPr lang="en-US" dirty="0"/>
              <a:t>셋째, 웹 브라우저에서 지연 없이 피아노를 실시간 연주할 수 있도록 구글의 고성능 MediaPipe 상용 모델을 악기 엔진으로 함께 활용했습니다.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순서인 '3가지 AI 모델 성능 비교'입니다.</a:t>
            </a:r>
          </a:p>
          <a:p>
            <a:r>
              <a:rPr lang="en-US" dirty="0"/>
              <a:t>첫째는 플랫폼 제약 하에 31장으로 강행한 Intel Geti 수작업 모델,</a:t>
            </a:r>
          </a:p>
          <a:p>
            <a:r>
              <a:rPr lang="en-US" dirty="0"/>
              <a:t>둘째는 원본 18,776장의 라벨 데이터를 100% 손실 없이 CLI로 학습시킨 Custom YOLOv8-Pose 모델,</a:t>
            </a:r>
          </a:p>
          <a:p>
            <a:r>
              <a:rPr lang="en-US" dirty="0"/>
              <a:t>그리고 셋째는 실시간 악기 제어의 기준점이 되는 Google MediaPipe SOTA 모델입니다.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순서인 '각 모델별 실전 추론 결과 &amp; 분석' 중 첫 번째, Intel Geti 모델입니다.</a:t>
            </a:r>
          </a:p>
          <a:p>
            <a:r>
              <a:rPr lang="en-US" dirty="0"/>
              <a:t>화면 사진을 보시면 아시겠지만, 카메라 앞에서 손을 비추었을 때 손 형태를 전혀 잡지 못하고 검은 배경 노이즈에 유령 관절(Ghost Keypoint)들이 마구잡이로 찍히는 심각한 오류가 발생했습니다.</a:t>
            </a:r>
          </a:p>
          <a:p>
            <a:r>
              <a:rPr lang="en-US" dirty="0"/>
              <a:t>Geti 플랫폼에서 직접 측정한 결과, 31장이라는 극소량 데이터셋의 한계로 인해 Test PCK는 43%, Validation PCK는 39%에 불과했으며 21개 관절 중 11개 마디가 0점을 기록했습니다.</a:t>
            </a:r>
          </a:p>
          <a:p>
            <a:r>
              <a:rPr lang="en-US" dirty="0"/>
              <a:t>데이터셋이 절대적으로 부족하면 기본적인 손의 구조조차 학습할 수 없으며, 실전 카메라에서는 배경 노이즈를 손으로 오인한다는 점을 여실히 보여준 사례입니다.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두 번째, 로컬 터미널에서 1.8만 장 전체를 직접 학습시킨 Custom YOLOv8-Pose 모델입니다.</a:t>
            </a:r>
          </a:p>
          <a:p>
            <a:r>
              <a:rPr lang="en-US" dirty="0"/>
              <a:t>화면 왼쪽 아래의 학습 결과 그래프를 보시면, 15 에포크 동안 손실 곡선이 안정적으로 수렴하며 Box mAP 99.2%, Pose mAP 87.9%라는 높은 시험 성적을 기록했습니다.</a:t>
            </a:r>
          </a:p>
          <a:p>
            <a:r>
              <a:rPr lang="en-US" dirty="0"/>
              <a:t>하지만 상단의 실제 카메라 사진을 비교해 보시면, 왼쪽처럼 손바닥을 활짝 폈을 때는 21개 관절 점을 정밀하게 추적했지만,</a:t>
            </a:r>
          </a:p>
          <a:p>
            <a:r>
              <a:rPr lang="en-US" dirty="0"/>
              <a:t>오른쪽처럼 손가락을 접어 브이(V)나 주먹을 쥐는 순간 관절 점들이 손바닥 중앙으로 뭉쳐버리는 현상이 발생했습니다.</a:t>
            </a:r>
          </a:p>
          <a:p>
            <a:r>
              <a:rPr lang="en-US" dirty="0"/>
              <a:t>그 이유는 시험 데이터 대다수가 펴진 손 위주였던 데이터 편향과, 회전 증강(degrees: 0)의 부재, 그리고 2D 평면 카메라로는 가려진 손가락의 깊이를 알 수 없는 '자가 가림(Self-Occlusion)' 때문이었습니다.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세 번째, 구글 MediaPipe 상용 모델의 실측 결과입니다.</a:t>
            </a:r>
          </a:p>
          <a:p>
            <a:r>
              <a:rPr lang="en-US" dirty="0"/>
              <a:t>화면의 두 사진을 보시면, 어두운 배경에서도 노이즈 없이 복합 제스처를 정밀하게 고정할 뿐만 아니라,</a:t>
            </a:r>
          </a:p>
          <a:p>
            <a:r>
              <a:rPr lang="en-US" dirty="0"/>
              <a:t>오른쪽 사진처럼 손가락을 완전히 쥐어 안쪽으로 가려진 '주먹 제스처'에서도 21개 관절 점이 정확한 해부학적 위치에 입체적으로 유지됩니다.</a:t>
            </a:r>
          </a:p>
          <a:p>
            <a:r>
              <a:rPr lang="en-US" dirty="0"/>
              <a:t>구글 모델은 손바닥을 먼저 오려내는 2-Stage 구조와, 가려진 관절도 3D 입체 좌표로 복원하는 기술 덕분에 모델 2(YOLO)가 실패했던 주먹까지 정상적으로 추적할 수 있었습니다.</a:t>
            </a:r>
          </a:p>
          <a:p>
            <a:r>
              <a:rPr lang="en-US" dirty="0"/>
              <a:t>저희는 이 세 가지 모델의 실측 결과를 바탕으로, 실시간 피아노 악기 구동 엔진으로 가장 안정적인 구글 모델을 최종 채택했습니다.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순서인 '손 제스처 음악 변환과 실시간 악기 시스템'입니다.</a:t>
            </a:r>
          </a:p>
          <a:p>
            <a:r>
              <a:rPr lang="en-US" dirty="0"/>
              <a:t>이제 21개 관절이 어떻게 실제 음악으로 바뀌는지 직관적으로 설명해 드리겠습니다.</a:t>
            </a:r>
          </a:p>
          <a:p>
            <a:r>
              <a:rPr lang="en-US" dirty="0"/>
              <a:t>왼손으로는 5개 손가락의 펴짐과 접힘 모양으로 피아노 화음을 선택하고, 손목을 살짝 기울여 밝은 장조와 슬픈 단조 모드를 자유롭게 바꿉니다.</a:t>
            </a:r>
          </a:p>
          <a:p>
            <a:r>
              <a:rPr lang="en-US" dirty="0"/>
              <a:t>오른손으로는 손의 높낮이로 볼륨 크기를 조절하고, 손목을 기울여 부드러운 음색부터 날카로운 신디사이저 전자음까지 자유자재로 변형하며 마치 마법처럼 허공에서 악기를 연주할 수 있습니다.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번째 순서인 'AuraSynth 상단 제어 바 주요 기능'입니다.</a:t>
            </a:r>
          </a:p>
          <a:p>
            <a:r>
              <a:rPr lang="en-US" dirty="0"/>
              <a:t>화면 상단에 고정된 이 컨트롤 바는 연주 도중에도 악기의 모든 요소를 한눈에 조작할 수 있는 중심 제어 센터입니다.</a:t>
            </a:r>
          </a:p>
          <a:p>
            <a:r>
              <a:rPr lang="en-US" dirty="0"/>
              <a:t>첫째, 3가지 AI 모델을 연주 중단 없이 실시간으로 전환할 수 있는 모델 스위칭 드롭다운이 위치해 있습니다.</a:t>
            </a:r>
          </a:p>
          <a:p>
            <a:r>
              <a:rPr lang="en-US" dirty="0"/>
              <a:t>둘째, 원하는 곡에 맞춰 기준 음을 바꾸는 Key 조옮김과 따뜻한 신스, 밝은 신스 등 3가지 음색 프리셋을 선택할 수 있습니다.</a:t>
            </a:r>
          </a:p>
          <a:p>
            <a:r>
              <a:rPr lang="en-US" dirty="0"/>
              <a:t>셋째, 초보자를 위해 어떤 손가락을 펴면 무슨 화음이 나오는지 알려주는 실시간 제스처 가이드 버튼이 탑재되어 있습니다.</a:t>
            </a:r>
          </a:p>
          <a:p>
            <a:r>
              <a:rPr lang="en-US" dirty="0"/>
              <a:t>넷째, 0에서 150%까지 조절되는 마스터 볼륨 슬라이더와, 오른손 기울기에 따라 음색 필터가 열리는 정도를 숫자로 보여주는 네온 LED 레벨 미터가 실시간으로 작동합니다.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번째 순서인 '하이브리드 추론 파이프라인 &amp; 어댑터 패턴'입니다.</a:t>
            </a:r>
          </a:p>
          <a:p>
            <a:r>
              <a:rPr lang="en-US" dirty="0"/>
              <a:t>화면의 Y자 수렴 다이어그램을 보시면, 상단의 MediaPipe는 브라우저 내부에서 Zero-Copy로 약 16ms 만에 즉각 관절을 복원하여 실제 악기 수준의 물리적 타건 반응성을 완성합니다.</a:t>
            </a:r>
          </a:p>
          <a:p>
            <a:r>
              <a:rPr lang="en-US" dirty="0"/>
              <a:t>반면 하단의 Geti와 YOLO는 웹소켓 IPC를 통해 파이썬에서 추론되므로 통신과 추론을 합쳐 약 45ms가 소요됩니다.</a:t>
            </a:r>
          </a:p>
          <a:p>
            <a:r>
              <a:rPr lang="en-US" dirty="0"/>
              <a:t>여기서 핵심 소프트웨어 공학 성과는 바로 우측의 '표준 어댑터 수렴 구조'입니다. Geti와 YOLO의 제각각인 관절 인덱스를 전 세계 컴퓨터 비전 공인 규격인 'MediaPipe 21개 관절 스키마'로 일원화 변환함으로써, 사운드 엔진 코드는 단 한 줄도 손대지 않고 실시간으로 모델을 핫스위칭할 수 있는 결합 분리(Decoupling)를 완성했습니다.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'Zero-Dependency 독립 실행형 데스크톱 배포 구조'입니다.</a:t>
            </a:r>
          </a:p>
          <a:p>
            <a:r>
              <a:rPr lang="en-US" dirty="0"/>
              <a:t>저희는 웹 악기 UI를 구동하는 Electron과 AI 추론을 담당하는 파이썬 데몬(bridge.exe)을 단일 바이너리(AuraSynth.exe)로 통합 번들링했습니다.</a:t>
            </a:r>
          </a:p>
          <a:p>
            <a:r>
              <a:rPr lang="en-US" dirty="0"/>
              <a:t>화면 중앙의 라이프사이클 흐름을 보시면, 사용자가 더블클릭하는 순간 Electron이 백그라운드 자식 프로세스로 파이썬 데몬을 자동 실행하고, 데몬이 준비되는 동안에도 브라우저 내장 MediaPipe로 0초 만에 즉시 선연주가 가능합니다. 데몬 준비가 끝나면 2초 주기 자동 재연결로 웹소켓이 핸드셰이크되며, 창을 닫으면 백그라운드 프로세스까지 안전하게 자동 회수됩니다.</a:t>
            </a:r>
          </a:p>
          <a:p>
            <a:r>
              <a:rPr lang="en-US" dirty="0"/>
              <a:t>덕분에 일반 사용자 PC에 파이썬이나 CUDA, OpenVINO가 전혀 없어도 더블클릭만으로 즉시 연주할 수 있는 완제품 소프트웨어 수준의 완성도를 달성했습니다.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'결론 및 배운 점'입니다.</a:t>
            </a:r>
          </a:p>
          <a:p>
            <a:r>
              <a:rPr lang="en-US" dirty="0"/>
              <a:t>이번 프로젝트는 단순히 모델을 돌려본 것에 그치지 않고, 플랫폼 에러를 직접 파고들어 규명하고, 점수와 실제 성능 사이의 괴리를 분석하며, 최종 완성된 독립 실행 프로그램(.exe)까지 만들어낸 뜻깊은 엔지니어링 경험이었습니다.</a:t>
            </a:r>
          </a:p>
          <a:p>
            <a:r>
              <a:rPr lang="en-US" dirty="0"/>
              <a:t>경청해 주셔서 감사합니다.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image" Target="../media/image4.jpeg"/><Relationship Id="rId4" Type="http://schemas.openxmlformats.org/officeDocument/2006/relationships/image" Target="../media/image3.jpe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jpeg"/><Relationship Id="rId3" Type="http://schemas.openxmlformats.org/officeDocument/2006/relationships/image" Target="../media/image14.png"/><Relationship Id="rId4" Type="http://schemas.openxmlformats.org/officeDocument/2006/relationships/image" Target="../media/image13.jpeg"/><Relationship Id="rId5" Type="http://schemas.openxmlformats.org/officeDocument/2006/relationships/image" Target="../media/image15.png"/><Relationship Id="rId6" Type="http://schemas.openxmlformats.org/officeDocument/2006/relationships/image" Target="../media/image11.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4815284" y="1800622"/>
            <a:ext cx="2561431" cy="238125"/>
          </a:xfrm>
          <a:prstGeom prst="roundRect">
            <a:avLst>
              <a:gd name="adj" fmla="val 20000"/>
            </a:avLst>
          </a:prstGeom>
          <a:solidFill>
            <a:srgbClr val="EFF6FF"/>
          </a:solidFill>
          <a:ln w="6350" cap="flat" cmpd="sng" algn="ctr">
            <a:solidFill>
              <a:srgbClr val="BFDBFE"/>
            </a:solidFill>
            <a:miter lim="800000"/>
          </a:ln>
        </p:spPr>
      </p:sp>
      <p:sp>
        <p:nvSpPr>
          <p:cNvPr id="3" name="Text: AI VISION &amp; INTERACTIVE AUDIO WORKSTATIO"/>
          <p:cNvSpPr txBox="1"/>
          <p:nvPr/>
        </p:nvSpPr>
        <p:spPr>
          <a:xfrm>
            <a:off x="4920059" y="1838722"/>
            <a:ext cx="2351881" cy="142875"/>
          </a:xfrm>
          <a:prstGeom prst="rect">
            <a:avLst/>
          </a:prstGeom>
          <a:noFill/>
        </p:spPr>
        <p:txBody>
          <a:bodyPr wrap="none" lIns="0" tIns="0" rIns="0" bIns="0" rtlCol="0" anchor="t">
            <a:noAutofit/>
          </a:bodyPr>
          <a:lstStyle/>
          <a:p>
            <a:pPr algn="ctr">
              <a:lnSpc>
                <a:spcPts val="1125"/>
              </a:lnSpc>
              <a:spcBef>
                <a:spcPts val="0"/>
              </a:spcBef>
              <a:spcAft>
                <a:spcPts val="0"/>
              </a:spcAft>
              <a:buNone/>
            </a:pPr>
            <a:r>
              <a:rPr lang="en-US" sz="750" b="1" spc="15" dirty="0">
                <a:solidFill>
                  <a:srgbClr val="2563EB"/>
                </a:solidFill>
                <a:latin typeface="Segoe UI"/>
                <a:ea typeface="Segoe UI"/>
                <a:cs typeface="Segoe UI"/>
              </a:rPr>
              <a:t>AI VISION &amp; INTERACTIVE AUDIO WORKSTATION</a:t>
            </a:r>
            <a:endParaRPr lang="en-US" sz="750" dirty="0"/>
          </a:p>
        </p:txBody>
      </p:sp>
      <p:sp>
        <p:nvSpPr>
          <p:cNvPr id="4" name="Text: AI 제스처 신디사이저  AuraSynth"/>
          <p:cNvSpPr txBox="1"/>
          <p:nvPr/>
        </p:nvSpPr>
        <p:spPr>
          <a:xfrm>
            <a:off x="2122488" y="2269252"/>
            <a:ext cx="7946926" cy="642620"/>
          </a:xfrm>
          <a:prstGeom prst="rect">
            <a:avLst/>
          </a:prstGeom>
          <a:noFill/>
        </p:spPr>
        <p:txBody>
          <a:bodyPr wrap="none" lIns="0" tIns="0" rIns="0" bIns="0" rtlCol="0" anchor="t">
            <a:noAutofit/>
          </a:bodyPr>
          <a:lstStyle/>
          <a:p>
            <a:pPr algn="ctr">
              <a:lnSpc>
                <a:spcPts val="5060"/>
              </a:lnSpc>
              <a:spcBef>
                <a:spcPts val="0"/>
              </a:spcBef>
              <a:spcAft>
                <a:spcPts val="0"/>
              </a:spcAft>
              <a:buNone/>
            </a:pPr>
            <a:r>
              <a:rPr lang="en-US" sz="4400" b="1" spc="-154" dirty="0">
                <a:solidFill>
                  <a:srgbClr val="0F172A"/>
                </a:solidFill>
                <a:latin typeface="Segoe UI"/>
                <a:ea typeface="Segoe UI"/>
                <a:cs typeface="Segoe UI"/>
              </a:rPr>
              <a:t>AI 제스처 신디사이저 </a:t>
            </a:r>
            <a:r>
              <a:rPr lang="en-US" sz="4400" b="1" spc="-154" dirty="0">
                <a:solidFill>
                  <a:srgbClr val="2563EB"/>
                </a:solidFill>
                <a:latin typeface="Segoe UI"/>
                <a:ea typeface="Segoe UI"/>
                <a:cs typeface="Segoe UI"/>
              </a:rPr>
              <a:t>AuraSynth</a:t>
            </a:r>
            <a:endParaRPr lang="en-US" sz="4400" dirty="0"/>
          </a:p>
        </p:txBody>
      </p:sp>
      <p:sp>
        <p:nvSpPr>
          <p:cNvPr id="5" name="Text: Intel Geti &amp; OpenVINO 기반 21개 손 관절 실시간 인식"/>
          <p:cNvSpPr txBox="1"/>
          <p:nvPr/>
        </p:nvSpPr>
        <p:spPr>
          <a:xfrm>
            <a:off x="3448943" y="2991842"/>
            <a:ext cx="5294114" cy="629841"/>
          </a:xfrm>
          <a:prstGeom prst="rect">
            <a:avLst/>
          </a:prstGeom>
          <a:noFill/>
        </p:spPr>
        <p:txBody>
          <a:bodyPr wrap="none" lIns="0" tIns="0" rIns="0" bIns="0" rtlCol="0" anchor="t">
            <a:noAutofit/>
          </a:bodyPr>
          <a:lstStyle/>
          <a:p>
            <a:pPr algn="ctr">
              <a:lnSpc>
                <a:spcPts val="2480"/>
              </a:lnSpc>
              <a:spcBef>
                <a:spcPts val="0"/>
              </a:spcBef>
              <a:spcAft>
                <a:spcPts val="0"/>
              </a:spcAft>
              <a:buNone/>
            </a:pPr>
            <a:r>
              <a:rPr lang="en-US" sz="1600" spc="-4" dirty="0">
                <a:solidFill>
                  <a:srgbClr val="475569"/>
                </a:solidFill>
                <a:latin typeface="Segoe UI"/>
                <a:ea typeface="Segoe UI"/>
                <a:cs typeface="Segoe UI"/>
              </a:rPr>
              <a:t>Intel Geti &amp; OpenVINO 기반 21개 손 관절 실시간 인식 및</a:t>
            </a:r>
            <a:br>
              <a:rPr lang="en-US" sz="1600"/>
            </a:br>
            <a:r>
              <a:rPr lang="en-US" sz="1600" spc="-4" dirty="0">
                <a:solidFill>
                  <a:srgbClr val="475569"/>
                </a:solidFill>
                <a:latin typeface="Segoe UI"/>
                <a:ea typeface="Segoe UI"/>
                <a:cs typeface="Segoe UI"/>
              </a:rPr>
              <a:t>멀티 비전 제스처 전자 악기 개발</a:t>
            </a:r>
            <a:endParaRPr lang="en-US" sz="1600" dirty="0"/>
          </a:p>
        </p:txBody>
      </p:sp>
      <p:sp>
        <p:nvSpPr>
          <p:cNvPr id="6" name="Rounded Rectangle"/>
          <p:cNvSpPr/>
          <p:nvPr/>
        </p:nvSpPr>
        <p:spPr>
          <a:xfrm>
            <a:off x="1991221" y="3952478"/>
            <a:ext cx="1988443" cy="238125"/>
          </a:xfrm>
          <a:prstGeom prst="roundRect">
            <a:avLst>
              <a:gd name="adj" fmla="val 20000"/>
            </a:avLst>
          </a:prstGeom>
          <a:solidFill>
            <a:srgbClr val="E0F2FE"/>
          </a:solidFill>
          <a:ln w="6350" cap="flat" cmpd="sng" algn="ctr">
            <a:solidFill>
              <a:srgbClr val="7DD3FC"/>
            </a:solidFill>
            <a:miter lim="800000"/>
          </a:ln>
        </p:spPr>
      </p:sp>
      <p:sp>
        <p:nvSpPr>
          <p:cNvPr id="7" name="Text: 🧪 INTEL GETI™ &amp; OPENVINO™ 2024"/>
          <p:cNvSpPr txBox="1"/>
          <p:nvPr/>
        </p:nvSpPr>
        <p:spPr>
          <a:xfrm>
            <a:off x="2095996" y="3990578"/>
            <a:ext cx="1778893" cy="142875"/>
          </a:xfrm>
          <a:prstGeom prst="rect">
            <a:avLst/>
          </a:prstGeom>
          <a:noFill/>
        </p:spPr>
        <p:txBody>
          <a:bodyPr wrap="none" lIns="0" tIns="0" rIns="0" bIns="0" rtlCol="0" anchor="t">
            <a:noAutofit/>
          </a:bodyPr>
          <a:lstStyle/>
          <a:p>
            <a:pPr algn="ctr">
              <a:lnSpc>
                <a:spcPts val="1125"/>
              </a:lnSpc>
              <a:spcBef>
                <a:spcPts val="0"/>
              </a:spcBef>
              <a:spcAft>
                <a:spcPts val="0"/>
              </a:spcAft>
              <a:buNone/>
            </a:pPr>
            <a:r>
              <a:rPr lang="en-US" sz="750" b="1" spc="15" dirty="0">
                <a:solidFill>
                  <a:srgbClr val="0284C7"/>
                </a:solidFill>
                <a:latin typeface="Segoe UI"/>
                <a:ea typeface="Segoe UI"/>
                <a:cs typeface="Segoe UI"/>
              </a:rPr>
              <a:t>🧪 INTEL GETI™ &amp; OPENVINO™ 2024</a:t>
            </a:r>
            <a:endParaRPr lang="en-US" sz="750" dirty="0"/>
          </a:p>
        </p:txBody>
      </p:sp>
      <p:sp>
        <p:nvSpPr>
          <p:cNvPr id="8" name="Rounded Rectangle"/>
          <p:cNvSpPr/>
          <p:nvPr/>
        </p:nvSpPr>
        <p:spPr>
          <a:xfrm>
            <a:off x="4087614" y="3952478"/>
            <a:ext cx="2032496" cy="238125"/>
          </a:xfrm>
          <a:prstGeom prst="roundRect">
            <a:avLst>
              <a:gd name="adj" fmla="val 20000"/>
            </a:avLst>
          </a:prstGeom>
          <a:solidFill>
            <a:srgbClr val="EFF6FF"/>
          </a:solidFill>
          <a:ln w="6350" cap="flat" cmpd="sng" algn="ctr">
            <a:solidFill>
              <a:srgbClr val="BFDBFE"/>
            </a:solidFill>
            <a:miter lim="800000"/>
          </a:ln>
        </p:spPr>
      </p:sp>
      <p:sp>
        <p:nvSpPr>
          <p:cNvPr id="9" name="Text: CUSTOM YOLOV8-POSE (1.8만 장 학습)"/>
          <p:cNvSpPr txBox="1"/>
          <p:nvPr/>
        </p:nvSpPr>
        <p:spPr>
          <a:xfrm>
            <a:off x="4192389" y="3990578"/>
            <a:ext cx="1822946" cy="142875"/>
          </a:xfrm>
          <a:prstGeom prst="rect">
            <a:avLst/>
          </a:prstGeom>
          <a:noFill/>
        </p:spPr>
        <p:txBody>
          <a:bodyPr wrap="none" lIns="0" tIns="0" rIns="0" bIns="0" rtlCol="0" anchor="t">
            <a:noAutofit/>
          </a:bodyPr>
          <a:lstStyle/>
          <a:p>
            <a:pPr algn="ctr">
              <a:lnSpc>
                <a:spcPts val="1125"/>
              </a:lnSpc>
              <a:spcBef>
                <a:spcPts val="0"/>
              </a:spcBef>
              <a:spcAft>
                <a:spcPts val="0"/>
              </a:spcAft>
              <a:buNone/>
            </a:pPr>
            <a:r>
              <a:rPr lang="en-US" sz="750" b="1" spc="15" dirty="0">
                <a:solidFill>
                  <a:srgbClr val="2563EB"/>
                </a:solidFill>
                <a:latin typeface="Segoe UI"/>
                <a:ea typeface="Segoe UI"/>
                <a:cs typeface="Segoe UI"/>
              </a:rPr>
              <a:t>CUSTOM YOLOV8-POSE (1.8만 장 학습)</a:t>
            </a:r>
            <a:endParaRPr lang="en-US" sz="750" dirty="0"/>
          </a:p>
        </p:txBody>
      </p:sp>
      <p:sp>
        <p:nvSpPr>
          <p:cNvPr id="10" name="Rounded Rectangle"/>
          <p:cNvSpPr/>
          <p:nvPr/>
        </p:nvSpPr>
        <p:spPr>
          <a:xfrm>
            <a:off x="6228060" y="3952478"/>
            <a:ext cx="1870869" cy="238125"/>
          </a:xfrm>
          <a:prstGeom prst="roundRect">
            <a:avLst>
              <a:gd name="adj" fmla="val 20000"/>
            </a:avLst>
          </a:prstGeom>
          <a:solidFill>
            <a:srgbClr val="F0FDF4"/>
          </a:solidFill>
          <a:ln w="6350" cap="flat" cmpd="sng" algn="ctr">
            <a:solidFill>
              <a:srgbClr val="86EFAC"/>
            </a:solidFill>
            <a:miter lim="800000"/>
          </a:ln>
        </p:spPr>
      </p:sp>
      <p:sp>
        <p:nvSpPr>
          <p:cNvPr id="11" name="Text: GOOGLE MEDIAPIPE TASKS VISION"/>
          <p:cNvSpPr txBox="1"/>
          <p:nvPr/>
        </p:nvSpPr>
        <p:spPr>
          <a:xfrm>
            <a:off x="6332835" y="3990578"/>
            <a:ext cx="1661319" cy="142875"/>
          </a:xfrm>
          <a:prstGeom prst="rect">
            <a:avLst/>
          </a:prstGeom>
          <a:noFill/>
        </p:spPr>
        <p:txBody>
          <a:bodyPr wrap="none" lIns="0" tIns="0" rIns="0" bIns="0" rtlCol="0" anchor="t">
            <a:noAutofit/>
          </a:bodyPr>
          <a:lstStyle/>
          <a:p>
            <a:pPr algn="ctr">
              <a:lnSpc>
                <a:spcPts val="1125"/>
              </a:lnSpc>
              <a:spcBef>
                <a:spcPts val="0"/>
              </a:spcBef>
              <a:spcAft>
                <a:spcPts val="0"/>
              </a:spcAft>
              <a:buNone/>
            </a:pPr>
            <a:r>
              <a:rPr lang="en-US" sz="750" b="1" spc="15" dirty="0">
                <a:solidFill>
                  <a:srgbClr val="16A34A"/>
                </a:solidFill>
                <a:latin typeface="Segoe UI"/>
                <a:ea typeface="Segoe UI"/>
                <a:cs typeface="Segoe UI"/>
              </a:rPr>
              <a:t>GOOGLE MEDIAPIPE TASKS VISION</a:t>
            </a:r>
            <a:endParaRPr lang="en-US" sz="750" dirty="0"/>
          </a:p>
        </p:txBody>
      </p:sp>
      <p:sp>
        <p:nvSpPr>
          <p:cNvPr id="12" name="Rounded Rectangle"/>
          <p:cNvSpPr/>
          <p:nvPr/>
        </p:nvSpPr>
        <p:spPr>
          <a:xfrm>
            <a:off x="8206879" y="3952478"/>
            <a:ext cx="1993801" cy="238125"/>
          </a:xfrm>
          <a:prstGeom prst="roundRect">
            <a:avLst>
              <a:gd name="adj" fmla="val 20000"/>
            </a:avLst>
          </a:prstGeom>
          <a:solidFill>
            <a:srgbClr val="FEF3C7"/>
          </a:solidFill>
          <a:ln w="6350" cap="flat" cmpd="sng" algn="ctr">
            <a:solidFill>
              <a:srgbClr val="FDE68A"/>
            </a:solidFill>
            <a:miter lim="800000"/>
          </a:ln>
        </p:spPr>
      </p:sp>
      <p:sp>
        <p:nvSpPr>
          <p:cNvPr id="13" name="Text: WEB AUDIO API POLYPHONIC SYNTH"/>
          <p:cNvSpPr txBox="1"/>
          <p:nvPr/>
        </p:nvSpPr>
        <p:spPr>
          <a:xfrm>
            <a:off x="8311654" y="3990578"/>
            <a:ext cx="1784251" cy="142875"/>
          </a:xfrm>
          <a:prstGeom prst="rect">
            <a:avLst/>
          </a:prstGeom>
          <a:noFill/>
        </p:spPr>
        <p:txBody>
          <a:bodyPr wrap="none" lIns="0" tIns="0" rIns="0" bIns="0" rtlCol="0" anchor="t">
            <a:noAutofit/>
          </a:bodyPr>
          <a:lstStyle/>
          <a:p>
            <a:pPr algn="ctr">
              <a:lnSpc>
                <a:spcPts val="1125"/>
              </a:lnSpc>
              <a:spcBef>
                <a:spcPts val="0"/>
              </a:spcBef>
              <a:spcAft>
                <a:spcPts val="0"/>
              </a:spcAft>
              <a:buNone/>
            </a:pPr>
            <a:r>
              <a:rPr lang="en-US" sz="750" b="1" spc="15" dirty="0">
                <a:solidFill>
                  <a:srgbClr val="D97706"/>
                </a:solidFill>
                <a:latin typeface="Segoe UI"/>
                <a:ea typeface="Segoe UI"/>
                <a:cs typeface="Segoe UI"/>
              </a:rPr>
              <a:t>WEB AUDIO API POLYPHONIC SYNTH</a:t>
            </a:r>
            <a:endParaRPr lang="en-US" sz="750" dirty="0"/>
          </a:p>
        </p:txBody>
      </p:sp>
      <p:sp>
        <p:nvSpPr>
          <p:cNvPr id="14" name="Rounded Rectangle"/>
          <p:cNvSpPr/>
          <p:nvPr/>
        </p:nvSpPr>
        <p:spPr>
          <a:xfrm>
            <a:off x="5136455" y="4298553"/>
            <a:ext cx="1918990" cy="238125"/>
          </a:xfrm>
          <a:prstGeom prst="roundRect">
            <a:avLst>
              <a:gd name="adj" fmla="val 20000"/>
            </a:avLst>
          </a:prstGeom>
          <a:solidFill>
            <a:srgbClr val="F1F5F9"/>
          </a:solidFill>
          <a:ln w="6350" cap="flat" cmpd="sng" algn="ctr">
            <a:solidFill>
              <a:srgbClr val="CBD5E1"/>
            </a:solidFill>
            <a:miter lim="800000"/>
          </a:ln>
        </p:spPr>
      </p:sp>
      <p:sp>
        <p:nvSpPr>
          <p:cNvPr id="15" name="Text: ELECTRON STANDALONE APP (.EXE)"/>
          <p:cNvSpPr txBox="1"/>
          <p:nvPr/>
        </p:nvSpPr>
        <p:spPr>
          <a:xfrm>
            <a:off x="5241230" y="4336653"/>
            <a:ext cx="1709440" cy="142875"/>
          </a:xfrm>
          <a:prstGeom prst="rect">
            <a:avLst/>
          </a:prstGeom>
          <a:noFill/>
        </p:spPr>
        <p:txBody>
          <a:bodyPr wrap="none" lIns="0" tIns="0" rIns="0" bIns="0" rtlCol="0" anchor="t">
            <a:noAutofit/>
          </a:bodyPr>
          <a:lstStyle/>
          <a:p>
            <a:pPr algn="ctr">
              <a:lnSpc>
                <a:spcPts val="1125"/>
              </a:lnSpc>
              <a:spcBef>
                <a:spcPts val="0"/>
              </a:spcBef>
              <a:spcAft>
                <a:spcPts val="0"/>
              </a:spcAft>
              <a:buNone/>
            </a:pPr>
            <a:r>
              <a:rPr lang="en-US" sz="750" b="1" spc="15" dirty="0">
                <a:solidFill>
                  <a:srgbClr val="475569"/>
                </a:solidFill>
                <a:latin typeface="Segoe UI"/>
                <a:ea typeface="Segoe UI"/>
                <a:cs typeface="Segoe UI"/>
              </a:rPr>
              <a:t>ELECTRON STANDALONE APP (.EXE)</a:t>
            </a:r>
            <a:endParaRPr lang="en-US" sz="750" dirty="0"/>
          </a:p>
        </p:txBody>
      </p:sp>
      <p:sp>
        <p:nvSpPr>
          <p:cNvPr id="16" name="Text: 박현규"/>
          <p:cNvSpPr txBox="1"/>
          <p:nvPr/>
        </p:nvSpPr>
        <p:spPr>
          <a:xfrm>
            <a:off x="5839916" y="4895453"/>
            <a:ext cx="512068" cy="152400"/>
          </a:xfrm>
          <a:prstGeom prst="rect">
            <a:avLst/>
          </a:prstGeom>
          <a:noFill/>
        </p:spPr>
        <p:txBody>
          <a:bodyPr wrap="none" lIns="0" tIns="0" rIns="0" bIns="0" rtlCol="0" anchor="t">
            <a:noAutofit/>
          </a:bodyPr>
          <a:lstStyle/>
          <a:p>
            <a:pPr algn="ctr">
              <a:lnSpc>
                <a:spcPts val="1200"/>
              </a:lnSpc>
              <a:spcBef>
                <a:spcPts val="0"/>
              </a:spcBef>
              <a:spcAft>
                <a:spcPts val="0"/>
              </a:spcAft>
              <a:buNone/>
            </a:pPr>
            <a:r>
              <a:rPr lang="en-US" sz="1200" b="1" spc="144" dirty="0">
                <a:solidFill>
                  <a:srgbClr val="1E293B"/>
                </a:solidFill>
                <a:latin typeface="Segoe UI"/>
                <a:ea typeface="Segoe UI"/>
                <a:cs typeface="Segoe UI"/>
              </a:rPr>
              <a:t>박현규</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619522" cy="238125"/>
          </a:xfrm>
          <a:prstGeom prst="roundRect">
            <a:avLst>
              <a:gd name="adj" fmla="val 20000"/>
            </a:avLst>
          </a:prstGeom>
          <a:solidFill>
            <a:srgbClr val="EFF6FF"/>
          </a:solidFill>
          <a:ln w="6350" cap="flat" cmpd="sng" algn="ctr">
            <a:solidFill>
              <a:srgbClr val="BFDBFE"/>
            </a:solidFill>
            <a:miter lim="800000"/>
          </a:ln>
        </p:spPr>
      </p:sp>
      <p:sp>
        <p:nvSpPr>
          <p:cNvPr id="3" name="Text: AGENDA"/>
          <p:cNvSpPr txBox="1"/>
          <p:nvPr/>
        </p:nvSpPr>
        <p:spPr>
          <a:xfrm>
            <a:off x="488950" y="282575"/>
            <a:ext cx="409972"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AGENDA</a:t>
            </a:r>
            <a:endParaRPr lang="en-US" sz="750" dirty="0"/>
          </a:p>
        </p:txBody>
      </p:sp>
      <p:sp>
        <p:nvSpPr>
          <p:cNvPr id="4" name="Text: AuraSynth Engine Architecture"/>
          <p:cNvSpPr txBox="1"/>
          <p:nvPr/>
        </p:nvSpPr>
        <p:spPr>
          <a:xfrm>
            <a:off x="1095772"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발표 목차 (Table of Contents)"/>
          <p:cNvSpPr txBox="1"/>
          <p:nvPr/>
        </p:nvSpPr>
        <p:spPr>
          <a:xfrm>
            <a:off x="381000" y="555625"/>
            <a:ext cx="4153098"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발표 목차 (Table of Contents)</a:t>
            </a:r>
            <a:endParaRPr lang="en-US" sz="2500" dirty="0"/>
          </a:p>
        </p:txBody>
      </p:sp>
      <p:sp>
        <p:nvSpPr>
          <p:cNvPr id="6" name="Text: 손동작 인식 원리부터 AI 모델 학습, 그리고 실시간 악기 시스템까지의 "/>
          <p:cNvSpPr txBox="1"/>
          <p:nvPr/>
        </p:nvSpPr>
        <p:spPr>
          <a:xfrm>
            <a:off x="381000" y="948055"/>
            <a:ext cx="5317034"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손동작 인식 원리부터 AI 모델 학습, 그리고 실시간 악기 시스템까지의 6단계 순서</a:t>
            </a:r>
            <a:endParaRPr lang="en-US" sz="1150" dirty="0"/>
          </a:p>
        </p:txBody>
      </p:sp>
      <p:sp>
        <p:nvSpPr>
          <p:cNvPr id="7" name="Rounded Rectangle"/>
          <p:cNvSpPr/>
          <p:nvPr/>
        </p:nvSpPr>
        <p:spPr>
          <a:xfrm>
            <a:off x="381000" y="1274366"/>
            <a:ext cx="3699867" cy="2447330"/>
          </a:xfrm>
          <a:prstGeom prst="roundRect">
            <a:avLst>
              <a:gd name="adj" fmla="val 4670"/>
            </a:avLst>
          </a:prstGeom>
          <a:solidFill>
            <a:srgbClr val="FFFFFF"/>
          </a:solidFill>
          <a:ln>
            <a:noFill/>
          </a:ln>
          <a:effectLst>
            <a:outerShdw blurRad="101600" dist="50800" dir="5400000" sx="99313" sy="98962" algn="ctr" rotWithShape="0">
              <a:srgbClr val="000000">
                <a:alpha val="5000"/>
              </a:srgbClr>
            </a:outerShdw>
          </a:effectLst>
        </p:spPr>
      </p:sp>
      <p:sp>
        <p:nvSpPr>
          <p:cNvPr id="8" name="Border"/>
          <p:cNvSpPr/>
          <p:nvPr/>
        </p:nvSpPr>
        <p:spPr>
          <a:xfrm>
            <a:off x="381000" y="1274366"/>
            <a:ext cx="3699867" cy="38100"/>
          </a:xfrm>
          <a:prstGeom prst="rect">
            <a:avLst/>
          </a:prstGeom>
          <a:solidFill>
            <a:srgbClr val="2563EB"/>
          </a:solidFill>
          <a:ln>
            <a:noFill/>
          </a:ln>
        </p:spPr>
      </p:sp>
      <p:sp>
        <p:nvSpPr>
          <p:cNvPr id="9" name="Border"/>
          <p:cNvSpPr/>
          <p:nvPr/>
        </p:nvSpPr>
        <p:spPr>
          <a:xfrm>
            <a:off x="4074517" y="1274366"/>
            <a:ext cx="6350" cy="2447330"/>
          </a:xfrm>
          <a:prstGeom prst="rect">
            <a:avLst/>
          </a:prstGeom>
          <a:solidFill>
            <a:srgbClr val="E2E8F0"/>
          </a:solidFill>
          <a:ln>
            <a:noFill/>
          </a:ln>
        </p:spPr>
      </p:sp>
      <p:sp>
        <p:nvSpPr>
          <p:cNvPr id="10" name="Border"/>
          <p:cNvSpPr/>
          <p:nvPr/>
        </p:nvSpPr>
        <p:spPr>
          <a:xfrm>
            <a:off x="381000" y="3715345"/>
            <a:ext cx="3699867" cy="6350"/>
          </a:xfrm>
          <a:prstGeom prst="rect">
            <a:avLst/>
          </a:prstGeom>
          <a:solidFill>
            <a:srgbClr val="E2E8F0"/>
          </a:solidFill>
          <a:ln>
            <a:noFill/>
          </a:ln>
        </p:spPr>
      </p:sp>
      <p:sp>
        <p:nvSpPr>
          <p:cNvPr id="11" name="Border"/>
          <p:cNvSpPr/>
          <p:nvPr/>
        </p:nvSpPr>
        <p:spPr>
          <a:xfrm>
            <a:off x="381000" y="1274366"/>
            <a:ext cx="6350" cy="2447330"/>
          </a:xfrm>
          <a:prstGeom prst="rect">
            <a:avLst/>
          </a:prstGeom>
          <a:solidFill>
            <a:srgbClr val="E2E8F0"/>
          </a:solidFill>
          <a:ln>
            <a:noFill/>
          </a:ln>
        </p:spPr>
      </p:sp>
      <p:sp>
        <p:nvSpPr>
          <p:cNvPr id="12" name="Rounded Rectangle"/>
          <p:cNvSpPr/>
          <p:nvPr/>
        </p:nvSpPr>
        <p:spPr>
          <a:xfrm>
            <a:off x="568325" y="1491853"/>
            <a:ext cx="601762" cy="238125"/>
          </a:xfrm>
          <a:prstGeom prst="roundRect">
            <a:avLst>
              <a:gd name="adj" fmla="val 20000"/>
            </a:avLst>
          </a:prstGeom>
          <a:solidFill>
            <a:srgbClr val="EFF6FF"/>
          </a:solidFill>
          <a:ln w="6350" cap="flat" cmpd="sng" algn="ctr">
            <a:solidFill>
              <a:srgbClr val="BFDBFE"/>
            </a:solidFill>
            <a:miter lim="800000"/>
          </a:ln>
        </p:spPr>
      </p:sp>
      <p:sp>
        <p:nvSpPr>
          <p:cNvPr id="13" name="Text: PART 01"/>
          <p:cNvSpPr txBox="1"/>
          <p:nvPr/>
        </p:nvSpPr>
        <p:spPr>
          <a:xfrm>
            <a:off x="673100" y="1529953"/>
            <a:ext cx="392212"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01</a:t>
            </a:r>
            <a:endParaRPr lang="en-US" sz="750" dirty="0"/>
          </a:p>
        </p:txBody>
      </p:sp>
      <p:sp>
        <p:nvSpPr>
          <p:cNvPr id="14" name="Text: 01"/>
          <p:cNvSpPr txBox="1"/>
          <p:nvPr/>
        </p:nvSpPr>
        <p:spPr>
          <a:xfrm>
            <a:off x="3691533" y="1458516"/>
            <a:ext cx="205184" cy="266700"/>
          </a:xfrm>
          <a:prstGeom prst="rect">
            <a:avLst/>
          </a:prstGeom>
          <a:noFill/>
        </p:spPr>
        <p:txBody>
          <a:bodyPr wrap="none" lIns="0" tIns="0" rIns="0" bIns="0" rtlCol="0" anchor="t">
            <a:noAutofit/>
          </a:bodyPr>
          <a:lstStyle/>
          <a:p>
            <a:pPr algn="l">
              <a:lnSpc>
                <a:spcPts val="2100"/>
              </a:lnSpc>
              <a:spcBef>
                <a:spcPts val="0"/>
              </a:spcBef>
              <a:spcAft>
                <a:spcPts val="0"/>
              </a:spcAft>
              <a:buNone/>
            </a:pPr>
            <a:r>
              <a:rPr lang="en-US" sz="1400" b="1" spc="-4" dirty="0">
                <a:solidFill>
                  <a:srgbClr val="2563EB"/>
                </a:solidFill>
                <a:latin typeface="Segoe UI"/>
                <a:ea typeface="Segoe UI"/>
                <a:cs typeface="Segoe UI"/>
              </a:rPr>
              <a:t>01</a:t>
            </a:r>
            <a:endParaRPr lang="en-US" sz="1400" dirty="0"/>
          </a:p>
        </p:txBody>
      </p:sp>
      <p:sp>
        <p:nvSpPr>
          <p:cNvPr id="15" name="Text: 21개 손 관절 구조와 데이터셋"/>
          <p:cNvSpPr txBox="1"/>
          <p:nvPr/>
        </p:nvSpPr>
        <p:spPr>
          <a:xfrm>
            <a:off x="565150" y="1795066"/>
            <a:ext cx="2058789"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F172A"/>
                </a:solidFill>
                <a:latin typeface="Segoe UI"/>
                <a:ea typeface="Segoe UI"/>
                <a:cs typeface="Segoe UI"/>
              </a:rPr>
              <a:t>21개 손 관절 구조와 데이터셋</a:t>
            </a:r>
            <a:endParaRPr lang="en-US" sz="1200" dirty="0"/>
          </a:p>
        </p:txBody>
      </p:sp>
      <p:sp>
        <p:nvSpPr>
          <p:cNvPr id="16" name="Text: 손목부터 손끝까지 21개 관절 마디 구조와 2.7만 장 표준 데이터 셋의"/>
          <p:cNvSpPr txBox="1"/>
          <p:nvPr/>
        </p:nvSpPr>
        <p:spPr>
          <a:xfrm>
            <a:off x="565150" y="2082105"/>
            <a:ext cx="3248620" cy="365720"/>
          </a:xfrm>
          <a:prstGeom prst="rect">
            <a:avLst/>
          </a:prstGeom>
          <a:noFill/>
        </p:spPr>
        <p:txBody>
          <a:bodyPr wrap="none" lIns="0" tIns="0" rIns="0" bIns="0" rtlCol="0" anchor="t">
            <a:noAutofit/>
          </a:bodyPr>
          <a:lstStyle/>
          <a:p>
            <a:pPr algn="l">
              <a:lnSpc>
                <a:spcPts val="1440"/>
              </a:lnSpc>
              <a:spcBef>
                <a:spcPts val="0"/>
              </a:spcBef>
              <a:spcAft>
                <a:spcPts val="0"/>
              </a:spcAft>
              <a:buNone/>
            </a:pPr>
            <a:r>
              <a:rPr lang="en-US" sz="900" spc="-4" dirty="0">
                <a:solidFill>
                  <a:srgbClr val="475569"/>
                </a:solidFill>
                <a:latin typeface="Segoe UI"/>
                <a:ea typeface="Segoe UI"/>
                <a:cs typeface="Segoe UI"/>
              </a:rPr>
              <a:t>손목부터 손끝까지 21개 관절 마디 구조와 2.7만 장 표준 데이터</a:t>
            </a:r>
            <a:br>
              <a:rPr lang="en-US" sz="900"/>
            </a:br>
            <a:r>
              <a:rPr lang="en-US" sz="900" spc="-4" dirty="0">
                <a:solidFill>
                  <a:srgbClr val="475569"/>
                </a:solidFill>
                <a:latin typeface="Segoe UI"/>
                <a:ea typeface="Segoe UI"/>
                <a:cs typeface="Segoe UI"/>
              </a:rPr>
              <a:t>셋의 기본 원리</a:t>
            </a:r>
            <a:endParaRPr lang="en-US" sz="900" dirty="0"/>
          </a:p>
        </p:txBody>
      </p:sp>
      <p:sp>
        <p:nvSpPr>
          <p:cNvPr id="17" name="Text: 손 관절 구조 &amp; 데이터셋"/>
          <p:cNvSpPr txBox="1"/>
          <p:nvPr/>
        </p:nvSpPr>
        <p:spPr>
          <a:xfrm>
            <a:off x="565150" y="3397845"/>
            <a:ext cx="1065709"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2563EB"/>
                </a:solidFill>
                <a:latin typeface="Segoe UI"/>
                <a:ea typeface="Segoe UI"/>
                <a:cs typeface="Segoe UI"/>
              </a:rPr>
              <a:t>손 관절 구조 &amp; 데이터셋</a:t>
            </a:r>
            <a:endParaRPr lang="en-US" sz="750" dirty="0"/>
          </a:p>
        </p:txBody>
      </p:sp>
      <p:sp>
        <p:nvSpPr>
          <p:cNvPr id="18" name="Rounded Rectangle"/>
          <p:cNvSpPr/>
          <p:nvPr/>
        </p:nvSpPr>
        <p:spPr>
          <a:xfrm>
            <a:off x="4245967" y="1274366"/>
            <a:ext cx="3699966" cy="2447330"/>
          </a:xfrm>
          <a:prstGeom prst="roundRect">
            <a:avLst>
              <a:gd name="adj" fmla="val 4670"/>
            </a:avLst>
          </a:prstGeom>
          <a:solidFill>
            <a:srgbClr val="FFFFFF"/>
          </a:solidFill>
          <a:ln>
            <a:noFill/>
          </a:ln>
          <a:effectLst>
            <a:outerShdw blurRad="101600" dist="50800" dir="5400000" sx="99314" sy="98962" algn="ctr" rotWithShape="0">
              <a:srgbClr val="000000">
                <a:alpha val="5000"/>
              </a:srgbClr>
            </a:outerShdw>
          </a:effectLst>
        </p:spPr>
      </p:sp>
      <p:sp>
        <p:nvSpPr>
          <p:cNvPr id="19" name="Border"/>
          <p:cNvSpPr/>
          <p:nvPr/>
        </p:nvSpPr>
        <p:spPr>
          <a:xfrm>
            <a:off x="4245967" y="1274366"/>
            <a:ext cx="3699966" cy="38100"/>
          </a:xfrm>
          <a:prstGeom prst="rect">
            <a:avLst/>
          </a:prstGeom>
          <a:solidFill>
            <a:srgbClr val="0284C7"/>
          </a:solidFill>
          <a:ln>
            <a:noFill/>
          </a:ln>
        </p:spPr>
      </p:sp>
      <p:sp>
        <p:nvSpPr>
          <p:cNvPr id="20" name="Border"/>
          <p:cNvSpPr/>
          <p:nvPr/>
        </p:nvSpPr>
        <p:spPr>
          <a:xfrm>
            <a:off x="7939584" y="1274366"/>
            <a:ext cx="6350" cy="2447330"/>
          </a:xfrm>
          <a:prstGeom prst="rect">
            <a:avLst/>
          </a:prstGeom>
          <a:solidFill>
            <a:srgbClr val="E2E8F0"/>
          </a:solidFill>
          <a:ln>
            <a:noFill/>
          </a:ln>
        </p:spPr>
      </p:sp>
      <p:sp>
        <p:nvSpPr>
          <p:cNvPr id="21" name="Border"/>
          <p:cNvSpPr/>
          <p:nvPr/>
        </p:nvSpPr>
        <p:spPr>
          <a:xfrm>
            <a:off x="4245967" y="3715345"/>
            <a:ext cx="3699966" cy="6350"/>
          </a:xfrm>
          <a:prstGeom prst="rect">
            <a:avLst/>
          </a:prstGeom>
          <a:solidFill>
            <a:srgbClr val="E2E8F0"/>
          </a:solidFill>
          <a:ln>
            <a:noFill/>
          </a:ln>
        </p:spPr>
      </p:sp>
      <p:sp>
        <p:nvSpPr>
          <p:cNvPr id="22" name="Border"/>
          <p:cNvSpPr/>
          <p:nvPr/>
        </p:nvSpPr>
        <p:spPr>
          <a:xfrm>
            <a:off x="4245967" y="1274366"/>
            <a:ext cx="6350" cy="2447330"/>
          </a:xfrm>
          <a:prstGeom prst="rect">
            <a:avLst/>
          </a:prstGeom>
          <a:solidFill>
            <a:srgbClr val="E2E8F0"/>
          </a:solidFill>
          <a:ln>
            <a:noFill/>
          </a:ln>
        </p:spPr>
      </p:sp>
      <p:sp>
        <p:nvSpPr>
          <p:cNvPr id="23" name="Rounded Rectangle"/>
          <p:cNvSpPr/>
          <p:nvPr/>
        </p:nvSpPr>
        <p:spPr>
          <a:xfrm>
            <a:off x="4433292" y="1491853"/>
            <a:ext cx="601762" cy="238125"/>
          </a:xfrm>
          <a:prstGeom prst="roundRect">
            <a:avLst>
              <a:gd name="adj" fmla="val 20000"/>
            </a:avLst>
          </a:prstGeom>
          <a:solidFill>
            <a:srgbClr val="E0F2FE"/>
          </a:solidFill>
          <a:ln w="6350" cap="flat" cmpd="sng" algn="ctr">
            <a:solidFill>
              <a:srgbClr val="BAE6FD"/>
            </a:solidFill>
            <a:miter lim="800000"/>
          </a:ln>
        </p:spPr>
      </p:sp>
      <p:sp>
        <p:nvSpPr>
          <p:cNvPr id="24" name="Text: PART 02"/>
          <p:cNvSpPr txBox="1"/>
          <p:nvPr/>
        </p:nvSpPr>
        <p:spPr>
          <a:xfrm>
            <a:off x="4538067" y="1529953"/>
            <a:ext cx="392212"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0284C7"/>
                </a:solidFill>
                <a:latin typeface="Segoe UI"/>
                <a:ea typeface="Segoe UI"/>
                <a:cs typeface="Segoe UI"/>
              </a:rPr>
              <a:t>PART 02</a:t>
            </a:r>
            <a:endParaRPr lang="en-US" sz="750" dirty="0"/>
          </a:p>
        </p:txBody>
      </p:sp>
      <p:sp>
        <p:nvSpPr>
          <p:cNvPr id="25" name="Text: 02"/>
          <p:cNvSpPr txBox="1"/>
          <p:nvPr/>
        </p:nvSpPr>
        <p:spPr>
          <a:xfrm>
            <a:off x="7556599" y="1458516"/>
            <a:ext cx="205184" cy="266700"/>
          </a:xfrm>
          <a:prstGeom prst="rect">
            <a:avLst/>
          </a:prstGeom>
          <a:noFill/>
        </p:spPr>
        <p:txBody>
          <a:bodyPr wrap="none" lIns="0" tIns="0" rIns="0" bIns="0" rtlCol="0" anchor="t">
            <a:noAutofit/>
          </a:bodyPr>
          <a:lstStyle/>
          <a:p>
            <a:pPr algn="l">
              <a:lnSpc>
                <a:spcPts val="2100"/>
              </a:lnSpc>
              <a:spcBef>
                <a:spcPts val="0"/>
              </a:spcBef>
              <a:spcAft>
                <a:spcPts val="0"/>
              </a:spcAft>
              <a:buNone/>
            </a:pPr>
            <a:r>
              <a:rPr lang="en-US" sz="1400" b="1" spc="-4" dirty="0">
                <a:solidFill>
                  <a:srgbClr val="0284C7"/>
                </a:solidFill>
                <a:latin typeface="Segoe UI"/>
                <a:ea typeface="Segoe UI"/>
                <a:cs typeface="Segoe UI"/>
              </a:rPr>
              <a:t>02</a:t>
            </a:r>
            <a:endParaRPr lang="en-US" sz="1400" dirty="0"/>
          </a:p>
        </p:txBody>
      </p:sp>
      <p:sp>
        <p:nvSpPr>
          <p:cNvPr id="26" name="Text: 학습 플랫폼 오류와 모델 구축 방향"/>
          <p:cNvSpPr txBox="1"/>
          <p:nvPr/>
        </p:nvSpPr>
        <p:spPr>
          <a:xfrm>
            <a:off x="4430117" y="1795066"/>
            <a:ext cx="2391866"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F172A"/>
                </a:solidFill>
                <a:latin typeface="Segoe UI"/>
                <a:ea typeface="Segoe UI"/>
                <a:cs typeface="Segoe UI"/>
              </a:rPr>
              <a:t>학습 플랫폼 오류와 모델 구축 방향</a:t>
            </a:r>
            <a:endParaRPr lang="en-US" sz="1200" dirty="0"/>
          </a:p>
        </p:txBody>
      </p:sp>
      <p:sp>
        <p:nvSpPr>
          <p:cNvPr id="27" name="Text: Intel Geti의 데이터 임포트 오류 규명과, 이를 극복하기 위해 수"/>
          <p:cNvSpPr txBox="1"/>
          <p:nvPr/>
        </p:nvSpPr>
        <p:spPr>
          <a:xfrm>
            <a:off x="4430117" y="2082105"/>
            <a:ext cx="3314105" cy="365720"/>
          </a:xfrm>
          <a:prstGeom prst="rect">
            <a:avLst/>
          </a:prstGeom>
          <a:noFill/>
        </p:spPr>
        <p:txBody>
          <a:bodyPr wrap="none" lIns="0" tIns="0" rIns="0" bIns="0" rtlCol="0" anchor="t">
            <a:noAutofit/>
          </a:bodyPr>
          <a:lstStyle/>
          <a:p>
            <a:pPr algn="l">
              <a:lnSpc>
                <a:spcPts val="1440"/>
              </a:lnSpc>
              <a:spcBef>
                <a:spcPts val="0"/>
              </a:spcBef>
              <a:spcAft>
                <a:spcPts val="0"/>
              </a:spcAft>
              <a:buNone/>
            </a:pPr>
            <a:r>
              <a:rPr lang="en-US" sz="900" spc="-4" dirty="0">
                <a:solidFill>
                  <a:srgbClr val="475569"/>
                </a:solidFill>
                <a:latin typeface="Segoe UI"/>
                <a:ea typeface="Segoe UI"/>
                <a:cs typeface="Segoe UI"/>
              </a:rPr>
              <a:t>Intel Geti의 데이터 임포트 오류 규명과, 이를 극복하기 위해 수작</a:t>
            </a:r>
            <a:br>
              <a:rPr lang="en-US" sz="900"/>
            </a:br>
            <a:r>
              <a:rPr lang="en-US" sz="900" spc="-4" dirty="0">
                <a:solidFill>
                  <a:srgbClr val="475569"/>
                </a:solidFill>
                <a:latin typeface="Segoe UI"/>
                <a:ea typeface="Segoe UI"/>
                <a:cs typeface="Segoe UI"/>
              </a:rPr>
              <a:t>업·터미널·구글 3가지 모델을 구축한 방향</a:t>
            </a:r>
            <a:endParaRPr lang="en-US" sz="900" dirty="0"/>
          </a:p>
        </p:txBody>
      </p:sp>
      <p:sp>
        <p:nvSpPr>
          <p:cNvPr id="28" name="Text: 라벨 유실 규명 &amp; 3대 모델 전략"/>
          <p:cNvSpPr txBox="1"/>
          <p:nvPr/>
        </p:nvSpPr>
        <p:spPr>
          <a:xfrm>
            <a:off x="4430117" y="3397845"/>
            <a:ext cx="1375866"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0284C7"/>
                </a:solidFill>
                <a:latin typeface="Segoe UI"/>
                <a:ea typeface="Segoe UI"/>
                <a:cs typeface="Segoe UI"/>
              </a:rPr>
              <a:t>라벨 유실 규명 &amp; 3대 모델 전략</a:t>
            </a:r>
            <a:endParaRPr lang="en-US" sz="750" dirty="0"/>
          </a:p>
        </p:txBody>
      </p:sp>
      <p:sp>
        <p:nvSpPr>
          <p:cNvPr id="29" name="Rounded Rectangle"/>
          <p:cNvSpPr/>
          <p:nvPr/>
        </p:nvSpPr>
        <p:spPr>
          <a:xfrm>
            <a:off x="8111034" y="1274366"/>
            <a:ext cx="3699966" cy="2447330"/>
          </a:xfrm>
          <a:prstGeom prst="roundRect">
            <a:avLst>
              <a:gd name="adj" fmla="val 4670"/>
            </a:avLst>
          </a:prstGeom>
          <a:solidFill>
            <a:srgbClr val="FFFFFF"/>
          </a:solidFill>
          <a:ln>
            <a:noFill/>
          </a:ln>
          <a:effectLst>
            <a:outerShdw blurRad="101600" dist="50800" dir="5400000" sx="99314" sy="98962" algn="ctr" rotWithShape="0">
              <a:srgbClr val="000000">
                <a:alpha val="5000"/>
              </a:srgbClr>
            </a:outerShdw>
          </a:effectLst>
        </p:spPr>
      </p:sp>
      <p:sp>
        <p:nvSpPr>
          <p:cNvPr id="30" name="Border"/>
          <p:cNvSpPr/>
          <p:nvPr/>
        </p:nvSpPr>
        <p:spPr>
          <a:xfrm>
            <a:off x="8111034" y="1274366"/>
            <a:ext cx="3699966" cy="38100"/>
          </a:xfrm>
          <a:prstGeom prst="rect">
            <a:avLst/>
          </a:prstGeom>
          <a:solidFill>
            <a:srgbClr val="059669"/>
          </a:solidFill>
          <a:ln>
            <a:noFill/>
          </a:ln>
        </p:spPr>
      </p:sp>
      <p:sp>
        <p:nvSpPr>
          <p:cNvPr id="31" name="Border"/>
          <p:cNvSpPr/>
          <p:nvPr/>
        </p:nvSpPr>
        <p:spPr>
          <a:xfrm>
            <a:off x="11804650" y="1274366"/>
            <a:ext cx="6350" cy="2447330"/>
          </a:xfrm>
          <a:prstGeom prst="rect">
            <a:avLst/>
          </a:prstGeom>
          <a:solidFill>
            <a:srgbClr val="E2E8F0"/>
          </a:solidFill>
          <a:ln>
            <a:noFill/>
          </a:ln>
        </p:spPr>
      </p:sp>
      <p:sp>
        <p:nvSpPr>
          <p:cNvPr id="32" name="Border"/>
          <p:cNvSpPr/>
          <p:nvPr/>
        </p:nvSpPr>
        <p:spPr>
          <a:xfrm>
            <a:off x="8111034" y="3715345"/>
            <a:ext cx="3699966" cy="6350"/>
          </a:xfrm>
          <a:prstGeom prst="rect">
            <a:avLst/>
          </a:prstGeom>
          <a:solidFill>
            <a:srgbClr val="E2E8F0"/>
          </a:solidFill>
          <a:ln>
            <a:noFill/>
          </a:ln>
        </p:spPr>
      </p:sp>
      <p:sp>
        <p:nvSpPr>
          <p:cNvPr id="33" name="Border"/>
          <p:cNvSpPr/>
          <p:nvPr/>
        </p:nvSpPr>
        <p:spPr>
          <a:xfrm>
            <a:off x="8111034" y="1274366"/>
            <a:ext cx="6350" cy="2447330"/>
          </a:xfrm>
          <a:prstGeom prst="rect">
            <a:avLst/>
          </a:prstGeom>
          <a:solidFill>
            <a:srgbClr val="E2E8F0"/>
          </a:solidFill>
          <a:ln>
            <a:noFill/>
          </a:ln>
        </p:spPr>
      </p:sp>
      <p:sp>
        <p:nvSpPr>
          <p:cNvPr id="34" name="Rounded Rectangle"/>
          <p:cNvSpPr/>
          <p:nvPr/>
        </p:nvSpPr>
        <p:spPr>
          <a:xfrm>
            <a:off x="8298359" y="1491853"/>
            <a:ext cx="601762" cy="238125"/>
          </a:xfrm>
          <a:prstGeom prst="roundRect">
            <a:avLst>
              <a:gd name="adj" fmla="val 20000"/>
            </a:avLst>
          </a:prstGeom>
          <a:solidFill>
            <a:srgbClr val="DCFCE7"/>
          </a:solidFill>
          <a:ln w="6350" cap="flat" cmpd="sng" algn="ctr">
            <a:solidFill>
              <a:srgbClr val="86EFAC"/>
            </a:solidFill>
            <a:miter lim="800000"/>
          </a:ln>
        </p:spPr>
      </p:sp>
      <p:sp>
        <p:nvSpPr>
          <p:cNvPr id="35" name="Text: PART 03"/>
          <p:cNvSpPr txBox="1"/>
          <p:nvPr/>
        </p:nvSpPr>
        <p:spPr>
          <a:xfrm>
            <a:off x="8403134" y="1529953"/>
            <a:ext cx="392212"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059669"/>
                </a:solidFill>
                <a:latin typeface="Segoe UI"/>
                <a:ea typeface="Segoe UI"/>
                <a:cs typeface="Segoe UI"/>
              </a:rPr>
              <a:t>PART 03</a:t>
            </a:r>
            <a:endParaRPr lang="en-US" sz="750" dirty="0"/>
          </a:p>
        </p:txBody>
      </p:sp>
      <p:sp>
        <p:nvSpPr>
          <p:cNvPr id="36" name="Text: 03"/>
          <p:cNvSpPr txBox="1"/>
          <p:nvPr/>
        </p:nvSpPr>
        <p:spPr>
          <a:xfrm>
            <a:off x="11421666" y="1458516"/>
            <a:ext cx="205184" cy="266700"/>
          </a:xfrm>
          <a:prstGeom prst="rect">
            <a:avLst/>
          </a:prstGeom>
          <a:noFill/>
        </p:spPr>
        <p:txBody>
          <a:bodyPr wrap="none" lIns="0" tIns="0" rIns="0" bIns="0" rtlCol="0" anchor="t">
            <a:noAutofit/>
          </a:bodyPr>
          <a:lstStyle/>
          <a:p>
            <a:pPr algn="l">
              <a:lnSpc>
                <a:spcPts val="2100"/>
              </a:lnSpc>
              <a:spcBef>
                <a:spcPts val="0"/>
              </a:spcBef>
              <a:spcAft>
                <a:spcPts val="0"/>
              </a:spcAft>
              <a:buNone/>
            </a:pPr>
            <a:r>
              <a:rPr lang="en-US" sz="1400" b="1" spc="-4" dirty="0">
                <a:solidFill>
                  <a:srgbClr val="059669"/>
                </a:solidFill>
                <a:latin typeface="Segoe UI"/>
                <a:ea typeface="Segoe UI"/>
                <a:cs typeface="Segoe UI"/>
              </a:rPr>
              <a:t>03</a:t>
            </a:r>
            <a:endParaRPr lang="en-US" sz="1400" dirty="0"/>
          </a:p>
        </p:txBody>
      </p:sp>
      <p:sp>
        <p:nvSpPr>
          <p:cNvPr id="37" name="Text: 3가지 AI 모델 성능 비교"/>
          <p:cNvSpPr txBox="1"/>
          <p:nvPr/>
        </p:nvSpPr>
        <p:spPr>
          <a:xfrm>
            <a:off x="8295184" y="1795066"/>
            <a:ext cx="1668760"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F172A"/>
                </a:solidFill>
                <a:latin typeface="Segoe UI"/>
                <a:ea typeface="Segoe UI"/>
                <a:cs typeface="Segoe UI"/>
              </a:rPr>
              <a:t>3가지 AI 모델 성능 비교</a:t>
            </a:r>
            <a:endParaRPr lang="en-US" sz="1200" dirty="0"/>
          </a:p>
        </p:txBody>
      </p:sp>
      <p:sp>
        <p:nvSpPr>
          <p:cNvPr id="38" name="Text: 31장 수작업 모델 vs 1.8만 장 직접 학습 모델 vs 구글 미디어파"/>
          <p:cNvSpPr txBox="1"/>
          <p:nvPr/>
        </p:nvSpPr>
        <p:spPr>
          <a:xfrm>
            <a:off x="8295184" y="2082105"/>
            <a:ext cx="3308747" cy="365720"/>
          </a:xfrm>
          <a:prstGeom prst="rect">
            <a:avLst/>
          </a:prstGeom>
          <a:noFill/>
        </p:spPr>
        <p:txBody>
          <a:bodyPr wrap="none" lIns="0" tIns="0" rIns="0" bIns="0" rtlCol="0" anchor="t">
            <a:noAutofit/>
          </a:bodyPr>
          <a:lstStyle/>
          <a:p>
            <a:pPr algn="l">
              <a:lnSpc>
                <a:spcPts val="1440"/>
              </a:lnSpc>
              <a:spcBef>
                <a:spcPts val="0"/>
              </a:spcBef>
              <a:spcAft>
                <a:spcPts val="0"/>
              </a:spcAft>
              <a:buNone/>
            </a:pPr>
            <a:r>
              <a:rPr lang="en-US" sz="900" spc="-4" dirty="0">
                <a:solidFill>
                  <a:srgbClr val="475569"/>
                </a:solidFill>
                <a:latin typeface="Segoe UI"/>
                <a:ea typeface="Segoe UI"/>
                <a:cs typeface="Segoe UI"/>
              </a:rPr>
              <a:t>31장 수작업 모델 vs 1.8만 장 직접 학습 모델 vs 구글 미디어파이</a:t>
            </a:r>
            <a:br>
              <a:rPr lang="en-US" sz="900"/>
            </a:br>
            <a:r>
              <a:rPr lang="en-US" sz="900" spc="-4" dirty="0">
                <a:solidFill>
                  <a:srgbClr val="475569"/>
                </a:solidFill>
                <a:latin typeface="Segoe UI"/>
                <a:ea typeface="Segoe UI"/>
                <a:cs typeface="Segoe UI"/>
              </a:rPr>
              <a:t>프의 인식률과 속도 비교</a:t>
            </a:r>
            <a:endParaRPr lang="en-US" sz="900" dirty="0"/>
          </a:p>
        </p:txBody>
      </p:sp>
      <p:sp>
        <p:nvSpPr>
          <p:cNvPr id="39" name="Text: 3가지 AI 모델 스펙 비교"/>
          <p:cNvSpPr txBox="1"/>
          <p:nvPr/>
        </p:nvSpPr>
        <p:spPr>
          <a:xfrm>
            <a:off x="8295184" y="3397845"/>
            <a:ext cx="1040110"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059669"/>
                </a:solidFill>
                <a:latin typeface="Segoe UI"/>
                <a:ea typeface="Segoe UI"/>
                <a:cs typeface="Segoe UI"/>
              </a:rPr>
              <a:t>3가지 AI 모델 스펙 비교</a:t>
            </a:r>
            <a:endParaRPr lang="en-US" sz="750" dirty="0"/>
          </a:p>
        </p:txBody>
      </p:sp>
      <p:sp>
        <p:nvSpPr>
          <p:cNvPr id="40" name="Rounded Rectangle"/>
          <p:cNvSpPr/>
          <p:nvPr/>
        </p:nvSpPr>
        <p:spPr>
          <a:xfrm>
            <a:off x="381000" y="3886795"/>
            <a:ext cx="3699867" cy="2447330"/>
          </a:xfrm>
          <a:prstGeom prst="roundRect">
            <a:avLst>
              <a:gd name="adj" fmla="val 4670"/>
            </a:avLst>
          </a:prstGeom>
          <a:solidFill>
            <a:srgbClr val="FFFFFF"/>
          </a:solidFill>
          <a:ln>
            <a:noFill/>
          </a:ln>
          <a:effectLst>
            <a:outerShdw blurRad="101600" dist="50800" dir="5400000" sx="99313" sy="98962" algn="ctr" rotWithShape="0">
              <a:srgbClr val="000000">
                <a:alpha val="5000"/>
              </a:srgbClr>
            </a:outerShdw>
          </a:effectLst>
        </p:spPr>
      </p:sp>
      <p:sp>
        <p:nvSpPr>
          <p:cNvPr id="41" name="Border"/>
          <p:cNvSpPr/>
          <p:nvPr/>
        </p:nvSpPr>
        <p:spPr>
          <a:xfrm>
            <a:off x="381000" y="3886795"/>
            <a:ext cx="3699867" cy="38100"/>
          </a:xfrm>
          <a:prstGeom prst="rect">
            <a:avLst/>
          </a:prstGeom>
          <a:solidFill>
            <a:srgbClr val="D97706"/>
          </a:solidFill>
          <a:ln>
            <a:noFill/>
          </a:ln>
        </p:spPr>
      </p:sp>
      <p:sp>
        <p:nvSpPr>
          <p:cNvPr id="42" name="Border"/>
          <p:cNvSpPr/>
          <p:nvPr/>
        </p:nvSpPr>
        <p:spPr>
          <a:xfrm>
            <a:off x="4074517" y="3886795"/>
            <a:ext cx="6350" cy="2447330"/>
          </a:xfrm>
          <a:prstGeom prst="rect">
            <a:avLst/>
          </a:prstGeom>
          <a:solidFill>
            <a:srgbClr val="E2E8F0"/>
          </a:solidFill>
          <a:ln>
            <a:noFill/>
          </a:ln>
        </p:spPr>
      </p:sp>
      <p:sp>
        <p:nvSpPr>
          <p:cNvPr id="43" name="Border"/>
          <p:cNvSpPr/>
          <p:nvPr/>
        </p:nvSpPr>
        <p:spPr>
          <a:xfrm>
            <a:off x="381000" y="6327775"/>
            <a:ext cx="3699867" cy="6350"/>
          </a:xfrm>
          <a:prstGeom prst="rect">
            <a:avLst/>
          </a:prstGeom>
          <a:solidFill>
            <a:srgbClr val="E2E8F0"/>
          </a:solidFill>
          <a:ln>
            <a:noFill/>
          </a:ln>
        </p:spPr>
      </p:sp>
      <p:sp>
        <p:nvSpPr>
          <p:cNvPr id="44" name="Border"/>
          <p:cNvSpPr/>
          <p:nvPr/>
        </p:nvSpPr>
        <p:spPr>
          <a:xfrm>
            <a:off x="381000" y="3886795"/>
            <a:ext cx="6350" cy="2447330"/>
          </a:xfrm>
          <a:prstGeom prst="rect">
            <a:avLst/>
          </a:prstGeom>
          <a:solidFill>
            <a:srgbClr val="E2E8F0"/>
          </a:solidFill>
          <a:ln>
            <a:noFill/>
          </a:ln>
        </p:spPr>
      </p:sp>
      <p:sp>
        <p:nvSpPr>
          <p:cNvPr id="45" name="Rounded Rectangle"/>
          <p:cNvSpPr/>
          <p:nvPr/>
        </p:nvSpPr>
        <p:spPr>
          <a:xfrm>
            <a:off x="568325" y="4104283"/>
            <a:ext cx="601762" cy="238125"/>
          </a:xfrm>
          <a:prstGeom prst="roundRect">
            <a:avLst>
              <a:gd name="adj" fmla="val 20000"/>
            </a:avLst>
          </a:prstGeom>
          <a:solidFill>
            <a:srgbClr val="FEF3C7"/>
          </a:solidFill>
          <a:ln w="6350" cap="flat" cmpd="sng" algn="ctr">
            <a:solidFill>
              <a:srgbClr val="FDE68A"/>
            </a:solidFill>
            <a:miter lim="800000"/>
          </a:ln>
        </p:spPr>
      </p:sp>
      <p:sp>
        <p:nvSpPr>
          <p:cNvPr id="46" name="Text: PART 04"/>
          <p:cNvSpPr txBox="1"/>
          <p:nvPr/>
        </p:nvSpPr>
        <p:spPr>
          <a:xfrm>
            <a:off x="673100" y="4142383"/>
            <a:ext cx="392212"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D97706"/>
                </a:solidFill>
                <a:latin typeface="Segoe UI"/>
                <a:ea typeface="Segoe UI"/>
                <a:cs typeface="Segoe UI"/>
              </a:rPr>
              <a:t>PART 04</a:t>
            </a:r>
            <a:endParaRPr lang="en-US" sz="750" dirty="0"/>
          </a:p>
        </p:txBody>
      </p:sp>
      <p:sp>
        <p:nvSpPr>
          <p:cNvPr id="47" name="Text: 04"/>
          <p:cNvSpPr txBox="1"/>
          <p:nvPr/>
        </p:nvSpPr>
        <p:spPr>
          <a:xfrm>
            <a:off x="3691533" y="4070945"/>
            <a:ext cx="205184" cy="266700"/>
          </a:xfrm>
          <a:prstGeom prst="rect">
            <a:avLst/>
          </a:prstGeom>
          <a:noFill/>
        </p:spPr>
        <p:txBody>
          <a:bodyPr wrap="none" lIns="0" tIns="0" rIns="0" bIns="0" rtlCol="0" anchor="t">
            <a:noAutofit/>
          </a:bodyPr>
          <a:lstStyle/>
          <a:p>
            <a:pPr algn="l">
              <a:lnSpc>
                <a:spcPts val="2100"/>
              </a:lnSpc>
              <a:spcBef>
                <a:spcPts val="0"/>
              </a:spcBef>
              <a:spcAft>
                <a:spcPts val="0"/>
              </a:spcAft>
              <a:buNone/>
            </a:pPr>
            <a:r>
              <a:rPr lang="en-US" sz="1400" b="1" spc="-4" dirty="0">
                <a:solidFill>
                  <a:srgbClr val="D97706"/>
                </a:solidFill>
                <a:latin typeface="Segoe UI"/>
                <a:ea typeface="Segoe UI"/>
                <a:cs typeface="Segoe UI"/>
              </a:rPr>
              <a:t>04</a:t>
            </a:r>
            <a:endParaRPr lang="en-US" sz="1400" dirty="0"/>
          </a:p>
        </p:txBody>
      </p:sp>
      <p:sp>
        <p:nvSpPr>
          <p:cNvPr id="48" name="Text: 각 모델별 실전 추론 결과 &amp; 분석"/>
          <p:cNvSpPr txBox="1"/>
          <p:nvPr/>
        </p:nvSpPr>
        <p:spPr>
          <a:xfrm>
            <a:off x="565150" y="4407495"/>
            <a:ext cx="2271216"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F172A"/>
                </a:solidFill>
                <a:latin typeface="Segoe UI"/>
                <a:ea typeface="Segoe UI"/>
                <a:cs typeface="Segoe UI"/>
              </a:rPr>
              <a:t>각 모델별 실전 추론 결과 &amp; 분석</a:t>
            </a:r>
            <a:endParaRPr lang="en-US" sz="1200" dirty="0"/>
          </a:p>
        </p:txBody>
      </p:sp>
      <p:sp>
        <p:nvSpPr>
          <p:cNvPr id="49" name="Text: Intel Geti 모델의 성능 한계(PCK 43%)와 유령 관절, 그리"/>
          <p:cNvSpPr txBox="1"/>
          <p:nvPr/>
        </p:nvSpPr>
        <p:spPr>
          <a:xfrm>
            <a:off x="565150" y="4694535"/>
            <a:ext cx="3186113" cy="365720"/>
          </a:xfrm>
          <a:prstGeom prst="rect">
            <a:avLst/>
          </a:prstGeom>
          <a:noFill/>
        </p:spPr>
        <p:txBody>
          <a:bodyPr wrap="none" lIns="0" tIns="0" rIns="0" bIns="0" rtlCol="0" anchor="t">
            <a:noAutofit/>
          </a:bodyPr>
          <a:lstStyle/>
          <a:p>
            <a:pPr algn="l">
              <a:lnSpc>
                <a:spcPts val="1440"/>
              </a:lnSpc>
              <a:spcBef>
                <a:spcPts val="0"/>
              </a:spcBef>
              <a:spcAft>
                <a:spcPts val="0"/>
              </a:spcAft>
              <a:buNone/>
            </a:pPr>
            <a:r>
              <a:rPr lang="en-US" sz="900" spc="-4" dirty="0">
                <a:solidFill>
                  <a:srgbClr val="475569"/>
                </a:solidFill>
                <a:latin typeface="Segoe UI"/>
                <a:ea typeface="Segoe UI"/>
                <a:cs typeface="Segoe UI"/>
              </a:rPr>
              <a:t>Intel Geti 모델의 성능 한계(PCK 43%)와 유령 관절, 그리고 3대</a:t>
            </a:r>
            <a:br>
              <a:rPr lang="en-US" sz="900"/>
            </a:br>
            <a:r>
              <a:rPr lang="en-US" sz="900" spc="-4" dirty="0">
                <a:solidFill>
                  <a:srgbClr val="475569"/>
                </a:solidFill>
                <a:latin typeface="Segoe UI"/>
                <a:ea typeface="Segoe UI"/>
                <a:cs typeface="Segoe UI"/>
              </a:rPr>
              <a:t>모델의 실제 추론 양상 비교</a:t>
            </a:r>
            <a:endParaRPr lang="en-US" sz="900" dirty="0"/>
          </a:p>
        </p:txBody>
      </p:sp>
      <p:sp>
        <p:nvSpPr>
          <p:cNvPr id="50" name="Text: 모델별 실전 결과 &amp; 점수의 진실"/>
          <p:cNvSpPr txBox="1"/>
          <p:nvPr/>
        </p:nvSpPr>
        <p:spPr>
          <a:xfrm>
            <a:off x="565150" y="6010275"/>
            <a:ext cx="1383010"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D97706"/>
                </a:solidFill>
                <a:latin typeface="Segoe UI"/>
                <a:ea typeface="Segoe UI"/>
                <a:cs typeface="Segoe UI"/>
              </a:rPr>
              <a:t>모델별 실전 결과 &amp; 점수의 진실</a:t>
            </a:r>
            <a:endParaRPr lang="en-US" sz="750" dirty="0"/>
          </a:p>
        </p:txBody>
      </p:sp>
      <p:sp>
        <p:nvSpPr>
          <p:cNvPr id="51" name="Rounded Rectangle"/>
          <p:cNvSpPr/>
          <p:nvPr/>
        </p:nvSpPr>
        <p:spPr>
          <a:xfrm>
            <a:off x="4245967" y="3886795"/>
            <a:ext cx="3699966" cy="2447330"/>
          </a:xfrm>
          <a:prstGeom prst="roundRect">
            <a:avLst>
              <a:gd name="adj" fmla="val 4670"/>
            </a:avLst>
          </a:prstGeom>
          <a:solidFill>
            <a:srgbClr val="FFFFFF"/>
          </a:solidFill>
          <a:ln>
            <a:noFill/>
          </a:ln>
          <a:effectLst>
            <a:outerShdw blurRad="101600" dist="50800" dir="5400000" sx="99314" sy="98962" algn="ctr" rotWithShape="0">
              <a:srgbClr val="000000">
                <a:alpha val="5000"/>
              </a:srgbClr>
            </a:outerShdw>
          </a:effectLst>
        </p:spPr>
      </p:sp>
      <p:sp>
        <p:nvSpPr>
          <p:cNvPr id="52" name="Border"/>
          <p:cNvSpPr/>
          <p:nvPr/>
        </p:nvSpPr>
        <p:spPr>
          <a:xfrm>
            <a:off x="4245967" y="3886795"/>
            <a:ext cx="3699966" cy="38100"/>
          </a:xfrm>
          <a:prstGeom prst="rect">
            <a:avLst/>
          </a:prstGeom>
          <a:solidFill>
            <a:srgbClr val="7C3AED"/>
          </a:solidFill>
          <a:ln>
            <a:noFill/>
          </a:ln>
        </p:spPr>
      </p:sp>
      <p:sp>
        <p:nvSpPr>
          <p:cNvPr id="53" name="Border"/>
          <p:cNvSpPr/>
          <p:nvPr/>
        </p:nvSpPr>
        <p:spPr>
          <a:xfrm>
            <a:off x="7939584" y="3886795"/>
            <a:ext cx="6350" cy="2447330"/>
          </a:xfrm>
          <a:prstGeom prst="rect">
            <a:avLst/>
          </a:prstGeom>
          <a:solidFill>
            <a:srgbClr val="E2E8F0"/>
          </a:solidFill>
          <a:ln>
            <a:noFill/>
          </a:ln>
        </p:spPr>
      </p:sp>
      <p:sp>
        <p:nvSpPr>
          <p:cNvPr id="54" name="Border"/>
          <p:cNvSpPr/>
          <p:nvPr/>
        </p:nvSpPr>
        <p:spPr>
          <a:xfrm>
            <a:off x="4245967" y="6327775"/>
            <a:ext cx="3699966" cy="6350"/>
          </a:xfrm>
          <a:prstGeom prst="rect">
            <a:avLst/>
          </a:prstGeom>
          <a:solidFill>
            <a:srgbClr val="E2E8F0"/>
          </a:solidFill>
          <a:ln>
            <a:noFill/>
          </a:ln>
        </p:spPr>
      </p:sp>
      <p:sp>
        <p:nvSpPr>
          <p:cNvPr id="55" name="Border"/>
          <p:cNvSpPr/>
          <p:nvPr/>
        </p:nvSpPr>
        <p:spPr>
          <a:xfrm>
            <a:off x="4245967" y="3886795"/>
            <a:ext cx="6350" cy="2447330"/>
          </a:xfrm>
          <a:prstGeom prst="rect">
            <a:avLst/>
          </a:prstGeom>
          <a:solidFill>
            <a:srgbClr val="E2E8F0"/>
          </a:solidFill>
          <a:ln>
            <a:noFill/>
          </a:ln>
        </p:spPr>
      </p:sp>
      <p:sp>
        <p:nvSpPr>
          <p:cNvPr id="56" name="Rounded Rectangle"/>
          <p:cNvSpPr/>
          <p:nvPr/>
        </p:nvSpPr>
        <p:spPr>
          <a:xfrm>
            <a:off x="4433292" y="4104283"/>
            <a:ext cx="601762" cy="238125"/>
          </a:xfrm>
          <a:prstGeom prst="roundRect">
            <a:avLst>
              <a:gd name="adj" fmla="val 20000"/>
            </a:avLst>
          </a:prstGeom>
          <a:solidFill>
            <a:srgbClr val="F3E8FF"/>
          </a:solidFill>
          <a:ln w="6350" cap="flat" cmpd="sng" algn="ctr">
            <a:solidFill>
              <a:srgbClr val="D8B4FE"/>
            </a:solidFill>
            <a:miter lim="800000"/>
          </a:ln>
        </p:spPr>
      </p:sp>
      <p:sp>
        <p:nvSpPr>
          <p:cNvPr id="57" name="Text: PART 05"/>
          <p:cNvSpPr txBox="1"/>
          <p:nvPr/>
        </p:nvSpPr>
        <p:spPr>
          <a:xfrm>
            <a:off x="4538067" y="4142383"/>
            <a:ext cx="392212"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7C3AED"/>
                </a:solidFill>
                <a:latin typeface="Segoe UI"/>
                <a:ea typeface="Segoe UI"/>
                <a:cs typeface="Segoe UI"/>
              </a:rPr>
              <a:t>PART 05</a:t>
            </a:r>
            <a:endParaRPr lang="en-US" sz="750" dirty="0"/>
          </a:p>
        </p:txBody>
      </p:sp>
      <p:sp>
        <p:nvSpPr>
          <p:cNvPr id="58" name="Text: 05"/>
          <p:cNvSpPr txBox="1"/>
          <p:nvPr/>
        </p:nvSpPr>
        <p:spPr>
          <a:xfrm>
            <a:off x="7556599" y="4070945"/>
            <a:ext cx="205184" cy="266700"/>
          </a:xfrm>
          <a:prstGeom prst="rect">
            <a:avLst/>
          </a:prstGeom>
          <a:noFill/>
        </p:spPr>
        <p:txBody>
          <a:bodyPr wrap="none" lIns="0" tIns="0" rIns="0" bIns="0" rtlCol="0" anchor="t">
            <a:noAutofit/>
          </a:bodyPr>
          <a:lstStyle/>
          <a:p>
            <a:pPr algn="l">
              <a:lnSpc>
                <a:spcPts val="2100"/>
              </a:lnSpc>
              <a:spcBef>
                <a:spcPts val="0"/>
              </a:spcBef>
              <a:spcAft>
                <a:spcPts val="0"/>
              </a:spcAft>
              <a:buNone/>
            </a:pPr>
            <a:r>
              <a:rPr lang="en-US" sz="1400" b="1" spc="-4" dirty="0">
                <a:solidFill>
                  <a:srgbClr val="7C3AED"/>
                </a:solidFill>
                <a:latin typeface="Segoe UI"/>
                <a:ea typeface="Segoe UI"/>
                <a:cs typeface="Segoe UI"/>
              </a:rPr>
              <a:t>05</a:t>
            </a:r>
            <a:endParaRPr lang="en-US" sz="1400" dirty="0"/>
          </a:p>
        </p:txBody>
      </p:sp>
      <p:sp>
        <p:nvSpPr>
          <p:cNvPr id="59" name="Text: 손 제스처 음악 변환 &amp; 시스템 구조"/>
          <p:cNvSpPr txBox="1"/>
          <p:nvPr/>
        </p:nvSpPr>
        <p:spPr>
          <a:xfrm>
            <a:off x="4430117" y="4407495"/>
            <a:ext cx="2423120"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F172A"/>
                </a:solidFill>
                <a:latin typeface="Segoe UI"/>
                <a:ea typeface="Segoe UI"/>
                <a:cs typeface="Segoe UI"/>
              </a:rPr>
              <a:t>손 제스처 음악 변환 &amp; 시스템 구조</a:t>
            </a:r>
            <a:endParaRPr lang="en-US" sz="1200" dirty="0"/>
          </a:p>
        </p:txBody>
      </p:sp>
      <p:sp>
        <p:nvSpPr>
          <p:cNvPr id="60" name="Text: 손가락 관절 기반 피아노 코드 연주와, Python-WebSocket- "/>
          <p:cNvSpPr txBox="1"/>
          <p:nvPr/>
        </p:nvSpPr>
        <p:spPr>
          <a:xfrm>
            <a:off x="4430117" y="4694535"/>
            <a:ext cx="2986187" cy="365720"/>
          </a:xfrm>
          <a:prstGeom prst="rect">
            <a:avLst/>
          </a:prstGeom>
          <a:noFill/>
        </p:spPr>
        <p:txBody>
          <a:bodyPr wrap="none" lIns="0" tIns="0" rIns="0" bIns="0" rtlCol="0" anchor="t">
            <a:noAutofit/>
          </a:bodyPr>
          <a:lstStyle/>
          <a:p>
            <a:pPr algn="l">
              <a:lnSpc>
                <a:spcPts val="1440"/>
              </a:lnSpc>
              <a:spcBef>
                <a:spcPts val="0"/>
              </a:spcBef>
              <a:spcAft>
                <a:spcPts val="0"/>
              </a:spcAft>
              <a:buNone/>
            </a:pPr>
            <a:r>
              <a:rPr lang="en-US" sz="900" spc="-4" dirty="0">
                <a:solidFill>
                  <a:srgbClr val="475569"/>
                </a:solidFill>
                <a:latin typeface="Segoe UI"/>
                <a:ea typeface="Segoe UI"/>
                <a:cs typeface="Segoe UI"/>
              </a:rPr>
              <a:t>손가락 관절 기반 피아노 코드 연주와, Python-WebSocket-</a:t>
            </a:r>
            <a:br>
              <a:rPr lang="en-US" sz="900"/>
            </a:br>
            <a:r>
              <a:rPr lang="en-US" sz="900" spc="-4" dirty="0">
                <a:solidFill>
                  <a:srgbClr val="475569"/>
                </a:solidFill>
                <a:latin typeface="Segoe UI"/>
                <a:ea typeface="Segoe UI"/>
                <a:cs typeface="Segoe UI"/>
              </a:rPr>
              <a:t>Electron을 잇는 실시간 통신 아키텍처</a:t>
            </a:r>
            <a:endParaRPr lang="en-US" sz="900" dirty="0"/>
          </a:p>
        </p:txBody>
      </p:sp>
      <p:sp>
        <p:nvSpPr>
          <p:cNvPr id="61" name="Text: 제스처 악기 연주 &amp; 시스템 파이프라인"/>
          <p:cNvSpPr txBox="1"/>
          <p:nvPr/>
        </p:nvSpPr>
        <p:spPr>
          <a:xfrm>
            <a:off x="4430117" y="6010275"/>
            <a:ext cx="166717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7C3AED"/>
                </a:solidFill>
                <a:latin typeface="Segoe UI"/>
                <a:ea typeface="Segoe UI"/>
                <a:cs typeface="Segoe UI"/>
              </a:rPr>
              <a:t>제스처 악기 연주 &amp; 시스템 파이프라인</a:t>
            </a:r>
            <a:endParaRPr lang="en-US" sz="750" dirty="0"/>
          </a:p>
        </p:txBody>
      </p:sp>
      <p:sp>
        <p:nvSpPr>
          <p:cNvPr id="62" name="Rounded Rectangle"/>
          <p:cNvSpPr/>
          <p:nvPr/>
        </p:nvSpPr>
        <p:spPr>
          <a:xfrm>
            <a:off x="8111034" y="3886795"/>
            <a:ext cx="3699966" cy="2447330"/>
          </a:xfrm>
          <a:prstGeom prst="roundRect">
            <a:avLst>
              <a:gd name="adj" fmla="val 4670"/>
            </a:avLst>
          </a:prstGeom>
          <a:solidFill>
            <a:srgbClr val="FFFFFF"/>
          </a:solidFill>
          <a:ln>
            <a:noFill/>
          </a:ln>
          <a:effectLst>
            <a:outerShdw blurRad="101600" dist="50800" dir="5400000" sx="99314" sy="98962" algn="ctr" rotWithShape="0">
              <a:srgbClr val="000000">
                <a:alpha val="5000"/>
              </a:srgbClr>
            </a:outerShdw>
          </a:effectLst>
        </p:spPr>
      </p:sp>
      <p:sp>
        <p:nvSpPr>
          <p:cNvPr id="63" name="Border"/>
          <p:cNvSpPr/>
          <p:nvPr/>
        </p:nvSpPr>
        <p:spPr>
          <a:xfrm>
            <a:off x="8111034" y="3886795"/>
            <a:ext cx="3699966" cy="38100"/>
          </a:xfrm>
          <a:prstGeom prst="rect">
            <a:avLst/>
          </a:prstGeom>
          <a:solidFill>
            <a:srgbClr val="475569"/>
          </a:solidFill>
          <a:ln>
            <a:noFill/>
          </a:ln>
        </p:spPr>
      </p:sp>
      <p:sp>
        <p:nvSpPr>
          <p:cNvPr id="64" name="Border"/>
          <p:cNvSpPr/>
          <p:nvPr/>
        </p:nvSpPr>
        <p:spPr>
          <a:xfrm>
            <a:off x="11804650" y="3886795"/>
            <a:ext cx="6350" cy="2447330"/>
          </a:xfrm>
          <a:prstGeom prst="rect">
            <a:avLst/>
          </a:prstGeom>
          <a:solidFill>
            <a:srgbClr val="E2E8F0"/>
          </a:solidFill>
          <a:ln>
            <a:noFill/>
          </a:ln>
        </p:spPr>
      </p:sp>
      <p:sp>
        <p:nvSpPr>
          <p:cNvPr id="65" name="Border"/>
          <p:cNvSpPr/>
          <p:nvPr/>
        </p:nvSpPr>
        <p:spPr>
          <a:xfrm>
            <a:off x="8111034" y="6327775"/>
            <a:ext cx="3699966" cy="6350"/>
          </a:xfrm>
          <a:prstGeom prst="rect">
            <a:avLst/>
          </a:prstGeom>
          <a:solidFill>
            <a:srgbClr val="E2E8F0"/>
          </a:solidFill>
          <a:ln>
            <a:noFill/>
          </a:ln>
        </p:spPr>
      </p:sp>
      <p:sp>
        <p:nvSpPr>
          <p:cNvPr id="66" name="Border"/>
          <p:cNvSpPr/>
          <p:nvPr/>
        </p:nvSpPr>
        <p:spPr>
          <a:xfrm>
            <a:off x="8111034" y="3886795"/>
            <a:ext cx="6350" cy="2447330"/>
          </a:xfrm>
          <a:prstGeom prst="rect">
            <a:avLst/>
          </a:prstGeom>
          <a:solidFill>
            <a:srgbClr val="E2E8F0"/>
          </a:solidFill>
          <a:ln>
            <a:noFill/>
          </a:ln>
        </p:spPr>
      </p:sp>
      <p:sp>
        <p:nvSpPr>
          <p:cNvPr id="67" name="Rounded Rectangle"/>
          <p:cNvSpPr/>
          <p:nvPr/>
        </p:nvSpPr>
        <p:spPr>
          <a:xfrm>
            <a:off x="8298359" y="4104283"/>
            <a:ext cx="601762" cy="238125"/>
          </a:xfrm>
          <a:prstGeom prst="roundRect">
            <a:avLst>
              <a:gd name="adj" fmla="val 20000"/>
            </a:avLst>
          </a:prstGeom>
          <a:solidFill>
            <a:srgbClr val="F1F5F9"/>
          </a:solidFill>
          <a:ln w="6350" cap="flat" cmpd="sng" algn="ctr">
            <a:solidFill>
              <a:srgbClr val="CBD5E1"/>
            </a:solidFill>
            <a:miter lim="800000"/>
          </a:ln>
        </p:spPr>
      </p:sp>
      <p:sp>
        <p:nvSpPr>
          <p:cNvPr id="68" name="Text: PART 06"/>
          <p:cNvSpPr txBox="1"/>
          <p:nvPr/>
        </p:nvSpPr>
        <p:spPr>
          <a:xfrm>
            <a:off x="8403134" y="4142383"/>
            <a:ext cx="392212"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475569"/>
                </a:solidFill>
                <a:latin typeface="Segoe UI"/>
                <a:ea typeface="Segoe UI"/>
                <a:cs typeface="Segoe UI"/>
              </a:rPr>
              <a:t>PART 06</a:t>
            </a:r>
            <a:endParaRPr lang="en-US" sz="750" dirty="0"/>
          </a:p>
        </p:txBody>
      </p:sp>
      <p:sp>
        <p:nvSpPr>
          <p:cNvPr id="69" name="Text: 06"/>
          <p:cNvSpPr txBox="1"/>
          <p:nvPr/>
        </p:nvSpPr>
        <p:spPr>
          <a:xfrm>
            <a:off x="11421666" y="4070945"/>
            <a:ext cx="205184" cy="266700"/>
          </a:xfrm>
          <a:prstGeom prst="rect">
            <a:avLst/>
          </a:prstGeom>
          <a:noFill/>
        </p:spPr>
        <p:txBody>
          <a:bodyPr wrap="none" lIns="0" tIns="0" rIns="0" bIns="0" rtlCol="0" anchor="t">
            <a:noAutofit/>
          </a:bodyPr>
          <a:lstStyle/>
          <a:p>
            <a:pPr algn="l">
              <a:lnSpc>
                <a:spcPts val="2100"/>
              </a:lnSpc>
              <a:spcBef>
                <a:spcPts val="0"/>
              </a:spcBef>
              <a:spcAft>
                <a:spcPts val="0"/>
              </a:spcAft>
              <a:buNone/>
            </a:pPr>
            <a:r>
              <a:rPr lang="en-US" sz="1400" b="1" spc="-4" dirty="0">
                <a:solidFill>
                  <a:srgbClr val="475569"/>
                </a:solidFill>
                <a:latin typeface="Segoe UI"/>
                <a:ea typeface="Segoe UI"/>
                <a:cs typeface="Segoe UI"/>
              </a:rPr>
              <a:t>06</a:t>
            </a:r>
            <a:endParaRPr lang="en-US" sz="1400" dirty="0"/>
          </a:p>
        </p:txBody>
      </p:sp>
      <p:sp>
        <p:nvSpPr>
          <p:cNvPr id="70" name="Text: 다중 모델 검증 &amp; 프로젝트 결론"/>
          <p:cNvSpPr txBox="1"/>
          <p:nvPr/>
        </p:nvSpPr>
        <p:spPr>
          <a:xfrm>
            <a:off x="8295184" y="4407495"/>
            <a:ext cx="2218234"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F172A"/>
                </a:solidFill>
                <a:latin typeface="Segoe UI"/>
                <a:ea typeface="Segoe UI"/>
                <a:cs typeface="Segoe UI"/>
              </a:rPr>
              <a:t>다중 모델 검증 &amp; 프로젝트 결론</a:t>
            </a:r>
            <a:endParaRPr lang="en-US" sz="1200" dirty="0"/>
          </a:p>
        </p:txBody>
      </p:sp>
      <p:sp>
        <p:nvSpPr>
          <p:cNvPr id="71" name="Text: Intel Geti, Custom YOLOv8, MediaPipe 다중 "/>
          <p:cNvSpPr txBox="1"/>
          <p:nvPr/>
        </p:nvSpPr>
        <p:spPr>
          <a:xfrm>
            <a:off x="8295184" y="4694535"/>
            <a:ext cx="3311327" cy="365720"/>
          </a:xfrm>
          <a:prstGeom prst="rect">
            <a:avLst/>
          </a:prstGeom>
          <a:noFill/>
        </p:spPr>
        <p:txBody>
          <a:bodyPr wrap="none" lIns="0" tIns="0" rIns="0" bIns="0" rtlCol="0" anchor="t">
            <a:noAutofit/>
          </a:bodyPr>
          <a:lstStyle/>
          <a:p>
            <a:pPr algn="l">
              <a:lnSpc>
                <a:spcPts val="1440"/>
              </a:lnSpc>
              <a:spcBef>
                <a:spcPts val="0"/>
              </a:spcBef>
              <a:spcAft>
                <a:spcPts val="0"/>
              </a:spcAft>
              <a:buNone/>
            </a:pPr>
            <a:r>
              <a:rPr lang="en-US" sz="900" spc="-4" dirty="0">
                <a:solidFill>
                  <a:srgbClr val="475569"/>
                </a:solidFill>
                <a:latin typeface="Segoe UI"/>
                <a:ea typeface="Segoe UI"/>
                <a:cs typeface="Segoe UI"/>
              </a:rPr>
              <a:t>Intel Geti, Custom YOLOv8, MediaPipe 다중 모델 직접 실험과 비</a:t>
            </a:r>
            <a:br>
              <a:rPr lang="en-US" sz="900"/>
            </a:br>
            <a:r>
              <a:rPr lang="en-US" sz="900" spc="-4" dirty="0">
                <a:solidFill>
                  <a:srgbClr val="475569"/>
                </a:solidFill>
                <a:latin typeface="Segoe UI"/>
                <a:ea typeface="Segoe UI"/>
                <a:cs typeface="Segoe UI"/>
              </a:rPr>
              <a:t>교를 통해 얻은 엔지니어링 고찰 및 결론</a:t>
            </a:r>
            <a:endParaRPr lang="en-US" sz="900" dirty="0"/>
          </a:p>
        </p:txBody>
      </p:sp>
      <p:sp>
        <p:nvSpPr>
          <p:cNvPr id="72" name="Text: 다중 모델 비교 및 최종 결론"/>
          <p:cNvSpPr txBox="1"/>
          <p:nvPr/>
        </p:nvSpPr>
        <p:spPr>
          <a:xfrm>
            <a:off x="8295184" y="6010275"/>
            <a:ext cx="1207095"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475569"/>
                </a:solidFill>
                <a:latin typeface="Segoe UI"/>
                <a:ea typeface="Segoe UI"/>
                <a:cs typeface="Segoe UI"/>
              </a:rPr>
              <a:t>다중 모델 비교 및 최종 결론</a:t>
            </a:r>
            <a:endParaRPr lang="en-US" sz="750" dirty="0"/>
          </a:p>
        </p:txBody>
      </p:sp>
      <p:sp>
        <p:nvSpPr>
          <p:cNvPr id="73" name="Border"/>
          <p:cNvSpPr/>
          <p:nvPr/>
        </p:nvSpPr>
        <p:spPr>
          <a:xfrm>
            <a:off x="381000" y="6334125"/>
            <a:ext cx="11430000" cy="6350"/>
          </a:xfrm>
          <a:prstGeom prst="rect">
            <a:avLst/>
          </a:prstGeom>
          <a:solidFill>
            <a:srgbClr val="E2E8F0"/>
          </a:solidFill>
          <a:ln>
            <a:noFill/>
          </a:ln>
        </p:spPr>
      </p:sp>
      <p:sp>
        <p:nvSpPr>
          <p:cNvPr id="74"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75" name="Rounded Rectangle"/>
          <p:cNvSpPr/>
          <p:nvPr/>
        </p:nvSpPr>
        <p:spPr>
          <a:xfrm>
            <a:off x="11237714" y="6429375"/>
            <a:ext cx="573286" cy="225425"/>
          </a:xfrm>
          <a:prstGeom prst="roundRect">
            <a:avLst>
              <a:gd name="adj" fmla="val 22535"/>
            </a:avLst>
          </a:prstGeom>
          <a:solidFill>
            <a:srgbClr val="F1F5F9"/>
          </a:solidFill>
          <a:ln>
            <a:noFill/>
          </a:ln>
        </p:spPr>
      </p:sp>
      <p:sp>
        <p:nvSpPr>
          <p:cNvPr id="76" name="Text: 02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02 / 14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681163" cy="238125"/>
          </a:xfrm>
          <a:prstGeom prst="roundRect">
            <a:avLst>
              <a:gd name="adj" fmla="val 20000"/>
            </a:avLst>
          </a:prstGeom>
          <a:solidFill>
            <a:srgbClr val="EFF6FF"/>
          </a:solidFill>
          <a:ln w="6350" cap="flat" cmpd="sng" algn="ctr">
            <a:solidFill>
              <a:srgbClr val="BFDBFE"/>
            </a:solidFill>
            <a:miter lim="800000"/>
          </a:ln>
        </p:spPr>
      </p:sp>
      <p:sp>
        <p:nvSpPr>
          <p:cNvPr id="3" name="Text: PART 01 • 관절 구조 &amp; 데이터셋"/>
          <p:cNvSpPr txBox="1"/>
          <p:nvPr/>
        </p:nvSpPr>
        <p:spPr>
          <a:xfrm>
            <a:off x="488950" y="282575"/>
            <a:ext cx="147161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01 • 관절 구조 &amp; 데이터셋</a:t>
            </a:r>
            <a:endParaRPr lang="en-US" sz="750" dirty="0"/>
          </a:p>
        </p:txBody>
      </p:sp>
      <p:sp>
        <p:nvSpPr>
          <p:cNvPr id="4" name="Text: AuraSynth Engine Architecture"/>
          <p:cNvSpPr txBox="1"/>
          <p:nvPr/>
        </p:nvSpPr>
        <p:spPr>
          <a:xfrm>
            <a:off x="2157413"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21개 손 관절 구조와 데이터셋"/>
          <p:cNvSpPr txBox="1"/>
          <p:nvPr/>
        </p:nvSpPr>
        <p:spPr>
          <a:xfrm>
            <a:off x="381000" y="555625"/>
            <a:ext cx="4145161"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21개 손 관절 구조와 데이터셋</a:t>
            </a:r>
            <a:endParaRPr lang="en-US" sz="2500" dirty="0"/>
          </a:p>
        </p:txBody>
      </p:sp>
      <p:sp>
        <p:nvSpPr>
          <p:cNvPr id="6" name="Text: 손목(0번)부터 손끝(20번)까지의 21개 관절 마디 구조와 2.7만 장"/>
          <p:cNvSpPr txBox="1"/>
          <p:nvPr/>
        </p:nvSpPr>
        <p:spPr>
          <a:xfrm>
            <a:off x="381000" y="948055"/>
            <a:ext cx="5641677"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손목(0번)부터 손끝(20번)까지의 21개 관절 마디 구조와 2.7만 장 글로벌 표준 데이터셋</a:t>
            </a:r>
            <a:endParaRPr lang="en-US" sz="1150" dirty="0"/>
          </a:p>
        </p:txBody>
      </p:sp>
      <p:sp>
        <p:nvSpPr>
          <p:cNvPr id="7" name="Rounded Rectangle"/>
          <p:cNvSpPr/>
          <p:nvPr/>
        </p:nvSpPr>
        <p:spPr>
          <a:xfrm>
            <a:off x="384175" y="1277541"/>
            <a:ext cx="6110387" cy="5053409"/>
          </a:xfrm>
          <a:prstGeom prst="roundRect">
            <a:avLst>
              <a:gd name="adj" fmla="val 2199"/>
            </a:avLst>
          </a:prstGeom>
          <a:solidFill>
            <a:srgbClr val="FFFFFF"/>
          </a:solidFill>
          <a:ln w="6350" cap="flat" cmpd="sng" algn="ctr">
            <a:solidFill>
              <a:srgbClr val="E2E8F0"/>
            </a:solidFill>
            <a:miter lim="800000"/>
          </a:ln>
          <a:effectLst>
            <a:outerShdw blurRad="101600" dist="50800" dir="5400000" sx="99584" sy="99497" algn="ctr" rotWithShape="0">
              <a:srgbClr val="000000">
                <a:alpha val="5000"/>
              </a:srgbClr>
            </a:outerShdw>
          </a:effectLst>
        </p:spPr>
      </p:sp>
      <p:sp>
        <p:nvSpPr>
          <p:cNvPr id="8" name="Rounded Rectangle"/>
          <p:cNvSpPr/>
          <p:nvPr/>
        </p:nvSpPr>
        <p:spPr>
          <a:xfrm>
            <a:off x="581025" y="1436291"/>
            <a:ext cx="5716687" cy="4445397"/>
          </a:xfrm>
          <a:prstGeom prst="roundRect">
            <a:avLst>
              <a:gd name="adj" fmla="val 2214"/>
            </a:avLst>
          </a:prstGeom>
          <a:solidFill>
            <a:srgbClr val="F8FAFC"/>
          </a:solidFill>
          <a:ln w="6350" cap="flat" cmpd="sng" algn="ctr">
            <a:solidFill>
              <a:srgbClr val="E2E8F0"/>
            </a:solidFill>
            <a:miter lim="800000"/>
          </a:ln>
        </p:spPr>
      </p:sp>
      <p:pic>
        <p:nvPicPr>
          <p:cNvPr id="9" name="Image: 21 Hand Keypoint Landmarks"/>
          <p:cNvPicPr>
            <a:picLocks noChangeAspect="1"/>
          </p:cNvPicPr>
          <p:nvPr/>
        </p:nvPicPr>
        <p:blipFill>
          <a:blip r:embed="rId2"/>
          <a:stretch>
            <a:fillRect/>
          </a:stretch>
        </p:blipFill>
        <p:spPr>
          <a:xfrm>
            <a:off x="685841" y="2651423"/>
            <a:ext cx="5507055" cy="2015034"/>
          </a:xfrm>
          <a:prstGeom prst="rect">
            <a:avLst/>
          </a:prstGeom>
          <a:ln>
            <a:noFill/>
          </a:ln>
        </p:spPr>
      </p:pic>
      <p:sp>
        <p:nvSpPr>
          <p:cNvPr id="10" name="Text: 21개 손 관절(Keypoint) 표준 해부학 매핑. 출처: Resear"/>
          <p:cNvSpPr txBox="1"/>
          <p:nvPr/>
        </p:nvSpPr>
        <p:spPr>
          <a:xfrm>
            <a:off x="1777008" y="5981700"/>
            <a:ext cx="3324721" cy="176213"/>
          </a:xfrm>
          <a:prstGeom prst="rect">
            <a:avLst/>
          </a:prstGeom>
          <a:noFill/>
        </p:spPr>
        <p:txBody>
          <a:bodyPr wrap="none" lIns="0" tIns="0" rIns="0" bIns="0" rtlCol="0" anchor="t">
            <a:noAutofit/>
          </a:bodyPr>
          <a:lstStyle/>
          <a:p>
            <a:pPr algn="ctr">
              <a:lnSpc>
                <a:spcPts val="1388"/>
              </a:lnSpc>
              <a:spcBef>
                <a:spcPts val="0"/>
              </a:spcBef>
              <a:spcAft>
                <a:spcPts val="0"/>
              </a:spcAft>
              <a:buNone/>
            </a:pPr>
            <a:r>
              <a:rPr lang="en-US" sz="925" b="1" spc="-4" dirty="0">
                <a:solidFill>
                  <a:srgbClr val="334155"/>
                </a:solidFill>
                <a:latin typeface="Segoe UI"/>
                <a:ea typeface="Segoe UI"/>
                <a:cs typeface="Segoe UI"/>
              </a:rPr>
              <a:t>21개 손 관절(Keypoint) 표준 해부학 매핑. 출처: ResearchGate</a:t>
            </a:r>
            <a:endParaRPr lang="en-US" sz="925" dirty="0"/>
          </a:p>
        </p:txBody>
      </p:sp>
      <p:sp>
        <p:nvSpPr>
          <p:cNvPr id="11" name="Rounded Rectangle"/>
          <p:cNvSpPr/>
          <p:nvPr/>
        </p:nvSpPr>
        <p:spPr>
          <a:xfrm>
            <a:off x="6713637" y="2054423"/>
            <a:ext cx="5097264" cy="1660922"/>
          </a:xfrm>
          <a:prstGeom prst="roundRect">
            <a:avLst>
              <a:gd name="adj" fmla="val 6882"/>
            </a:avLst>
          </a:prstGeom>
          <a:solidFill>
            <a:srgbClr val="FFFFFF"/>
          </a:solidFill>
          <a:ln>
            <a:noFill/>
          </a:ln>
          <a:effectLst>
            <a:outerShdw blurRad="101600" dist="50800" dir="5400000" sx="99502" sy="98471" algn="ctr" rotWithShape="0">
              <a:srgbClr val="000000">
                <a:alpha val="5000"/>
              </a:srgbClr>
            </a:outerShdw>
          </a:effectLst>
        </p:spPr>
      </p:sp>
      <p:sp>
        <p:nvSpPr>
          <p:cNvPr id="12" name="Border"/>
          <p:cNvSpPr/>
          <p:nvPr/>
        </p:nvSpPr>
        <p:spPr>
          <a:xfrm>
            <a:off x="6713637" y="2054423"/>
            <a:ext cx="5097264" cy="6350"/>
          </a:xfrm>
          <a:prstGeom prst="rect">
            <a:avLst/>
          </a:prstGeom>
          <a:solidFill>
            <a:srgbClr val="E2E8F0"/>
          </a:solidFill>
          <a:ln>
            <a:noFill/>
          </a:ln>
        </p:spPr>
      </p:sp>
      <p:sp>
        <p:nvSpPr>
          <p:cNvPr id="13" name="Border"/>
          <p:cNvSpPr/>
          <p:nvPr/>
        </p:nvSpPr>
        <p:spPr>
          <a:xfrm>
            <a:off x="11804551" y="2054423"/>
            <a:ext cx="6350" cy="1660922"/>
          </a:xfrm>
          <a:prstGeom prst="rect">
            <a:avLst/>
          </a:prstGeom>
          <a:solidFill>
            <a:srgbClr val="E2E8F0"/>
          </a:solidFill>
          <a:ln>
            <a:noFill/>
          </a:ln>
        </p:spPr>
      </p:sp>
      <p:sp>
        <p:nvSpPr>
          <p:cNvPr id="14" name="Border"/>
          <p:cNvSpPr/>
          <p:nvPr/>
        </p:nvSpPr>
        <p:spPr>
          <a:xfrm>
            <a:off x="6713637" y="3708995"/>
            <a:ext cx="5097264" cy="6350"/>
          </a:xfrm>
          <a:prstGeom prst="rect">
            <a:avLst/>
          </a:prstGeom>
          <a:solidFill>
            <a:srgbClr val="E2E8F0"/>
          </a:solidFill>
          <a:ln>
            <a:noFill/>
          </a:ln>
        </p:spPr>
      </p:sp>
      <p:sp>
        <p:nvSpPr>
          <p:cNvPr id="15" name="Border"/>
          <p:cNvSpPr/>
          <p:nvPr/>
        </p:nvSpPr>
        <p:spPr>
          <a:xfrm>
            <a:off x="6713637" y="2054423"/>
            <a:ext cx="50800" cy="1660922"/>
          </a:xfrm>
          <a:prstGeom prst="rect">
            <a:avLst/>
          </a:prstGeom>
          <a:solidFill>
            <a:srgbClr val="2563EB"/>
          </a:solidFill>
          <a:ln>
            <a:noFill/>
          </a:ln>
        </p:spPr>
      </p:sp>
      <p:sp>
        <p:nvSpPr>
          <p:cNvPr id="16" name="Text: 01 • 해부학적 21개 관절 구조"/>
          <p:cNvSpPr txBox="1"/>
          <p:nvPr/>
        </p:nvSpPr>
        <p:spPr>
          <a:xfrm>
            <a:off x="6993037" y="2267148"/>
            <a:ext cx="144700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2563EB"/>
                </a:solidFill>
                <a:latin typeface="Segoe UI"/>
                <a:ea typeface="Segoe UI"/>
                <a:cs typeface="Segoe UI"/>
              </a:rPr>
              <a:t>01 • 해부학적 21개 관절 구조</a:t>
            </a:r>
            <a:endParaRPr lang="en-US" sz="850" dirty="0"/>
          </a:p>
        </p:txBody>
      </p:sp>
      <p:sp>
        <p:nvSpPr>
          <p:cNvPr id="17" name="Text: 손목(Root) 기준 5개 손가락 독립 추적"/>
          <p:cNvSpPr txBox="1"/>
          <p:nvPr/>
        </p:nvSpPr>
        <p:spPr>
          <a:xfrm>
            <a:off x="6993037" y="2486223"/>
            <a:ext cx="2954536" cy="257175"/>
          </a:xfrm>
          <a:prstGeom prst="rect">
            <a:avLst/>
          </a:prstGeom>
          <a:noFill/>
        </p:spPr>
        <p:txBody>
          <a:bodyPr wrap="none" lIns="0" tIns="0" rIns="0" bIns="0" rtlCol="0" anchor="t">
            <a:noAutofit/>
          </a:bodyPr>
          <a:lstStyle/>
          <a:p>
            <a:pPr algn="l">
              <a:lnSpc>
                <a:spcPts val="2025"/>
              </a:lnSpc>
              <a:spcBef>
                <a:spcPts val="0"/>
              </a:spcBef>
              <a:spcAft>
                <a:spcPts val="0"/>
              </a:spcAft>
              <a:buNone/>
            </a:pPr>
            <a:r>
              <a:rPr lang="en-US" sz="1350" b="1" spc="-4" dirty="0">
                <a:solidFill>
                  <a:srgbClr val="0F172A"/>
                </a:solidFill>
                <a:latin typeface="Segoe UI"/>
                <a:ea typeface="Segoe UI"/>
                <a:cs typeface="Segoe UI"/>
              </a:rPr>
              <a:t>손목(Root) 기준 5개 손가락 독립 추적</a:t>
            </a:r>
            <a:endParaRPr lang="en-US" sz="1350" dirty="0"/>
          </a:p>
        </p:txBody>
      </p:sp>
      <p:sp>
        <p:nvSpPr>
          <p:cNvPr id="18" name="Text: •  손목(0번 Root):  5개 손가락으로 뻗어 나가는 해부학적 기준"/>
          <p:cNvSpPr txBox="1"/>
          <p:nvPr/>
        </p:nvSpPr>
        <p:spPr>
          <a:xfrm>
            <a:off x="6993037" y="2827853"/>
            <a:ext cx="3809901" cy="198120"/>
          </a:xfrm>
          <a:prstGeom prst="rect">
            <a:avLst/>
          </a:prstGeom>
          <a:noFill/>
        </p:spPr>
        <p:txBody>
          <a:bodyPr wrap="none" lIns="0" tIns="0" rIns="0" bIns="0" rtlCol="0" anchor="t">
            <a:noAutofit/>
          </a:bodyPr>
          <a:lstStyle/>
          <a:p>
            <a:pPr algn="l">
              <a:lnSpc>
                <a:spcPts val="1560"/>
              </a:lnSpc>
              <a:spcBef>
                <a:spcPts val="0"/>
              </a:spcBef>
              <a:spcAft>
                <a:spcPts val="0"/>
              </a:spcAft>
              <a:buNone/>
            </a:pPr>
            <a:r>
              <a:rPr lang="en-US" sz="975" spc="-4" dirty="0">
                <a:solidFill>
                  <a:srgbClr val="475569"/>
                </a:solidFill>
                <a:latin typeface="Segoe UI"/>
                <a:ea typeface="Segoe UI"/>
                <a:cs typeface="Segoe UI"/>
              </a:rPr>
              <a:t>• </a:t>
            </a:r>
            <a:r>
              <a:rPr lang="en-US" sz="975" b="1" spc="-4" dirty="0">
                <a:solidFill>
                  <a:srgbClr val="475569"/>
                </a:solidFill>
                <a:latin typeface="Segoe UI"/>
                <a:ea typeface="Segoe UI"/>
                <a:cs typeface="Segoe UI"/>
              </a:rPr>
              <a:t>손목(0번 Root):</a:t>
            </a:r>
            <a:r>
              <a:rPr lang="en-US" sz="975" spc="-4" dirty="0">
                <a:solidFill>
                  <a:srgbClr val="475569"/>
                </a:solidFill>
                <a:latin typeface="Segoe UI"/>
                <a:ea typeface="Segoe UI"/>
                <a:cs typeface="Segoe UI"/>
              </a:rPr>
              <a:t> 5개 손가락으로 뻗어 나가는 해부학적 기준점 역할</a:t>
            </a:r>
            <a:endParaRPr lang="en-US" sz="975" dirty="0"/>
          </a:p>
        </p:txBody>
      </p:sp>
      <p:sp>
        <p:nvSpPr>
          <p:cNvPr id="19" name="Text: •  21개 관절 마디:  엄지(1~4), 검지(5~8), 중지(9~12"/>
          <p:cNvSpPr txBox="1"/>
          <p:nvPr/>
        </p:nvSpPr>
        <p:spPr>
          <a:xfrm>
            <a:off x="6993037" y="3076773"/>
            <a:ext cx="4511179" cy="396081"/>
          </a:xfrm>
          <a:prstGeom prst="rect">
            <a:avLst/>
          </a:prstGeom>
          <a:noFill/>
        </p:spPr>
        <p:txBody>
          <a:bodyPr wrap="none" lIns="0" tIns="0" rIns="0" bIns="0" rtlCol="0" anchor="t">
            <a:noAutofit/>
          </a:bodyPr>
          <a:lstStyle/>
          <a:p>
            <a:pPr algn="l">
              <a:lnSpc>
                <a:spcPts val="1559"/>
              </a:lnSpc>
              <a:spcBef>
                <a:spcPts val="0"/>
              </a:spcBef>
              <a:spcAft>
                <a:spcPts val="0"/>
              </a:spcAft>
              <a:buNone/>
            </a:pPr>
            <a:r>
              <a:rPr lang="en-US" sz="975" spc="-4" dirty="0">
                <a:solidFill>
                  <a:srgbClr val="475569"/>
                </a:solidFill>
                <a:latin typeface="Segoe UI"/>
                <a:ea typeface="Segoe UI"/>
                <a:cs typeface="Segoe UI"/>
              </a:rPr>
              <a:t>• </a:t>
            </a:r>
            <a:r>
              <a:rPr lang="en-US" sz="975" b="1" spc="-4" dirty="0">
                <a:solidFill>
                  <a:srgbClr val="475569"/>
                </a:solidFill>
                <a:latin typeface="Segoe UI"/>
                <a:ea typeface="Segoe UI"/>
                <a:cs typeface="Segoe UI"/>
              </a:rPr>
              <a:t>21개 관절 마디:</a:t>
            </a:r>
            <a:r>
              <a:rPr lang="en-US" sz="975" spc="-4" dirty="0">
                <a:solidFill>
                  <a:srgbClr val="475569"/>
                </a:solidFill>
                <a:latin typeface="Segoe UI"/>
                <a:ea typeface="Segoe UI"/>
                <a:cs typeface="Segoe UI"/>
              </a:rPr>
              <a:t> 엄지(1~4), 검지(5~8), 중지(9~12), 약지(13~16), 새끼(17~20) 독</a:t>
            </a:r>
            <a:br>
              <a:rPr lang="en-US" sz="975"/>
            </a:br>
            <a:r>
              <a:rPr lang="en-US" sz="975" spc="-4" dirty="0">
                <a:solidFill>
                  <a:srgbClr val="475569"/>
                </a:solidFill>
                <a:latin typeface="Segoe UI"/>
                <a:ea typeface="Segoe UI"/>
                <a:cs typeface="Segoe UI"/>
              </a:rPr>
              <a:t>립 좌표 추적</a:t>
            </a:r>
            <a:endParaRPr lang="en-US" sz="975" dirty="0"/>
          </a:p>
        </p:txBody>
      </p:sp>
      <p:sp>
        <p:nvSpPr>
          <p:cNvPr id="20" name="Rounded Rectangle"/>
          <p:cNvSpPr/>
          <p:nvPr/>
        </p:nvSpPr>
        <p:spPr>
          <a:xfrm>
            <a:off x="6713637" y="3893145"/>
            <a:ext cx="5097264" cy="1660922"/>
          </a:xfrm>
          <a:prstGeom prst="roundRect">
            <a:avLst>
              <a:gd name="adj" fmla="val 6882"/>
            </a:avLst>
          </a:prstGeom>
          <a:solidFill>
            <a:srgbClr val="FFFFFF"/>
          </a:solidFill>
          <a:ln>
            <a:noFill/>
          </a:ln>
          <a:effectLst>
            <a:outerShdw blurRad="101600" dist="50800" dir="5400000" sx="99502" sy="98471" algn="ctr" rotWithShape="0">
              <a:srgbClr val="000000">
                <a:alpha val="5000"/>
              </a:srgbClr>
            </a:outerShdw>
          </a:effectLst>
        </p:spPr>
      </p:sp>
      <p:sp>
        <p:nvSpPr>
          <p:cNvPr id="21" name="Border"/>
          <p:cNvSpPr/>
          <p:nvPr/>
        </p:nvSpPr>
        <p:spPr>
          <a:xfrm>
            <a:off x="6713637" y="3893145"/>
            <a:ext cx="5097264" cy="6350"/>
          </a:xfrm>
          <a:prstGeom prst="rect">
            <a:avLst/>
          </a:prstGeom>
          <a:solidFill>
            <a:srgbClr val="E2E8F0"/>
          </a:solidFill>
          <a:ln>
            <a:noFill/>
          </a:ln>
        </p:spPr>
      </p:sp>
      <p:sp>
        <p:nvSpPr>
          <p:cNvPr id="22" name="Border"/>
          <p:cNvSpPr/>
          <p:nvPr/>
        </p:nvSpPr>
        <p:spPr>
          <a:xfrm>
            <a:off x="11804551" y="3893145"/>
            <a:ext cx="6350" cy="1660922"/>
          </a:xfrm>
          <a:prstGeom prst="rect">
            <a:avLst/>
          </a:prstGeom>
          <a:solidFill>
            <a:srgbClr val="E2E8F0"/>
          </a:solidFill>
          <a:ln>
            <a:noFill/>
          </a:ln>
        </p:spPr>
      </p:sp>
      <p:sp>
        <p:nvSpPr>
          <p:cNvPr id="23" name="Border"/>
          <p:cNvSpPr/>
          <p:nvPr/>
        </p:nvSpPr>
        <p:spPr>
          <a:xfrm>
            <a:off x="6713637" y="5547717"/>
            <a:ext cx="5097264" cy="6350"/>
          </a:xfrm>
          <a:prstGeom prst="rect">
            <a:avLst/>
          </a:prstGeom>
          <a:solidFill>
            <a:srgbClr val="E2E8F0"/>
          </a:solidFill>
          <a:ln>
            <a:noFill/>
          </a:ln>
        </p:spPr>
      </p:sp>
      <p:sp>
        <p:nvSpPr>
          <p:cNvPr id="24" name="Border"/>
          <p:cNvSpPr/>
          <p:nvPr/>
        </p:nvSpPr>
        <p:spPr>
          <a:xfrm>
            <a:off x="6713637" y="3893145"/>
            <a:ext cx="50800" cy="1660922"/>
          </a:xfrm>
          <a:prstGeom prst="rect">
            <a:avLst/>
          </a:prstGeom>
          <a:solidFill>
            <a:srgbClr val="0284C7"/>
          </a:solidFill>
          <a:ln>
            <a:noFill/>
          </a:ln>
        </p:spPr>
      </p:sp>
      <p:sp>
        <p:nvSpPr>
          <p:cNvPr id="25" name="Text: 02 • 대규모 표준 데이터셋 활용"/>
          <p:cNvSpPr txBox="1"/>
          <p:nvPr/>
        </p:nvSpPr>
        <p:spPr>
          <a:xfrm>
            <a:off x="6993037" y="4105870"/>
            <a:ext cx="1537791"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0284C7"/>
                </a:solidFill>
                <a:latin typeface="Segoe UI"/>
                <a:ea typeface="Segoe UI"/>
                <a:cs typeface="Segoe UI"/>
              </a:rPr>
              <a:t>02 • 대규모 표준 데이터셋 활용</a:t>
            </a:r>
            <a:endParaRPr lang="en-US" sz="850" dirty="0"/>
          </a:p>
        </p:txBody>
      </p:sp>
      <p:sp>
        <p:nvSpPr>
          <p:cNvPr id="26" name="Text: 총 26,768장 (학습 1.8만 + 검증 8천 장)"/>
          <p:cNvSpPr txBox="1"/>
          <p:nvPr/>
        </p:nvSpPr>
        <p:spPr>
          <a:xfrm>
            <a:off x="6993037" y="4324945"/>
            <a:ext cx="3081040" cy="257175"/>
          </a:xfrm>
          <a:prstGeom prst="rect">
            <a:avLst/>
          </a:prstGeom>
          <a:noFill/>
        </p:spPr>
        <p:txBody>
          <a:bodyPr wrap="none" lIns="0" tIns="0" rIns="0" bIns="0" rtlCol="0" anchor="t">
            <a:noAutofit/>
          </a:bodyPr>
          <a:lstStyle/>
          <a:p>
            <a:pPr algn="l">
              <a:lnSpc>
                <a:spcPts val="2025"/>
              </a:lnSpc>
              <a:spcBef>
                <a:spcPts val="0"/>
              </a:spcBef>
              <a:spcAft>
                <a:spcPts val="0"/>
              </a:spcAft>
              <a:buNone/>
            </a:pPr>
            <a:r>
              <a:rPr lang="en-US" sz="1350" b="1" spc="-4" dirty="0">
                <a:solidFill>
                  <a:srgbClr val="0F172A"/>
                </a:solidFill>
                <a:latin typeface="Segoe UI"/>
                <a:ea typeface="Segoe UI"/>
                <a:cs typeface="Segoe UI"/>
              </a:rPr>
              <a:t>총 26,768장 (학습 1.8만 + 검증 8천 장)</a:t>
            </a:r>
            <a:endParaRPr lang="en-US" sz="1350" dirty="0"/>
          </a:p>
        </p:txBody>
      </p:sp>
      <p:sp>
        <p:nvSpPr>
          <p:cNvPr id="27" name="Text: •  글로벌 표준 규격:  Ultralytics Hand-Keypoint"/>
          <p:cNvSpPr txBox="1"/>
          <p:nvPr/>
        </p:nvSpPr>
        <p:spPr>
          <a:xfrm>
            <a:off x="6993037" y="4666575"/>
            <a:ext cx="4119463" cy="198120"/>
          </a:xfrm>
          <a:prstGeom prst="rect">
            <a:avLst/>
          </a:prstGeom>
          <a:noFill/>
        </p:spPr>
        <p:txBody>
          <a:bodyPr wrap="none" lIns="0" tIns="0" rIns="0" bIns="0" rtlCol="0" anchor="t">
            <a:noAutofit/>
          </a:bodyPr>
          <a:lstStyle/>
          <a:p>
            <a:pPr algn="l">
              <a:lnSpc>
                <a:spcPts val="1560"/>
              </a:lnSpc>
              <a:spcBef>
                <a:spcPts val="0"/>
              </a:spcBef>
              <a:spcAft>
                <a:spcPts val="0"/>
              </a:spcAft>
              <a:buNone/>
            </a:pPr>
            <a:r>
              <a:rPr lang="en-US" sz="975" spc="-4" dirty="0">
                <a:solidFill>
                  <a:srgbClr val="475569"/>
                </a:solidFill>
                <a:latin typeface="Segoe UI"/>
                <a:ea typeface="Segoe UI"/>
                <a:cs typeface="Segoe UI"/>
              </a:rPr>
              <a:t>• </a:t>
            </a:r>
            <a:r>
              <a:rPr lang="en-US" sz="975" b="1" spc="-4" dirty="0">
                <a:solidFill>
                  <a:srgbClr val="475569"/>
                </a:solidFill>
                <a:latin typeface="Segoe UI"/>
                <a:ea typeface="Segoe UI"/>
                <a:cs typeface="Segoe UI"/>
              </a:rPr>
              <a:t>글로벌 표준 규격:</a:t>
            </a:r>
            <a:r>
              <a:rPr lang="en-US" sz="975" spc="-4" dirty="0">
                <a:solidFill>
                  <a:srgbClr val="475569"/>
                </a:solidFill>
                <a:latin typeface="Segoe UI"/>
                <a:ea typeface="Segoe UI"/>
                <a:cs typeface="Segoe UI"/>
              </a:rPr>
              <a:t> Ultralytics Hand-Keypoints 공인 딥러닝 데이터셋 채택</a:t>
            </a:r>
            <a:endParaRPr lang="en-US" sz="975" dirty="0"/>
          </a:p>
        </p:txBody>
      </p:sp>
      <p:sp>
        <p:nvSpPr>
          <p:cNvPr id="28" name="Text: •  100% 정밀 라벨링:  학습 세트 18,776장 + 검증 세트 7"/>
          <p:cNvSpPr txBox="1"/>
          <p:nvPr/>
        </p:nvSpPr>
        <p:spPr>
          <a:xfrm>
            <a:off x="6993037" y="4915495"/>
            <a:ext cx="4437955" cy="396081"/>
          </a:xfrm>
          <a:prstGeom prst="rect">
            <a:avLst/>
          </a:prstGeom>
          <a:noFill/>
        </p:spPr>
        <p:txBody>
          <a:bodyPr wrap="none" lIns="0" tIns="0" rIns="0" bIns="0" rtlCol="0" anchor="t">
            <a:noAutofit/>
          </a:bodyPr>
          <a:lstStyle/>
          <a:p>
            <a:pPr algn="l">
              <a:lnSpc>
                <a:spcPts val="1559"/>
              </a:lnSpc>
              <a:spcBef>
                <a:spcPts val="0"/>
              </a:spcBef>
              <a:spcAft>
                <a:spcPts val="0"/>
              </a:spcAft>
              <a:buNone/>
            </a:pPr>
            <a:r>
              <a:rPr lang="en-US" sz="975" spc="-4" dirty="0">
                <a:solidFill>
                  <a:srgbClr val="475569"/>
                </a:solidFill>
                <a:latin typeface="Segoe UI"/>
                <a:ea typeface="Segoe UI"/>
                <a:cs typeface="Segoe UI"/>
              </a:rPr>
              <a:t>• </a:t>
            </a:r>
            <a:r>
              <a:rPr lang="en-US" sz="975" b="1" spc="-4" dirty="0">
                <a:solidFill>
                  <a:srgbClr val="475569"/>
                </a:solidFill>
                <a:latin typeface="Segoe UI"/>
                <a:ea typeface="Segoe UI"/>
                <a:cs typeface="Segoe UI"/>
              </a:rPr>
              <a:t>100% 정밀 라벨링:</a:t>
            </a:r>
            <a:r>
              <a:rPr lang="en-US" sz="975" spc="-4" dirty="0">
                <a:solidFill>
                  <a:srgbClr val="475569"/>
                </a:solidFill>
                <a:latin typeface="Segoe UI"/>
                <a:ea typeface="Segoe UI"/>
                <a:cs typeface="Segoe UI"/>
              </a:rPr>
              <a:t> 학습 세트 18,776장 + 검증 세트 7,992장 전량에 21개 관절</a:t>
            </a:r>
            <a:br>
              <a:rPr lang="en-US" sz="975"/>
            </a:br>
            <a:r>
              <a:rPr lang="en-US" sz="975" spc="-4" dirty="0">
                <a:solidFill>
                  <a:srgbClr val="475569"/>
                </a:solidFill>
                <a:latin typeface="Segoe UI"/>
                <a:ea typeface="Segoe UI"/>
                <a:cs typeface="Segoe UI"/>
              </a:rPr>
              <a:t>좌표 완비</a:t>
            </a:r>
            <a:endParaRPr lang="en-US" sz="975" dirty="0"/>
          </a:p>
        </p:txBody>
      </p:sp>
      <p:sp>
        <p:nvSpPr>
          <p:cNvPr id="29" name="Border"/>
          <p:cNvSpPr/>
          <p:nvPr/>
        </p:nvSpPr>
        <p:spPr>
          <a:xfrm>
            <a:off x="381000" y="6334125"/>
            <a:ext cx="11430000" cy="6350"/>
          </a:xfrm>
          <a:prstGeom prst="rect">
            <a:avLst/>
          </a:prstGeom>
          <a:solidFill>
            <a:srgbClr val="E2E8F0"/>
          </a:solidFill>
          <a:ln>
            <a:noFill/>
          </a:ln>
        </p:spPr>
      </p:sp>
      <p:sp>
        <p:nvSpPr>
          <p:cNvPr id="30"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31" name="Rounded Rectangle"/>
          <p:cNvSpPr/>
          <p:nvPr/>
        </p:nvSpPr>
        <p:spPr>
          <a:xfrm>
            <a:off x="11237714" y="6429375"/>
            <a:ext cx="573286" cy="225425"/>
          </a:xfrm>
          <a:prstGeom prst="roundRect">
            <a:avLst>
              <a:gd name="adj" fmla="val 22535"/>
            </a:avLst>
          </a:prstGeom>
          <a:solidFill>
            <a:srgbClr val="F1F5F9"/>
          </a:solidFill>
          <a:ln>
            <a:noFill/>
          </a:ln>
        </p:spPr>
      </p:sp>
      <p:sp>
        <p:nvSpPr>
          <p:cNvPr id="32" name="Text: 03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03 / 14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465163" cy="238125"/>
          </a:xfrm>
          <a:prstGeom prst="roundRect">
            <a:avLst>
              <a:gd name="adj" fmla="val 20000"/>
            </a:avLst>
          </a:prstGeom>
          <a:solidFill>
            <a:srgbClr val="EFF6FF"/>
          </a:solidFill>
          <a:ln w="6350" cap="flat" cmpd="sng" algn="ctr">
            <a:solidFill>
              <a:srgbClr val="BFDBFE"/>
            </a:solidFill>
            <a:miter lim="800000"/>
          </a:ln>
        </p:spPr>
      </p:sp>
      <p:sp>
        <p:nvSpPr>
          <p:cNvPr id="3" name="Text: PART 02 • 플랫폼 결함 분석"/>
          <p:cNvSpPr txBox="1"/>
          <p:nvPr/>
        </p:nvSpPr>
        <p:spPr>
          <a:xfrm>
            <a:off x="488950" y="282575"/>
            <a:ext cx="125561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02 • 플랫폼 결함 분석</a:t>
            </a:r>
            <a:endParaRPr lang="en-US" sz="750" dirty="0"/>
          </a:p>
        </p:txBody>
      </p:sp>
      <p:sp>
        <p:nvSpPr>
          <p:cNvPr id="4" name="Text: AuraSynth Engine Architecture"/>
          <p:cNvSpPr txBox="1"/>
          <p:nvPr/>
        </p:nvSpPr>
        <p:spPr>
          <a:xfrm>
            <a:off x="1941413"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학습 플랫폼 오류와 라벨 유실"/>
          <p:cNvSpPr txBox="1"/>
          <p:nvPr/>
        </p:nvSpPr>
        <p:spPr>
          <a:xfrm>
            <a:off x="381000" y="555625"/>
            <a:ext cx="4104084"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학습 플랫폼 오류와 라벨 유실</a:t>
            </a:r>
            <a:endParaRPr lang="en-US" sz="2500" dirty="0"/>
          </a:p>
        </p:txBody>
      </p:sp>
      <p:sp>
        <p:nvSpPr>
          <p:cNvPr id="6" name="Text: Intel Geti 플랫폼의 데이터 임포트 불가와 자체 라벨 유실 결함을"/>
          <p:cNvSpPr txBox="1"/>
          <p:nvPr/>
        </p:nvSpPr>
        <p:spPr>
          <a:xfrm>
            <a:off x="381000" y="948055"/>
            <a:ext cx="5038328"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Intel Geti 플랫폼의 데이터 임포트 불가와 자체 라벨 유실 결함을 분석한 과정</a:t>
            </a:r>
            <a:endParaRPr lang="en-US" sz="1150" dirty="0"/>
          </a:p>
        </p:txBody>
      </p:sp>
      <p:sp>
        <p:nvSpPr>
          <p:cNvPr id="7" name="Rounded Rectangle"/>
          <p:cNvSpPr/>
          <p:nvPr/>
        </p:nvSpPr>
        <p:spPr>
          <a:xfrm>
            <a:off x="384175" y="1277541"/>
            <a:ext cx="3693517" cy="5053409"/>
          </a:xfrm>
          <a:prstGeom prst="roundRect">
            <a:avLst>
              <a:gd name="adj" fmla="val 3009"/>
            </a:avLst>
          </a:prstGeom>
          <a:solidFill>
            <a:srgbClr val="FFFFFF"/>
          </a:solidFill>
          <a:ln w="6350" cap="flat" cmpd="sng" algn="ctr">
            <a:solidFill>
              <a:srgbClr val="E2E8F0"/>
            </a:solidFill>
            <a:miter lim="800000"/>
          </a:ln>
          <a:effectLst>
            <a:outerShdw blurRad="101600" dist="50800" dir="5400000" sx="99312" sy="99497" algn="ctr" rotWithShape="0">
              <a:srgbClr val="000000">
                <a:alpha val="5000"/>
              </a:srgbClr>
            </a:outerShdw>
          </a:effectLst>
        </p:spPr>
      </p:sp>
      <p:sp>
        <p:nvSpPr>
          <p:cNvPr id="8" name="Rounded Rectangle"/>
          <p:cNvSpPr/>
          <p:nvPr/>
        </p:nvSpPr>
        <p:spPr>
          <a:xfrm>
            <a:off x="568325" y="1461691"/>
            <a:ext cx="802481" cy="238125"/>
          </a:xfrm>
          <a:prstGeom prst="roundRect">
            <a:avLst>
              <a:gd name="adj" fmla="val 20000"/>
            </a:avLst>
          </a:prstGeom>
          <a:solidFill>
            <a:srgbClr val="FEE2E2"/>
          </a:solidFill>
          <a:ln w="6350" cap="flat" cmpd="sng" algn="ctr">
            <a:solidFill>
              <a:srgbClr val="FCA5A5"/>
            </a:solidFill>
            <a:miter lim="800000"/>
          </a:ln>
        </p:spPr>
      </p:sp>
      <p:sp>
        <p:nvSpPr>
          <p:cNvPr id="9" name="Text: ATTEMPT 01"/>
          <p:cNvSpPr txBox="1"/>
          <p:nvPr/>
        </p:nvSpPr>
        <p:spPr>
          <a:xfrm>
            <a:off x="673100" y="1499791"/>
            <a:ext cx="59293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B91C1C"/>
                </a:solidFill>
                <a:latin typeface="Segoe UI"/>
                <a:ea typeface="Segoe UI"/>
                <a:cs typeface="Segoe UI"/>
              </a:rPr>
              <a:t>ATTEMPT 01</a:t>
            </a:r>
            <a:endParaRPr lang="en-US" sz="750" dirty="0"/>
          </a:p>
        </p:txBody>
      </p:sp>
      <p:sp>
        <p:nvSpPr>
          <p:cNvPr id="10" name="Text: Format Packing"/>
          <p:cNvSpPr txBox="1"/>
          <p:nvPr/>
        </p:nvSpPr>
        <p:spPr>
          <a:xfrm>
            <a:off x="3149600" y="1491853"/>
            <a:ext cx="747117"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94A3B8"/>
                </a:solidFill>
                <a:latin typeface="Segoe UI"/>
                <a:ea typeface="Segoe UI"/>
                <a:cs typeface="Segoe UI"/>
              </a:rPr>
              <a:t>Format Packing</a:t>
            </a:r>
            <a:endParaRPr lang="en-US" sz="800" dirty="0"/>
          </a:p>
        </p:txBody>
      </p:sp>
      <p:sp>
        <p:nvSpPr>
          <p:cNvPr id="11" name="Text: COCO &amp; Datumaro 변환 시도"/>
          <p:cNvSpPr txBox="1"/>
          <p:nvPr/>
        </p:nvSpPr>
        <p:spPr>
          <a:xfrm>
            <a:off x="565150" y="1779191"/>
            <a:ext cx="2095996"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F172A"/>
                </a:solidFill>
                <a:latin typeface="Segoe UI"/>
                <a:ea typeface="Segoe UI"/>
                <a:cs typeface="Segoe UI"/>
              </a:rPr>
              <a:t>COCO &amp; Datumaro 변환 시도</a:t>
            </a:r>
            <a:endParaRPr lang="en-US" sz="1200" dirty="0"/>
          </a:p>
        </p:txBody>
      </p:sp>
      <p:sp>
        <p:nvSpPr>
          <p:cNvPr id="12" name="Text: • YOLO Pose 상대좌표를 픽셀 절대좌표로 역산"/>
          <p:cNvSpPr txBox="1"/>
          <p:nvPr/>
        </p:nvSpPr>
        <p:spPr>
          <a:xfrm>
            <a:off x="565150" y="2082403"/>
            <a:ext cx="2336105" cy="166688"/>
          </a:xfrm>
          <a:prstGeom prst="rect">
            <a:avLst/>
          </a:prstGeom>
          <a:noFill/>
        </p:spPr>
        <p:txBody>
          <a:bodyPr wrap="none" lIns="0" tIns="0" rIns="0" bIns="0" rtlCol="0" anchor="t">
            <a:noAutofit/>
          </a:bodyPr>
          <a:lstStyle/>
          <a:p>
            <a:pPr algn="l">
              <a:lnSpc>
                <a:spcPts val="1313"/>
              </a:lnSpc>
              <a:spcBef>
                <a:spcPts val="0"/>
              </a:spcBef>
              <a:spcAft>
                <a:spcPts val="0"/>
              </a:spcAft>
              <a:buNone/>
            </a:pPr>
            <a:r>
              <a:rPr lang="en-US" sz="875" spc="-4" dirty="0">
                <a:solidFill>
                  <a:srgbClr val="475569"/>
                </a:solidFill>
                <a:latin typeface="Segoe UI"/>
                <a:ea typeface="Segoe UI"/>
                <a:cs typeface="Segoe UI"/>
              </a:rPr>
              <a:t>• YOLO Pose 상대좌표를 픽셀 절대좌표로 역산</a:t>
            </a:r>
            <a:endParaRPr lang="en-US" sz="875" dirty="0"/>
          </a:p>
        </p:txBody>
      </p:sp>
      <p:sp>
        <p:nvSpPr>
          <p:cNvPr id="13" name="Text: • 공식  coco_person_keypoints  규격으로 패킹"/>
          <p:cNvSpPr txBox="1"/>
          <p:nvPr/>
        </p:nvSpPr>
        <p:spPr>
          <a:xfrm>
            <a:off x="565150" y="2287191"/>
            <a:ext cx="2441873" cy="166688"/>
          </a:xfrm>
          <a:prstGeom prst="rect">
            <a:avLst/>
          </a:prstGeom>
          <a:noFill/>
        </p:spPr>
        <p:txBody>
          <a:bodyPr wrap="none" lIns="0" tIns="0" rIns="0" bIns="0" rtlCol="0" anchor="t">
            <a:noAutofit/>
          </a:bodyPr>
          <a:lstStyle/>
          <a:p>
            <a:pPr algn="l">
              <a:lnSpc>
                <a:spcPts val="1313"/>
              </a:lnSpc>
              <a:spcBef>
                <a:spcPts val="0"/>
              </a:spcBef>
              <a:spcAft>
                <a:spcPts val="0"/>
              </a:spcAft>
              <a:buNone/>
            </a:pPr>
            <a:r>
              <a:rPr lang="en-US" sz="875" spc="-4" dirty="0">
                <a:solidFill>
                  <a:srgbClr val="475569"/>
                </a:solidFill>
                <a:latin typeface="Segoe UI"/>
                <a:ea typeface="Segoe UI"/>
                <a:cs typeface="Segoe UI"/>
              </a:rPr>
              <a:t>• 공식 </a:t>
            </a:r>
            <a:r>
              <a:rPr lang="en-US" sz="875" b="1" spc="-4" dirty="0">
                <a:solidFill>
                  <a:srgbClr val="2563EB"/>
                </a:solidFill>
                <a:latin typeface="Consolas"/>
                <a:ea typeface="Consolas"/>
                <a:cs typeface="Consolas"/>
              </a:rPr>
              <a:t>coco_person_keypoints</a:t>
            </a:r>
            <a:r>
              <a:rPr lang="en-US" sz="875" spc="-4" dirty="0">
                <a:solidFill>
                  <a:srgbClr val="475569"/>
                </a:solidFill>
                <a:latin typeface="Segoe UI"/>
                <a:ea typeface="Segoe UI"/>
                <a:cs typeface="Segoe UI"/>
              </a:rPr>
              <a:t> 규격으로 패킹</a:t>
            </a:r>
            <a:endParaRPr lang="en-US" sz="875" dirty="0"/>
          </a:p>
        </p:txBody>
      </p:sp>
      <p:sp>
        <p:nvSpPr>
          <p:cNvPr id="14" name="Rounded Rectangle"/>
          <p:cNvSpPr/>
          <p:nvPr/>
        </p:nvSpPr>
        <p:spPr>
          <a:xfrm>
            <a:off x="571500" y="3442692"/>
            <a:ext cx="3318867" cy="772716"/>
          </a:xfrm>
          <a:prstGeom prst="roundRect">
            <a:avLst>
              <a:gd name="adj" fmla="val 9040"/>
            </a:avLst>
          </a:prstGeom>
          <a:solidFill>
            <a:srgbClr val="FEF2F2"/>
          </a:solidFill>
          <a:ln w="12700" cap="flat" cmpd="sng" algn="ctr">
            <a:solidFill>
              <a:srgbClr val="FCA5A5"/>
            </a:solidFill>
            <a:miter lim="800000"/>
          </a:ln>
        </p:spPr>
      </p:sp>
      <p:sp>
        <p:nvSpPr>
          <p:cNvPr id="15" name="Text: 1단계 핵심 결론"/>
          <p:cNvSpPr txBox="1"/>
          <p:nvPr/>
        </p:nvSpPr>
        <p:spPr>
          <a:xfrm>
            <a:off x="886718" y="3537942"/>
            <a:ext cx="827881"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DC2626"/>
                </a:solidFill>
                <a:latin typeface="Segoe UI"/>
                <a:ea typeface="Segoe UI"/>
                <a:cs typeface="Segoe UI"/>
              </a:rPr>
              <a:t>1단계 핵심 결론</a:t>
            </a:r>
            <a:endParaRPr lang="en-US" sz="900" dirty="0"/>
          </a:p>
        </p:txBody>
      </p:sp>
      <p:sp>
        <p:nvSpPr>
          <p:cNvPr id="16" name="Text: ❌"/>
          <p:cNvSpPr txBox="1"/>
          <p:nvPr/>
        </p:nvSpPr>
        <p:spPr>
          <a:xfrm>
            <a:off x="692150" y="3537942"/>
            <a:ext cx="156468"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DC2626"/>
                </a:solidFill>
                <a:latin typeface="Segoe UI"/>
                <a:ea typeface="Segoe UI"/>
                <a:cs typeface="Segoe UI"/>
              </a:rPr>
              <a:t>❌</a:t>
            </a:r>
            <a:endParaRPr lang="en-US" sz="900" dirty="0"/>
          </a:p>
        </p:txBody>
      </p:sp>
      <p:sp>
        <p:nvSpPr>
          <p:cNvPr id="17" name="Text: • 표준 규격 포맷 미지원: 1.8만 장 표준 변환 파일을 업로드했으 나"/>
          <p:cNvSpPr txBox="1"/>
          <p:nvPr/>
        </p:nvSpPr>
        <p:spPr>
          <a:xfrm>
            <a:off x="692150" y="3758009"/>
            <a:ext cx="3069927" cy="334566"/>
          </a:xfrm>
          <a:prstGeom prst="rect">
            <a:avLst/>
          </a:prstGeom>
          <a:noFill/>
        </p:spPr>
        <p:txBody>
          <a:bodyPr wrap="none" lIns="0" tIns="0" rIns="0" bIns="0" rtlCol="0" anchor="t">
            <a:noAutofit/>
          </a:bodyPr>
          <a:lstStyle/>
          <a:p>
            <a:pPr algn="l">
              <a:lnSpc>
                <a:spcPts val="1317"/>
              </a:lnSpc>
              <a:spcBef>
                <a:spcPts val="0"/>
              </a:spcBef>
              <a:spcAft>
                <a:spcPts val="0"/>
              </a:spcAft>
              <a:buNone/>
            </a:pPr>
            <a:r>
              <a:rPr lang="en-US" sz="850" b="1" spc="-4" dirty="0">
                <a:solidFill>
                  <a:srgbClr val="991B1B"/>
                </a:solidFill>
                <a:latin typeface="Segoe UI"/>
                <a:ea typeface="Segoe UI"/>
                <a:cs typeface="Segoe UI"/>
              </a:rPr>
              <a:t>• 표준 규격 포맷 미지원: 1.8만 장 표준 변환 파일을 업로드했으</a:t>
            </a:r>
            <a:br>
              <a:rPr lang="en-US" sz="850"/>
            </a:br>
            <a:r>
              <a:rPr lang="en-US" sz="850" b="1" spc="-4" dirty="0">
                <a:solidFill>
                  <a:srgbClr val="991B1B"/>
                </a:solidFill>
                <a:latin typeface="Segoe UI"/>
                <a:ea typeface="Segoe UI"/>
                <a:cs typeface="Segoe UI"/>
              </a:rPr>
              <a:t>나 Geti의 외부 규격 차단으로 임포트 원천 거부됨.</a:t>
            </a:r>
            <a:endParaRPr lang="en-US" sz="850" dirty="0"/>
          </a:p>
        </p:txBody>
      </p:sp>
      <p:sp>
        <p:nvSpPr>
          <p:cNvPr id="18" name="Rounded Rectangle"/>
          <p:cNvSpPr/>
          <p:nvPr/>
        </p:nvSpPr>
        <p:spPr>
          <a:xfrm>
            <a:off x="568325" y="5199459"/>
            <a:ext cx="3325217" cy="947341"/>
          </a:xfrm>
          <a:prstGeom prst="roundRect">
            <a:avLst>
              <a:gd name="adj" fmla="val 7708"/>
            </a:avLst>
          </a:prstGeom>
          <a:solidFill>
            <a:srgbClr val="0F172A"/>
          </a:solidFill>
          <a:ln w="6350" cap="flat" cmpd="sng" algn="ctr">
            <a:solidFill>
              <a:srgbClr val="1E293B"/>
            </a:solidFill>
            <a:miter lim="800000"/>
          </a:ln>
        </p:spPr>
      </p:sp>
      <p:sp>
        <p:nvSpPr>
          <p:cNvPr id="19" name="Text: [Error] Datumaro Extractor &gt; Detected fo"/>
          <p:cNvSpPr txBox="1"/>
          <p:nvPr/>
        </p:nvSpPr>
        <p:spPr>
          <a:xfrm>
            <a:off x="723900" y="5291237"/>
            <a:ext cx="2189361" cy="712391"/>
          </a:xfrm>
          <a:prstGeom prst="rect">
            <a:avLst/>
          </a:prstGeom>
          <a:noFill/>
        </p:spPr>
        <p:txBody>
          <a:bodyPr wrap="none" lIns="0" tIns="0" rIns="0" bIns="0" rtlCol="0" anchor="t">
            <a:noAutofit/>
          </a:bodyPr>
          <a:lstStyle/>
          <a:p>
            <a:pPr algn="l">
              <a:lnSpc>
                <a:spcPts val="1402"/>
              </a:lnSpc>
              <a:spcBef>
                <a:spcPts val="0"/>
              </a:spcBef>
              <a:spcAft>
                <a:spcPts val="0"/>
              </a:spcAft>
              <a:buNone/>
            </a:pPr>
            <a:r>
              <a:rPr lang="en-US" sz="850" b="1" spc="-4" dirty="0">
                <a:solidFill>
                  <a:srgbClr val="EF4444"/>
                </a:solidFill>
                <a:latin typeface="Consolas"/>
                <a:ea typeface="Consolas"/>
                <a:cs typeface="Consolas"/>
              </a:rPr>
              <a:t>[Error] Datumaro Extractor</a:t>
            </a:r>
            <a:br>
              <a:rPr lang="en-US" sz="850"/>
            </a:br>
            <a:r>
              <a:rPr lang="en-US" sz="850" spc="-4" dirty="0">
                <a:solidFill>
                  <a:srgbClr val="E2E8F0"/>
                </a:solidFill>
                <a:latin typeface="Consolas"/>
                <a:ea typeface="Consolas"/>
                <a:cs typeface="Consolas"/>
              </a:rPr>
              <a:t>&gt; Detected format not supported</a:t>
            </a:r>
            <a:br>
              <a:rPr lang="en-US" sz="850"/>
            </a:br>
            <a:r>
              <a:rPr lang="en-US" sz="850" spc="-4" dirty="0">
                <a:solidFill>
                  <a:srgbClr val="E2E8F0"/>
                </a:solidFill>
                <a:latin typeface="Consolas"/>
                <a:ea typeface="Consolas"/>
                <a:cs typeface="Consolas"/>
              </a:rPr>
              <a:t>&gt; Validation Error: Unknown key</a:t>
            </a:r>
            <a:br>
              <a:rPr lang="en-US" sz="850"/>
            </a:br>
            <a:r>
              <a:rPr lang="en-US" sz="850" spc="-4" dirty="0">
                <a:solidFill>
                  <a:srgbClr val="94A3B8"/>
                </a:solidFill>
                <a:latin typeface="Consolas"/>
                <a:ea typeface="Consolas"/>
                <a:cs typeface="Consolas"/>
              </a:rPr>
              <a:t>*Keypoint 태스크 외부 스키마 병합 차단</a:t>
            </a:r>
            <a:endParaRPr lang="en-US" sz="850" dirty="0"/>
          </a:p>
        </p:txBody>
      </p:sp>
      <p:sp>
        <p:nvSpPr>
          <p:cNvPr id="20" name="Rounded Rectangle"/>
          <p:cNvSpPr/>
          <p:nvPr/>
        </p:nvSpPr>
        <p:spPr>
          <a:xfrm>
            <a:off x="4249142" y="1277541"/>
            <a:ext cx="3693616" cy="5053409"/>
          </a:xfrm>
          <a:prstGeom prst="roundRect">
            <a:avLst>
              <a:gd name="adj" fmla="val 3009"/>
            </a:avLst>
          </a:prstGeom>
          <a:solidFill>
            <a:srgbClr val="FFFFFF"/>
          </a:solidFill>
          <a:ln w="6350" cap="flat" cmpd="sng" algn="ctr">
            <a:solidFill>
              <a:srgbClr val="E2E8F0"/>
            </a:solidFill>
            <a:miter lim="800000"/>
          </a:ln>
          <a:effectLst>
            <a:outerShdw blurRad="101600" dist="50800" dir="5400000" sx="99312" sy="99497" algn="ctr" rotWithShape="0">
              <a:srgbClr val="000000">
                <a:alpha val="5000"/>
              </a:srgbClr>
            </a:outerShdw>
          </a:effectLst>
        </p:spPr>
      </p:sp>
      <p:sp>
        <p:nvSpPr>
          <p:cNvPr id="21" name="Rounded Rectangle"/>
          <p:cNvSpPr/>
          <p:nvPr/>
        </p:nvSpPr>
        <p:spPr>
          <a:xfrm>
            <a:off x="4433292" y="1461691"/>
            <a:ext cx="802481" cy="238125"/>
          </a:xfrm>
          <a:prstGeom prst="roundRect">
            <a:avLst>
              <a:gd name="adj" fmla="val 20000"/>
            </a:avLst>
          </a:prstGeom>
          <a:solidFill>
            <a:srgbClr val="FEF3C7"/>
          </a:solidFill>
          <a:ln w="6350" cap="flat" cmpd="sng" algn="ctr">
            <a:solidFill>
              <a:srgbClr val="FDE68A"/>
            </a:solidFill>
            <a:miter lim="800000"/>
          </a:ln>
        </p:spPr>
      </p:sp>
      <p:sp>
        <p:nvSpPr>
          <p:cNvPr id="22" name="Text: ATTEMPT 02"/>
          <p:cNvSpPr txBox="1"/>
          <p:nvPr/>
        </p:nvSpPr>
        <p:spPr>
          <a:xfrm>
            <a:off x="4538067" y="1499791"/>
            <a:ext cx="59293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D97706"/>
                </a:solidFill>
                <a:latin typeface="Segoe UI"/>
                <a:ea typeface="Segoe UI"/>
                <a:cs typeface="Segoe UI"/>
              </a:rPr>
              <a:t>ATTEMPT 02</a:t>
            </a:r>
            <a:endParaRPr lang="en-US" sz="750" dirty="0"/>
          </a:p>
        </p:txBody>
      </p:sp>
      <p:sp>
        <p:nvSpPr>
          <p:cNvPr id="23" name="Text: Schema Conflict"/>
          <p:cNvSpPr txBox="1"/>
          <p:nvPr/>
        </p:nvSpPr>
        <p:spPr>
          <a:xfrm>
            <a:off x="6987877" y="1491853"/>
            <a:ext cx="773906"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D97706"/>
                </a:solidFill>
                <a:latin typeface="Segoe UI"/>
                <a:ea typeface="Segoe UI"/>
                <a:cs typeface="Segoe UI"/>
              </a:rPr>
              <a:t>Schema Conflict</a:t>
            </a:r>
            <a:endParaRPr lang="en-US" sz="800" dirty="0"/>
          </a:p>
        </p:txBody>
      </p:sp>
      <p:sp>
        <p:nvSpPr>
          <p:cNvPr id="24" name="Text: Intel Geti 템플릿(default.json) 역공학"/>
          <p:cNvSpPr txBox="1"/>
          <p:nvPr/>
        </p:nvSpPr>
        <p:spPr>
          <a:xfrm>
            <a:off x="4430117" y="1779191"/>
            <a:ext cx="2637532"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F172A"/>
                </a:solidFill>
                <a:latin typeface="Segoe UI"/>
                <a:ea typeface="Segoe UI"/>
                <a:cs typeface="Segoe UI"/>
              </a:rPr>
              <a:t>Intel Geti 템플릿(default.json) 역공학</a:t>
            </a:r>
            <a:endParaRPr lang="en-US" sz="1200" dirty="0"/>
          </a:p>
        </p:txBody>
      </p:sp>
      <p:sp>
        <p:nvSpPr>
          <p:cNvPr id="25" name="Text: • 빈 프로젝트 Export로 내부 JSON 헤더 복제"/>
          <p:cNvSpPr txBox="1"/>
          <p:nvPr/>
        </p:nvSpPr>
        <p:spPr>
          <a:xfrm>
            <a:off x="4430117" y="2082403"/>
            <a:ext cx="2233017" cy="166688"/>
          </a:xfrm>
          <a:prstGeom prst="rect">
            <a:avLst/>
          </a:prstGeom>
          <a:noFill/>
        </p:spPr>
        <p:txBody>
          <a:bodyPr wrap="none" lIns="0" tIns="0" rIns="0" bIns="0" rtlCol="0" anchor="t">
            <a:noAutofit/>
          </a:bodyPr>
          <a:lstStyle/>
          <a:p>
            <a:pPr algn="l">
              <a:lnSpc>
                <a:spcPts val="1313"/>
              </a:lnSpc>
              <a:spcBef>
                <a:spcPts val="0"/>
              </a:spcBef>
              <a:spcAft>
                <a:spcPts val="0"/>
              </a:spcAft>
              <a:buNone/>
            </a:pPr>
            <a:r>
              <a:rPr lang="en-US" sz="875" spc="-4" dirty="0">
                <a:solidFill>
                  <a:srgbClr val="475569"/>
                </a:solidFill>
                <a:latin typeface="Segoe UI"/>
                <a:ea typeface="Segoe UI"/>
                <a:cs typeface="Segoe UI"/>
              </a:rPr>
              <a:t>• 빈 프로젝트 Export로 내부 JSON 헤더 복제</a:t>
            </a:r>
            <a:endParaRPr lang="en-US" sz="875" dirty="0"/>
          </a:p>
        </p:txBody>
      </p:sp>
      <p:sp>
        <p:nvSpPr>
          <p:cNvPr id="26" name="Text: • 21개 관절 위상 재정렬(LUT Remapping) 수행"/>
          <p:cNvSpPr txBox="1"/>
          <p:nvPr/>
        </p:nvSpPr>
        <p:spPr>
          <a:xfrm>
            <a:off x="4430117" y="2287191"/>
            <a:ext cx="2325886" cy="166688"/>
          </a:xfrm>
          <a:prstGeom prst="rect">
            <a:avLst/>
          </a:prstGeom>
          <a:noFill/>
        </p:spPr>
        <p:txBody>
          <a:bodyPr wrap="none" lIns="0" tIns="0" rIns="0" bIns="0" rtlCol="0" anchor="t">
            <a:noAutofit/>
          </a:bodyPr>
          <a:lstStyle/>
          <a:p>
            <a:pPr algn="l">
              <a:lnSpc>
                <a:spcPts val="1313"/>
              </a:lnSpc>
              <a:spcBef>
                <a:spcPts val="0"/>
              </a:spcBef>
              <a:spcAft>
                <a:spcPts val="0"/>
              </a:spcAft>
              <a:buNone/>
            </a:pPr>
            <a:r>
              <a:rPr lang="en-US" sz="875" spc="-4" dirty="0">
                <a:solidFill>
                  <a:srgbClr val="475569"/>
                </a:solidFill>
                <a:latin typeface="Segoe UI"/>
                <a:ea typeface="Segoe UI"/>
                <a:cs typeface="Segoe UI"/>
              </a:rPr>
              <a:t>• 21개 관절 위상 재정렬(LUT Remapping) 수행</a:t>
            </a:r>
            <a:endParaRPr lang="en-US" sz="875" dirty="0"/>
          </a:p>
        </p:txBody>
      </p:sp>
      <p:sp>
        <p:nvSpPr>
          <p:cNvPr id="27" name="Rounded Rectangle"/>
          <p:cNvSpPr/>
          <p:nvPr/>
        </p:nvSpPr>
        <p:spPr>
          <a:xfrm>
            <a:off x="4436467" y="3444974"/>
            <a:ext cx="3318966" cy="939998"/>
          </a:xfrm>
          <a:prstGeom prst="roundRect">
            <a:avLst>
              <a:gd name="adj" fmla="val 7431"/>
            </a:avLst>
          </a:prstGeom>
          <a:solidFill>
            <a:srgbClr val="FFFBEB"/>
          </a:solidFill>
          <a:ln w="12700" cap="flat" cmpd="sng" algn="ctr">
            <a:solidFill>
              <a:srgbClr val="FDE68A"/>
            </a:solidFill>
            <a:miter lim="800000"/>
          </a:ln>
        </p:spPr>
      </p:sp>
      <p:sp>
        <p:nvSpPr>
          <p:cNvPr id="28" name="Text: 2단계 핵심 결론"/>
          <p:cNvSpPr txBox="1"/>
          <p:nvPr/>
        </p:nvSpPr>
        <p:spPr>
          <a:xfrm>
            <a:off x="4751685" y="3540224"/>
            <a:ext cx="827881"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B45309"/>
                </a:solidFill>
                <a:latin typeface="Segoe UI"/>
                <a:ea typeface="Segoe UI"/>
                <a:cs typeface="Segoe UI"/>
              </a:rPr>
              <a:t>2단계 핵심 결론</a:t>
            </a:r>
            <a:endParaRPr lang="en-US" sz="900" dirty="0"/>
          </a:p>
        </p:txBody>
      </p:sp>
      <p:sp>
        <p:nvSpPr>
          <p:cNvPr id="29" name="Text: ⚠️"/>
          <p:cNvSpPr txBox="1"/>
          <p:nvPr/>
        </p:nvSpPr>
        <p:spPr>
          <a:xfrm>
            <a:off x="4557117" y="3540224"/>
            <a:ext cx="156468"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B45309"/>
                </a:solidFill>
                <a:latin typeface="Segoe UI"/>
                <a:ea typeface="Segoe UI"/>
                <a:cs typeface="Segoe UI"/>
              </a:rPr>
              <a:t>⚠️</a:t>
            </a:r>
            <a:endParaRPr lang="en-US" sz="900" dirty="0"/>
          </a:p>
        </p:txBody>
      </p:sp>
      <p:sp>
        <p:nvSpPr>
          <p:cNvPr id="30" name="Text: • 외부 데이터 강제 주입 시 스키마 충돌: 관절 위상을 맞춰 화면 로드"/>
          <p:cNvSpPr txBox="1"/>
          <p:nvPr/>
        </p:nvSpPr>
        <p:spPr>
          <a:xfrm>
            <a:off x="4557117" y="3760291"/>
            <a:ext cx="3062982" cy="501848"/>
          </a:xfrm>
          <a:prstGeom prst="rect">
            <a:avLst/>
          </a:prstGeom>
          <a:noFill/>
        </p:spPr>
        <p:txBody>
          <a:bodyPr wrap="none" lIns="0" tIns="0" rIns="0" bIns="0" rtlCol="0" anchor="t">
            <a:noAutofit/>
          </a:bodyPr>
          <a:lstStyle/>
          <a:p>
            <a:pPr algn="l">
              <a:lnSpc>
                <a:spcPts val="1317"/>
              </a:lnSpc>
              <a:spcBef>
                <a:spcPts val="0"/>
              </a:spcBef>
              <a:spcAft>
                <a:spcPts val="0"/>
              </a:spcAft>
              <a:buNone/>
            </a:pPr>
            <a:r>
              <a:rPr lang="en-US" sz="850" b="1" spc="-4" dirty="0">
                <a:solidFill>
                  <a:srgbClr val="92400E"/>
                </a:solidFill>
                <a:latin typeface="Segoe UI"/>
                <a:ea typeface="Segoe UI"/>
                <a:cs typeface="Segoe UI"/>
              </a:rPr>
              <a:t>• 외부 데이터 강제 주입 시 스키마 충돌: 관절 위상을 맞춰 화면</a:t>
            </a:r>
            <a:br>
              <a:rPr lang="en-US" sz="850"/>
            </a:br>
            <a:r>
              <a:rPr lang="en-US" sz="850" b="1" spc="-4" dirty="0">
                <a:solidFill>
                  <a:srgbClr val="92400E"/>
                </a:solidFill>
                <a:latin typeface="Segoe UI"/>
                <a:ea typeface="Segoe UI"/>
                <a:cs typeface="Segoe UI"/>
              </a:rPr>
              <a:t>로드는 성공했으나 내부 검증 로직과의 스키마 충돌로 저장 거</a:t>
            </a:r>
            <a:br>
              <a:rPr lang="en-US" sz="850"/>
            </a:br>
            <a:r>
              <a:rPr lang="en-US" sz="850" b="1" spc="-4" dirty="0">
                <a:solidFill>
                  <a:srgbClr val="92400E"/>
                </a:solidFill>
                <a:latin typeface="Segoe UI"/>
                <a:ea typeface="Segoe UI"/>
                <a:cs typeface="Segoe UI"/>
              </a:rPr>
              <a:t>부됨.</a:t>
            </a:r>
            <a:endParaRPr lang="en-US" sz="850" dirty="0"/>
          </a:p>
        </p:txBody>
      </p:sp>
      <p:sp>
        <p:nvSpPr>
          <p:cNvPr id="31" name="Rounded Rectangle"/>
          <p:cNvSpPr/>
          <p:nvPr/>
        </p:nvSpPr>
        <p:spPr>
          <a:xfrm>
            <a:off x="4433292" y="5377557"/>
            <a:ext cx="3325316" cy="769243"/>
          </a:xfrm>
          <a:prstGeom prst="roundRect">
            <a:avLst>
              <a:gd name="adj" fmla="val 9493"/>
            </a:avLst>
          </a:prstGeom>
          <a:solidFill>
            <a:srgbClr val="0F172A"/>
          </a:solidFill>
          <a:ln w="6350" cap="flat" cmpd="sng" algn="ctr">
            <a:solidFill>
              <a:srgbClr val="1E293B"/>
            </a:solidFill>
            <a:miter lim="800000"/>
          </a:ln>
        </p:spPr>
      </p:sp>
      <p:sp>
        <p:nvSpPr>
          <p:cNvPr id="32" name="Text: # 위상 재정렬 (LUT Remapping) MediaPipe:  0: "/>
          <p:cNvSpPr txBox="1"/>
          <p:nvPr/>
        </p:nvSpPr>
        <p:spPr>
          <a:xfrm>
            <a:off x="4588867" y="5469334"/>
            <a:ext cx="2839442" cy="534293"/>
          </a:xfrm>
          <a:prstGeom prst="rect">
            <a:avLst/>
          </a:prstGeom>
          <a:noFill/>
        </p:spPr>
        <p:txBody>
          <a:bodyPr wrap="none" lIns="0" tIns="0" rIns="0" bIns="0" rtlCol="0" anchor="t">
            <a:noAutofit/>
          </a:bodyPr>
          <a:lstStyle/>
          <a:p>
            <a:pPr algn="l">
              <a:lnSpc>
                <a:spcPts val="1402"/>
              </a:lnSpc>
              <a:spcBef>
                <a:spcPts val="0"/>
              </a:spcBef>
              <a:spcAft>
                <a:spcPts val="0"/>
              </a:spcAft>
              <a:buNone/>
            </a:pPr>
            <a:r>
              <a:rPr lang="en-US" sz="850" b="1" spc="-4" dirty="0">
                <a:solidFill>
                  <a:srgbClr val="38BDF8"/>
                </a:solidFill>
                <a:latin typeface="Consolas"/>
                <a:ea typeface="Consolas"/>
                <a:cs typeface="Consolas"/>
              </a:rPr>
              <a:t># 위상 재정렬 (LUT Remapping)</a:t>
            </a:r>
            <a:br>
              <a:rPr lang="en-US" sz="850"/>
            </a:br>
            <a:r>
              <a:rPr lang="en-US" sz="850" spc="-4" dirty="0">
                <a:solidFill>
                  <a:srgbClr val="E2E8F0"/>
                </a:solidFill>
                <a:latin typeface="Consolas"/>
                <a:ea typeface="Consolas"/>
                <a:cs typeface="Consolas"/>
              </a:rPr>
              <a:t>MediaPipe: </a:t>
            </a:r>
            <a:r>
              <a:rPr lang="en-US" sz="850" spc="-4" dirty="0">
                <a:solidFill>
                  <a:srgbClr val="FACC15"/>
                </a:solidFill>
                <a:latin typeface="Consolas"/>
                <a:ea typeface="Consolas"/>
                <a:cs typeface="Consolas"/>
              </a:rPr>
              <a:t>0: WRIST</a:t>
            </a:r>
            <a:r>
              <a:rPr lang="en-US" sz="850" spc="-4" dirty="0">
                <a:solidFill>
                  <a:srgbClr val="E2E8F0"/>
                </a:solidFill>
                <a:latin typeface="Consolas"/>
                <a:ea typeface="Consolas"/>
                <a:cs typeface="Consolas"/>
              </a:rPr>
              <a:t> ➔ Geti Schema: </a:t>
            </a:r>
            <a:r>
              <a:rPr lang="en-US" sz="850" spc="-4" dirty="0">
                <a:solidFill>
                  <a:srgbClr val="FACC15"/>
                </a:solidFill>
                <a:latin typeface="Consolas"/>
                <a:ea typeface="Consolas"/>
                <a:cs typeface="Consolas"/>
              </a:rPr>
              <a:t>16: WRIST</a:t>
            </a:r>
            <a:br>
              <a:rPr lang="en-US" sz="850"/>
            </a:br>
            <a:r>
              <a:rPr lang="en-US" sz="850" spc="-4" dirty="0">
                <a:solidFill>
                  <a:srgbClr val="F87171"/>
                </a:solidFill>
                <a:latin typeface="Consolas"/>
                <a:ea typeface="Consolas"/>
                <a:cs typeface="Consolas"/>
              </a:rPr>
              <a:t>❌ 외부 데이터 강제 주입 시 내부 스키마 충돌 발생</a:t>
            </a:r>
            <a:endParaRPr lang="en-US" sz="850" dirty="0"/>
          </a:p>
        </p:txBody>
      </p:sp>
      <p:sp>
        <p:nvSpPr>
          <p:cNvPr id="33" name="Rounded Rectangle"/>
          <p:cNvSpPr/>
          <p:nvPr/>
        </p:nvSpPr>
        <p:spPr>
          <a:xfrm>
            <a:off x="8114209" y="1277541"/>
            <a:ext cx="3693616" cy="5053409"/>
          </a:xfrm>
          <a:prstGeom prst="roundRect">
            <a:avLst>
              <a:gd name="adj" fmla="val 3009"/>
            </a:avLst>
          </a:prstGeom>
          <a:solidFill>
            <a:srgbClr val="FFFFFF"/>
          </a:solidFill>
          <a:ln w="6350" cap="flat" cmpd="sng" algn="ctr">
            <a:solidFill>
              <a:srgbClr val="E2E8F0"/>
            </a:solidFill>
            <a:miter lim="800000"/>
          </a:ln>
          <a:effectLst>
            <a:outerShdw blurRad="101600" dist="50800" dir="5400000" sx="99312" sy="99497" algn="ctr" rotWithShape="0">
              <a:srgbClr val="000000">
                <a:alpha val="5000"/>
              </a:srgbClr>
            </a:outerShdw>
          </a:effectLst>
        </p:spPr>
      </p:sp>
      <p:sp>
        <p:nvSpPr>
          <p:cNvPr id="34" name="Rounded Rectangle"/>
          <p:cNvSpPr/>
          <p:nvPr/>
        </p:nvSpPr>
        <p:spPr>
          <a:xfrm>
            <a:off x="8298359" y="1461691"/>
            <a:ext cx="802481" cy="238125"/>
          </a:xfrm>
          <a:prstGeom prst="roundRect">
            <a:avLst>
              <a:gd name="adj" fmla="val 20000"/>
            </a:avLst>
          </a:prstGeom>
          <a:solidFill>
            <a:srgbClr val="FEE2E2"/>
          </a:solidFill>
          <a:ln w="6350" cap="flat" cmpd="sng" algn="ctr">
            <a:solidFill>
              <a:srgbClr val="FCA5A5"/>
            </a:solidFill>
            <a:miter lim="800000"/>
          </a:ln>
        </p:spPr>
      </p:sp>
      <p:sp>
        <p:nvSpPr>
          <p:cNvPr id="35" name="Text: ATTEMPT 03"/>
          <p:cNvSpPr txBox="1"/>
          <p:nvPr/>
        </p:nvSpPr>
        <p:spPr>
          <a:xfrm>
            <a:off x="8403134" y="1499791"/>
            <a:ext cx="59293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B91C1C"/>
                </a:solidFill>
                <a:latin typeface="Segoe UI"/>
                <a:ea typeface="Segoe UI"/>
                <a:cs typeface="Segoe UI"/>
              </a:rPr>
              <a:t>ATTEMPT 03</a:t>
            </a:r>
            <a:endParaRPr lang="en-US" sz="750" dirty="0"/>
          </a:p>
        </p:txBody>
      </p:sp>
      <p:sp>
        <p:nvSpPr>
          <p:cNvPr id="36" name="Text: Silent Drop Verification"/>
          <p:cNvSpPr txBox="1"/>
          <p:nvPr/>
        </p:nvSpPr>
        <p:spPr>
          <a:xfrm>
            <a:off x="10508456" y="1491853"/>
            <a:ext cx="1118394"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B91C1C"/>
                </a:solidFill>
                <a:latin typeface="Segoe UI"/>
                <a:ea typeface="Segoe UI"/>
                <a:cs typeface="Segoe UI"/>
              </a:rPr>
              <a:t>Silent Drop Verification</a:t>
            </a:r>
            <a:endParaRPr lang="en-US" sz="800" dirty="0"/>
          </a:p>
        </p:txBody>
      </p:sp>
      <p:sp>
        <p:nvSpPr>
          <p:cNvPr id="37" name="Text: 순정 Export 데이터 Re-import 검증"/>
          <p:cNvSpPr txBox="1"/>
          <p:nvPr/>
        </p:nvSpPr>
        <p:spPr>
          <a:xfrm>
            <a:off x="8295184" y="1779191"/>
            <a:ext cx="2483247"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F172A"/>
                </a:solidFill>
                <a:latin typeface="Segoe UI"/>
                <a:ea typeface="Segoe UI"/>
                <a:cs typeface="Segoe UI"/>
              </a:rPr>
              <a:t>순정 Export 데이터 Re-import 검증</a:t>
            </a:r>
            <a:endParaRPr lang="en-US" sz="1200" dirty="0"/>
          </a:p>
        </p:txBody>
      </p:sp>
      <p:sp>
        <p:nvSpPr>
          <p:cNvPr id="38" name="Text: • 외부 변환 파일 문제가 아닌지 확인 위해 웹에서 31장 수동 라벨 링"/>
          <p:cNvSpPr txBox="1"/>
          <p:nvPr/>
        </p:nvSpPr>
        <p:spPr>
          <a:xfrm>
            <a:off x="8295184" y="2082403"/>
            <a:ext cx="3246338" cy="333375"/>
          </a:xfrm>
          <a:prstGeom prst="rect">
            <a:avLst/>
          </a:prstGeom>
          <a:noFill/>
        </p:spPr>
        <p:txBody>
          <a:bodyPr wrap="none" lIns="0" tIns="0" rIns="0" bIns="0" rtlCol="0" anchor="t">
            <a:noAutofit/>
          </a:bodyPr>
          <a:lstStyle/>
          <a:p>
            <a:pPr algn="l">
              <a:lnSpc>
                <a:spcPts val="1313"/>
              </a:lnSpc>
              <a:spcBef>
                <a:spcPts val="0"/>
              </a:spcBef>
              <a:spcAft>
                <a:spcPts val="0"/>
              </a:spcAft>
              <a:buNone/>
            </a:pPr>
            <a:r>
              <a:rPr lang="en-US" sz="875" spc="-4" dirty="0">
                <a:solidFill>
                  <a:srgbClr val="475569"/>
                </a:solidFill>
                <a:latin typeface="Segoe UI"/>
                <a:ea typeface="Segoe UI"/>
                <a:cs typeface="Segoe UI"/>
              </a:rPr>
              <a:t>• 외부 변환 파일 문제가 아닌지 확인 위해 웹에서 31장 수동 라벨</a:t>
            </a:r>
            <a:br>
              <a:rPr lang="en-US" sz="875"/>
            </a:br>
            <a:r>
              <a:rPr lang="en-US" sz="875" spc="-4" dirty="0">
                <a:solidFill>
                  <a:srgbClr val="475569"/>
                </a:solidFill>
                <a:latin typeface="Segoe UI"/>
                <a:ea typeface="Segoe UI"/>
                <a:cs typeface="Segoe UI"/>
              </a:rPr>
              <a:t>링</a:t>
            </a:r>
            <a:endParaRPr lang="en-US" sz="875" dirty="0"/>
          </a:p>
        </p:txBody>
      </p:sp>
      <p:sp>
        <p:nvSpPr>
          <p:cNvPr id="39" name="Text: • Intel Geti가 직접 생성한 순정 Export 데이터셋 재임포트"/>
          <p:cNvSpPr txBox="1"/>
          <p:nvPr/>
        </p:nvSpPr>
        <p:spPr>
          <a:xfrm>
            <a:off x="8295184" y="2453878"/>
            <a:ext cx="3232150" cy="166688"/>
          </a:xfrm>
          <a:prstGeom prst="rect">
            <a:avLst/>
          </a:prstGeom>
          <a:noFill/>
        </p:spPr>
        <p:txBody>
          <a:bodyPr wrap="none" lIns="0" tIns="0" rIns="0" bIns="0" rtlCol="0" anchor="t">
            <a:noAutofit/>
          </a:bodyPr>
          <a:lstStyle/>
          <a:p>
            <a:pPr algn="l">
              <a:lnSpc>
                <a:spcPts val="1313"/>
              </a:lnSpc>
              <a:spcBef>
                <a:spcPts val="0"/>
              </a:spcBef>
              <a:spcAft>
                <a:spcPts val="0"/>
              </a:spcAft>
              <a:buNone/>
            </a:pPr>
            <a:r>
              <a:rPr lang="en-US" sz="875" spc="-4" dirty="0">
                <a:solidFill>
                  <a:srgbClr val="475569"/>
                </a:solidFill>
                <a:latin typeface="Segoe UI"/>
                <a:ea typeface="Segoe UI"/>
                <a:cs typeface="Segoe UI"/>
              </a:rPr>
              <a:t>• Intel Geti가 직접 생성한 순정 Export 데이터셋 재임포트 테스트</a:t>
            </a:r>
            <a:endParaRPr lang="en-US" sz="875" dirty="0"/>
          </a:p>
        </p:txBody>
      </p:sp>
      <p:sp>
        <p:nvSpPr>
          <p:cNvPr id="40" name="Rounded Rectangle"/>
          <p:cNvSpPr/>
          <p:nvPr/>
        </p:nvSpPr>
        <p:spPr>
          <a:xfrm>
            <a:off x="8301534" y="3350220"/>
            <a:ext cx="3318966" cy="939998"/>
          </a:xfrm>
          <a:prstGeom prst="roundRect">
            <a:avLst>
              <a:gd name="adj" fmla="val 7431"/>
            </a:avLst>
          </a:prstGeom>
          <a:solidFill>
            <a:srgbClr val="FEF2F2"/>
          </a:solidFill>
          <a:ln w="12700" cap="flat" cmpd="sng" algn="ctr">
            <a:solidFill>
              <a:srgbClr val="FCA5A5"/>
            </a:solidFill>
            <a:miter lim="800000"/>
          </a:ln>
        </p:spPr>
      </p:sp>
      <p:sp>
        <p:nvSpPr>
          <p:cNvPr id="41" name="Text: 3단계 핵심 결론"/>
          <p:cNvSpPr txBox="1"/>
          <p:nvPr/>
        </p:nvSpPr>
        <p:spPr>
          <a:xfrm>
            <a:off x="8616752" y="3445470"/>
            <a:ext cx="827881"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DC2626"/>
                </a:solidFill>
                <a:latin typeface="Segoe UI"/>
                <a:ea typeface="Segoe UI"/>
                <a:cs typeface="Segoe UI"/>
              </a:rPr>
              <a:t>3단계 핵심 결론</a:t>
            </a:r>
            <a:endParaRPr lang="en-US" sz="900" dirty="0"/>
          </a:p>
        </p:txBody>
      </p:sp>
      <p:sp>
        <p:nvSpPr>
          <p:cNvPr id="42" name="Text: ❌"/>
          <p:cNvSpPr txBox="1"/>
          <p:nvPr/>
        </p:nvSpPr>
        <p:spPr>
          <a:xfrm>
            <a:off x="8422184" y="3445470"/>
            <a:ext cx="156468"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DC2626"/>
                </a:solidFill>
                <a:latin typeface="Segoe UI"/>
                <a:ea typeface="Segoe UI"/>
                <a:cs typeface="Segoe UI"/>
              </a:rPr>
              <a:t>❌</a:t>
            </a:r>
            <a:endParaRPr lang="en-US" sz="900" dirty="0"/>
          </a:p>
        </p:txBody>
      </p:sp>
      <p:sp>
        <p:nvSpPr>
          <p:cNvPr id="43" name="Text: • 순정 Export 데이터의 Re-import 시 어노테이션 누락(Si"/>
          <p:cNvSpPr txBox="1"/>
          <p:nvPr/>
        </p:nvSpPr>
        <p:spPr>
          <a:xfrm>
            <a:off x="8422184" y="3665538"/>
            <a:ext cx="2986088" cy="501848"/>
          </a:xfrm>
          <a:prstGeom prst="rect">
            <a:avLst/>
          </a:prstGeom>
          <a:noFill/>
        </p:spPr>
        <p:txBody>
          <a:bodyPr wrap="none" lIns="0" tIns="0" rIns="0" bIns="0" rtlCol="0" anchor="t">
            <a:noAutofit/>
          </a:bodyPr>
          <a:lstStyle/>
          <a:p>
            <a:pPr algn="l">
              <a:lnSpc>
                <a:spcPts val="1317"/>
              </a:lnSpc>
              <a:spcBef>
                <a:spcPts val="0"/>
              </a:spcBef>
              <a:spcAft>
                <a:spcPts val="0"/>
              </a:spcAft>
              <a:buNone/>
            </a:pPr>
            <a:r>
              <a:rPr lang="en-US" sz="850" b="1" spc="-4" dirty="0">
                <a:solidFill>
                  <a:srgbClr val="DC2626"/>
                </a:solidFill>
                <a:latin typeface="Segoe UI"/>
                <a:ea typeface="Segoe UI"/>
                <a:cs typeface="Segoe UI"/>
              </a:rPr>
              <a:t>• 순정 Export 데이터의 Re-import 시 어노테이션 누락(Silent</a:t>
            </a:r>
            <a:br>
              <a:rPr lang="en-US" sz="850"/>
            </a:br>
            <a:r>
              <a:rPr lang="en-US" sz="850" b="1" spc="-4" dirty="0">
                <a:solidFill>
                  <a:srgbClr val="DC2626"/>
                </a:solidFill>
                <a:latin typeface="Segoe UI"/>
                <a:ea typeface="Segoe UI"/>
                <a:cs typeface="Segoe UI"/>
              </a:rPr>
              <a:t>Drop) 검증: 자체 생성 파일조차 재임포트 시 라벨이 증발하는</a:t>
            </a:r>
            <a:br>
              <a:rPr lang="en-US" sz="850"/>
            </a:br>
            <a:r>
              <a:rPr lang="en-US" sz="850" b="1" spc="-4" dirty="0">
                <a:solidFill>
                  <a:srgbClr val="DC2626"/>
                </a:solidFill>
                <a:latin typeface="Segoe UI"/>
                <a:ea typeface="Segoe UI"/>
                <a:cs typeface="Segoe UI"/>
              </a:rPr>
              <a:t>플랫폼 자체 결함 규명.</a:t>
            </a:r>
            <a:endParaRPr lang="en-US" sz="850" dirty="0"/>
          </a:p>
        </p:txBody>
      </p:sp>
      <p:sp>
        <p:nvSpPr>
          <p:cNvPr id="44" name="Rounded Rectangle"/>
          <p:cNvSpPr/>
          <p:nvPr/>
        </p:nvSpPr>
        <p:spPr>
          <a:xfrm>
            <a:off x="8295184" y="5018187"/>
            <a:ext cx="3331666" cy="1131788"/>
          </a:xfrm>
          <a:prstGeom prst="roundRect">
            <a:avLst>
              <a:gd name="adj" fmla="val 6733"/>
            </a:avLst>
          </a:prstGeom>
          <a:solidFill>
            <a:srgbClr val="0F172A"/>
          </a:solidFill>
          <a:ln>
            <a:noFill/>
          </a:ln>
        </p:spPr>
      </p:sp>
      <p:sp>
        <p:nvSpPr>
          <p:cNvPr id="45" name="Border"/>
          <p:cNvSpPr/>
          <p:nvPr/>
        </p:nvSpPr>
        <p:spPr>
          <a:xfrm>
            <a:off x="8295184" y="5018187"/>
            <a:ext cx="3331666" cy="6350"/>
          </a:xfrm>
          <a:prstGeom prst="rect">
            <a:avLst/>
          </a:prstGeom>
          <a:solidFill>
            <a:srgbClr val="1E293B"/>
          </a:solidFill>
          <a:ln>
            <a:noFill/>
          </a:ln>
        </p:spPr>
      </p:sp>
      <p:sp>
        <p:nvSpPr>
          <p:cNvPr id="46" name="Border"/>
          <p:cNvSpPr/>
          <p:nvPr/>
        </p:nvSpPr>
        <p:spPr>
          <a:xfrm>
            <a:off x="11620500" y="5018187"/>
            <a:ext cx="6350" cy="1131788"/>
          </a:xfrm>
          <a:prstGeom prst="rect">
            <a:avLst/>
          </a:prstGeom>
          <a:solidFill>
            <a:srgbClr val="1E293B"/>
          </a:solidFill>
          <a:ln>
            <a:noFill/>
          </a:ln>
        </p:spPr>
      </p:sp>
      <p:sp>
        <p:nvSpPr>
          <p:cNvPr id="47" name="Border"/>
          <p:cNvSpPr/>
          <p:nvPr/>
        </p:nvSpPr>
        <p:spPr>
          <a:xfrm>
            <a:off x="8295184" y="6143625"/>
            <a:ext cx="3331666" cy="6350"/>
          </a:xfrm>
          <a:prstGeom prst="rect">
            <a:avLst/>
          </a:prstGeom>
          <a:solidFill>
            <a:srgbClr val="1E293B"/>
          </a:solidFill>
          <a:ln>
            <a:noFill/>
          </a:ln>
        </p:spPr>
      </p:sp>
      <p:sp>
        <p:nvSpPr>
          <p:cNvPr id="48" name="Border"/>
          <p:cNvSpPr/>
          <p:nvPr/>
        </p:nvSpPr>
        <p:spPr>
          <a:xfrm>
            <a:off x="8295184" y="5018187"/>
            <a:ext cx="25400" cy="1131788"/>
          </a:xfrm>
          <a:prstGeom prst="rect">
            <a:avLst/>
          </a:prstGeom>
          <a:solidFill>
            <a:srgbClr val="EF4444"/>
          </a:solidFill>
          <a:ln>
            <a:noFill/>
          </a:ln>
        </p:spPr>
      </p:sp>
      <p:sp>
        <p:nvSpPr>
          <p:cNvPr id="49" name="Text: [플랫폼 결함 규명: Silent Drop] 순정 Export 데이터셋 "/>
          <p:cNvSpPr txBox="1"/>
          <p:nvPr/>
        </p:nvSpPr>
        <p:spPr>
          <a:xfrm>
            <a:off x="8472984" y="5113139"/>
            <a:ext cx="2993727" cy="890488"/>
          </a:xfrm>
          <a:prstGeom prst="rect">
            <a:avLst/>
          </a:prstGeom>
          <a:noFill/>
        </p:spPr>
        <p:txBody>
          <a:bodyPr wrap="none" lIns="0" tIns="0" rIns="0" bIns="0" rtlCol="0" anchor="t">
            <a:noAutofit/>
          </a:bodyPr>
          <a:lstStyle/>
          <a:p>
            <a:pPr algn="l">
              <a:lnSpc>
                <a:spcPts val="1402"/>
              </a:lnSpc>
              <a:spcBef>
                <a:spcPts val="0"/>
              </a:spcBef>
              <a:spcAft>
                <a:spcPts val="0"/>
              </a:spcAft>
              <a:buNone/>
            </a:pPr>
            <a:r>
              <a:rPr lang="en-US" sz="850" b="1" spc="-4" dirty="0">
                <a:solidFill>
                  <a:srgbClr val="F87171"/>
                </a:solidFill>
                <a:latin typeface="Consolas"/>
                <a:ea typeface="Consolas"/>
                <a:cs typeface="Consolas"/>
              </a:rPr>
              <a:t>[플랫폼 결함 규명: Silent Drop]</a:t>
            </a:r>
            <a:br>
              <a:rPr lang="en-US" sz="850"/>
            </a:br>
            <a:r>
              <a:rPr lang="en-US" sz="850" spc="-4" dirty="0">
                <a:solidFill>
                  <a:srgbClr val="E2E8F0"/>
                </a:solidFill>
                <a:latin typeface="Consolas"/>
                <a:ea typeface="Consolas"/>
                <a:cs typeface="Consolas"/>
              </a:rPr>
              <a:t>순정 Export 데이터셋 Re-import 시 어노테이션 전량</a:t>
            </a:r>
            <a:br>
              <a:rPr lang="en-US" sz="850"/>
            </a:br>
            <a:r>
              <a:rPr lang="en-US" sz="850" spc="-4" dirty="0">
                <a:solidFill>
                  <a:srgbClr val="E2E8F0"/>
                </a:solidFill>
                <a:latin typeface="Consolas"/>
                <a:ea typeface="Consolas"/>
                <a:cs typeface="Consolas"/>
              </a:rPr>
              <a:t>누락.</a:t>
            </a:r>
            <a:br>
              <a:rPr lang="en-US" sz="850"/>
            </a:br>
            <a:r>
              <a:rPr lang="en-US" sz="850" spc="-4" dirty="0">
                <a:solidFill>
                  <a:srgbClr val="94A3B8"/>
                </a:solidFill>
                <a:latin typeface="Consolas"/>
                <a:ea typeface="Consolas"/>
                <a:cs typeface="Consolas"/>
              </a:rPr>
              <a:t>*외부 데이터 오류가 아닌 Intel Geti 플랫폼 자체의 엔</a:t>
            </a:r>
            <a:br>
              <a:rPr lang="en-US" sz="850"/>
            </a:br>
            <a:r>
              <a:rPr lang="en-US" sz="850" spc="-4" dirty="0">
                <a:solidFill>
                  <a:srgbClr val="94A3B8"/>
                </a:solidFill>
                <a:latin typeface="Consolas"/>
                <a:ea typeface="Consolas"/>
                <a:cs typeface="Consolas"/>
              </a:rPr>
              <a:t>진 버그로 최종 확정</a:t>
            </a:r>
            <a:endParaRPr lang="en-US" sz="850" dirty="0"/>
          </a:p>
        </p:txBody>
      </p:sp>
      <p:sp>
        <p:nvSpPr>
          <p:cNvPr id="50" name="Border"/>
          <p:cNvSpPr/>
          <p:nvPr/>
        </p:nvSpPr>
        <p:spPr>
          <a:xfrm>
            <a:off x="381000" y="6334125"/>
            <a:ext cx="11430000" cy="6350"/>
          </a:xfrm>
          <a:prstGeom prst="rect">
            <a:avLst/>
          </a:prstGeom>
          <a:solidFill>
            <a:srgbClr val="E2E8F0"/>
          </a:solidFill>
          <a:ln>
            <a:noFill/>
          </a:ln>
        </p:spPr>
      </p:sp>
      <p:sp>
        <p:nvSpPr>
          <p:cNvPr id="51"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52" name="Rounded Rectangle"/>
          <p:cNvSpPr/>
          <p:nvPr/>
        </p:nvSpPr>
        <p:spPr>
          <a:xfrm>
            <a:off x="11237714" y="6429375"/>
            <a:ext cx="573286" cy="225425"/>
          </a:xfrm>
          <a:prstGeom prst="roundRect">
            <a:avLst>
              <a:gd name="adj" fmla="val 22535"/>
            </a:avLst>
          </a:prstGeom>
          <a:solidFill>
            <a:srgbClr val="F1F5F9"/>
          </a:solidFill>
          <a:ln>
            <a:noFill/>
          </a:ln>
        </p:spPr>
      </p:sp>
      <p:sp>
        <p:nvSpPr>
          <p:cNvPr id="53" name="Text: 04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04 / 14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367929" cy="238125"/>
          </a:xfrm>
          <a:prstGeom prst="roundRect">
            <a:avLst>
              <a:gd name="adj" fmla="val 20000"/>
            </a:avLst>
          </a:prstGeom>
          <a:solidFill>
            <a:srgbClr val="EFF6FF"/>
          </a:solidFill>
          <a:ln w="6350" cap="flat" cmpd="sng" algn="ctr">
            <a:solidFill>
              <a:srgbClr val="BFDBFE"/>
            </a:solidFill>
            <a:miter lim="800000"/>
          </a:ln>
        </p:spPr>
      </p:sp>
      <p:sp>
        <p:nvSpPr>
          <p:cNvPr id="3" name="Text: PART 02 • 모델 구축 방향"/>
          <p:cNvSpPr txBox="1"/>
          <p:nvPr/>
        </p:nvSpPr>
        <p:spPr>
          <a:xfrm>
            <a:off x="488950" y="282575"/>
            <a:ext cx="1158379"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02 • 모델 구축 방향</a:t>
            </a:r>
            <a:endParaRPr lang="en-US" sz="750" dirty="0"/>
          </a:p>
        </p:txBody>
      </p:sp>
      <p:sp>
        <p:nvSpPr>
          <p:cNvPr id="4" name="Text: AuraSynth Engine Architecture"/>
          <p:cNvSpPr txBox="1"/>
          <p:nvPr/>
        </p:nvSpPr>
        <p:spPr>
          <a:xfrm>
            <a:off x="1844179"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오류 이후 3가지 AI 모델 구축 방향"/>
          <p:cNvSpPr txBox="1"/>
          <p:nvPr/>
        </p:nvSpPr>
        <p:spPr>
          <a:xfrm>
            <a:off x="381000" y="555625"/>
            <a:ext cx="4785618"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오류 이후 3가지 AI 모델 구축 방향</a:t>
            </a:r>
            <a:endParaRPr lang="en-US" sz="2500" dirty="0"/>
          </a:p>
        </p:txBody>
      </p:sp>
      <p:sp>
        <p:nvSpPr>
          <p:cNvPr id="6" name="Text: 기존 저장된 라벨을 쓸 수 없게 됨에 따라 수작업 라벨링, 터미널 직접 "/>
          <p:cNvSpPr txBox="1"/>
          <p:nvPr/>
        </p:nvSpPr>
        <p:spPr>
          <a:xfrm>
            <a:off x="381000" y="948055"/>
            <a:ext cx="7170738"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기존 저장된 라벨을 쓸 수 없게 됨에 따라 수작업 라벨링, 터미널 직접 학습, 상용 모델을 병행한 3대 개발 전략</a:t>
            </a:r>
            <a:endParaRPr lang="en-US" sz="1150" dirty="0"/>
          </a:p>
        </p:txBody>
      </p:sp>
      <p:sp>
        <p:nvSpPr>
          <p:cNvPr id="7" name="Rounded Rectangle"/>
          <p:cNvSpPr/>
          <p:nvPr/>
        </p:nvSpPr>
        <p:spPr>
          <a:xfrm>
            <a:off x="381000" y="1274366"/>
            <a:ext cx="3699867" cy="5059759"/>
          </a:xfrm>
          <a:prstGeom prst="roundRect">
            <a:avLst>
              <a:gd name="adj" fmla="val 3089"/>
            </a:avLst>
          </a:prstGeom>
          <a:solidFill>
            <a:srgbClr val="FFFFFF"/>
          </a:solidFill>
          <a:ln>
            <a:noFill/>
          </a:ln>
          <a:effectLst>
            <a:outerShdw blurRad="101600" dist="50800" dir="5400000" sx="99313" sy="99498" algn="ctr" rotWithShape="0">
              <a:srgbClr val="000000">
                <a:alpha val="5000"/>
              </a:srgbClr>
            </a:outerShdw>
          </a:effectLst>
        </p:spPr>
      </p:sp>
      <p:sp>
        <p:nvSpPr>
          <p:cNvPr id="8" name="Border"/>
          <p:cNvSpPr/>
          <p:nvPr/>
        </p:nvSpPr>
        <p:spPr>
          <a:xfrm>
            <a:off x="381000" y="1274366"/>
            <a:ext cx="3699867" cy="44450"/>
          </a:xfrm>
          <a:prstGeom prst="rect">
            <a:avLst/>
          </a:prstGeom>
          <a:solidFill>
            <a:srgbClr val="D97706"/>
          </a:solidFill>
          <a:ln>
            <a:noFill/>
          </a:ln>
        </p:spPr>
      </p:sp>
      <p:sp>
        <p:nvSpPr>
          <p:cNvPr id="9" name="Border"/>
          <p:cNvSpPr/>
          <p:nvPr/>
        </p:nvSpPr>
        <p:spPr>
          <a:xfrm>
            <a:off x="4074517" y="1274366"/>
            <a:ext cx="6350" cy="5059759"/>
          </a:xfrm>
          <a:prstGeom prst="rect">
            <a:avLst/>
          </a:prstGeom>
          <a:solidFill>
            <a:srgbClr val="E2E8F0"/>
          </a:solidFill>
          <a:ln>
            <a:noFill/>
          </a:ln>
        </p:spPr>
      </p:sp>
      <p:sp>
        <p:nvSpPr>
          <p:cNvPr id="10" name="Border"/>
          <p:cNvSpPr/>
          <p:nvPr/>
        </p:nvSpPr>
        <p:spPr>
          <a:xfrm>
            <a:off x="381000" y="6327775"/>
            <a:ext cx="3699867" cy="6350"/>
          </a:xfrm>
          <a:prstGeom prst="rect">
            <a:avLst/>
          </a:prstGeom>
          <a:solidFill>
            <a:srgbClr val="E2E8F0"/>
          </a:solidFill>
          <a:ln>
            <a:noFill/>
          </a:ln>
        </p:spPr>
      </p:sp>
      <p:sp>
        <p:nvSpPr>
          <p:cNvPr id="11" name="Border"/>
          <p:cNvSpPr/>
          <p:nvPr/>
        </p:nvSpPr>
        <p:spPr>
          <a:xfrm>
            <a:off x="381000" y="1274366"/>
            <a:ext cx="6350" cy="5059759"/>
          </a:xfrm>
          <a:prstGeom prst="rect">
            <a:avLst/>
          </a:prstGeom>
          <a:solidFill>
            <a:srgbClr val="E2E8F0"/>
          </a:solidFill>
          <a:ln>
            <a:noFill/>
          </a:ln>
        </p:spPr>
      </p:sp>
      <p:sp>
        <p:nvSpPr>
          <p:cNvPr id="12" name="Text: MODEL 01"/>
          <p:cNvSpPr txBox="1"/>
          <p:nvPr/>
        </p:nvSpPr>
        <p:spPr>
          <a:xfrm>
            <a:off x="565150" y="1515666"/>
            <a:ext cx="579537"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34" dirty="0">
                <a:solidFill>
                  <a:srgbClr val="B45309"/>
                </a:solidFill>
                <a:latin typeface="Segoe UI"/>
                <a:ea typeface="Segoe UI"/>
                <a:cs typeface="Segoe UI"/>
              </a:rPr>
              <a:t>MODEL 01</a:t>
            </a:r>
            <a:endParaRPr lang="en-US" sz="850" dirty="0"/>
          </a:p>
        </p:txBody>
      </p:sp>
      <p:sp>
        <p:nvSpPr>
          <p:cNvPr id="13" name="Rounded Rectangle"/>
          <p:cNvSpPr/>
          <p:nvPr/>
        </p:nvSpPr>
        <p:spPr>
          <a:xfrm>
            <a:off x="2871291" y="1487091"/>
            <a:ext cx="1022251" cy="238125"/>
          </a:xfrm>
          <a:prstGeom prst="roundRect">
            <a:avLst>
              <a:gd name="adj" fmla="val 20000"/>
            </a:avLst>
          </a:prstGeom>
          <a:solidFill>
            <a:srgbClr val="FEF3C7"/>
          </a:solidFill>
          <a:ln w="6350" cap="flat" cmpd="sng" algn="ctr">
            <a:solidFill>
              <a:srgbClr val="FDE68A"/>
            </a:solidFill>
            <a:miter lim="800000"/>
          </a:ln>
        </p:spPr>
      </p:sp>
      <p:sp>
        <p:nvSpPr>
          <p:cNvPr id="14" name="Text: 수작업 베이스라인"/>
          <p:cNvSpPr txBox="1"/>
          <p:nvPr/>
        </p:nvSpPr>
        <p:spPr>
          <a:xfrm>
            <a:off x="2976066" y="1525191"/>
            <a:ext cx="81270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D97706"/>
                </a:solidFill>
                <a:latin typeface="Segoe UI"/>
                <a:ea typeface="Segoe UI"/>
                <a:cs typeface="Segoe UI"/>
              </a:rPr>
              <a:t>수작업 베이스라인</a:t>
            </a:r>
            <a:endParaRPr lang="en-US" sz="750" dirty="0"/>
          </a:p>
        </p:txBody>
      </p:sp>
      <p:sp>
        <p:nvSpPr>
          <p:cNvPr id="15" name="Text: Intel Geti"/>
          <p:cNvSpPr txBox="1"/>
          <p:nvPr/>
        </p:nvSpPr>
        <p:spPr>
          <a:xfrm>
            <a:off x="565150" y="1760141"/>
            <a:ext cx="907852" cy="323850"/>
          </a:xfrm>
          <a:prstGeom prst="rect">
            <a:avLst/>
          </a:prstGeom>
          <a:noFill/>
        </p:spPr>
        <p:txBody>
          <a:bodyPr wrap="none" lIns="0" tIns="0" rIns="0" bIns="0" rtlCol="0" anchor="t">
            <a:noAutofit/>
          </a:bodyPr>
          <a:lstStyle/>
          <a:p>
            <a:pPr algn="l">
              <a:lnSpc>
                <a:spcPts val="2550"/>
              </a:lnSpc>
              <a:spcBef>
                <a:spcPts val="0"/>
              </a:spcBef>
              <a:spcAft>
                <a:spcPts val="0"/>
              </a:spcAft>
              <a:buNone/>
            </a:pPr>
            <a:r>
              <a:rPr lang="en-US" sz="1700" b="1" spc="-34" dirty="0">
                <a:solidFill>
                  <a:srgbClr val="0F172A"/>
                </a:solidFill>
                <a:latin typeface="Segoe UI"/>
                <a:ea typeface="Segoe UI"/>
                <a:cs typeface="Segoe UI"/>
              </a:rPr>
              <a:t>Intel Geti</a:t>
            </a:r>
            <a:endParaRPr lang="en-US" sz="1700" dirty="0"/>
          </a:p>
        </p:txBody>
      </p:sp>
      <p:sp>
        <p:nvSpPr>
          <p:cNvPr id="16" name="Text: 31장 직접 라벨링 모델"/>
          <p:cNvSpPr txBox="1"/>
          <p:nvPr/>
        </p:nvSpPr>
        <p:spPr>
          <a:xfrm>
            <a:off x="565150" y="2114153"/>
            <a:ext cx="1128415" cy="166688"/>
          </a:xfrm>
          <a:prstGeom prst="rect">
            <a:avLst/>
          </a:prstGeom>
          <a:noFill/>
        </p:spPr>
        <p:txBody>
          <a:bodyPr wrap="none" lIns="0" tIns="0" rIns="0" bIns="0" rtlCol="0" anchor="t">
            <a:noAutofit/>
          </a:bodyPr>
          <a:lstStyle/>
          <a:p>
            <a:pPr algn="l">
              <a:lnSpc>
                <a:spcPts val="1313"/>
              </a:lnSpc>
              <a:spcBef>
                <a:spcPts val="0"/>
              </a:spcBef>
              <a:spcAft>
                <a:spcPts val="0"/>
              </a:spcAft>
              <a:buNone/>
            </a:pPr>
            <a:r>
              <a:rPr lang="en-US" sz="875" b="1" spc="-4" dirty="0">
                <a:solidFill>
                  <a:srgbClr val="D97706"/>
                </a:solidFill>
                <a:latin typeface="Segoe UI"/>
                <a:ea typeface="Segoe UI"/>
                <a:cs typeface="Segoe UI"/>
              </a:rPr>
              <a:t>31장 직접 라벨링 모델</a:t>
            </a:r>
            <a:endParaRPr lang="en-US" sz="875" dirty="0"/>
          </a:p>
        </p:txBody>
      </p:sp>
      <p:sp>
        <p:nvSpPr>
          <p:cNvPr id="17" name="Rounded Rectangle"/>
          <p:cNvSpPr/>
          <p:nvPr/>
        </p:nvSpPr>
        <p:spPr>
          <a:xfrm>
            <a:off x="568325" y="2387203"/>
            <a:ext cx="3325217" cy="1485900"/>
          </a:xfrm>
          <a:prstGeom prst="roundRect">
            <a:avLst>
              <a:gd name="adj" fmla="val 5769"/>
            </a:avLst>
          </a:prstGeom>
          <a:solidFill>
            <a:srgbClr val="0F172A"/>
          </a:solidFill>
          <a:ln w="6350" cap="flat" cmpd="sng" algn="ctr">
            <a:solidFill>
              <a:srgbClr val="E2E8F0"/>
            </a:solidFill>
            <a:miter lim="800000"/>
          </a:ln>
          <a:effectLst>
            <a:outerShdw blurRad="76200" dist="25400" dir="5400000" sx="100000" sy="100000" algn="ctr" rotWithShape="0">
              <a:srgbClr val="000000">
                <a:alpha val="6000"/>
              </a:srgbClr>
            </a:outerShdw>
          </a:effectLst>
        </p:spPr>
      </p:sp>
      <p:pic>
        <p:nvPicPr>
          <p:cNvPr id="18" name="Image: Intel Geti Manual Labeling"/>
          <p:cNvPicPr>
            <a:picLocks noChangeAspect="1"/>
          </p:cNvPicPr>
          <p:nvPr/>
        </p:nvPicPr>
        <p:blipFill>
          <a:blip r:embed="rId2"/>
          <a:srcRect l="0" t="10064" r="0" b="10064"/>
          <a:stretch>
            <a:fillRect/>
          </a:stretch>
        </p:blipFill>
        <p:spPr>
          <a:xfrm>
            <a:off x="571500" y="2390378"/>
            <a:ext cx="3318867" cy="1479550"/>
          </a:xfrm>
          <a:prstGeom prst="rect">
            <a:avLst/>
          </a:prstGeom>
          <a:ln>
            <a:noFill/>
          </a:ln>
        </p:spPr>
      </p:pic>
      <p:sp>
        <p:nvSpPr>
          <p:cNvPr id="19" name="Text: •  수동 라벨링 대체:  플랫폼 오류 우회를 위해 31장 마우스 직접 "/>
          <p:cNvSpPr txBox="1"/>
          <p:nvPr/>
        </p:nvSpPr>
        <p:spPr>
          <a:xfrm>
            <a:off x="565150" y="3951684"/>
            <a:ext cx="3275013"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1E293B"/>
                </a:solidFill>
                <a:latin typeface="Segoe UI"/>
                <a:ea typeface="Segoe UI"/>
                <a:cs typeface="Segoe UI"/>
              </a:rPr>
              <a:t>• </a:t>
            </a:r>
            <a:r>
              <a:rPr lang="en-US" sz="875" b="1" spc="-4" dirty="0">
                <a:solidFill>
                  <a:srgbClr val="1E293B"/>
                </a:solidFill>
                <a:latin typeface="Segoe UI"/>
                <a:ea typeface="Segoe UI"/>
                <a:cs typeface="Segoe UI"/>
              </a:rPr>
              <a:t>수동 라벨링 대체:</a:t>
            </a:r>
            <a:r>
              <a:rPr lang="en-US" sz="875" spc="-4" dirty="0">
                <a:solidFill>
                  <a:srgbClr val="1E293B"/>
                </a:solidFill>
                <a:latin typeface="Segoe UI"/>
                <a:ea typeface="Segoe UI"/>
                <a:cs typeface="Segoe UI"/>
              </a:rPr>
              <a:t> 플랫폼 오류 우회를 위해 31장 마우스 직접 라</a:t>
            </a:r>
            <a:br>
              <a:rPr lang="en-US" sz="875"/>
            </a:br>
            <a:r>
              <a:rPr lang="en-US" sz="875" spc="-4" dirty="0">
                <a:solidFill>
                  <a:srgbClr val="1E293B"/>
                </a:solidFill>
                <a:latin typeface="Segoe UI"/>
                <a:ea typeface="Segoe UI"/>
                <a:cs typeface="Segoe UI"/>
              </a:rPr>
              <a:t>벨링</a:t>
            </a:r>
            <a:endParaRPr lang="en-US" sz="875" dirty="0"/>
          </a:p>
        </p:txBody>
      </p:sp>
      <p:sp>
        <p:nvSpPr>
          <p:cNvPr id="20" name="Text: •  임시 베이스라인:  플랫폼 내 최소 관절 인식 가능 여부를 검증하 "/>
          <p:cNvSpPr txBox="1"/>
          <p:nvPr/>
        </p:nvSpPr>
        <p:spPr>
          <a:xfrm>
            <a:off x="565150" y="4346972"/>
            <a:ext cx="3225602"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64748B"/>
                </a:solidFill>
                <a:latin typeface="Segoe UI"/>
                <a:ea typeface="Segoe UI"/>
                <a:cs typeface="Segoe UI"/>
              </a:rPr>
              <a:t>• </a:t>
            </a:r>
            <a:r>
              <a:rPr lang="en-US" sz="875" b="1" spc="-4" dirty="0">
                <a:solidFill>
                  <a:srgbClr val="64748B"/>
                </a:solidFill>
                <a:latin typeface="Segoe UI"/>
                <a:ea typeface="Segoe UI"/>
                <a:cs typeface="Segoe UI"/>
              </a:rPr>
              <a:t>임시 베이스라인:</a:t>
            </a:r>
            <a:r>
              <a:rPr lang="en-US" sz="875" spc="-4" dirty="0">
                <a:solidFill>
                  <a:srgbClr val="64748B"/>
                </a:solidFill>
                <a:latin typeface="Segoe UI"/>
                <a:ea typeface="Segoe UI"/>
                <a:cs typeface="Segoe UI"/>
              </a:rPr>
              <a:t> 플랫폼 내 최소 관절 인식 가능 여부를 검증하</a:t>
            </a:r>
            <a:br>
              <a:rPr lang="en-US" sz="875"/>
            </a:br>
            <a:r>
              <a:rPr lang="en-US" sz="875" spc="-4" dirty="0">
                <a:solidFill>
                  <a:srgbClr val="64748B"/>
                </a:solidFill>
                <a:latin typeface="Segoe UI"/>
                <a:ea typeface="Segoe UI"/>
                <a:cs typeface="Segoe UI"/>
              </a:rPr>
              <a:t>기 위한 기준 모델</a:t>
            </a:r>
            <a:endParaRPr lang="en-US" sz="875" dirty="0"/>
          </a:p>
        </p:txBody>
      </p:sp>
      <p:sp>
        <p:nvSpPr>
          <p:cNvPr id="21" name="Rounded Rectangle"/>
          <p:cNvSpPr/>
          <p:nvPr/>
        </p:nvSpPr>
        <p:spPr>
          <a:xfrm>
            <a:off x="568325" y="5842000"/>
            <a:ext cx="3325217" cy="317500"/>
          </a:xfrm>
          <a:prstGeom prst="roundRect">
            <a:avLst>
              <a:gd name="adj" fmla="val 23000"/>
            </a:avLst>
          </a:prstGeom>
          <a:solidFill>
            <a:srgbClr val="FFFBEB"/>
          </a:solidFill>
          <a:ln w="6350" cap="flat" cmpd="sng" algn="ctr">
            <a:solidFill>
              <a:srgbClr val="FDE68A"/>
            </a:solidFill>
            <a:miter lim="800000"/>
          </a:ln>
        </p:spPr>
      </p:sp>
      <p:sp>
        <p:nvSpPr>
          <p:cNvPr id="22" name="Text: ⚠️ 최소 동작 검증용 (데이터 부족으로 실전 불가)"/>
          <p:cNvSpPr txBox="1"/>
          <p:nvPr/>
        </p:nvSpPr>
        <p:spPr>
          <a:xfrm>
            <a:off x="673100" y="5915025"/>
            <a:ext cx="2348508"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25" b="1" spc="-4" dirty="0">
                <a:solidFill>
                  <a:srgbClr val="B45309"/>
                </a:solidFill>
                <a:latin typeface="Segoe UI"/>
                <a:ea typeface="Segoe UI"/>
                <a:cs typeface="Segoe UI"/>
              </a:rPr>
              <a:t>⚠️ 최소 동작 검증용 (데이터 부족으로 실전 불가)</a:t>
            </a:r>
            <a:endParaRPr lang="en-US" sz="825" dirty="0"/>
          </a:p>
        </p:txBody>
      </p:sp>
      <p:sp>
        <p:nvSpPr>
          <p:cNvPr id="23" name="Rounded Rectangle"/>
          <p:cNvSpPr/>
          <p:nvPr/>
        </p:nvSpPr>
        <p:spPr>
          <a:xfrm>
            <a:off x="4245967" y="1274366"/>
            <a:ext cx="3699966" cy="5059759"/>
          </a:xfrm>
          <a:prstGeom prst="roundRect">
            <a:avLst>
              <a:gd name="adj" fmla="val 3089"/>
            </a:avLst>
          </a:prstGeom>
          <a:solidFill>
            <a:srgbClr val="FFFFFF"/>
          </a:solidFill>
          <a:ln>
            <a:noFill/>
          </a:ln>
          <a:effectLst>
            <a:outerShdw blurRad="101600" dist="50800" dir="5400000" sx="99314" sy="99498" algn="ctr" rotWithShape="0">
              <a:srgbClr val="000000">
                <a:alpha val="5000"/>
              </a:srgbClr>
            </a:outerShdw>
          </a:effectLst>
        </p:spPr>
      </p:sp>
      <p:sp>
        <p:nvSpPr>
          <p:cNvPr id="24" name="Border"/>
          <p:cNvSpPr/>
          <p:nvPr/>
        </p:nvSpPr>
        <p:spPr>
          <a:xfrm>
            <a:off x="4245967" y="1274366"/>
            <a:ext cx="3699966" cy="44450"/>
          </a:xfrm>
          <a:prstGeom prst="rect">
            <a:avLst/>
          </a:prstGeom>
          <a:solidFill>
            <a:srgbClr val="2563EB"/>
          </a:solidFill>
          <a:ln>
            <a:noFill/>
          </a:ln>
        </p:spPr>
      </p:sp>
      <p:sp>
        <p:nvSpPr>
          <p:cNvPr id="25" name="Border"/>
          <p:cNvSpPr/>
          <p:nvPr/>
        </p:nvSpPr>
        <p:spPr>
          <a:xfrm>
            <a:off x="7939584" y="1274366"/>
            <a:ext cx="6350" cy="5059759"/>
          </a:xfrm>
          <a:prstGeom prst="rect">
            <a:avLst/>
          </a:prstGeom>
          <a:solidFill>
            <a:srgbClr val="E2E8F0"/>
          </a:solidFill>
          <a:ln>
            <a:noFill/>
          </a:ln>
        </p:spPr>
      </p:sp>
      <p:sp>
        <p:nvSpPr>
          <p:cNvPr id="26" name="Border"/>
          <p:cNvSpPr/>
          <p:nvPr/>
        </p:nvSpPr>
        <p:spPr>
          <a:xfrm>
            <a:off x="4245967" y="6327775"/>
            <a:ext cx="3699966" cy="6350"/>
          </a:xfrm>
          <a:prstGeom prst="rect">
            <a:avLst/>
          </a:prstGeom>
          <a:solidFill>
            <a:srgbClr val="E2E8F0"/>
          </a:solidFill>
          <a:ln>
            <a:noFill/>
          </a:ln>
        </p:spPr>
      </p:sp>
      <p:sp>
        <p:nvSpPr>
          <p:cNvPr id="27" name="Border"/>
          <p:cNvSpPr/>
          <p:nvPr/>
        </p:nvSpPr>
        <p:spPr>
          <a:xfrm>
            <a:off x="4245967" y="1274366"/>
            <a:ext cx="6350" cy="5059759"/>
          </a:xfrm>
          <a:prstGeom prst="rect">
            <a:avLst/>
          </a:prstGeom>
          <a:solidFill>
            <a:srgbClr val="E2E8F0"/>
          </a:solidFill>
          <a:ln>
            <a:noFill/>
          </a:ln>
        </p:spPr>
      </p:sp>
      <p:sp>
        <p:nvSpPr>
          <p:cNvPr id="28" name="Text: MODEL 02"/>
          <p:cNvSpPr txBox="1"/>
          <p:nvPr/>
        </p:nvSpPr>
        <p:spPr>
          <a:xfrm>
            <a:off x="4430117" y="1515666"/>
            <a:ext cx="579537"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34" dirty="0">
                <a:solidFill>
                  <a:srgbClr val="1D4ED8"/>
                </a:solidFill>
                <a:latin typeface="Segoe UI"/>
                <a:ea typeface="Segoe UI"/>
                <a:cs typeface="Segoe UI"/>
              </a:rPr>
              <a:t>MODEL 02</a:t>
            </a:r>
            <a:endParaRPr lang="en-US" sz="850" dirty="0"/>
          </a:p>
        </p:txBody>
      </p:sp>
      <p:sp>
        <p:nvSpPr>
          <p:cNvPr id="29" name="Rounded Rectangle"/>
          <p:cNvSpPr/>
          <p:nvPr/>
        </p:nvSpPr>
        <p:spPr>
          <a:xfrm>
            <a:off x="6798171" y="1487091"/>
            <a:ext cx="960438" cy="238125"/>
          </a:xfrm>
          <a:prstGeom prst="roundRect">
            <a:avLst>
              <a:gd name="adj" fmla="val 20000"/>
            </a:avLst>
          </a:prstGeom>
          <a:solidFill>
            <a:srgbClr val="EFF6FF"/>
          </a:solidFill>
          <a:ln w="6350" cap="flat" cmpd="sng" algn="ctr">
            <a:solidFill>
              <a:srgbClr val="BFDBFE"/>
            </a:solidFill>
            <a:miter lim="800000"/>
          </a:ln>
        </p:spPr>
      </p:sp>
      <p:sp>
        <p:nvSpPr>
          <p:cNvPr id="30" name="Text: 터미널 직접 학습"/>
          <p:cNvSpPr txBox="1"/>
          <p:nvPr/>
        </p:nvSpPr>
        <p:spPr>
          <a:xfrm>
            <a:off x="6902946" y="1525191"/>
            <a:ext cx="75088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터미널 직접 학습</a:t>
            </a:r>
            <a:endParaRPr lang="en-US" sz="750" dirty="0"/>
          </a:p>
        </p:txBody>
      </p:sp>
      <p:sp>
        <p:nvSpPr>
          <p:cNvPr id="31" name="Text: Custom YOLOv8"/>
          <p:cNvSpPr txBox="1"/>
          <p:nvPr/>
        </p:nvSpPr>
        <p:spPr>
          <a:xfrm>
            <a:off x="4430117" y="1760141"/>
            <a:ext cx="1609923" cy="323850"/>
          </a:xfrm>
          <a:prstGeom prst="rect">
            <a:avLst/>
          </a:prstGeom>
          <a:noFill/>
        </p:spPr>
        <p:txBody>
          <a:bodyPr wrap="none" lIns="0" tIns="0" rIns="0" bIns="0" rtlCol="0" anchor="t">
            <a:noAutofit/>
          </a:bodyPr>
          <a:lstStyle/>
          <a:p>
            <a:pPr algn="l">
              <a:lnSpc>
                <a:spcPts val="2550"/>
              </a:lnSpc>
              <a:spcBef>
                <a:spcPts val="0"/>
              </a:spcBef>
              <a:spcAft>
                <a:spcPts val="0"/>
              </a:spcAft>
              <a:buNone/>
            </a:pPr>
            <a:r>
              <a:rPr lang="en-US" sz="1700" b="1" spc="-34" dirty="0">
                <a:solidFill>
                  <a:srgbClr val="0F172A"/>
                </a:solidFill>
                <a:latin typeface="Segoe UI"/>
                <a:ea typeface="Segoe UI"/>
                <a:cs typeface="Segoe UI"/>
              </a:rPr>
              <a:t>Custom YOLOv8</a:t>
            </a:r>
            <a:endParaRPr lang="en-US" sz="1700" dirty="0"/>
          </a:p>
        </p:txBody>
      </p:sp>
      <p:sp>
        <p:nvSpPr>
          <p:cNvPr id="32" name="Text: 1.8만 장 터미널 직접 학습 (CLI)"/>
          <p:cNvSpPr txBox="1"/>
          <p:nvPr/>
        </p:nvSpPr>
        <p:spPr>
          <a:xfrm>
            <a:off x="4430117" y="2114153"/>
            <a:ext cx="1584127" cy="166688"/>
          </a:xfrm>
          <a:prstGeom prst="rect">
            <a:avLst/>
          </a:prstGeom>
          <a:noFill/>
        </p:spPr>
        <p:txBody>
          <a:bodyPr wrap="none" lIns="0" tIns="0" rIns="0" bIns="0" rtlCol="0" anchor="t">
            <a:noAutofit/>
          </a:bodyPr>
          <a:lstStyle/>
          <a:p>
            <a:pPr algn="l">
              <a:lnSpc>
                <a:spcPts val="1313"/>
              </a:lnSpc>
              <a:spcBef>
                <a:spcPts val="0"/>
              </a:spcBef>
              <a:spcAft>
                <a:spcPts val="0"/>
              </a:spcAft>
              <a:buNone/>
            </a:pPr>
            <a:r>
              <a:rPr lang="en-US" sz="875" b="1" spc="-4" dirty="0">
                <a:solidFill>
                  <a:srgbClr val="2563EB"/>
                </a:solidFill>
                <a:latin typeface="Segoe UI"/>
                <a:ea typeface="Segoe UI"/>
                <a:cs typeface="Segoe UI"/>
              </a:rPr>
              <a:t>1.8만 장 터미널 직접 학습 (CLI)</a:t>
            </a:r>
            <a:endParaRPr lang="en-US" sz="875" dirty="0"/>
          </a:p>
        </p:txBody>
      </p:sp>
      <p:sp>
        <p:nvSpPr>
          <p:cNvPr id="33" name="Rounded Rectangle"/>
          <p:cNvSpPr/>
          <p:nvPr/>
        </p:nvSpPr>
        <p:spPr>
          <a:xfrm>
            <a:off x="4433292" y="2387203"/>
            <a:ext cx="3325316" cy="1485900"/>
          </a:xfrm>
          <a:prstGeom prst="roundRect">
            <a:avLst>
              <a:gd name="adj" fmla="val 5769"/>
            </a:avLst>
          </a:prstGeom>
          <a:solidFill>
            <a:srgbClr val="0F172A"/>
          </a:solidFill>
          <a:ln w="6350" cap="flat" cmpd="sng" algn="ctr">
            <a:solidFill>
              <a:srgbClr val="E2E8F0"/>
            </a:solidFill>
            <a:miter lim="800000"/>
          </a:ln>
          <a:effectLst>
            <a:outerShdw blurRad="76200" dist="25400" dir="5400000" sx="100000" sy="100000" algn="ctr" rotWithShape="0">
              <a:srgbClr val="000000">
                <a:alpha val="6000"/>
              </a:srgbClr>
            </a:outerShdw>
          </a:effectLst>
        </p:spPr>
      </p:sp>
      <p:pic>
        <p:nvPicPr>
          <p:cNvPr id="34" name="Image: Terminal Dataset Training Batch"/>
          <p:cNvPicPr>
            <a:picLocks noChangeAspect="1"/>
          </p:cNvPicPr>
          <p:nvPr/>
        </p:nvPicPr>
        <p:blipFill>
          <a:blip r:embed="rId3"/>
          <a:srcRect l="0" t="27711" r="0" b="27711"/>
          <a:stretch>
            <a:fillRect/>
          </a:stretch>
        </p:blipFill>
        <p:spPr>
          <a:xfrm>
            <a:off x="4436467" y="2390378"/>
            <a:ext cx="3318966" cy="1479550"/>
          </a:xfrm>
          <a:prstGeom prst="rect">
            <a:avLst/>
          </a:prstGeom>
          <a:ln>
            <a:noFill/>
          </a:ln>
        </p:spPr>
      </p:pic>
      <p:sp>
        <p:nvSpPr>
          <p:cNvPr id="35" name="Text: •  1.8만 장 데이터 활용:  플랫폼 버그를 우회하여 원본 18,77"/>
          <p:cNvSpPr txBox="1"/>
          <p:nvPr/>
        </p:nvSpPr>
        <p:spPr>
          <a:xfrm>
            <a:off x="4430117" y="3951684"/>
            <a:ext cx="3266877"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1E293B"/>
                </a:solidFill>
                <a:latin typeface="Segoe UI"/>
                <a:ea typeface="Segoe UI"/>
                <a:cs typeface="Segoe UI"/>
              </a:rPr>
              <a:t>• </a:t>
            </a:r>
            <a:r>
              <a:rPr lang="en-US" sz="875" b="1" spc="-4" dirty="0">
                <a:solidFill>
                  <a:srgbClr val="1E293B"/>
                </a:solidFill>
                <a:latin typeface="Segoe UI"/>
                <a:ea typeface="Segoe UI"/>
                <a:cs typeface="Segoe UI"/>
              </a:rPr>
              <a:t>1.8만 장 데이터 활용:</a:t>
            </a:r>
            <a:r>
              <a:rPr lang="en-US" sz="875" spc="-4" dirty="0">
                <a:solidFill>
                  <a:srgbClr val="1E293B"/>
                </a:solidFill>
                <a:latin typeface="Segoe UI"/>
                <a:ea typeface="Segoe UI"/>
                <a:cs typeface="Segoe UI"/>
              </a:rPr>
              <a:t> 플랫폼 버그를 우회하여 원본 18,776장 전</a:t>
            </a:r>
            <a:br>
              <a:rPr lang="en-US" sz="875"/>
            </a:br>
            <a:r>
              <a:rPr lang="en-US" sz="875" spc="-4" dirty="0">
                <a:solidFill>
                  <a:srgbClr val="1E293B"/>
                </a:solidFill>
                <a:latin typeface="Segoe UI"/>
                <a:ea typeface="Segoe UI"/>
                <a:cs typeface="Segoe UI"/>
              </a:rPr>
              <a:t>체 데이터 학습</a:t>
            </a:r>
            <a:endParaRPr lang="en-US" sz="875" dirty="0"/>
          </a:p>
        </p:txBody>
      </p:sp>
      <p:sp>
        <p:nvSpPr>
          <p:cNvPr id="36" name="Text: •  CLI 학습 수행:  로컬 환경에서 15 Epochs 직접 전이학습"/>
          <p:cNvSpPr txBox="1"/>
          <p:nvPr/>
        </p:nvSpPr>
        <p:spPr>
          <a:xfrm>
            <a:off x="4430117" y="4346972"/>
            <a:ext cx="3086199"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64748B"/>
                </a:solidFill>
                <a:latin typeface="Segoe UI"/>
                <a:ea typeface="Segoe UI"/>
                <a:cs typeface="Segoe UI"/>
              </a:rPr>
              <a:t>• </a:t>
            </a:r>
            <a:r>
              <a:rPr lang="en-US" sz="875" b="1" spc="-4" dirty="0">
                <a:solidFill>
                  <a:srgbClr val="64748B"/>
                </a:solidFill>
                <a:latin typeface="Segoe UI"/>
                <a:ea typeface="Segoe UI"/>
                <a:cs typeface="Segoe UI"/>
              </a:rPr>
              <a:t>CLI 학습 수행:</a:t>
            </a:r>
            <a:r>
              <a:rPr lang="en-US" sz="875" spc="-4" dirty="0">
                <a:solidFill>
                  <a:srgbClr val="64748B"/>
                </a:solidFill>
                <a:latin typeface="Segoe UI"/>
                <a:ea typeface="Segoe UI"/>
                <a:cs typeface="Segoe UI"/>
              </a:rPr>
              <a:t> 로컬 환경에서 15 Epochs 직접 전이학습 수행</a:t>
            </a:r>
            <a:br>
              <a:rPr lang="en-US" sz="875"/>
            </a:br>
            <a:r>
              <a:rPr lang="en-US" sz="875" spc="-4" dirty="0">
                <a:solidFill>
                  <a:srgbClr val="64748B"/>
                </a:solidFill>
                <a:latin typeface="Segoe UI"/>
                <a:ea typeface="Segoe UI"/>
                <a:cs typeface="Segoe UI"/>
              </a:rPr>
              <a:t>(mAP 99.2% 수렴)</a:t>
            </a:r>
            <a:endParaRPr lang="en-US" sz="875" dirty="0"/>
          </a:p>
        </p:txBody>
      </p:sp>
      <p:sp>
        <p:nvSpPr>
          <p:cNvPr id="37" name="Rounded Rectangle"/>
          <p:cNvSpPr/>
          <p:nvPr/>
        </p:nvSpPr>
        <p:spPr>
          <a:xfrm>
            <a:off x="4433292" y="5842000"/>
            <a:ext cx="3325316" cy="317500"/>
          </a:xfrm>
          <a:prstGeom prst="roundRect">
            <a:avLst>
              <a:gd name="adj" fmla="val 23000"/>
            </a:avLst>
          </a:prstGeom>
          <a:solidFill>
            <a:srgbClr val="EFF6FF"/>
          </a:solidFill>
          <a:ln w="6350" cap="flat" cmpd="sng" algn="ctr">
            <a:solidFill>
              <a:srgbClr val="BFDBFE"/>
            </a:solidFill>
            <a:miter lim="800000"/>
          </a:ln>
        </p:spPr>
      </p:sp>
      <p:sp>
        <p:nvSpPr>
          <p:cNvPr id="38" name="Text: 🔍 1.8만 장 데이터 직접 학습을 통한 2D 관절 추정 성능 검증"/>
          <p:cNvSpPr txBox="1"/>
          <p:nvPr/>
        </p:nvSpPr>
        <p:spPr>
          <a:xfrm>
            <a:off x="4538067" y="5915025"/>
            <a:ext cx="2913559"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25" b="1" spc="-4" dirty="0">
                <a:solidFill>
                  <a:srgbClr val="1D4ED8"/>
                </a:solidFill>
                <a:latin typeface="Segoe UI"/>
                <a:ea typeface="Segoe UI"/>
                <a:cs typeface="Segoe UI"/>
              </a:rPr>
              <a:t>🔍 1.8만 장 데이터 직접 학습을 통한 2D 관절 추정 성능 검증</a:t>
            </a:r>
            <a:endParaRPr lang="en-US" sz="825" dirty="0"/>
          </a:p>
        </p:txBody>
      </p:sp>
      <p:sp>
        <p:nvSpPr>
          <p:cNvPr id="39" name="Rounded Rectangle"/>
          <p:cNvSpPr/>
          <p:nvPr/>
        </p:nvSpPr>
        <p:spPr>
          <a:xfrm>
            <a:off x="8111034" y="1274366"/>
            <a:ext cx="3699966" cy="5059759"/>
          </a:xfrm>
          <a:prstGeom prst="roundRect">
            <a:avLst>
              <a:gd name="adj" fmla="val 3089"/>
            </a:avLst>
          </a:prstGeom>
          <a:solidFill>
            <a:srgbClr val="FFFFFF"/>
          </a:solidFill>
          <a:ln>
            <a:noFill/>
          </a:ln>
          <a:effectLst>
            <a:outerShdw blurRad="101600" dist="50800" dir="5400000" sx="99314" sy="99498" algn="ctr" rotWithShape="0">
              <a:srgbClr val="000000">
                <a:alpha val="5000"/>
              </a:srgbClr>
            </a:outerShdw>
          </a:effectLst>
        </p:spPr>
      </p:sp>
      <p:sp>
        <p:nvSpPr>
          <p:cNvPr id="40" name="Border"/>
          <p:cNvSpPr/>
          <p:nvPr/>
        </p:nvSpPr>
        <p:spPr>
          <a:xfrm>
            <a:off x="8111034" y="1274366"/>
            <a:ext cx="3699966" cy="44450"/>
          </a:xfrm>
          <a:prstGeom prst="rect">
            <a:avLst/>
          </a:prstGeom>
          <a:solidFill>
            <a:srgbClr val="059669"/>
          </a:solidFill>
          <a:ln>
            <a:noFill/>
          </a:ln>
        </p:spPr>
      </p:sp>
      <p:sp>
        <p:nvSpPr>
          <p:cNvPr id="41" name="Border"/>
          <p:cNvSpPr/>
          <p:nvPr/>
        </p:nvSpPr>
        <p:spPr>
          <a:xfrm>
            <a:off x="11804650" y="1274366"/>
            <a:ext cx="6350" cy="5059759"/>
          </a:xfrm>
          <a:prstGeom prst="rect">
            <a:avLst/>
          </a:prstGeom>
          <a:solidFill>
            <a:srgbClr val="E2E8F0"/>
          </a:solidFill>
          <a:ln>
            <a:noFill/>
          </a:ln>
        </p:spPr>
      </p:sp>
      <p:sp>
        <p:nvSpPr>
          <p:cNvPr id="42" name="Border"/>
          <p:cNvSpPr/>
          <p:nvPr/>
        </p:nvSpPr>
        <p:spPr>
          <a:xfrm>
            <a:off x="8111034" y="6327775"/>
            <a:ext cx="3699966" cy="6350"/>
          </a:xfrm>
          <a:prstGeom prst="rect">
            <a:avLst/>
          </a:prstGeom>
          <a:solidFill>
            <a:srgbClr val="E2E8F0"/>
          </a:solidFill>
          <a:ln>
            <a:noFill/>
          </a:ln>
        </p:spPr>
      </p:sp>
      <p:sp>
        <p:nvSpPr>
          <p:cNvPr id="43" name="Border"/>
          <p:cNvSpPr/>
          <p:nvPr/>
        </p:nvSpPr>
        <p:spPr>
          <a:xfrm>
            <a:off x="8111034" y="1274366"/>
            <a:ext cx="6350" cy="5059759"/>
          </a:xfrm>
          <a:prstGeom prst="rect">
            <a:avLst/>
          </a:prstGeom>
          <a:solidFill>
            <a:srgbClr val="E2E8F0"/>
          </a:solidFill>
          <a:ln>
            <a:noFill/>
          </a:ln>
        </p:spPr>
      </p:sp>
      <p:sp>
        <p:nvSpPr>
          <p:cNvPr id="44" name="Text: MODEL 03"/>
          <p:cNvSpPr txBox="1"/>
          <p:nvPr/>
        </p:nvSpPr>
        <p:spPr>
          <a:xfrm>
            <a:off x="8295184" y="1515666"/>
            <a:ext cx="579537"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34" dirty="0">
                <a:solidFill>
                  <a:srgbClr val="15803D"/>
                </a:solidFill>
                <a:latin typeface="Segoe UI"/>
                <a:ea typeface="Segoe UI"/>
                <a:cs typeface="Segoe UI"/>
              </a:rPr>
              <a:t>MODEL 03</a:t>
            </a:r>
            <a:endParaRPr lang="en-US" sz="850" dirty="0"/>
          </a:p>
        </p:txBody>
      </p:sp>
      <p:sp>
        <p:nvSpPr>
          <p:cNvPr id="45" name="Rounded Rectangle"/>
          <p:cNvSpPr/>
          <p:nvPr/>
        </p:nvSpPr>
        <p:spPr>
          <a:xfrm>
            <a:off x="10708084" y="1487091"/>
            <a:ext cx="915591" cy="238125"/>
          </a:xfrm>
          <a:prstGeom prst="roundRect">
            <a:avLst>
              <a:gd name="adj" fmla="val 20000"/>
            </a:avLst>
          </a:prstGeom>
          <a:solidFill>
            <a:srgbClr val="DCFCE7"/>
          </a:solidFill>
          <a:ln w="6350" cap="flat" cmpd="sng" algn="ctr">
            <a:solidFill>
              <a:srgbClr val="86EFAC"/>
            </a:solidFill>
            <a:miter lim="800000"/>
          </a:ln>
        </p:spPr>
      </p:sp>
      <p:sp>
        <p:nvSpPr>
          <p:cNvPr id="46" name="Text: 상용 SOTA 기준"/>
          <p:cNvSpPr txBox="1"/>
          <p:nvPr/>
        </p:nvSpPr>
        <p:spPr>
          <a:xfrm>
            <a:off x="10812859" y="1525191"/>
            <a:ext cx="70604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059669"/>
                </a:solidFill>
                <a:latin typeface="Segoe UI"/>
                <a:ea typeface="Segoe UI"/>
                <a:cs typeface="Segoe UI"/>
              </a:rPr>
              <a:t>상용 SOTA 기준</a:t>
            </a:r>
            <a:endParaRPr lang="en-US" sz="750" dirty="0"/>
          </a:p>
        </p:txBody>
      </p:sp>
      <p:sp>
        <p:nvSpPr>
          <p:cNvPr id="47" name="Text: Google MediaPipe"/>
          <p:cNvSpPr txBox="1"/>
          <p:nvPr/>
        </p:nvSpPr>
        <p:spPr>
          <a:xfrm>
            <a:off x="8295184" y="1760141"/>
            <a:ext cx="1827907" cy="323850"/>
          </a:xfrm>
          <a:prstGeom prst="rect">
            <a:avLst/>
          </a:prstGeom>
          <a:noFill/>
        </p:spPr>
        <p:txBody>
          <a:bodyPr wrap="none" lIns="0" tIns="0" rIns="0" bIns="0" rtlCol="0" anchor="t">
            <a:noAutofit/>
          </a:bodyPr>
          <a:lstStyle/>
          <a:p>
            <a:pPr algn="l">
              <a:lnSpc>
                <a:spcPts val="2550"/>
              </a:lnSpc>
              <a:spcBef>
                <a:spcPts val="0"/>
              </a:spcBef>
              <a:spcAft>
                <a:spcPts val="0"/>
              </a:spcAft>
              <a:buNone/>
            </a:pPr>
            <a:r>
              <a:rPr lang="en-US" sz="1700" b="1" spc="-34" dirty="0">
                <a:solidFill>
                  <a:srgbClr val="0F172A"/>
                </a:solidFill>
                <a:latin typeface="Segoe UI"/>
                <a:ea typeface="Segoe UI"/>
                <a:cs typeface="Segoe UI"/>
              </a:rPr>
              <a:t>Google MediaPipe</a:t>
            </a:r>
            <a:endParaRPr lang="en-US" sz="1700" dirty="0"/>
          </a:p>
        </p:txBody>
      </p:sp>
      <p:sp>
        <p:nvSpPr>
          <p:cNvPr id="48" name="Text: 실시간 악기 연주 기준 모델"/>
          <p:cNvSpPr txBox="1"/>
          <p:nvPr/>
        </p:nvSpPr>
        <p:spPr>
          <a:xfrm>
            <a:off x="8295184" y="2114153"/>
            <a:ext cx="1371104" cy="166688"/>
          </a:xfrm>
          <a:prstGeom prst="rect">
            <a:avLst/>
          </a:prstGeom>
          <a:noFill/>
        </p:spPr>
        <p:txBody>
          <a:bodyPr wrap="none" lIns="0" tIns="0" rIns="0" bIns="0" rtlCol="0" anchor="t">
            <a:noAutofit/>
          </a:bodyPr>
          <a:lstStyle/>
          <a:p>
            <a:pPr algn="l">
              <a:lnSpc>
                <a:spcPts val="1313"/>
              </a:lnSpc>
              <a:spcBef>
                <a:spcPts val="0"/>
              </a:spcBef>
              <a:spcAft>
                <a:spcPts val="0"/>
              </a:spcAft>
              <a:buNone/>
            </a:pPr>
            <a:r>
              <a:rPr lang="en-US" sz="875" b="1" spc="-4" dirty="0">
                <a:solidFill>
                  <a:srgbClr val="059669"/>
                </a:solidFill>
                <a:latin typeface="Segoe UI"/>
                <a:ea typeface="Segoe UI"/>
                <a:cs typeface="Segoe UI"/>
              </a:rPr>
              <a:t>실시간 악기 연주 기준 모델</a:t>
            </a:r>
            <a:endParaRPr lang="en-US" sz="875" dirty="0"/>
          </a:p>
        </p:txBody>
      </p:sp>
      <p:sp>
        <p:nvSpPr>
          <p:cNvPr id="49" name="Rounded Rectangle"/>
          <p:cNvSpPr/>
          <p:nvPr/>
        </p:nvSpPr>
        <p:spPr>
          <a:xfrm>
            <a:off x="8298359" y="2387203"/>
            <a:ext cx="3325316" cy="1485900"/>
          </a:xfrm>
          <a:prstGeom prst="roundRect">
            <a:avLst>
              <a:gd name="adj" fmla="val 5769"/>
            </a:avLst>
          </a:prstGeom>
          <a:solidFill>
            <a:srgbClr val="0F172A"/>
          </a:solidFill>
          <a:ln w="6350" cap="flat" cmpd="sng" algn="ctr">
            <a:solidFill>
              <a:srgbClr val="E2E8F0"/>
            </a:solidFill>
            <a:miter lim="800000"/>
          </a:ln>
          <a:effectLst>
            <a:outerShdw blurRad="76200" dist="25400" dir="5400000" sx="100000" sy="100000" algn="ctr" rotWithShape="0">
              <a:srgbClr val="000000">
                <a:alpha val="6000"/>
              </a:srgbClr>
            </a:outerShdw>
          </a:effectLst>
        </p:spPr>
      </p:sp>
      <p:pic>
        <p:nvPicPr>
          <p:cNvPr id="50" name="Image: MediaPipe Web Realtime Tracking"/>
          <p:cNvPicPr>
            <a:picLocks noChangeAspect="1"/>
          </p:cNvPicPr>
          <p:nvPr/>
        </p:nvPicPr>
        <p:blipFill>
          <a:blip r:embed="rId4"/>
          <a:srcRect l="0" t="10065" r="0" b="10065"/>
          <a:stretch>
            <a:fillRect/>
          </a:stretch>
        </p:blipFill>
        <p:spPr>
          <a:xfrm>
            <a:off x="8301534" y="2390378"/>
            <a:ext cx="3318966" cy="1479550"/>
          </a:xfrm>
          <a:prstGeom prst="rect">
            <a:avLst/>
          </a:prstGeom>
          <a:ln>
            <a:noFill/>
          </a:ln>
        </p:spPr>
      </p:pic>
      <p:sp>
        <p:nvSpPr>
          <p:cNvPr id="51" name="Text: •  60 FPS 무지연 엔진:  브라우저 WebGL 가속 기반 초고속 "/>
          <p:cNvSpPr txBox="1"/>
          <p:nvPr/>
        </p:nvSpPr>
        <p:spPr>
          <a:xfrm>
            <a:off x="8295184" y="3951684"/>
            <a:ext cx="3235821"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1E293B"/>
                </a:solidFill>
                <a:latin typeface="Segoe UI"/>
                <a:ea typeface="Segoe UI"/>
                <a:cs typeface="Segoe UI"/>
              </a:rPr>
              <a:t>• </a:t>
            </a:r>
            <a:r>
              <a:rPr lang="en-US" sz="875" b="1" spc="-4" dirty="0">
                <a:solidFill>
                  <a:srgbClr val="1E293B"/>
                </a:solidFill>
                <a:latin typeface="Segoe UI"/>
                <a:ea typeface="Segoe UI"/>
                <a:cs typeface="Segoe UI"/>
              </a:rPr>
              <a:t>60 FPS 무지연 엔진:</a:t>
            </a:r>
            <a:r>
              <a:rPr lang="en-US" sz="875" spc="-4" dirty="0">
                <a:solidFill>
                  <a:srgbClr val="1E293B"/>
                </a:solidFill>
                <a:latin typeface="Segoe UI"/>
                <a:ea typeface="Segoe UI"/>
                <a:cs typeface="Segoe UI"/>
              </a:rPr>
              <a:t> 브라우저 WebGL 가속 기반 초고속 실시간</a:t>
            </a:r>
            <a:br>
              <a:rPr lang="en-US" sz="875"/>
            </a:br>
            <a:r>
              <a:rPr lang="en-US" sz="875" spc="-4" dirty="0">
                <a:solidFill>
                  <a:srgbClr val="1E293B"/>
                </a:solidFill>
                <a:latin typeface="Segoe UI"/>
                <a:ea typeface="Segoe UI"/>
                <a:cs typeface="Segoe UI"/>
              </a:rPr>
              <a:t>추론 달성</a:t>
            </a:r>
            <a:endParaRPr lang="en-US" sz="875" dirty="0"/>
          </a:p>
        </p:txBody>
      </p:sp>
      <p:sp>
        <p:nvSpPr>
          <p:cNvPr id="52" name="Text: •  프로덕션 레퍼런스:  실시간 악기 구동의 핵심 엔진이자 성능 평가 "/>
          <p:cNvSpPr txBox="1"/>
          <p:nvPr/>
        </p:nvSpPr>
        <p:spPr>
          <a:xfrm>
            <a:off x="8295184" y="4346972"/>
            <a:ext cx="3297734"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64748B"/>
                </a:solidFill>
                <a:latin typeface="Segoe UI"/>
                <a:ea typeface="Segoe UI"/>
                <a:cs typeface="Segoe UI"/>
              </a:rPr>
              <a:t>• </a:t>
            </a:r>
            <a:r>
              <a:rPr lang="en-US" sz="875" b="1" spc="-4" dirty="0">
                <a:solidFill>
                  <a:srgbClr val="64748B"/>
                </a:solidFill>
                <a:latin typeface="Segoe UI"/>
                <a:ea typeface="Segoe UI"/>
                <a:cs typeface="Segoe UI"/>
              </a:rPr>
              <a:t>프로덕션 레퍼런스:</a:t>
            </a:r>
            <a:r>
              <a:rPr lang="en-US" sz="875" spc="-4" dirty="0">
                <a:solidFill>
                  <a:srgbClr val="64748B"/>
                </a:solidFill>
                <a:latin typeface="Segoe UI"/>
                <a:ea typeface="Segoe UI"/>
                <a:cs typeface="Segoe UI"/>
              </a:rPr>
              <a:t> 실시간 악기 구동의 핵심 엔진이자 성능 평가</a:t>
            </a:r>
            <a:br>
              <a:rPr lang="en-US" sz="875"/>
            </a:br>
            <a:r>
              <a:rPr lang="en-US" sz="875" spc="-4" dirty="0">
                <a:solidFill>
                  <a:srgbClr val="64748B"/>
                </a:solidFill>
                <a:latin typeface="Segoe UI"/>
                <a:ea typeface="Segoe UI"/>
                <a:cs typeface="Segoe UI"/>
              </a:rPr>
              <a:t>의 상용 기준점</a:t>
            </a:r>
            <a:endParaRPr lang="en-US" sz="875" dirty="0"/>
          </a:p>
        </p:txBody>
      </p:sp>
      <p:sp>
        <p:nvSpPr>
          <p:cNvPr id="53" name="Rounded Rectangle"/>
          <p:cNvSpPr/>
          <p:nvPr/>
        </p:nvSpPr>
        <p:spPr>
          <a:xfrm>
            <a:off x="8298359" y="5842000"/>
            <a:ext cx="3325316" cy="317500"/>
          </a:xfrm>
          <a:prstGeom prst="roundRect">
            <a:avLst>
              <a:gd name="adj" fmla="val 23000"/>
            </a:avLst>
          </a:prstGeom>
          <a:solidFill>
            <a:srgbClr val="F0FDF4"/>
          </a:solidFill>
          <a:ln w="6350" cap="flat" cmpd="sng" algn="ctr">
            <a:solidFill>
              <a:srgbClr val="86EFAC"/>
            </a:solidFill>
            <a:miter lim="800000"/>
          </a:ln>
        </p:spPr>
      </p:sp>
      <p:sp>
        <p:nvSpPr>
          <p:cNvPr id="54" name="Text: 🎹 60 FPS 무지연 실시간 악기 구동 엔진 탑재"/>
          <p:cNvSpPr txBox="1"/>
          <p:nvPr/>
        </p:nvSpPr>
        <p:spPr>
          <a:xfrm>
            <a:off x="8403134" y="5915025"/>
            <a:ext cx="2191345"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25" b="1" spc="-4" dirty="0">
                <a:solidFill>
                  <a:srgbClr val="15803D"/>
                </a:solidFill>
                <a:latin typeface="Segoe UI"/>
                <a:ea typeface="Segoe UI"/>
                <a:cs typeface="Segoe UI"/>
              </a:rPr>
              <a:t>🎹 60 FPS 무지연 실시간 악기 구동 엔진 탑재</a:t>
            </a:r>
            <a:endParaRPr lang="en-US" sz="825" dirty="0"/>
          </a:p>
        </p:txBody>
      </p:sp>
      <p:sp>
        <p:nvSpPr>
          <p:cNvPr id="55" name="Border"/>
          <p:cNvSpPr/>
          <p:nvPr/>
        </p:nvSpPr>
        <p:spPr>
          <a:xfrm>
            <a:off x="381000" y="6334125"/>
            <a:ext cx="11430000" cy="6350"/>
          </a:xfrm>
          <a:prstGeom prst="rect">
            <a:avLst/>
          </a:prstGeom>
          <a:solidFill>
            <a:srgbClr val="E2E8F0"/>
          </a:solidFill>
          <a:ln>
            <a:noFill/>
          </a:ln>
        </p:spPr>
      </p:sp>
      <p:sp>
        <p:nvSpPr>
          <p:cNvPr id="56"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57" name="Rounded Rectangle"/>
          <p:cNvSpPr/>
          <p:nvPr/>
        </p:nvSpPr>
        <p:spPr>
          <a:xfrm>
            <a:off x="11237714" y="6429375"/>
            <a:ext cx="573286" cy="225425"/>
          </a:xfrm>
          <a:prstGeom prst="roundRect">
            <a:avLst>
              <a:gd name="adj" fmla="val 22535"/>
            </a:avLst>
          </a:prstGeom>
          <a:solidFill>
            <a:srgbClr val="F1F5F9"/>
          </a:solidFill>
          <a:ln>
            <a:noFill/>
          </a:ln>
        </p:spPr>
      </p:sp>
      <p:sp>
        <p:nvSpPr>
          <p:cNvPr id="58" name="Text: 05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05 / 14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273969" cy="238125"/>
          </a:xfrm>
          <a:prstGeom prst="roundRect">
            <a:avLst>
              <a:gd name="adj" fmla="val 20000"/>
            </a:avLst>
          </a:prstGeom>
          <a:solidFill>
            <a:srgbClr val="EFF6FF"/>
          </a:solidFill>
          <a:ln w="6350" cap="flat" cmpd="sng" algn="ctr">
            <a:solidFill>
              <a:srgbClr val="BFDBFE"/>
            </a:solidFill>
            <a:miter lim="800000"/>
          </a:ln>
        </p:spPr>
      </p:sp>
      <p:sp>
        <p:nvSpPr>
          <p:cNvPr id="3" name="Text: PART 03 • AI 모델 비교"/>
          <p:cNvSpPr txBox="1"/>
          <p:nvPr/>
        </p:nvSpPr>
        <p:spPr>
          <a:xfrm>
            <a:off x="488950" y="282575"/>
            <a:ext cx="1064419"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03 • AI 모델 비교</a:t>
            </a:r>
            <a:endParaRPr lang="en-US" sz="750" dirty="0"/>
          </a:p>
        </p:txBody>
      </p:sp>
      <p:sp>
        <p:nvSpPr>
          <p:cNvPr id="4" name="Text: AuraSynth Engine Architecture"/>
          <p:cNvSpPr txBox="1"/>
          <p:nvPr/>
        </p:nvSpPr>
        <p:spPr>
          <a:xfrm>
            <a:off x="1750219"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3가지 AI 모델 성능 비교"/>
          <p:cNvSpPr txBox="1"/>
          <p:nvPr/>
        </p:nvSpPr>
        <p:spPr>
          <a:xfrm>
            <a:off x="381000" y="555625"/>
            <a:ext cx="3349526"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3가지 AI 모델 성능 비교</a:t>
            </a:r>
            <a:endParaRPr lang="en-US" sz="2500" dirty="0"/>
          </a:p>
        </p:txBody>
      </p:sp>
      <p:sp>
        <p:nvSpPr>
          <p:cNvPr id="6" name="Text: 31장 수작업 모델 vs 1.8만 장 직접 학습 모델 vs 구글 미디어파"/>
          <p:cNvSpPr txBox="1"/>
          <p:nvPr/>
        </p:nvSpPr>
        <p:spPr>
          <a:xfrm>
            <a:off x="381000" y="948055"/>
            <a:ext cx="5841603"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31장 수작업 모델 vs 1.8만 장 직접 학습 모델 vs 구글 미디어파이프의 인식률과 속도 비교</a:t>
            </a:r>
            <a:endParaRPr lang="en-US" sz="1150" dirty="0"/>
          </a:p>
        </p:txBody>
      </p:sp>
      <p:sp>
        <p:nvSpPr>
          <p:cNvPr id="7" name="Rounded Rectangle"/>
          <p:cNvSpPr/>
          <p:nvPr/>
        </p:nvSpPr>
        <p:spPr>
          <a:xfrm>
            <a:off x="384175" y="1277541"/>
            <a:ext cx="11423650" cy="5053409"/>
          </a:xfrm>
          <a:prstGeom prst="roundRect">
            <a:avLst>
              <a:gd name="adj" fmla="val 2199"/>
            </a:avLst>
          </a:prstGeom>
          <a:solidFill>
            <a:srgbClr val="FFFFFF"/>
          </a:solidFill>
          <a:ln w="6350" cap="flat" cmpd="sng" algn="ctr">
            <a:solidFill>
              <a:srgbClr val="E2E8F0"/>
            </a:solidFill>
            <a:miter lim="800000"/>
          </a:ln>
          <a:effectLst>
            <a:outerShdw blurRad="101600" dist="50800" dir="5400000" sx="99778" sy="99497" algn="ctr" rotWithShape="0">
              <a:srgbClr val="000000">
                <a:alpha val="5000"/>
              </a:srgbClr>
            </a:outerShdw>
          </a:effectLst>
        </p:spPr>
      </p:sp>
      <p:sp>
        <p:nvSpPr>
          <p:cNvPr id="8" name="Rectangle"/>
          <p:cNvSpPr/>
          <p:nvPr/>
        </p:nvSpPr>
        <p:spPr>
          <a:xfrm>
            <a:off x="641350" y="2011958"/>
            <a:ext cx="10909300" cy="395288"/>
          </a:xfrm>
          <a:prstGeom prst="rect">
            <a:avLst/>
          </a:prstGeom>
          <a:solidFill>
            <a:srgbClr val="F8FAFC"/>
          </a:solidFill>
          <a:ln>
            <a:noFill/>
          </a:ln>
        </p:spPr>
      </p:sp>
      <p:sp>
        <p:nvSpPr>
          <p:cNvPr id="9" name="Border"/>
          <p:cNvSpPr/>
          <p:nvPr/>
        </p:nvSpPr>
        <p:spPr>
          <a:xfrm>
            <a:off x="641350" y="2394545"/>
            <a:ext cx="10909300" cy="12700"/>
          </a:xfrm>
          <a:prstGeom prst="rect">
            <a:avLst/>
          </a:prstGeom>
          <a:solidFill>
            <a:srgbClr val="CBD5E1"/>
          </a:solidFill>
          <a:ln>
            <a:noFill/>
          </a:ln>
        </p:spPr>
      </p:sp>
      <p:sp>
        <p:nvSpPr>
          <p:cNvPr id="10" name="Text: 구분"/>
          <p:cNvSpPr txBox="1"/>
          <p:nvPr/>
        </p:nvSpPr>
        <p:spPr>
          <a:xfrm>
            <a:off x="781050" y="2099270"/>
            <a:ext cx="246658"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475569"/>
                </a:solidFill>
                <a:latin typeface="Segoe UI"/>
                <a:ea typeface="Segoe UI"/>
                <a:cs typeface="Segoe UI"/>
              </a:rPr>
              <a:t>구분</a:t>
            </a:r>
            <a:endParaRPr lang="en-US" sz="975" dirty="0"/>
          </a:p>
        </p:txBody>
      </p:sp>
      <p:sp>
        <p:nvSpPr>
          <p:cNvPr id="11" name="Text: Model 1: Intel Geti (31장 수작업)"/>
          <p:cNvSpPr txBox="1"/>
          <p:nvPr/>
        </p:nvSpPr>
        <p:spPr>
          <a:xfrm>
            <a:off x="2744688" y="2099270"/>
            <a:ext cx="1912243"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284C7"/>
                </a:solidFill>
                <a:latin typeface="Segoe UI"/>
                <a:ea typeface="Segoe UI"/>
                <a:cs typeface="Segoe UI"/>
              </a:rPr>
              <a:t>Model 1: Intel Geti (31장 수작업)</a:t>
            </a:r>
            <a:endParaRPr lang="en-US" sz="975" dirty="0"/>
          </a:p>
        </p:txBody>
      </p:sp>
      <p:sp>
        <p:nvSpPr>
          <p:cNvPr id="12" name="Text: Model 2: Custom YOLOv8-Pose (CLI)"/>
          <p:cNvSpPr txBox="1"/>
          <p:nvPr/>
        </p:nvSpPr>
        <p:spPr>
          <a:xfrm>
            <a:off x="5690195" y="2099270"/>
            <a:ext cx="2144018"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2563EB"/>
                </a:solidFill>
                <a:latin typeface="Segoe UI"/>
                <a:ea typeface="Segoe UI"/>
                <a:cs typeface="Segoe UI"/>
              </a:rPr>
              <a:t>Model 2: Custom YOLOv8-Pose (CLI)</a:t>
            </a:r>
            <a:endParaRPr lang="en-US" sz="975" dirty="0"/>
          </a:p>
        </p:txBody>
      </p:sp>
      <p:sp>
        <p:nvSpPr>
          <p:cNvPr id="13" name="Text: Model 3: Google MediaPipe (상용 기준)"/>
          <p:cNvSpPr txBox="1"/>
          <p:nvPr/>
        </p:nvSpPr>
        <p:spPr>
          <a:xfrm>
            <a:off x="8635702" y="2099270"/>
            <a:ext cx="2309217"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59669"/>
                </a:solidFill>
                <a:latin typeface="Segoe UI"/>
                <a:ea typeface="Segoe UI"/>
                <a:cs typeface="Segoe UI"/>
              </a:rPr>
              <a:t>Model 3: Google MediaPipe (상용 기준)</a:t>
            </a:r>
            <a:endParaRPr lang="en-US" sz="975" dirty="0"/>
          </a:p>
        </p:txBody>
      </p:sp>
      <p:sp>
        <p:nvSpPr>
          <p:cNvPr id="14" name="Border"/>
          <p:cNvSpPr/>
          <p:nvPr/>
        </p:nvSpPr>
        <p:spPr>
          <a:xfrm>
            <a:off x="641350" y="2773958"/>
            <a:ext cx="10909300" cy="6350"/>
          </a:xfrm>
          <a:prstGeom prst="rect">
            <a:avLst/>
          </a:prstGeom>
          <a:solidFill>
            <a:srgbClr val="F1F5F9"/>
          </a:solidFill>
          <a:ln>
            <a:noFill/>
          </a:ln>
        </p:spPr>
      </p:sp>
      <p:sp>
        <p:nvSpPr>
          <p:cNvPr id="15" name="Text: 학습 데이터셋"/>
          <p:cNvSpPr txBox="1"/>
          <p:nvPr/>
        </p:nvSpPr>
        <p:spPr>
          <a:xfrm>
            <a:off x="781050" y="2488208"/>
            <a:ext cx="782935"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F172A"/>
                </a:solidFill>
                <a:latin typeface="Segoe UI"/>
                <a:ea typeface="Segoe UI"/>
                <a:cs typeface="Segoe UI"/>
              </a:rPr>
              <a:t>학습 데이터셋</a:t>
            </a:r>
            <a:endParaRPr lang="en-US" sz="975" dirty="0"/>
          </a:p>
        </p:txBody>
      </p:sp>
      <p:sp>
        <p:nvSpPr>
          <p:cNvPr id="16" name="Text: 31장 (수동 라벨링)"/>
          <p:cNvSpPr txBox="1"/>
          <p:nvPr/>
        </p:nvSpPr>
        <p:spPr>
          <a:xfrm>
            <a:off x="2744688" y="2488208"/>
            <a:ext cx="1056184"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DC2626"/>
                </a:solidFill>
                <a:latin typeface="Segoe UI"/>
                <a:ea typeface="Segoe UI"/>
                <a:cs typeface="Segoe UI"/>
              </a:rPr>
              <a:t>31장 (수동 라벨링)</a:t>
            </a:r>
            <a:endParaRPr lang="en-US" sz="975" dirty="0"/>
          </a:p>
        </p:txBody>
      </p:sp>
      <p:sp>
        <p:nvSpPr>
          <p:cNvPr id="17" name="Text: 18,776장 (원본 데이터 100% 온전 학습)"/>
          <p:cNvSpPr txBox="1"/>
          <p:nvPr/>
        </p:nvSpPr>
        <p:spPr>
          <a:xfrm>
            <a:off x="5690195" y="2488208"/>
            <a:ext cx="2245816"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2563EB"/>
                </a:solidFill>
                <a:latin typeface="Segoe UI"/>
                <a:ea typeface="Segoe UI"/>
                <a:cs typeface="Segoe UI"/>
              </a:rPr>
              <a:t>18,776장 (원본 데이터 100% 온전 학습)</a:t>
            </a:r>
            <a:endParaRPr lang="en-US" sz="975" dirty="0"/>
          </a:p>
        </p:txBody>
      </p:sp>
      <p:sp>
        <p:nvSpPr>
          <p:cNvPr id="18" name="Text: 수백만 장 대규모 데이터 (합성+실사)"/>
          <p:cNvSpPr txBox="1"/>
          <p:nvPr/>
        </p:nvSpPr>
        <p:spPr>
          <a:xfrm>
            <a:off x="8635702" y="2488208"/>
            <a:ext cx="2059285"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spc="-4" dirty="0">
                <a:solidFill>
                  <a:srgbClr val="475569"/>
                </a:solidFill>
                <a:latin typeface="Segoe UI"/>
                <a:ea typeface="Segoe UI"/>
                <a:cs typeface="Segoe UI"/>
              </a:rPr>
              <a:t>수백만 장 대규모 데이터 (합성+실사)</a:t>
            </a:r>
            <a:endParaRPr lang="en-US" sz="975" dirty="0"/>
          </a:p>
        </p:txBody>
      </p:sp>
      <p:sp>
        <p:nvSpPr>
          <p:cNvPr id="19" name="Border"/>
          <p:cNvSpPr/>
          <p:nvPr/>
        </p:nvSpPr>
        <p:spPr>
          <a:xfrm>
            <a:off x="641350" y="3143845"/>
            <a:ext cx="10909300" cy="6350"/>
          </a:xfrm>
          <a:prstGeom prst="rect">
            <a:avLst/>
          </a:prstGeom>
          <a:solidFill>
            <a:srgbClr val="F1F5F9"/>
          </a:solidFill>
          <a:ln>
            <a:noFill/>
          </a:ln>
        </p:spPr>
      </p:sp>
      <p:sp>
        <p:nvSpPr>
          <p:cNvPr id="20" name="Text: 모델 아키텍처"/>
          <p:cNvSpPr txBox="1"/>
          <p:nvPr/>
        </p:nvSpPr>
        <p:spPr>
          <a:xfrm>
            <a:off x="781050" y="2858095"/>
            <a:ext cx="782935"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F172A"/>
                </a:solidFill>
                <a:latin typeface="Segoe UI"/>
                <a:ea typeface="Segoe UI"/>
                <a:cs typeface="Segoe UI"/>
              </a:rPr>
              <a:t>모델 아키텍처</a:t>
            </a:r>
            <a:endParaRPr lang="en-US" sz="975" dirty="0"/>
          </a:p>
        </p:txBody>
      </p:sp>
      <p:sp>
        <p:nvSpPr>
          <p:cNvPr id="21" name="Text: RTMPose-Tiny OpenVINO (FP32)"/>
          <p:cNvSpPr txBox="1"/>
          <p:nvPr/>
        </p:nvSpPr>
        <p:spPr>
          <a:xfrm>
            <a:off x="2744688" y="2858095"/>
            <a:ext cx="1819077"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spc="-4" dirty="0">
                <a:solidFill>
                  <a:srgbClr val="475569"/>
                </a:solidFill>
                <a:latin typeface="Segoe UI"/>
                <a:ea typeface="Segoe UI"/>
                <a:cs typeface="Segoe UI"/>
              </a:rPr>
              <a:t>RTMPose-Tiny OpenVINO (FP32)</a:t>
            </a:r>
            <a:endParaRPr lang="en-US" sz="975" dirty="0"/>
          </a:p>
        </p:txBody>
      </p:sp>
      <p:sp>
        <p:nvSpPr>
          <p:cNvPr id="22" name="Text: YOLOv8n-Pose (PyTorch / ONNX)"/>
          <p:cNvSpPr txBox="1"/>
          <p:nvPr/>
        </p:nvSpPr>
        <p:spPr>
          <a:xfrm>
            <a:off x="5690195" y="2858095"/>
            <a:ext cx="1854398"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spc="-4" dirty="0">
                <a:solidFill>
                  <a:srgbClr val="475569"/>
                </a:solidFill>
                <a:latin typeface="Segoe UI"/>
                <a:ea typeface="Segoe UI"/>
                <a:cs typeface="Segoe UI"/>
              </a:rPr>
              <a:t>YOLOv8n-Pose (PyTorch / ONNX)</a:t>
            </a:r>
            <a:endParaRPr lang="en-US" sz="975" dirty="0"/>
          </a:p>
        </p:txBody>
      </p:sp>
      <p:sp>
        <p:nvSpPr>
          <p:cNvPr id="23" name="Text: Palm Detector + Hand Landmarker"/>
          <p:cNvSpPr txBox="1"/>
          <p:nvPr/>
        </p:nvSpPr>
        <p:spPr>
          <a:xfrm>
            <a:off x="8635702" y="2858095"/>
            <a:ext cx="1953915"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spc="-4" dirty="0">
                <a:solidFill>
                  <a:srgbClr val="475569"/>
                </a:solidFill>
                <a:latin typeface="Segoe UI"/>
                <a:ea typeface="Segoe UI"/>
                <a:cs typeface="Segoe UI"/>
              </a:rPr>
              <a:t>Palm Detector + Hand Landmarker</a:t>
            </a:r>
            <a:endParaRPr lang="en-US" sz="975" dirty="0"/>
          </a:p>
        </p:txBody>
      </p:sp>
      <p:sp>
        <p:nvSpPr>
          <p:cNvPr id="24" name="Border"/>
          <p:cNvSpPr/>
          <p:nvPr/>
        </p:nvSpPr>
        <p:spPr>
          <a:xfrm>
            <a:off x="641350" y="3675658"/>
            <a:ext cx="10909300" cy="6350"/>
          </a:xfrm>
          <a:prstGeom prst="rect">
            <a:avLst/>
          </a:prstGeom>
          <a:solidFill>
            <a:srgbClr val="F1F5F9"/>
          </a:solidFill>
          <a:ln>
            <a:noFill/>
          </a:ln>
        </p:spPr>
      </p:sp>
      <p:sp>
        <p:nvSpPr>
          <p:cNvPr id="25" name="Text: 학습 및 증강 설정"/>
          <p:cNvSpPr txBox="1"/>
          <p:nvPr/>
        </p:nvSpPr>
        <p:spPr>
          <a:xfrm>
            <a:off x="781050" y="3308945"/>
            <a:ext cx="992386"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F172A"/>
                </a:solidFill>
                <a:latin typeface="Segoe UI"/>
                <a:ea typeface="Segoe UI"/>
                <a:cs typeface="Segoe UI"/>
              </a:rPr>
              <a:t>학습 및 증강 설정</a:t>
            </a:r>
            <a:endParaRPr lang="en-US" sz="975" dirty="0"/>
          </a:p>
        </p:txBody>
      </p:sp>
      <p:sp>
        <p:nvSpPr>
          <p:cNvPr id="26" name="Text: 512×512 / Max 200 Ep (Patience 10) / LR "/>
          <p:cNvSpPr txBox="1"/>
          <p:nvPr/>
        </p:nvSpPr>
        <p:spPr>
          <a:xfrm>
            <a:off x="2744688" y="3227983"/>
            <a:ext cx="2654796"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spc="-4" dirty="0">
                <a:solidFill>
                  <a:srgbClr val="475569"/>
                </a:solidFill>
                <a:latin typeface="Segoe UI"/>
                <a:ea typeface="Segoe UI"/>
                <a:cs typeface="Segoe UI"/>
              </a:rPr>
              <a:t>512×512 / Max 200 Ep (Patience 10) / LR 0.001</a:t>
            </a:r>
            <a:endParaRPr lang="en-US" sz="975" dirty="0"/>
          </a:p>
        </p:txBody>
      </p:sp>
      <p:sp>
        <p:nvSpPr>
          <p:cNvPr id="27" name="Text: Topdown Affine On (1.0) / Blur·Noise Off"/>
          <p:cNvSpPr txBox="1"/>
          <p:nvPr/>
        </p:nvSpPr>
        <p:spPr>
          <a:xfrm>
            <a:off x="2744688" y="3437533"/>
            <a:ext cx="1745655"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spc="-4" dirty="0">
                <a:solidFill>
                  <a:srgbClr val="64748B"/>
                </a:solidFill>
                <a:latin typeface="Segoe UI"/>
                <a:ea typeface="Segoe UI"/>
                <a:cs typeface="Segoe UI"/>
              </a:rPr>
              <a:t>Topdown Affine On (1.0) / Blur·Noise Off</a:t>
            </a:r>
            <a:endParaRPr lang="en-US" sz="750" dirty="0"/>
          </a:p>
        </p:txBody>
      </p:sp>
      <p:sp>
        <p:nvSpPr>
          <p:cNvPr id="28" name="Text: 640×640 / 15 Ep / Batch 16 / LR 0.01"/>
          <p:cNvSpPr txBox="1"/>
          <p:nvPr/>
        </p:nvSpPr>
        <p:spPr>
          <a:xfrm>
            <a:off x="5690195" y="3227983"/>
            <a:ext cx="2102247"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spc="-4" dirty="0">
                <a:solidFill>
                  <a:srgbClr val="475569"/>
                </a:solidFill>
                <a:latin typeface="Segoe UI"/>
                <a:ea typeface="Segoe UI"/>
                <a:cs typeface="Segoe UI"/>
              </a:rPr>
              <a:t>640×640 / 15 Ep / Batch 16 / LR 0.01</a:t>
            </a:r>
            <a:endParaRPr lang="en-US" sz="975" dirty="0"/>
          </a:p>
        </p:txBody>
      </p:sp>
      <p:sp>
        <p:nvSpPr>
          <p:cNvPr id="29" name="Text: Mosaic, Random Flip, HSV 실전 풀 증강 (64분 완주"/>
          <p:cNvSpPr txBox="1"/>
          <p:nvPr/>
        </p:nvSpPr>
        <p:spPr>
          <a:xfrm>
            <a:off x="5690195" y="3437533"/>
            <a:ext cx="2211090"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spc="-4" dirty="0">
                <a:solidFill>
                  <a:srgbClr val="64748B"/>
                </a:solidFill>
                <a:latin typeface="Segoe UI"/>
                <a:ea typeface="Segoe UI"/>
                <a:cs typeface="Segoe UI"/>
              </a:rPr>
              <a:t>Mosaic, Random Flip, HSV 실전 풀 증강 (64분 완주)</a:t>
            </a:r>
            <a:endParaRPr lang="en-US" sz="750" dirty="0"/>
          </a:p>
        </p:txBody>
      </p:sp>
      <p:sp>
        <p:nvSpPr>
          <p:cNvPr id="30" name="Text: 구글 프로덕션 완성형 파이프라인"/>
          <p:cNvSpPr txBox="1"/>
          <p:nvPr/>
        </p:nvSpPr>
        <p:spPr>
          <a:xfrm>
            <a:off x="8635702" y="3227983"/>
            <a:ext cx="1855589"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spc="-4" dirty="0">
                <a:solidFill>
                  <a:srgbClr val="475569"/>
                </a:solidFill>
                <a:latin typeface="Segoe UI"/>
                <a:ea typeface="Segoe UI"/>
                <a:cs typeface="Segoe UI"/>
              </a:rPr>
              <a:t>구글 프로덕션 완성형 파이프라인</a:t>
            </a:r>
            <a:endParaRPr lang="en-US" sz="975" dirty="0"/>
          </a:p>
        </p:txBody>
      </p:sp>
      <p:sp>
        <p:nvSpPr>
          <p:cNvPr id="31" name="Text: 대규모 3D 합성 데이터 전이학습"/>
          <p:cNvSpPr txBox="1"/>
          <p:nvPr/>
        </p:nvSpPr>
        <p:spPr>
          <a:xfrm>
            <a:off x="8635702" y="3437533"/>
            <a:ext cx="1388666"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spc="-4" dirty="0">
                <a:solidFill>
                  <a:srgbClr val="64748B"/>
                </a:solidFill>
                <a:latin typeface="Segoe UI"/>
                <a:ea typeface="Segoe UI"/>
                <a:cs typeface="Segoe UI"/>
              </a:rPr>
              <a:t>대규모 3D 합성 데이터 전이학습</a:t>
            </a:r>
            <a:endParaRPr lang="en-US" sz="750" dirty="0"/>
          </a:p>
        </p:txBody>
      </p:sp>
      <p:sp>
        <p:nvSpPr>
          <p:cNvPr id="32" name="Border"/>
          <p:cNvSpPr/>
          <p:nvPr/>
        </p:nvSpPr>
        <p:spPr>
          <a:xfrm>
            <a:off x="641350" y="4045545"/>
            <a:ext cx="10909300" cy="6350"/>
          </a:xfrm>
          <a:prstGeom prst="rect">
            <a:avLst/>
          </a:prstGeom>
          <a:solidFill>
            <a:srgbClr val="F1F5F9"/>
          </a:solidFill>
          <a:ln>
            <a:noFill/>
          </a:ln>
        </p:spPr>
      </p:sp>
      <p:sp>
        <p:nvSpPr>
          <p:cNvPr id="33" name="Text: 모델 용량 (Size)"/>
          <p:cNvSpPr txBox="1"/>
          <p:nvPr/>
        </p:nvSpPr>
        <p:spPr>
          <a:xfrm>
            <a:off x="781050" y="3759795"/>
            <a:ext cx="896938"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F172A"/>
                </a:solidFill>
                <a:latin typeface="Segoe UI"/>
                <a:ea typeface="Segoe UI"/>
                <a:cs typeface="Segoe UI"/>
              </a:rPr>
              <a:t>모델 용량 (Size)</a:t>
            </a:r>
            <a:endParaRPr lang="en-US" sz="975" dirty="0"/>
          </a:p>
        </p:txBody>
      </p:sp>
      <p:sp>
        <p:nvSpPr>
          <p:cNvPr id="34" name="Text: 15.18 MB (FP32)"/>
          <p:cNvSpPr txBox="1"/>
          <p:nvPr/>
        </p:nvSpPr>
        <p:spPr>
          <a:xfrm>
            <a:off x="2744688" y="3759795"/>
            <a:ext cx="970558"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284C7"/>
                </a:solidFill>
                <a:latin typeface="Segoe UI"/>
                <a:ea typeface="Segoe UI"/>
                <a:cs typeface="Segoe UI"/>
              </a:rPr>
              <a:t>15.18 MB (FP32)</a:t>
            </a:r>
            <a:endParaRPr lang="en-US" sz="975" dirty="0"/>
          </a:p>
        </p:txBody>
      </p:sp>
      <p:sp>
        <p:nvSpPr>
          <p:cNvPr id="35" name="Text: 6.5 MB (ONNX 경량화)"/>
          <p:cNvSpPr txBox="1"/>
          <p:nvPr/>
        </p:nvSpPr>
        <p:spPr>
          <a:xfrm>
            <a:off x="5690195" y="3759795"/>
            <a:ext cx="1331020"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2563EB"/>
                </a:solidFill>
                <a:latin typeface="Segoe UI"/>
                <a:ea typeface="Segoe UI"/>
                <a:cs typeface="Segoe UI"/>
              </a:rPr>
              <a:t>6.5 MB (ONNX 경량화)</a:t>
            </a:r>
            <a:endParaRPr lang="en-US" sz="975" dirty="0"/>
          </a:p>
        </p:txBody>
      </p:sp>
      <p:sp>
        <p:nvSpPr>
          <p:cNvPr id="36" name="Text: ~12.0 MB (Tasks-Vision 번들)"/>
          <p:cNvSpPr txBox="1"/>
          <p:nvPr/>
        </p:nvSpPr>
        <p:spPr>
          <a:xfrm>
            <a:off x="8635702" y="3759795"/>
            <a:ext cx="1620738"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spc="-4" dirty="0">
                <a:solidFill>
                  <a:srgbClr val="475569"/>
                </a:solidFill>
                <a:latin typeface="Segoe UI"/>
                <a:ea typeface="Segoe UI"/>
                <a:cs typeface="Segoe UI"/>
              </a:rPr>
              <a:t>~12.0 MB (Tasks-Vision 번들)</a:t>
            </a:r>
            <a:endParaRPr lang="en-US" sz="975" dirty="0"/>
          </a:p>
        </p:txBody>
      </p:sp>
      <p:sp>
        <p:nvSpPr>
          <p:cNvPr id="37" name="Border"/>
          <p:cNvSpPr/>
          <p:nvPr/>
        </p:nvSpPr>
        <p:spPr>
          <a:xfrm>
            <a:off x="641350" y="4715470"/>
            <a:ext cx="10909300" cy="6350"/>
          </a:xfrm>
          <a:prstGeom prst="rect">
            <a:avLst/>
          </a:prstGeom>
          <a:solidFill>
            <a:srgbClr val="F1F5F9"/>
          </a:solidFill>
          <a:ln>
            <a:noFill/>
          </a:ln>
        </p:spPr>
      </p:sp>
      <p:sp>
        <p:nvSpPr>
          <p:cNvPr id="38" name="Text: 인식 성능 (정확도)"/>
          <p:cNvSpPr txBox="1"/>
          <p:nvPr/>
        </p:nvSpPr>
        <p:spPr>
          <a:xfrm>
            <a:off x="781050" y="4279702"/>
            <a:ext cx="1036935"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F172A"/>
                </a:solidFill>
                <a:latin typeface="Segoe UI"/>
                <a:ea typeface="Segoe UI"/>
                <a:cs typeface="Segoe UI"/>
              </a:rPr>
              <a:t>인식 성능 (정확도)</a:t>
            </a:r>
            <a:endParaRPr lang="en-US" sz="975" dirty="0"/>
          </a:p>
        </p:txBody>
      </p:sp>
      <p:sp>
        <p:nvSpPr>
          <p:cNvPr id="39" name="Text: Test PCK: 0.43 (43.0%)"/>
          <p:cNvSpPr txBox="1"/>
          <p:nvPr/>
        </p:nvSpPr>
        <p:spPr>
          <a:xfrm>
            <a:off x="2744688" y="4129683"/>
            <a:ext cx="1312168"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DC2626"/>
                </a:solidFill>
                <a:latin typeface="Segoe UI"/>
                <a:ea typeface="Segoe UI"/>
                <a:cs typeface="Segoe UI"/>
              </a:rPr>
              <a:t>Test PCK: 0.43 (43.0%)</a:t>
            </a:r>
            <a:endParaRPr lang="en-US" sz="975" dirty="0"/>
          </a:p>
        </p:txBody>
      </p:sp>
      <p:sp>
        <p:nvSpPr>
          <p:cNvPr id="40" name="Text: Validation PCK: 0.39 (39.0%)"/>
          <p:cNvSpPr txBox="1"/>
          <p:nvPr/>
        </p:nvSpPr>
        <p:spPr>
          <a:xfrm>
            <a:off x="2744688" y="4326533"/>
            <a:ext cx="1197074"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spc="-4" dirty="0">
                <a:solidFill>
                  <a:srgbClr val="64748B"/>
                </a:solidFill>
                <a:latin typeface="Segoe UI"/>
                <a:ea typeface="Segoe UI"/>
                <a:cs typeface="Segoe UI"/>
              </a:rPr>
              <a:t>Validation PCK: 0.39 (39.0%)</a:t>
            </a:r>
            <a:endParaRPr lang="en-US" sz="750" dirty="0"/>
          </a:p>
        </p:txBody>
      </p:sp>
      <p:sp>
        <p:nvSpPr>
          <p:cNvPr id="41" name="Text: (※ 31장 극소량 데이터 • 21개 중 11개 마디 0점)"/>
          <p:cNvSpPr txBox="1"/>
          <p:nvPr/>
        </p:nvSpPr>
        <p:spPr>
          <a:xfrm>
            <a:off x="2744688" y="4480520"/>
            <a:ext cx="2023170"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DC2626"/>
                </a:solidFill>
                <a:latin typeface="Segoe UI"/>
                <a:ea typeface="Segoe UI"/>
                <a:cs typeface="Segoe UI"/>
              </a:rPr>
              <a:t>(※ 31장 극소량 데이터 • 21개 중 11개 마디 0점)</a:t>
            </a:r>
            <a:endParaRPr lang="en-US" sz="725" dirty="0"/>
          </a:p>
        </p:txBody>
      </p:sp>
      <p:sp>
        <p:nvSpPr>
          <p:cNvPr id="42" name="Text: Box 99.2% / Pose 87.9% (mAP50)"/>
          <p:cNvSpPr txBox="1"/>
          <p:nvPr/>
        </p:nvSpPr>
        <p:spPr>
          <a:xfrm>
            <a:off x="5690195" y="4204295"/>
            <a:ext cx="1972667"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2563EB"/>
                </a:solidFill>
                <a:latin typeface="Segoe UI"/>
                <a:ea typeface="Segoe UI"/>
                <a:cs typeface="Segoe UI"/>
              </a:rPr>
              <a:t>Box 99.2% / Pose 87.9% (mAP50)</a:t>
            </a:r>
            <a:endParaRPr lang="en-US" sz="975" dirty="0"/>
          </a:p>
        </p:txBody>
      </p:sp>
      <p:sp>
        <p:nvSpPr>
          <p:cNvPr id="43" name="Text: (1.8만 장 실측 검증 완료)"/>
          <p:cNvSpPr txBox="1"/>
          <p:nvPr/>
        </p:nvSpPr>
        <p:spPr>
          <a:xfrm>
            <a:off x="5690195" y="4405908"/>
            <a:ext cx="1054199"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1D4ED8"/>
                </a:solidFill>
                <a:latin typeface="Segoe UI"/>
                <a:ea typeface="Segoe UI"/>
                <a:cs typeface="Segoe UI"/>
              </a:rPr>
              <a:t>(1.8만 장 실측 검증 완료)</a:t>
            </a:r>
            <a:endParaRPr lang="en-US" sz="725" dirty="0"/>
          </a:p>
        </p:txBody>
      </p:sp>
      <p:sp>
        <p:nvSpPr>
          <p:cNvPr id="44" name="Text: 상용 최고 수준 (SOTA ~95%+)"/>
          <p:cNvSpPr txBox="1"/>
          <p:nvPr/>
        </p:nvSpPr>
        <p:spPr>
          <a:xfrm>
            <a:off x="8635702" y="4204295"/>
            <a:ext cx="1735832"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59669"/>
                </a:solidFill>
                <a:latin typeface="Segoe UI"/>
                <a:ea typeface="Segoe UI"/>
                <a:cs typeface="Segoe UI"/>
              </a:rPr>
              <a:t>상용 최고 수준 (SOTA ~95%+)</a:t>
            </a:r>
            <a:endParaRPr lang="en-US" sz="975" dirty="0"/>
          </a:p>
        </p:txBody>
      </p:sp>
      <p:sp>
        <p:nvSpPr>
          <p:cNvPr id="45" name="Text: (글로벌 공인 벤치마크)"/>
          <p:cNvSpPr txBox="1"/>
          <p:nvPr/>
        </p:nvSpPr>
        <p:spPr>
          <a:xfrm>
            <a:off x="8635702" y="4405908"/>
            <a:ext cx="952798"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15803D"/>
                </a:solidFill>
                <a:latin typeface="Segoe UI"/>
                <a:ea typeface="Segoe UI"/>
                <a:cs typeface="Segoe UI"/>
              </a:rPr>
              <a:t>(글로벌 공인 벤치마크)</a:t>
            </a:r>
            <a:endParaRPr lang="en-US" sz="725" dirty="0"/>
          </a:p>
        </p:txBody>
      </p:sp>
      <p:sp>
        <p:nvSpPr>
          <p:cNvPr id="46" name="Border"/>
          <p:cNvSpPr/>
          <p:nvPr/>
        </p:nvSpPr>
        <p:spPr>
          <a:xfrm>
            <a:off x="641350" y="5085358"/>
            <a:ext cx="10909300" cy="6350"/>
          </a:xfrm>
          <a:prstGeom prst="rect">
            <a:avLst/>
          </a:prstGeom>
          <a:solidFill>
            <a:srgbClr val="F1F5F9"/>
          </a:solidFill>
          <a:ln>
            <a:noFill/>
          </a:ln>
        </p:spPr>
      </p:sp>
      <p:sp>
        <p:nvSpPr>
          <p:cNvPr id="47" name="Text: 실측 추론 속도"/>
          <p:cNvSpPr txBox="1"/>
          <p:nvPr/>
        </p:nvSpPr>
        <p:spPr>
          <a:xfrm>
            <a:off x="781050" y="4799608"/>
            <a:ext cx="825996"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F172A"/>
                </a:solidFill>
                <a:latin typeface="Segoe UI"/>
                <a:ea typeface="Segoe UI"/>
                <a:cs typeface="Segoe UI"/>
              </a:rPr>
              <a:t>실측 추론 속도</a:t>
            </a:r>
            <a:endParaRPr lang="en-US" sz="975" dirty="0"/>
          </a:p>
        </p:txBody>
      </p:sp>
      <p:sp>
        <p:nvSpPr>
          <p:cNvPr id="48" name="Text: ~45ms (OpenVINO CPU)"/>
          <p:cNvSpPr txBox="1"/>
          <p:nvPr/>
        </p:nvSpPr>
        <p:spPr>
          <a:xfrm>
            <a:off x="2744688" y="4799608"/>
            <a:ext cx="1384895"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spc="-4" dirty="0">
                <a:solidFill>
                  <a:srgbClr val="475569"/>
                </a:solidFill>
                <a:latin typeface="Segoe UI"/>
                <a:ea typeface="Segoe UI"/>
                <a:cs typeface="Segoe UI"/>
              </a:rPr>
              <a:t>~45ms (OpenVINO CPU)</a:t>
            </a:r>
            <a:endParaRPr lang="en-US" sz="975" dirty="0"/>
          </a:p>
        </p:txBody>
      </p:sp>
      <p:sp>
        <p:nvSpPr>
          <p:cNvPr id="49" name="Text: GPU 2.6ms (380 FPS) / CPU 39ms"/>
          <p:cNvSpPr txBox="1"/>
          <p:nvPr/>
        </p:nvSpPr>
        <p:spPr>
          <a:xfrm>
            <a:off x="5690195" y="4799608"/>
            <a:ext cx="1979712"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2563EB"/>
                </a:solidFill>
                <a:latin typeface="Segoe UI"/>
                <a:ea typeface="Segoe UI"/>
                <a:cs typeface="Segoe UI"/>
              </a:rPr>
              <a:t>GPU 2.6ms (380 FPS) / CPU 39ms</a:t>
            </a:r>
            <a:endParaRPr lang="en-US" sz="975" dirty="0"/>
          </a:p>
        </p:txBody>
      </p:sp>
      <p:sp>
        <p:nvSpPr>
          <p:cNvPr id="50" name="Text: ~16ms (60 FPS 실시간 보장)"/>
          <p:cNvSpPr txBox="1"/>
          <p:nvPr/>
        </p:nvSpPr>
        <p:spPr>
          <a:xfrm>
            <a:off x="8635702" y="4799608"/>
            <a:ext cx="1630065"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59669"/>
                </a:solidFill>
                <a:latin typeface="Segoe UI"/>
                <a:ea typeface="Segoe UI"/>
                <a:cs typeface="Segoe UI"/>
              </a:rPr>
              <a:t>~16ms (60 FPS 실시간 보장)</a:t>
            </a:r>
            <a:endParaRPr lang="en-US" sz="975" dirty="0"/>
          </a:p>
        </p:txBody>
      </p:sp>
      <p:sp>
        <p:nvSpPr>
          <p:cNvPr id="51" name="Text: 특징 및 역할"/>
          <p:cNvSpPr txBox="1"/>
          <p:nvPr/>
        </p:nvSpPr>
        <p:spPr>
          <a:xfrm>
            <a:off x="781050" y="5238552"/>
            <a:ext cx="702667" cy="185738"/>
          </a:xfrm>
          <a:prstGeom prst="rect">
            <a:avLst/>
          </a:prstGeom>
          <a:noFill/>
        </p:spPr>
        <p:txBody>
          <a:bodyPr wrap="none" lIns="0" tIns="0" rIns="0" bIns="0" rtlCol="0" anchor="t">
            <a:noAutofit/>
          </a:bodyPr>
          <a:lstStyle/>
          <a:p>
            <a:pPr algn="l">
              <a:lnSpc>
                <a:spcPts val="1463"/>
              </a:lnSpc>
              <a:spcBef>
                <a:spcPts val="0"/>
              </a:spcBef>
              <a:spcAft>
                <a:spcPts val="0"/>
              </a:spcAft>
              <a:buNone/>
            </a:pPr>
            <a:r>
              <a:rPr lang="en-US" sz="975" b="1" spc="-4" dirty="0">
                <a:solidFill>
                  <a:srgbClr val="0F172A"/>
                </a:solidFill>
                <a:latin typeface="Segoe UI"/>
                <a:ea typeface="Segoe UI"/>
                <a:cs typeface="Segoe UI"/>
              </a:rPr>
              <a:t>특징 및 역할</a:t>
            </a:r>
            <a:endParaRPr lang="en-US" sz="975" dirty="0"/>
          </a:p>
        </p:txBody>
      </p:sp>
      <p:sp>
        <p:nvSpPr>
          <p:cNvPr id="52" name="Text: Intel Geti 노코드 툴과 31장 수작업 데이터로 구축한 프 로토타"/>
          <p:cNvSpPr txBox="1"/>
          <p:nvPr/>
        </p:nvSpPr>
        <p:spPr>
          <a:xfrm>
            <a:off x="2744688" y="5174258"/>
            <a:ext cx="2648942" cy="323850"/>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spc="-4" dirty="0">
                <a:solidFill>
                  <a:srgbClr val="475569"/>
                </a:solidFill>
                <a:latin typeface="Segoe UI"/>
                <a:ea typeface="Segoe UI"/>
                <a:cs typeface="Segoe UI"/>
              </a:rPr>
              <a:t>Intel Geti 노코드 툴과 31장 수작업 데이터로 구축한 프</a:t>
            </a:r>
            <a:br>
              <a:rPr lang="en-US" sz="850"/>
            </a:br>
            <a:r>
              <a:rPr lang="en-US" sz="850" spc="-4" dirty="0">
                <a:solidFill>
                  <a:srgbClr val="475569"/>
                </a:solidFill>
                <a:latin typeface="Segoe UI"/>
                <a:ea typeface="Segoe UI"/>
                <a:cs typeface="Segoe UI"/>
              </a:rPr>
              <a:t>로토타입 모델</a:t>
            </a:r>
            <a:endParaRPr lang="en-US" sz="850" dirty="0"/>
          </a:p>
        </p:txBody>
      </p:sp>
      <p:sp>
        <p:nvSpPr>
          <p:cNvPr id="53" name="Text: 대용량 데이터(1.8만 장)로 직접 CLI 학습하여 2D 관절 추정 한계"/>
          <p:cNvSpPr txBox="1"/>
          <p:nvPr/>
        </p:nvSpPr>
        <p:spPr>
          <a:xfrm>
            <a:off x="5690195" y="5174258"/>
            <a:ext cx="2615009" cy="323850"/>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1E40AF"/>
                </a:solidFill>
                <a:latin typeface="Segoe UI"/>
                <a:ea typeface="Segoe UI"/>
                <a:cs typeface="Segoe UI"/>
              </a:rPr>
              <a:t>대용량 데이터(1.8만 장)로 직접 CLI 학습하여 2D 관절</a:t>
            </a:r>
            <a:br>
              <a:rPr lang="en-US" sz="850"/>
            </a:br>
            <a:r>
              <a:rPr lang="en-US" sz="850" b="1" spc="-4" dirty="0">
                <a:solidFill>
                  <a:srgbClr val="1E40AF"/>
                </a:solidFill>
                <a:latin typeface="Segoe UI"/>
                <a:ea typeface="Segoe UI"/>
                <a:cs typeface="Segoe UI"/>
              </a:rPr>
              <a:t>추정 한계를 검증한 모델</a:t>
            </a:r>
            <a:endParaRPr lang="en-US" sz="850" dirty="0"/>
          </a:p>
        </p:txBody>
      </p:sp>
      <p:sp>
        <p:nvSpPr>
          <p:cNvPr id="54" name="Text: 웹 브라우저 실시간 무지연 연주를 위한 최종 프로덕션 엔 진"/>
          <p:cNvSpPr txBox="1"/>
          <p:nvPr/>
        </p:nvSpPr>
        <p:spPr>
          <a:xfrm>
            <a:off x="8635702" y="5174258"/>
            <a:ext cx="2770783" cy="323850"/>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spc="-4" dirty="0">
                <a:solidFill>
                  <a:srgbClr val="475569"/>
                </a:solidFill>
                <a:latin typeface="Segoe UI"/>
                <a:ea typeface="Segoe UI"/>
                <a:cs typeface="Segoe UI"/>
              </a:rPr>
              <a:t>웹 브라우저 실시간 무지연 연주를 위한 최종 프로덕션 엔</a:t>
            </a:r>
            <a:br>
              <a:rPr lang="en-US" sz="850"/>
            </a:br>
            <a:r>
              <a:rPr lang="en-US" sz="850" spc="-4" dirty="0">
                <a:solidFill>
                  <a:srgbClr val="475569"/>
                </a:solidFill>
                <a:latin typeface="Segoe UI"/>
                <a:ea typeface="Segoe UI"/>
                <a:cs typeface="Segoe UI"/>
              </a:rPr>
              <a:t>진</a:t>
            </a:r>
            <a:endParaRPr lang="en-US" sz="850" dirty="0"/>
          </a:p>
        </p:txBody>
      </p:sp>
      <p:sp>
        <p:nvSpPr>
          <p:cNvPr id="55" name="Border"/>
          <p:cNvSpPr/>
          <p:nvPr/>
        </p:nvSpPr>
        <p:spPr>
          <a:xfrm>
            <a:off x="381000" y="6334125"/>
            <a:ext cx="11430000" cy="6350"/>
          </a:xfrm>
          <a:prstGeom prst="rect">
            <a:avLst/>
          </a:prstGeom>
          <a:solidFill>
            <a:srgbClr val="E2E8F0"/>
          </a:solidFill>
          <a:ln>
            <a:noFill/>
          </a:ln>
        </p:spPr>
      </p:sp>
      <p:sp>
        <p:nvSpPr>
          <p:cNvPr id="56"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57" name="Rounded Rectangle"/>
          <p:cNvSpPr/>
          <p:nvPr/>
        </p:nvSpPr>
        <p:spPr>
          <a:xfrm>
            <a:off x="11237714" y="6429375"/>
            <a:ext cx="573286" cy="225425"/>
          </a:xfrm>
          <a:prstGeom prst="roundRect">
            <a:avLst>
              <a:gd name="adj" fmla="val 22535"/>
            </a:avLst>
          </a:prstGeom>
          <a:solidFill>
            <a:srgbClr val="F1F5F9"/>
          </a:solidFill>
          <a:ln>
            <a:noFill/>
          </a:ln>
        </p:spPr>
      </p:sp>
      <p:sp>
        <p:nvSpPr>
          <p:cNvPr id="58" name="Text: 06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06 / 14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960166" cy="238125"/>
          </a:xfrm>
          <a:prstGeom prst="roundRect">
            <a:avLst>
              <a:gd name="adj" fmla="val 20000"/>
            </a:avLst>
          </a:prstGeom>
          <a:solidFill>
            <a:srgbClr val="EFF6FF"/>
          </a:solidFill>
          <a:ln w="6350" cap="flat" cmpd="sng" algn="ctr">
            <a:solidFill>
              <a:srgbClr val="BFDBFE"/>
            </a:solidFill>
            <a:miter lim="800000"/>
          </a:ln>
        </p:spPr>
      </p:sp>
      <p:sp>
        <p:nvSpPr>
          <p:cNvPr id="3" name="Text: PART 04 • 모델별 실전 추론 결과 (1/3)"/>
          <p:cNvSpPr txBox="1"/>
          <p:nvPr/>
        </p:nvSpPr>
        <p:spPr>
          <a:xfrm>
            <a:off x="488950" y="282575"/>
            <a:ext cx="1750616"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04 • 모델별 실전 추론 결과 (1/3)</a:t>
            </a:r>
            <a:endParaRPr lang="en-US" sz="750" dirty="0"/>
          </a:p>
        </p:txBody>
      </p:sp>
      <p:sp>
        <p:nvSpPr>
          <p:cNvPr id="4" name="Text: AuraSynth Engine Architecture"/>
          <p:cNvSpPr txBox="1"/>
          <p:nvPr/>
        </p:nvSpPr>
        <p:spPr>
          <a:xfrm>
            <a:off x="2436416"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Model 1] Intel Geti 실전 결과 &amp; 성능 한계 분석"/>
          <p:cNvSpPr txBox="1"/>
          <p:nvPr/>
        </p:nvSpPr>
        <p:spPr>
          <a:xfrm>
            <a:off x="381000" y="555625"/>
            <a:ext cx="6760865"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[Model 1] Intel Geti 실전 결과 &amp; 성능 한계 분석</a:t>
            </a:r>
            <a:endParaRPr lang="en-US" sz="2500" dirty="0"/>
          </a:p>
        </p:txBody>
      </p:sp>
      <p:sp>
        <p:nvSpPr>
          <p:cNvPr id="6" name="Text: 31장 극소량 데이터셋(Train 21 / Val 7 / Test 3)으"/>
          <p:cNvSpPr txBox="1"/>
          <p:nvPr/>
        </p:nvSpPr>
        <p:spPr>
          <a:xfrm>
            <a:off x="381000" y="948055"/>
            <a:ext cx="9833273"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31장 극소량 데이터셋(Train 21 / Val 7 / Test 3)으로 Test PCK 43%에 그쳤으며, 실제 카메라에서는 배경 노이즈를 손으로 오인하는 유령 관절 현상 발생</a:t>
            </a:r>
            <a:endParaRPr lang="en-US" sz="1150" dirty="0"/>
          </a:p>
        </p:txBody>
      </p:sp>
      <p:sp>
        <p:nvSpPr>
          <p:cNvPr id="7" name="Rounded Rectangle"/>
          <p:cNvSpPr/>
          <p:nvPr/>
        </p:nvSpPr>
        <p:spPr>
          <a:xfrm>
            <a:off x="387350" y="1280716"/>
            <a:ext cx="5144492" cy="5047059"/>
          </a:xfrm>
          <a:prstGeom prst="roundRect">
            <a:avLst>
              <a:gd name="adj" fmla="val 2139"/>
            </a:avLst>
          </a:prstGeom>
          <a:solidFill>
            <a:srgbClr val="FFFFFF"/>
          </a:solidFill>
          <a:ln w="12700" cap="flat" cmpd="sng" algn="ctr">
            <a:solidFill>
              <a:srgbClr val="EF4444"/>
            </a:solidFill>
            <a:miter lim="800000"/>
          </a:ln>
          <a:effectLst>
            <a:outerShdw blurRad="101600" dist="50800" dir="5400000" sx="99506" sy="99497" algn="ctr" rotWithShape="0">
              <a:srgbClr val="000000">
                <a:alpha val="5000"/>
              </a:srgbClr>
            </a:outerShdw>
          </a:effectLst>
        </p:spPr>
      </p:sp>
      <p:sp>
        <p:nvSpPr>
          <p:cNvPr id="8" name="Rounded Rectangle"/>
          <p:cNvSpPr/>
          <p:nvPr/>
        </p:nvSpPr>
        <p:spPr>
          <a:xfrm>
            <a:off x="561975" y="1442641"/>
            <a:ext cx="960438" cy="238125"/>
          </a:xfrm>
          <a:prstGeom prst="roundRect">
            <a:avLst>
              <a:gd name="adj" fmla="val 20000"/>
            </a:avLst>
          </a:prstGeom>
          <a:solidFill>
            <a:srgbClr val="FEF2F2"/>
          </a:solidFill>
          <a:ln w="6350" cap="flat" cmpd="sng" algn="ctr">
            <a:solidFill>
              <a:srgbClr val="FCA5A5"/>
            </a:solidFill>
            <a:miter lim="800000"/>
          </a:ln>
        </p:spPr>
      </p:sp>
      <p:sp>
        <p:nvSpPr>
          <p:cNvPr id="9" name="Text: 실전 추론 테스트"/>
          <p:cNvSpPr txBox="1"/>
          <p:nvPr/>
        </p:nvSpPr>
        <p:spPr>
          <a:xfrm>
            <a:off x="666750" y="1480741"/>
            <a:ext cx="75088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DC2626"/>
                </a:solidFill>
                <a:latin typeface="Segoe UI"/>
                <a:ea typeface="Segoe UI"/>
                <a:cs typeface="Segoe UI"/>
              </a:rPr>
              <a:t>실전 추론 테스트</a:t>
            </a:r>
            <a:endParaRPr lang="en-US" sz="750" dirty="0"/>
          </a:p>
        </p:txBody>
      </p:sp>
      <p:sp>
        <p:nvSpPr>
          <p:cNvPr id="10" name="Text: 실제 웹캠 추론 화면"/>
          <p:cNvSpPr txBox="1"/>
          <p:nvPr/>
        </p:nvSpPr>
        <p:spPr>
          <a:xfrm>
            <a:off x="1576388" y="1463278"/>
            <a:ext cx="1029395"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991B1B"/>
                </a:solidFill>
                <a:latin typeface="Segoe UI"/>
                <a:ea typeface="Segoe UI"/>
                <a:cs typeface="Segoe UI"/>
              </a:rPr>
              <a:t>실제 웹캠 추론 화면</a:t>
            </a:r>
            <a:endParaRPr lang="en-US" sz="900" dirty="0"/>
          </a:p>
        </p:txBody>
      </p:sp>
      <p:sp>
        <p:nvSpPr>
          <p:cNvPr id="11" name="Rounded Rectangle"/>
          <p:cNvSpPr/>
          <p:nvPr/>
        </p:nvSpPr>
        <p:spPr>
          <a:xfrm>
            <a:off x="3823593" y="1475978"/>
            <a:ext cx="1536799" cy="171450"/>
          </a:xfrm>
          <a:prstGeom prst="roundRect">
            <a:avLst>
              <a:gd name="adj" fmla="val 22222"/>
            </a:avLst>
          </a:prstGeom>
          <a:solidFill>
            <a:srgbClr val="FEF2F2"/>
          </a:solidFill>
          <a:ln>
            <a:noFill/>
          </a:ln>
        </p:spPr>
      </p:sp>
      <p:sp>
        <p:nvSpPr>
          <p:cNvPr id="12" name="Text: 치명적 오인식 발생 (Test PCK 43%)"/>
          <p:cNvSpPr txBox="1"/>
          <p:nvPr/>
        </p:nvSpPr>
        <p:spPr>
          <a:xfrm>
            <a:off x="3874393" y="1482328"/>
            <a:ext cx="1435199"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b="1" spc="-4" dirty="0">
                <a:solidFill>
                  <a:srgbClr val="DC2626"/>
                </a:solidFill>
                <a:latin typeface="Segoe UI"/>
                <a:ea typeface="Segoe UI"/>
                <a:cs typeface="Segoe UI"/>
              </a:rPr>
              <a:t>치명적 오인식 발생 (Test PCK 43%)</a:t>
            </a:r>
            <a:endParaRPr lang="en-US" sz="700" dirty="0"/>
          </a:p>
        </p:txBody>
      </p:sp>
      <p:sp>
        <p:nvSpPr>
          <p:cNvPr id="13" name="Rounded Rectangle"/>
          <p:cNvSpPr/>
          <p:nvPr/>
        </p:nvSpPr>
        <p:spPr>
          <a:xfrm>
            <a:off x="565150" y="1766491"/>
            <a:ext cx="4788892" cy="2209800"/>
          </a:xfrm>
          <a:prstGeom prst="roundRect">
            <a:avLst>
              <a:gd name="adj" fmla="val 3736"/>
            </a:avLst>
          </a:prstGeom>
          <a:solidFill>
            <a:srgbClr val="000000"/>
          </a:solidFill>
          <a:ln w="12700" cap="flat" cmpd="sng" algn="ctr">
            <a:solidFill>
              <a:srgbClr val="334155"/>
            </a:solidFill>
            <a:miter lim="800000"/>
          </a:ln>
          <a:effectLst>
            <a:outerShdw blurRad="152400" dist="50800" dir="5400000" sx="100000" sy="100000" algn="ctr" rotWithShape="0">
              <a:srgbClr val="000000">
                <a:alpha val="18000"/>
              </a:srgbClr>
            </a:outerShdw>
          </a:effectLst>
        </p:spPr>
      </p:sp>
      <p:pic>
        <p:nvPicPr>
          <p:cNvPr id="14" name="Image: Intel Geti Inference Ghost Keypoints"/>
          <p:cNvPicPr>
            <a:picLocks noChangeAspect="1"/>
          </p:cNvPicPr>
          <p:nvPr/>
        </p:nvPicPr>
        <p:blipFill>
          <a:blip r:embed="rId2"/>
          <a:stretch>
            <a:fillRect/>
          </a:stretch>
        </p:blipFill>
        <p:spPr>
          <a:xfrm>
            <a:off x="1473579" y="1772841"/>
            <a:ext cx="2972035" cy="2197100"/>
          </a:xfrm>
          <a:prstGeom prst="rect">
            <a:avLst/>
          </a:prstGeom>
          <a:ln>
            <a:noFill/>
          </a:ln>
        </p:spPr>
      </p:pic>
      <p:sp>
        <p:nvSpPr>
          <p:cNvPr id="15" name="Text: ▲  실제 카메라 추론 화면:  극소량 데이터(31장)로 인해 손 형태를"/>
          <p:cNvSpPr txBox="1"/>
          <p:nvPr/>
        </p:nvSpPr>
        <p:spPr>
          <a:xfrm>
            <a:off x="558800" y="4055269"/>
            <a:ext cx="4697512" cy="324644"/>
          </a:xfrm>
          <a:prstGeom prst="rect">
            <a:avLst/>
          </a:prstGeom>
          <a:noFill/>
        </p:spPr>
        <p:txBody>
          <a:bodyPr wrap="none" lIns="0" tIns="0" rIns="0" bIns="0" rtlCol="0" anchor="t">
            <a:noAutofit/>
          </a:bodyPr>
          <a:lstStyle/>
          <a:p>
            <a:pPr algn="l">
              <a:lnSpc>
                <a:spcPts val="1278"/>
              </a:lnSpc>
              <a:spcBef>
                <a:spcPts val="0"/>
              </a:spcBef>
              <a:spcAft>
                <a:spcPts val="0"/>
              </a:spcAft>
              <a:buNone/>
            </a:pPr>
            <a:r>
              <a:rPr lang="en-US" sz="825" spc="-4" dirty="0">
                <a:solidFill>
                  <a:srgbClr val="475569"/>
                </a:solidFill>
                <a:latin typeface="Segoe UI"/>
                <a:ea typeface="Segoe UI"/>
                <a:cs typeface="Segoe UI"/>
              </a:rPr>
              <a:t>▲ </a:t>
            </a:r>
            <a:r>
              <a:rPr lang="en-US" sz="825" b="1" spc="-4" dirty="0">
                <a:solidFill>
                  <a:srgbClr val="475569"/>
                </a:solidFill>
                <a:latin typeface="Segoe UI"/>
                <a:ea typeface="Segoe UI"/>
                <a:cs typeface="Segoe UI"/>
              </a:rPr>
              <a:t>실제 카메라 추론 화면:</a:t>
            </a:r>
            <a:r>
              <a:rPr lang="en-US" sz="825" spc="-4" dirty="0">
                <a:solidFill>
                  <a:srgbClr val="475569"/>
                </a:solidFill>
                <a:latin typeface="Segoe UI"/>
                <a:ea typeface="Segoe UI"/>
                <a:cs typeface="Segoe UI"/>
              </a:rPr>
              <a:t> 극소량 데이터(31장)로 인해 손 형태를 인식하지 못하고, 어두운 배경 노이</a:t>
            </a:r>
            <a:br>
              <a:rPr lang="en-US" sz="825"/>
            </a:br>
            <a:r>
              <a:rPr lang="en-US" sz="825" spc="-4" dirty="0">
                <a:solidFill>
                  <a:srgbClr val="475569"/>
                </a:solidFill>
                <a:latin typeface="Segoe UI"/>
                <a:ea typeface="Segoe UI"/>
                <a:cs typeface="Segoe UI"/>
              </a:rPr>
              <a:t>즈를 손가락으로 착각하여 허공에 관절 점들이 무작위로 흩뿌려지는 유령 관절(Ghost Keypoint) 발생</a:t>
            </a:r>
            <a:endParaRPr lang="en-US" sz="825" dirty="0"/>
          </a:p>
        </p:txBody>
      </p:sp>
      <p:sp>
        <p:nvSpPr>
          <p:cNvPr id="16" name="Rounded Rectangle"/>
          <p:cNvSpPr/>
          <p:nvPr/>
        </p:nvSpPr>
        <p:spPr>
          <a:xfrm>
            <a:off x="558800" y="5864225"/>
            <a:ext cx="4801592" cy="304800"/>
          </a:xfrm>
          <a:prstGeom prst="roundRect">
            <a:avLst>
              <a:gd name="adj" fmla="val 16667"/>
            </a:avLst>
          </a:prstGeom>
          <a:solidFill>
            <a:srgbClr val="FEF2F2"/>
          </a:solidFill>
          <a:ln>
            <a:noFill/>
          </a:ln>
        </p:spPr>
      </p:sp>
      <p:sp>
        <p:nvSpPr>
          <p:cNvPr id="17" name="Border"/>
          <p:cNvSpPr/>
          <p:nvPr/>
        </p:nvSpPr>
        <p:spPr>
          <a:xfrm>
            <a:off x="558800" y="5864225"/>
            <a:ext cx="25400" cy="304800"/>
          </a:xfrm>
          <a:prstGeom prst="rect">
            <a:avLst/>
          </a:prstGeom>
          <a:solidFill>
            <a:srgbClr val="EF4444"/>
          </a:solidFill>
          <a:ln>
            <a:noFill/>
          </a:ln>
        </p:spPr>
      </p:sp>
      <p:sp>
        <p:nvSpPr>
          <p:cNvPr id="18" name="Text: ❌ 실전 사용 불가: 저조한 검증 점수(Test PCK 43%) &amp; 손 "/>
          <p:cNvSpPr txBox="1"/>
          <p:nvPr/>
        </p:nvSpPr>
        <p:spPr>
          <a:xfrm>
            <a:off x="685800" y="5927725"/>
            <a:ext cx="4201815"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B91C1C"/>
                </a:solidFill>
                <a:latin typeface="Segoe UI"/>
                <a:ea typeface="Segoe UI"/>
                <a:cs typeface="Segoe UI"/>
              </a:rPr>
              <a:t>❌ 실전 사용 불가: 저조한 검증 점수(Test PCK 43%) &amp; 손 뼈대 추적 실패로 유령 관절 난무</a:t>
            </a:r>
            <a:endParaRPr lang="en-US" sz="800" dirty="0"/>
          </a:p>
        </p:txBody>
      </p:sp>
      <p:sp>
        <p:nvSpPr>
          <p:cNvPr id="19" name="Rounded Rectangle"/>
          <p:cNvSpPr/>
          <p:nvPr/>
        </p:nvSpPr>
        <p:spPr>
          <a:xfrm>
            <a:off x="5719167" y="1277541"/>
            <a:ext cx="6088559" cy="5053409"/>
          </a:xfrm>
          <a:prstGeom prst="roundRect">
            <a:avLst>
              <a:gd name="adj" fmla="val 2199"/>
            </a:avLst>
          </a:prstGeom>
          <a:solidFill>
            <a:srgbClr val="FFFFFF"/>
          </a:solidFill>
          <a:ln w="6350" cap="flat" cmpd="sng" algn="ctr">
            <a:solidFill>
              <a:srgbClr val="E2E8F0"/>
            </a:solidFill>
            <a:miter lim="800000"/>
          </a:ln>
          <a:effectLst>
            <a:outerShdw blurRad="101600" dist="50800" dir="5400000" sx="99583" sy="99497" algn="ctr" rotWithShape="0">
              <a:srgbClr val="000000">
                <a:alpha val="5000"/>
              </a:srgbClr>
            </a:outerShdw>
          </a:effectLst>
        </p:spPr>
      </p:sp>
      <p:sp>
        <p:nvSpPr>
          <p:cNvPr id="20" name="Rounded Rectangle"/>
          <p:cNvSpPr/>
          <p:nvPr/>
        </p:nvSpPr>
        <p:spPr>
          <a:xfrm>
            <a:off x="5916017" y="1450578"/>
            <a:ext cx="633611" cy="238125"/>
          </a:xfrm>
          <a:prstGeom prst="roundRect">
            <a:avLst>
              <a:gd name="adj" fmla="val 20000"/>
            </a:avLst>
          </a:prstGeom>
          <a:solidFill>
            <a:srgbClr val="FEE2E2"/>
          </a:solidFill>
          <a:ln w="6350" cap="flat" cmpd="sng" algn="ctr">
            <a:solidFill>
              <a:srgbClr val="FCA5A5"/>
            </a:solidFill>
            <a:miter lim="800000"/>
          </a:ln>
        </p:spPr>
      </p:sp>
      <p:sp>
        <p:nvSpPr>
          <p:cNvPr id="21" name="Text: 원인 분석"/>
          <p:cNvSpPr txBox="1"/>
          <p:nvPr/>
        </p:nvSpPr>
        <p:spPr>
          <a:xfrm>
            <a:off x="6020792" y="1488678"/>
            <a:ext cx="42406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DC2626"/>
                </a:solidFill>
                <a:latin typeface="Segoe UI"/>
                <a:ea typeface="Segoe UI"/>
                <a:cs typeface="Segoe UI"/>
              </a:rPr>
              <a:t>원인 분석</a:t>
            </a:r>
            <a:endParaRPr lang="en-US" sz="750" dirty="0"/>
          </a:p>
        </p:txBody>
      </p:sp>
      <p:sp>
        <p:nvSpPr>
          <p:cNvPr id="22" name="Text: Intel Geti 인식 성능이 현저히 낮은 원인 분석 (Test PCK"/>
          <p:cNvSpPr txBox="1"/>
          <p:nvPr/>
        </p:nvSpPr>
        <p:spPr>
          <a:xfrm>
            <a:off x="6616303" y="1426766"/>
            <a:ext cx="4616152" cy="247650"/>
          </a:xfrm>
          <a:prstGeom prst="rect">
            <a:avLst/>
          </a:prstGeom>
          <a:noFill/>
        </p:spPr>
        <p:txBody>
          <a:bodyPr wrap="none" lIns="0" tIns="0" rIns="0" bIns="0" rtlCol="0" anchor="t">
            <a:noAutofit/>
          </a:bodyPr>
          <a:lstStyle/>
          <a:p>
            <a:pPr algn="l">
              <a:lnSpc>
                <a:spcPts val="1950"/>
              </a:lnSpc>
              <a:spcBef>
                <a:spcPts val="0"/>
              </a:spcBef>
              <a:spcAft>
                <a:spcPts val="0"/>
              </a:spcAft>
              <a:buNone/>
            </a:pPr>
            <a:r>
              <a:rPr lang="en-US" sz="1300" b="1" spc="-4" dirty="0">
                <a:solidFill>
                  <a:srgbClr val="0F172A"/>
                </a:solidFill>
                <a:latin typeface="Segoe UI"/>
                <a:ea typeface="Segoe UI"/>
                <a:cs typeface="Segoe UI"/>
              </a:rPr>
              <a:t>Intel Geti 인식 성능이 현저히 낮은 원인 분석 (Test PCK 43%)</a:t>
            </a:r>
            <a:endParaRPr lang="en-US" sz="1300" dirty="0"/>
          </a:p>
        </p:txBody>
      </p:sp>
      <p:sp>
        <p:nvSpPr>
          <p:cNvPr id="23" name="Rounded Rectangle"/>
          <p:cNvSpPr/>
          <p:nvPr/>
        </p:nvSpPr>
        <p:spPr>
          <a:xfrm>
            <a:off x="5912842" y="1807766"/>
            <a:ext cx="5701209" cy="859036"/>
          </a:xfrm>
          <a:prstGeom prst="roundRect">
            <a:avLst>
              <a:gd name="adj" fmla="val 8870"/>
            </a:avLst>
          </a:prstGeom>
          <a:solidFill>
            <a:srgbClr val="F8FAFC"/>
          </a:solidFill>
          <a:ln>
            <a:noFill/>
          </a:ln>
        </p:spPr>
      </p:sp>
      <p:sp>
        <p:nvSpPr>
          <p:cNvPr id="24" name="Border"/>
          <p:cNvSpPr/>
          <p:nvPr/>
        </p:nvSpPr>
        <p:spPr>
          <a:xfrm>
            <a:off x="5912842" y="1807766"/>
            <a:ext cx="5701209" cy="6350"/>
          </a:xfrm>
          <a:prstGeom prst="rect">
            <a:avLst/>
          </a:prstGeom>
          <a:solidFill>
            <a:srgbClr val="E2E8F0"/>
          </a:solidFill>
          <a:ln>
            <a:noFill/>
          </a:ln>
        </p:spPr>
      </p:sp>
      <p:sp>
        <p:nvSpPr>
          <p:cNvPr id="25" name="Border"/>
          <p:cNvSpPr/>
          <p:nvPr/>
        </p:nvSpPr>
        <p:spPr>
          <a:xfrm>
            <a:off x="11607701" y="1807766"/>
            <a:ext cx="6350" cy="859036"/>
          </a:xfrm>
          <a:prstGeom prst="rect">
            <a:avLst/>
          </a:prstGeom>
          <a:solidFill>
            <a:srgbClr val="E2E8F0"/>
          </a:solidFill>
          <a:ln>
            <a:noFill/>
          </a:ln>
        </p:spPr>
      </p:sp>
      <p:sp>
        <p:nvSpPr>
          <p:cNvPr id="26" name="Border"/>
          <p:cNvSpPr/>
          <p:nvPr/>
        </p:nvSpPr>
        <p:spPr>
          <a:xfrm>
            <a:off x="5912842" y="2660452"/>
            <a:ext cx="5701209" cy="6350"/>
          </a:xfrm>
          <a:prstGeom prst="rect">
            <a:avLst/>
          </a:prstGeom>
          <a:solidFill>
            <a:srgbClr val="E2E8F0"/>
          </a:solidFill>
          <a:ln>
            <a:noFill/>
          </a:ln>
        </p:spPr>
      </p:sp>
      <p:sp>
        <p:nvSpPr>
          <p:cNvPr id="27" name="Border"/>
          <p:cNvSpPr/>
          <p:nvPr/>
        </p:nvSpPr>
        <p:spPr>
          <a:xfrm>
            <a:off x="5912842" y="1807766"/>
            <a:ext cx="38100" cy="859036"/>
          </a:xfrm>
          <a:prstGeom prst="rect">
            <a:avLst/>
          </a:prstGeom>
          <a:solidFill>
            <a:srgbClr val="EF4444"/>
          </a:solidFill>
          <a:ln>
            <a:noFill/>
          </a:ln>
        </p:spPr>
      </p:sp>
      <p:sp>
        <p:nvSpPr>
          <p:cNvPr id="28" name="Text: 1. 극소량 데이터셋(31장)으로 인한 기본 구조 학습 실패"/>
          <p:cNvSpPr txBox="1"/>
          <p:nvPr/>
        </p:nvSpPr>
        <p:spPr>
          <a:xfrm>
            <a:off x="6077942" y="1899841"/>
            <a:ext cx="3340695" cy="200025"/>
          </a:xfrm>
          <a:prstGeom prst="rect">
            <a:avLst/>
          </a:prstGeom>
          <a:noFill/>
        </p:spPr>
        <p:txBody>
          <a:bodyPr wrap="none" lIns="0" tIns="0" rIns="0" bIns="0" rtlCol="0" anchor="t">
            <a:noAutofit/>
          </a:bodyPr>
          <a:lstStyle/>
          <a:p>
            <a:pPr algn="l">
              <a:lnSpc>
                <a:spcPts val="1575"/>
              </a:lnSpc>
              <a:spcBef>
                <a:spcPts val="0"/>
              </a:spcBef>
              <a:spcAft>
                <a:spcPts val="0"/>
              </a:spcAft>
              <a:buNone/>
            </a:pPr>
            <a:r>
              <a:rPr lang="en-US" sz="1050" b="1" spc="-4" dirty="0">
                <a:solidFill>
                  <a:srgbClr val="0F172A"/>
                </a:solidFill>
                <a:latin typeface="Segoe UI"/>
                <a:ea typeface="Segoe UI"/>
                <a:cs typeface="Segoe UI"/>
              </a:rPr>
              <a:t>1. 극소량 데이터셋(31장)으로 인한 기본 구조 학습 실패</a:t>
            </a:r>
            <a:endParaRPr lang="en-US" sz="1050" dirty="0"/>
          </a:p>
        </p:txBody>
      </p:sp>
      <p:sp>
        <p:nvSpPr>
          <p:cNvPr id="29" name="Text: •  학습 데이터 절대 부족:  Train 21장, Val 7장, Tes"/>
          <p:cNvSpPr txBox="1"/>
          <p:nvPr/>
        </p:nvSpPr>
        <p:spPr>
          <a:xfrm>
            <a:off x="6077942" y="2148126"/>
            <a:ext cx="4210050"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학습 데이터 절대 부족:</a:t>
            </a:r>
            <a:r>
              <a:rPr lang="en-US" sz="900" spc="-4" dirty="0">
                <a:solidFill>
                  <a:srgbClr val="334155"/>
                </a:solidFill>
                <a:latin typeface="Segoe UI"/>
                <a:ea typeface="Segoe UI"/>
                <a:cs typeface="Segoe UI"/>
              </a:rPr>
              <a:t> Train 21장, Val 7장, Test 3장이라는 극단적인 데이터 한계</a:t>
            </a:r>
            <a:endParaRPr lang="en-US" sz="900" dirty="0"/>
          </a:p>
        </p:txBody>
      </p:sp>
      <p:sp>
        <p:nvSpPr>
          <p:cNvPr id="30" name="Text: •  대다수 관절 미인식:  Test 평가 시 21개 관절 중 11개 마"/>
          <p:cNvSpPr txBox="1"/>
          <p:nvPr/>
        </p:nvSpPr>
        <p:spPr>
          <a:xfrm>
            <a:off x="6077942" y="2363331"/>
            <a:ext cx="5167015"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대다수 관절 미인식:</a:t>
            </a:r>
            <a:r>
              <a:rPr lang="en-US" sz="900" spc="-4" dirty="0">
                <a:solidFill>
                  <a:srgbClr val="334155"/>
                </a:solidFill>
                <a:latin typeface="Segoe UI"/>
                <a:ea typeface="Segoe UI"/>
                <a:cs typeface="Segoe UI"/>
              </a:rPr>
              <a:t> Test 평가 시 21개 관절 중 11개 마디(새끼·중지·엄지 등)의 정확도가 0으로 집계</a:t>
            </a:r>
            <a:endParaRPr lang="en-US" sz="900" dirty="0"/>
          </a:p>
        </p:txBody>
      </p:sp>
      <p:sp>
        <p:nvSpPr>
          <p:cNvPr id="31" name="Rounded Rectangle"/>
          <p:cNvSpPr/>
          <p:nvPr/>
        </p:nvSpPr>
        <p:spPr>
          <a:xfrm>
            <a:off x="5912842" y="2768402"/>
            <a:ext cx="5701209" cy="859036"/>
          </a:xfrm>
          <a:prstGeom prst="roundRect">
            <a:avLst>
              <a:gd name="adj" fmla="val 8870"/>
            </a:avLst>
          </a:prstGeom>
          <a:solidFill>
            <a:srgbClr val="F8FAFC"/>
          </a:solidFill>
          <a:ln>
            <a:noFill/>
          </a:ln>
        </p:spPr>
      </p:sp>
      <p:sp>
        <p:nvSpPr>
          <p:cNvPr id="32" name="Border"/>
          <p:cNvSpPr/>
          <p:nvPr/>
        </p:nvSpPr>
        <p:spPr>
          <a:xfrm>
            <a:off x="5912842" y="2768402"/>
            <a:ext cx="5701209" cy="6350"/>
          </a:xfrm>
          <a:prstGeom prst="rect">
            <a:avLst/>
          </a:prstGeom>
          <a:solidFill>
            <a:srgbClr val="E2E8F0"/>
          </a:solidFill>
          <a:ln>
            <a:noFill/>
          </a:ln>
        </p:spPr>
      </p:sp>
      <p:sp>
        <p:nvSpPr>
          <p:cNvPr id="33" name="Border"/>
          <p:cNvSpPr/>
          <p:nvPr/>
        </p:nvSpPr>
        <p:spPr>
          <a:xfrm>
            <a:off x="11607701" y="2768402"/>
            <a:ext cx="6350" cy="859036"/>
          </a:xfrm>
          <a:prstGeom prst="rect">
            <a:avLst/>
          </a:prstGeom>
          <a:solidFill>
            <a:srgbClr val="E2E8F0"/>
          </a:solidFill>
          <a:ln>
            <a:noFill/>
          </a:ln>
        </p:spPr>
      </p:sp>
      <p:sp>
        <p:nvSpPr>
          <p:cNvPr id="34" name="Border"/>
          <p:cNvSpPr/>
          <p:nvPr/>
        </p:nvSpPr>
        <p:spPr>
          <a:xfrm>
            <a:off x="5912842" y="3621088"/>
            <a:ext cx="5701209" cy="6350"/>
          </a:xfrm>
          <a:prstGeom prst="rect">
            <a:avLst/>
          </a:prstGeom>
          <a:solidFill>
            <a:srgbClr val="E2E8F0"/>
          </a:solidFill>
          <a:ln>
            <a:noFill/>
          </a:ln>
        </p:spPr>
      </p:sp>
      <p:sp>
        <p:nvSpPr>
          <p:cNvPr id="35" name="Border"/>
          <p:cNvSpPr/>
          <p:nvPr/>
        </p:nvSpPr>
        <p:spPr>
          <a:xfrm>
            <a:off x="5912842" y="2768402"/>
            <a:ext cx="38100" cy="859036"/>
          </a:xfrm>
          <a:prstGeom prst="rect">
            <a:avLst/>
          </a:prstGeom>
          <a:solidFill>
            <a:srgbClr val="D97706"/>
          </a:solidFill>
          <a:ln>
            <a:noFill/>
          </a:ln>
        </p:spPr>
      </p:sp>
      <p:sp>
        <p:nvSpPr>
          <p:cNvPr id="36" name="Text: 2. 손가락 관절 평균 정답률 43% (Test PCK 0.43)에 불과"/>
          <p:cNvSpPr txBox="1"/>
          <p:nvPr/>
        </p:nvSpPr>
        <p:spPr>
          <a:xfrm>
            <a:off x="6077942" y="2860477"/>
            <a:ext cx="3384748" cy="200025"/>
          </a:xfrm>
          <a:prstGeom prst="rect">
            <a:avLst/>
          </a:prstGeom>
          <a:noFill/>
        </p:spPr>
        <p:txBody>
          <a:bodyPr wrap="none" lIns="0" tIns="0" rIns="0" bIns="0" rtlCol="0" anchor="t">
            <a:noAutofit/>
          </a:bodyPr>
          <a:lstStyle/>
          <a:p>
            <a:pPr algn="l">
              <a:lnSpc>
                <a:spcPts val="1575"/>
              </a:lnSpc>
              <a:spcBef>
                <a:spcPts val="0"/>
              </a:spcBef>
              <a:spcAft>
                <a:spcPts val="0"/>
              </a:spcAft>
              <a:buNone/>
            </a:pPr>
            <a:r>
              <a:rPr lang="en-US" sz="1050" b="1" spc="-4" dirty="0">
                <a:solidFill>
                  <a:srgbClr val="0F172A"/>
                </a:solidFill>
                <a:latin typeface="Segoe UI"/>
                <a:ea typeface="Segoe UI"/>
                <a:cs typeface="Segoe UI"/>
              </a:rPr>
              <a:t>2. 손가락 관절 평균 정답률 43% (Test PCK 0.43)에 불과</a:t>
            </a:r>
            <a:endParaRPr lang="en-US" sz="1050" dirty="0"/>
          </a:p>
        </p:txBody>
      </p:sp>
      <p:sp>
        <p:nvSpPr>
          <p:cNvPr id="37" name="Text: •  낮은 벤치마크 지표:  Validation PCK 39%, Test"/>
          <p:cNvSpPr txBox="1"/>
          <p:nvPr/>
        </p:nvSpPr>
        <p:spPr>
          <a:xfrm>
            <a:off x="6077942" y="3108762"/>
            <a:ext cx="4936133"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낮은 벤치마크 지표:</a:t>
            </a:r>
            <a:r>
              <a:rPr lang="en-US" sz="900" spc="-4" dirty="0">
                <a:solidFill>
                  <a:srgbClr val="334155"/>
                </a:solidFill>
                <a:latin typeface="Segoe UI"/>
                <a:ea typeface="Segoe UI"/>
                <a:cs typeface="Segoe UI"/>
              </a:rPr>
              <a:t> Validation PCK 39%, Test PCK 43%로 플랫폼 테스트 단계부터 낙제점 기록</a:t>
            </a:r>
            <a:endParaRPr lang="en-US" sz="900" dirty="0"/>
          </a:p>
        </p:txBody>
      </p:sp>
      <p:sp>
        <p:nvSpPr>
          <p:cNvPr id="38" name="Text: •  복합 제스처 대응 불가:  손가락을 조금만 굽히거나 손목을 회전해도"/>
          <p:cNvSpPr txBox="1"/>
          <p:nvPr/>
        </p:nvSpPr>
        <p:spPr>
          <a:xfrm>
            <a:off x="6077942" y="3323967"/>
            <a:ext cx="4842470"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복합 제스처 대응 불가:</a:t>
            </a:r>
            <a:r>
              <a:rPr lang="en-US" sz="900" spc="-4" dirty="0">
                <a:solidFill>
                  <a:srgbClr val="334155"/>
                </a:solidFill>
                <a:latin typeface="Segoe UI"/>
                <a:ea typeface="Segoe UI"/>
                <a:cs typeface="Segoe UI"/>
              </a:rPr>
              <a:t> 손가락을 조금만 굽히거나 손목을 회전해도 관절 위치 추적 완전 실패</a:t>
            </a:r>
            <a:endParaRPr lang="en-US" sz="900" dirty="0"/>
          </a:p>
        </p:txBody>
      </p:sp>
      <p:sp>
        <p:nvSpPr>
          <p:cNvPr id="39" name="Rounded Rectangle"/>
          <p:cNvSpPr/>
          <p:nvPr/>
        </p:nvSpPr>
        <p:spPr>
          <a:xfrm>
            <a:off x="5912842" y="3729038"/>
            <a:ext cx="5701209" cy="859036"/>
          </a:xfrm>
          <a:prstGeom prst="roundRect">
            <a:avLst>
              <a:gd name="adj" fmla="val 8870"/>
            </a:avLst>
          </a:prstGeom>
          <a:solidFill>
            <a:srgbClr val="F8FAFC"/>
          </a:solidFill>
          <a:ln>
            <a:noFill/>
          </a:ln>
        </p:spPr>
      </p:sp>
      <p:sp>
        <p:nvSpPr>
          <p:cNvPr id="40" name="Border"/>
          <p:cNvSpPr/>
          <p:nvPr/>
        </p:nvSpPr>
        <p:spPr>
          <a:xfrm>
            <a:off x="5912842" y="3729038"/>
            <a:ext cx="5701209" cy="6350"/>
          </a:xfrm>
          <a:prstGeom prst="rect">
            <a:avLst/>
          </a:prstGeom>
          <a:solidFill>
            <a:srgbClr val="E2E8F0"/>
          </a:solidFill>
          <a:ln>
            <a:noFill/>
          </a:ln>
        </p:spPr>
      </p:sp>
      <p:sp>
        <p:nvSpPr>
          <p:cNvPr id="41" name="Border"/>
          <p:cNvSpPr/>
          <p:nvPr/>
        </p:nvSpPr>
        <p:spPr>
          <a:xfrm>
            <a:off x="11607701" y="3729038"/>
            <a:ext cx="6350" cy="859036"/>
          </a:xfrm>
          <a:prstGeom prst="rect">
            <a:avLst/>
          </a:prstGeom>
          <a:solidFill>
            <a:srgbClr val="E2E8F0"/>
          </a:solidFill>
          <a:ln>
            <a:noFill/>
          </a:ln>
        </p:spPr>
      </p:sp>
      <p:sp>
        <p:nvSpPr>
          <p:cNvPr id="42" name="Border"/>
          <p:cNvSpPr/>
          <p:nvPr/>
        </p:nvSpPr>
        <p:spPr>
          <a:xfrm>
            <a:off x="5912842" y="4581723"/>
            <a:ext cx="5701209" cy="6350"/>
          </a:xfrm>
          <a:prstGeom prst="rect">
            <a:avLst/>
          </a:prstGeom>
          <a:solidFill>
            <a:srgbClr val="E2E8F0"/>
          </a:solidFill>
          <a:ln>
            <a:noFill/>
          </a:ln>
        </p:spPr>
      </p:sp>
      <p:sp>
        <p:nvSpPr>
          <p:cNvPr id="43" name="Border"/>
          <p:cNvSpPr/>
          <p:nvPr/>
        </p:nvSpPr>
        <p:spPr>
          <a:xfrm>
            <a:off x="5912842" y="3729038"/>
            <a:ext cx="38100" cy="859036"/>
          </a:xfrm>
          <a:prstGeom prst="rect">
            <a:avLst/>
          </a:prstGeom>
          <a:solidFill>
            <a:srgbClr val="2563EB"/>
          </a:solidFill>
          <a:ln>
            <a:noFill/>
          </a:ln>
        </p:spPr>
      </p:sp>
      <p:sp>
        <p:nvSpPr>
          <p:cNvPr id="44" name="Text: 3. 실전 환경 노이즈 필터링 능력 부재 및 유령 관절(Ghost Key"/>
          <p:cNvSpPr txBox="1"/>
          <p:nvPr/>
        </p:nvSpPr>
        <p:spPr>
          <a:xfrm>
            <a:off x="6077942" y="3821113"/>
            <a:ext cx="4123829" cy="200025"/>
          </a:xfrm>
          <a:prstGeom prst="rect">
            <a:avLst/>
          </a:prstGeom>
          <a:noFill/>
        </p:spPr>
        <p:txBody>
          <a:bodyPr wrap="none" lIns="0" tIns="0" rIns="0" bIns="0" rtlCol="0" anchor="t">
            <a:noAutofit/>
          </a:bodyPr>
          <a:lstStyle/>
          <a:p>
            <a:pPr algn="l">
              <a:lnSpc>
                <a:spcPts val="1575"/>
              </a:lnSpc>
              <a:spcBef>
                <a:spcPts val="0"/>
              </a:spcBef>
              <a:spcAft>
                <a:spcPts val="0"/>
              </a:spcAft>
              <a:buNone/>
            </a:pPr>
            <a:r>
              <a:rPr lang="en-US" sz="1050" b="1" spc="-4" dirty="0">
                <a:solidFill>
                  <a:srgbClr val="0F172A"/>
                </a:solidFill>
                <a:latin typeface="Segoe UI"/>
                <a:ea typeface="Segoe UI"/>
                <a:cs typeface="Segoe UI"/>
              </a:rPr>
              <a:t>3. 실전 환경 노이즈 필터링 능력 부재 및 유령 관절(Ghost Keypoint)</a:t>
            </a:r>
            <a:endParaRPr lang="en-US" sz="1050" dirty="0"/>
          </a:p>
        </p:txBody>
      </p:sp>
      <p:sp>
        <p:nvSpPr>
          <p:cNvPr id="45" name="Text: •  배경 픽셀 관절 오인:  웹캠의 어두운 배경 노이즈와 그림자를 손가"/>
          <p:cNvSpPr txBox="1"/>
          <p:nvPr/>
        </p:nvSpPr>
        <p:spPr>
          <a:xfrm>
            <a:off x="6077942" y="4069398"/>
            <a:ext cx="4194274"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배경 픽셀 관절 오인:</a:t>
            </a:r>
            <a:r>
              <a:rPr lang="en-US" sz="900" spc="-4" dirty="0">
                <a:solidFill>
                  <a:srgbClr val="334155"/>
                </a:solidFill>
                <a:latin typeface="Segoe UI"/>
                <a:ea typeface="Segoe UI"/>
                <a:cs typeface="Segoe UI"/>
              </a:rPr>
              <a:t> 웹캠의 어두운 배경 노이즈와 그림자를 손가락 관절로 오판</a:t>
            </a:r>
            <a:endParaRPr lang="en-US" sz="900" dirty="0"/>
          </a:p>
        </p:txBody>
      </p:sp>
      <p:sp>
        <p:nvSpPr>
          <p:cNvPr id="46" name="Text: •  유령 관절 난무:  손 형태를 잡지 못하고 허공에 마구잡이로 점을 "/>
          <p:cNvSpPr txBox="1"/>
          <p:nvPr/>
        </p:nvSpPr>
        <p:spPr>
          <a:xfrm>
            <a:off x="6077942" y="4284603"/>
            <a:ext cx="4614962"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유령 관절 난무:</a:t>
            </a:r>
            <a:r>
              <a:rPr lang="en-US" sz="900" spc="-4" dirty="0">
                <a:solidFill>
                  <a:srgbClr val="334155"/>
                </a:solidFill>
                <a:latin typeface="Segoe UI"/>
                <a:ea typeface="Segoe UI"/>
                <a:cs typeface="Segoe UI"/>
              </a:rPr>
              <a:t> 손 형태를 잡지 못하고 허공에 마구잡이로 점을 찍는 치명적 오작동 발생</a:t>
            </a:r>
            <a:endParaRPr lang="en-US" sz="900" dirty="0"/>
          </a:p>
        </p:txBody>
      </p:sp>
      <p:sp>
        <p:nvSpPr>
          <p:cNvPr id="47" name="Rounded Rectangle"/>
          <p:cNvSpPr/>
          <p:nvPr/>
        </p:nvSpPr>
        <p:spPr>
          <a:xfrm>
            <a:off x="5919192" y="5336084"/>
            <a:ext cx="5688509" cy="820241"/>
          </a:xfrm>
          <a:prstGeom prst="roundRect">
            <a:avLst>
              <a:gd name="adj" fmla="val 10064"/>
            </a:avLst>
          </a:prstGeom>
          <a:solidFill>
            <a:srgbClr val="F8FAFC"/>
          </a:solidFill>
          <a:ln w="12700" cap="flat" cmpd="sng" algn="ctr">
            <a:solidFill>
              <a:srgbClr val="CBD5E1"/>
            </a:solidFill>
            <a:miter lim="800000"/>
          </a:ln>
          <a:effectLst>
            <a:outerShdw blurRad="76200" dist="25400" dir="5400000" sx="100000" sy="100000" algn="ctr" rotWithShape="0">
              <a:srgbClr val="000000">
                <a:alpha val="3000"/>
              </a:srgbClr>
            </a:outerShdw>
          </a:effectLst>
        </p:spPr>
      </p:sp>
      <p:sp>
        <p:nvSpPr>
          <p:cNvPr id="48" name="Text: 💡  핵심 고찰:  &quot;31장의 극소량 데이터로는 손의 해부학적 구조를 "/>
          <p:cNvSpPr txBox="1"/>
          <p:nvPr/>
        </p:nvSpPr>
        <p:spPr>
          <a:xfrm>
            <a:off x="6077942" y="5441553"/>
            <a:ext cx="5334496" cy="578941"/>
          </a:xfrm>
          <a:prstGeom prst="rect">
            <a:avLst/>
          </a:prstGeom>
          <a:noFill/>
        </p:spPr>
        <p:txBody>
          <a:bodyPr wrap="none" lIns="0" tIns="0" rIns="0" bIns="0" rtlCol="0" anchor="t">
            <a:noAutofit/>
          </a:bodyPr>
          <a:lstStyle/>
          <a:p>
            <a:pPr algn="l">
              <a:lnSpc>
                <a:spcPts val="1520"/>
              </a:lnSpc>
              <a:spcBef>
                <a:spcPts val="0"/>
              </a:spcBef>
              <a:spcAft>
                <a:spcPts val="0"/>
              </a:spcAft>
              <a:buNone/>
            </a:pPr>
            <a:r>
              <a:rPr lang="en-US" sz="950" spc="-4" dirty="0">
                <a:solidFill>
                  <a:srgbClr val="1E293B"/>
                </a:solidFill>
                <a:latin typeface="Segoe UI"/>
                <a:ea typeface="Segoe UI"/>
                <a:cs typeface="Segoe UI"/>
              </a:rPr>
              <a:t>💡 </a:t>
            </a:r>
            <a:r>
              <a:rPr lang="en-US" sz="950" b="1" spc="-4" dirty="0">
                <a:solidFill>
                  <a:srgbClr val="1E293B"/>
                </a:solidFill>
                <a:latin typeface="Segoe UI"/>
                <a:ea typeface="Segoe UI"/>
                <a:cs typeface="Segoe UI"/>
              </a:rPr>
              <a:t>핵심 고찰:</a:t>
            </a:r>
            <a:r>
              <a:rPr lang="en-US" sz="950" spc="-4" dirty="0">
                <a:solidFill>
                  <a:srgbClr val="1E293B"/>
                </a:solidFill>
                <a:latin typeface="Segoe UI"/>
                <a:ea typeface="Segoe UI"/>
                <a:cs typeface="Segoe UI"/>
              </a:rPr>
              <a:t> "31장의 극소량 데이터로는 손의 해부학적 구조를 학습할 수 없어 Test PCK 43%에</a:t>
            </a:r>
            <a:br>
              <a:rPr lang="en-US" sz="950"/>
            </a:br>
            <a:r>
              <a:rPr lang="en-US" sz="950" spc="-4" dirty="0">
                <a:solidFill>
                  <a:srgbClr val="1E293B"/>
                </a:solidFill>
                <a:latin typeface="Segoe UI"/>
                <a:ea typeface="Segoe UI"/>
                <a:cs typeface="Segoe UI"/>
              </a:rPr>
              <a:t>그쳤으며, 실제 웹캠 환경에서 배경 노이즈를 손으로 오판하여 실시간 악기 엔진으로 사용이 불가능</a:t>
            </a:r>
            <a:br>
              <a:rPr lang="en-US" sz="950"/>
            </a:br>
            <a:r>
              <a:rPr lang="en-US" sz="950" spc="-4" dirty="0">
                <a:solidFill>
                  <a:srgbClr val="1E293B"/>
                </a:solidFill>
                <a:latin typeface="Segoe UI"/>
                <a:ea typeface="Segoe UI"/>
                <a:cs typeface="Segoe UI"/>
              </a:rPr>
              <a:t>함을 입증함"</a:t>
            </a:r>
            <a:endParaRPr lang="en-US" sz="950" dirty="0"/>
          </a:p>
        </p:txBody>
      </p:sp>
      <p:sp>
        <p:nvSpPr>
          <p:cNvPr id="49" name="Border"/>
          <p:cNvSpPr/>
          <p:nvPr/>
        </p:nvSpPr>
        <p:spPr>
          <a:xfrm>
            <a:off x="381000" y="6334125"/>
            <a:ext cx="11430000" cy="6350"/>
          </a:xfrm>
          <a:prstGeom prst="rect">
            <a:avLst/>
          </a:prstGeom>
          <a:solidFill>
            <a:srgbClr val="E2E8F0"/>
          </a:solidFill>
          <a:ln>
            <a:noFill/>
          </a:ln>
        </p:spPr>
      </p:sp>
      <p:sp>
        <p:nvSpPr>
          <p:cNvPr id="50"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51" name="Rounded Rectangle"/>
          <p:cNvSpPr/>
          <p:nvPr/>
        </p:nvSpPr>
        <p:spPr>
          <a:xfrm>
            <a:off x="11237714" y="6429375"/>
            <a:ext cx="573286" cy="225425"/>
          </a:xfrm>
          <a:prstGeom prst="roundRect">
            <a:avLst>
              <a:gd name="adj" fmla="val 22535"/>
            </a:avLst>
          </a:prstGeom>
          <a:solidFill>
            <a:srgbClr val="F1F5F9"/>
          </a:solidFill>
          <a:ln>
            <a:noFill/>
          </a:ln>
        </p:spPr>
      </p:sp>
      <p:sp>
        <p:nvSpPr>
          <p:cNvPr id="52" name="Text: 07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07 / 14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960166" cy="238125"/>
          </a:xfrm>
          <a:prstGeom prst="roundRect">
            <a:avLst>
              <a:gd name="adj" fmla="val 20000"/>
            </a:avLst>
          </a:prstGeom>
          <a:solidFill>
            <a:srgbClr val="EFF6FF"/>
          </a:solidFill>
          <a:ln w="6350" cap="flat" cmpd="sng" algn="ctr">
            <a:solidFill>
              <a:srgbClr val="BFDBFE"/>
            </a:solidFill>
            <a:miter lim="800000"/>
          </a:ln>
        </p:spPr>
      </p:sp>
      <p:sp>
        <p:nvSpPr>
          <p:cNvPr id="3" name="Text: PART 04 • 모델별 실전 추론 결과 (2/3)"/>
          <p:cNvSpPr txBox="1"/>
          <p:nvPr/>
        </p:nvSpPr>
        <p:spPr>
          <a:xfrm>
            <a:off x="488950" y="282575"/>
            <a:ext cx="1750616"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04 • 모델별 실전 추론 결과 (2/3)</a:t>
            </a:r>
            <a:endParaRPr lang="en-US" sz="750" dirty="0"/>
          </a:p>
        </p:txBody>
      </p:sp>
      <p:sp>
        <p:nvSpPr>
          <p:cNvPr id="4" name="Text: AuraSynth Engine Architecture"/>
          <p:cNvSpPr txBox="1"/>
          <p:nvPr/>
        </p:nvSpPr>
        <p:spPr>
          <a:xfrm>
            <a:off x="2436416"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Model 2] Custom YOLOv8-Pose 실전 결과 &amp; 데이터"/>
          <p:cNvSpPr txBox="1"/>
          <p:nvPr/>
        </p:nvSpPr>
        <p:spPr>
          <a:xfrm>
            <a:off x="381000" y="555625"/>
            <a:ext cx="8160048"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[Model 2] Custom YOLOv8-Pose 실전 결과 &amp; 데이터 분석</a:t>
            </a:r>
            <a:endParaRPr lang="en-US" sz="2500" dirty="0"/>
          </a:p>
        </p:txBody>
      </p:sp>
      <p:sp>
        <p:nvSpPr>
          <p:cNvPr id="6" name="Text: 18,776장 학습으로 펼친 손은 정밀 추적했으나, 접힌 손(V·주먹)에"/>
          <p:cNvSpPr txBox="1"/>
          <p:nvPr/>
        </p:nvSpPr>
        <p:spPr>
          <a:xfrm>
            <a:off x="381000" y="948055"/>
            <a:ext cx="6271320"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18,776장 학습으로 펼친 손은 정밀 추적했으나, 접힌 손(V·주먹)에서 드러난 2D 자가 가림의 한계</a:t>
            </a:r>
            <a:endParaRPr lang="en-US" sz="1150" dirty="0"/>
          </a:p>
        </p:txBody>
      </p:sp>
      <p:sp>
        <p:nvSpPr>
          <p:cNvPr id="7" name="Rounded Rectangle"/>
          <p:cNvSpPr/>
          <p:nvPr/>
        </p:nvSpPr>
        <p:spPr>
          <a:xfrm>
            <a:off x="387350" y="1280716"/>
            <a:ext cx="5854402" cy="5047059"/>
          </a:xfrm>
          <a:prstGeom prst="roundRect">
            <a:avLst>
              <a:gd name="adj" fmla="val 2139"/>
            </a:avLst>
          </a:prstGeom>
          <a:solidFill>
            <a:srgbClr val="FFFFFF"/>
          </a:solidFill>
          <a:ln w="12700" cap="flat" cmpd="sng" algn="ctr">
            <a:solidFill>
              <a:srgbClr val="2563EB"/>
            </a:solidFill>
            <a:miter lim="800000"/>
          </a:ln>
          <a:effectLst>
            <a:outerShdw blurRad="101600" dist="50800" dir="5400000" sx="99566" sy="99497" algn="ctr" rotWithShape="0">
              <a:srgbClr val="000000">
                <a:alpha val="5000"/>
              </a:srgbClr>
            </a:outerShdw>
          </a:effectLst>
        </p:spPr>
      </p:sp>
      <p:sp>
        <p:nvSpPr>
          <p:cNvPr id="8" name="Rounded Rectangle"/>
          <p:cNvSpPr/>
          <p:nvPr/>
        </p:nvSpPr>
        <p:spPr>
          <a:xfrm>
            <a:off x="549275" y="1429941"/>
            <a:ext cx="1190129" cy="238125"/>
          </a:xfrm>
          <a:prstGeom prst="roundRect">
            <a:avLst>
              <a:gd name="adj" fmla="val 20000"/>
            </a:avLst>
          </a:prstGeom>
          <a:solidFill>
            <a:srgbClr val="EFF6FF"/>
          </a:solidFill>
          <a:ln w="6350" cap="flat" cmpd="sng" algn="ctr">
            <a:solidFill>
              <a:srgbClr val="BFDBFE"/>
            </a:solidFill>
            <a:miter lim="800000"/>
          </a:ln>
        </p:spPr>
      </p:sp>
      <p:sp>
        <p:nvSpPr>
          <p:cNvPr id="9" name="Text: 실시간 웹캠 추론 비교"/>
          <p:cNvSpPr txBox="1"/>
          <p:nvPr/>
        </p:nvSpPr>
        <p:spPr>
          <a:xfrm>
            <a:off x="654050" y="1468041"/>
            <a:ext cx="980579"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실시간 웹캠 추론 비교</a:t>
            </a:r>
            <a:endParaRPr lang="en-US" sz="750" dirty="0"/>
          </a:p>
        </p:txBody>
      </p:sp>
      <p:sp>
        <p:nvSpPr>
          <p:cNvPr id="10" name="Text: 펼친 손 vs 브이(V) 제스처"/>
          <p:cNvSpPr txBox="1"/>
          <p:nvPr/>
        </p:nvSpPr>
        <p:spPr>
          <a:xfrm>
            <a:off x="1793379" y="1450578"/>
            <a:ext cx="1339155"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1E40AF"/>
                </a:solidFill>
                <a:latin typeface="Segoe UI"/>
                <a:ea typeface="Segoe UI"/>
                <a:cs typeface="Segoe UI"/>
              </a:rPr>
              <a:t>펼친 손 vs 브이(V) 제스처</a:t>
            </a:r>
            <a:endParaRPr lang="en-US" sz="900" dirty="0"/>
          </a:p>
        </p:txBody>
      </p:sp>
      <p:sp>
        <p:nvSpPr>
          <p:cNvPr id="11" name="Rounded Rectangle"/>
          <p:cNvSpPr/>
          <p:nvPr/>
        </p:nvSpPr>
        <p:spPr>
          <a:xfrm>
            <a:off x="4962624" y="1463278"/>
            <a:ext cx="1120378" cy="171450"/>
          </a:xfrm>
          <a:prstGeom prst="roundRect">
            <a:avLst>
              <a:gd name="adj" fmla="val 22222"/>
            </a:avLst>
          </a:prstGeom>
          <a:solidFill>
            <a:srgbClr val="EFF6FF"/>
          </a:solidFill>
          <a:ln>
            <a:noFill/>
          </a:ln>
        </p:spPr>
      </p:sp>
      <p:sp>
        <p:nvSpPr>
          <p:cNvPr id="12" name="Text: Box 99.2% / Pose 87.9%"/>
          <p:cNvSpPr txBox="1"/>
          <p:nvPr/>
        </p:nvSpPr>
        <p:spPr>
          <a:xfrm>
            <a:off x="5013424" y="1469628"/>
            <a:ext cx="1018778"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b="1" spc="-4" dirty="0">
                <a:solidFill>
                  <a:srgbClr val="2563EB"/>
                </a:solidFill>
                <a:latin typeface="Segoe UI"/>
                <a:ea typeface="Segoe UI"/>
                <a:cs typeface="Segoe UI"/>
              </a:rPr>
              <a:t>Box 99.2% / Pose 87.9%</a:t>
            </a:r>
            <a:endParaRPr lang="en-US" sz="700" dirty="0"/>
          </a:p>
        </p:txBody>
      </p:sp>
      <p:sp>
        <p:nvSpPr>
          <p:cNvPr id="13" name="Rounded Rectangle"/>
          <p:cNvSpPr/>
          <p:nvPr/>
        </p:nvSpPr>
        <p:spPr>
          <a:xfrm>
            <a:off x="549275" y="1725216"/>
            <a:ext cx="2723952" cy="1325563"/>
          </a:xfrm>
          <a:prstGeom prst="roundRect">
            <a:avLst>
              <a:gd name="adj" fmla="val 4551"/>
            </a:avLst>
          </a:prstGeom>
          <a:solidFill>
            <a:srgbClr val="0A0F1D"/>
          </a:solidFill>
          <a:ln w="6350" cap="flat" cmpd="sng" algn="ctr">
            <a:solidFill>
              <a:srgbClr val="3B82F6"/>
            </a:solidFill>
            <a:miter lim="800000"/>
          </a:ln>
        </p:spPr>
      </p:sp>
      <p:sp>
        <p:nvSpPr>
          <p:cNvPr id="14" name="Rounded Rectangle"/>
          <p:cNvSpPr/>
          <p:nvPr/>
        </p:nvSpPr>
        <p:spPr>
          <a:xfrm>
            <a:off x="603250" y="1779191"/>
            <a:ext cx="2616002" cy="901700"/>
          </a:xfrm>
          <a:prstGeom prst="roundRect">
            <a:avLst>
              <a:gd name="adj" fmla="val 4225"/>
            </a:avLst>
          </a:prstGeom>
          <a:solidFill>
            <a:srgbClr val="000000"/>
          </a:solidFill>
          <a:ln>
            <a:noFill/>
          </a:ln>
        </p:spPr>
      </p:sp>
      <p:pic>
        <p:nvPicPr>
          <p:cNvPr id="15" name="Image: YOLO Open Palm Success"/>
          <p:cNvPicPr>
            <a:picLocks noChangeAspect="1"/>
          </p:cNvPicPr>
          <p:nvPr/>
        </p:nvPicPr>
        <p:blipFill>
          <a:blip r:embed="rId2"/>
          <a:stretch>
            <a:fillRect/>
          </a:stretch>
        </p:blipFill>
        <p:spPr>
          <a:xfrm>
            <a:off x="1504757" y="1779191"/>
            <a:ext cx="812988" cy="901700"/>
          </a:xfrm>
          <a:prstGeom prst="rect">
            <a:avLst/>
          </a:prstGeom>
          <a:ln>
            <a:noFill/>
          </a:ln>
        </p:spPr>
      </p:pic>
      <p:sp>
        <p:nvSpPr>
          <p:cNvPr id="16" name="Rounded Rectangle"/>
          <p:cNvSpPr/>
          <p:nvPr/>
        </p:nvSpPr>
        <p:spPr>
          <a:xfrm>
            <a:off x="1453753" y="2718991"/>
            <a:ext cx="914995" cy="139700"/>
          </a:xfrm>
          <a:prstGeom prst="roundRect">
            <a:avLst>
              <a:gd name="adj" fmla="val 18182"/>
            </a:avLst>
          </a:prstGeom>
          <a:solidFill>
            <a:srgbClr val="EFF6FF"/>
          </a:solidFill>
          <a:ln>
            <a:noFill/>
          </a:ln>
        </p:spPr>
      </p:sp>
      <p:sp>
        <p:nvSpPr>
          <p:cNvPr id="17" name="Text: ✓ 펼친 손 (정밀 검출)"/>
          <p:cNvSpPr txBox="1"/>
          <p:nvPr/>
        </p:nvSpPr>
        <p:spPr>
          <a:xfrm>
            <a:off x="1491853" y="2693591"/>
            <a:ext cx="838795" cy="152400"/>
          </a:xfrm>
          <a:prstGeom prst="rect">
            <a:avLst/>
          </a:prstGeom>
          <a:noFill/>
        </p:spPr>
        <p:txBody>
          <a:bodyPr wrap="none" lIns="0" tIns="0" rIns="0" bIns="0" rtlCol="0" anchor="t">
            <a:noAutofit/>
          </a:bodyPr>
          <a:lstStyle/>
          <a:p>
            <a:pPr algn="ctr">
              <a:lnSpc>
                <a:spcPts val="1200"/>
              </a:lnSpc>
              <a:spcBef>
                <a:spcPts val="0"/>
              </a:spcBef>
              <a:spcAft>
                <a:spcPts val="0"/>
              </a:spcAft>
              <a:buNone/>
            </a:pPr>
            <a:r>
              <a:rPr lang="en-US" sz="675" b="1" spc="-4" dirty="0">
                <a:solidFill>
                  <a:srgbClr val="2563EB"/>
                </a:solidFill>
                <a:latin typeface="Segoe UI"/>
                <a:ea typeface="Segoe UI"/>
                <a:cs typeface="Segoe UI"/>
              </a:rPr>
              <a:t>✓ 펼친 손 (정밀 검출)</a:t>
            </a:r>
            <a:endParaRPr lang="en-US" sz="675" dirty="0"/>
          </a:p>
        </p:txBody>
      </p:sp>
      <p:sp>
        <p:nvSpPr>
          <p:cNvPr id="18" name="Text: 5개 손가락 끝마디까지 관절 정밀 추적"/>
          <p:cNvSpPr txBox="1"/>
          <p:nvPr/>
        </p:nvSpPr>
        <p:spPr>
          <a:xfrm>
            <a:off x="1229618" y="2866628"/>
            <a:ext cx="1363266"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spc="-4" dirty="0">
                <a:solidFill>
                  <a:srgbClr val="94A3B8"/>
                </a:solidFill>
                <a:latin typeface="Segoe UI"/>
                <a:ea typeface="Segoe UI"/>
                <a:cs typeface="Segoe UI"/>
              </a:rPr>
              <a:t>5개 손가락 끝마디까지 관절 정밀 추적</a:t>
            </a:r>
            <a:endParaRPr lang="en-US" sz="625" dirty="0"/>
          </a:p>
        </p:txBody>
      </p:sp>
      <p:sp>
        <p:nvSpPr>
          <p:cNvPr id="19" name="Rounded Rectangle"/>
          <p:cNvSpPr/>
          <p:nvPr/>
        </p:nvSpPr>
        <p:spPr>
          <a:xfrm>
            <a:off x="3355777" y="1725216"/>
            <a:ext cx="2724051" cy="1325563"/>
          </a:xfrm>
          <a:prstGeom prst="roundRect">
            <a:avLst>
              <a:gd name="adj" fmla="val 4551"/>
            </a:avLst>
          </a:prstGeom>
          <a:solidFill>
            <a:srgbClr val="0A0F1D"/>
          </a:solidFill>
          <a:ln w="6350" cap="flat" cmpd="sng" algn="ctr">
            <a:solidFill>
              <a:srgbClr val="EF4444"/>
            </a:solidFill>
            <a:miter lim="800000"/>
          </a:ln>
        </p:spPr>
      </p:sp>
      <p:sp>
        <p:nvSpPr>
          <p:cNvPr id="20" name="Rounded Rectangle"/>
          <p:cNvSpPr/>
          <p:nvPr/>
        </p:nvSpPr>
        <p:spPr>
          <a:xfrm>
            <a:off x="3409752" y="1779191"/>
            <a:ext cx="2616101" cy="901700"/>
          </a:xfrm>
          <a:prstGeom prst="roundRect">
            <a:avLst>
              <a:gd name="adj" fmla="val 4225"/>
            </a:avLst>
          </a:prstGeom>
          <a:solidFill>
            <a:srgbClr val="000000"/>
          </a:solidFill>
          <a:ln>
            <a:noFill/>
          </a:ln>
        </p:spPr>
      </p:sp>
      <p:pic>
        <p:nvPicPr>
          <p:cNvPr id="21" name="Image: YOLO V-Sign Failure"/>
          <p:cNvPicPr>
            <a:picLocks noChangeAspect="1"/>
          </p:cNvPicPr>
          <p:nvPr/>
        </p:nvPicPr>
        <p:blipFill>
          <a:blip r:embed="rId3"/>
          <a:stretch>
            <a:fillRect/>
          </a:stretch>
        </p:blipFill>
        <p:spPr>
          <a:xfrm>
            <a:off x="4419929" y="1779191"/>
            <a:ext cx="595745" cy="901700"/>
          </a:xfrm>
          <a:prstGeom prst="rect">
            <a:avLst/>
          </a:prstGeom>
          <a:ln>
            <a:noFill/>
          </a:ln>
        </p:spPr>
      </p:pic>
      <p:sp>
        <p:nvSpPr>
          <p:cNvPr id="22" name="Rounded Rectangle"/>
          <p:cNvSpPr/>
          <p:nvPr/>
        </p:nvSpPr>
        <p:spPr>
          <a:xfrm>
            <a:off x="4089499" y="2718991"/>
            <a:ext cx="1256605" cy="139700"/>
          </a:xfrm>
          <a:prstGeom prst="roundRect">
            <a:avLst>
              <a:gd name="adj" fmla="val 18182"/>
            </a:avLst>
          </a:prstGeom>
          <a:solidFill>
            <a:srgbClr val="FEF2F2"/>
          </a:solidFill>
          <a:ln>
            <a:noFill/>
          </a:ln>
        </p:spPr>
      </p:sp>
      <p:sp>
        <p:nvSpPr>
          <p:cNvPr id="23" name="Text: ❌ 브이(V) 제스처 (관절 뭉침)"/>
          <p:cNvSpPr txBox="1"/>
          <p:nvPr/>
        </p:nvSpPr>
        <p:spPr>
          <a:xfrm>
            <a:off x="4127599" y="2693591"/>
            <a:ext cx="1180405" cy="152400"/>
          </a:xfrm>
          <a:prstGeom prst="rect">
            <a:avLst/>
          </a:prstGeom>
          <a:noFill/>
        </p:spPr>
        <p:txBody>
          <a:bodyPr wrap="none" lIns="0" tIns="0" rIns="0" bIns="0" rtlCol="0" anchor="t">
            <a:noAutofit/>
          </a:bodyPr>
          <a:lstStyle/>
          <a:p>
            <a:pPr algn="ctr">
              <a:lnSpc>
                <a:spcPts val="1200"/>
              </a:lnSpc>
              <a:spcBef>
                <a:spcPts val="0"/>
              </a:spcBef>
              <a:spcAft>
                <a:spcPts val="0"/>
              </a:spcAft>
              <a:buNone/>
            </a:pPr>
            <a:r>
              <a:rPr lang="en-US" sz="675" b="1" spc="-4" dirty="0">
                <a:solidFill>
                  <a:srgbClr val="DC2626"/>
                </a:solidFill>
                <a:latin typeface="Segoe UI"/>
                <a:ea typeface="Segoe UI"/>
                <a:cs typeface="Segoe UI"/>
              </a:rPr>
              <a:t>❌ 브이(V) 제스처 (관절 뭉침)</a:t>
            </a:r>
            <a:endParaRPr lang="en-US" sz="675" dirty="0"/>
          </a:p>
        </p:txBody>
      </p:sp>
      <p:sp>
        <p:nvSpPr>
          <p:cNvPr id="24" name="Text: 손가락 끝 미인식 &amp; 손바닥 중앙에 뭉침"/>
          <p:cNvSpPr txBox="1"/>
          <p:nvPr/>
        </p:nvSpPr>
        <p:spPr>
          <a:xfrm>
            <a:off x="4011811" y="2866628"/>
            <a:ext cx="1411883"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spc="-4" dirty="0">
                <a:solidFill>
                  <a:srgbClr val="94A3B8"/>
                </a:solidFill>
                <a:latin typeface="Segoe UI"/>
                <a:ea typeface="Segoe UI"/>
                <a:cs typeface="Segoe UI"/>
              </a:rPr>
              <a:t>손가락 끝 미인식 &amp; 손바닥 중앙에 뭉침</a:t>
            </a:r>
            <a:endParaRPr lang="en-US" sz="625" dirty="0"/>
          </a:p>
        </p:txBody>
      </p:sp>
      <p:sp>
        <p:nvSpPr>
          <p:cNvPr id="25" name="Border"/>
          <p:cNvSpPr/>
          <p:nvPr/>
        </p:nvSpPr>
        <p:spPr>
          <a:xfrm>
            <a:off x="546100" y="3130153"/>
            <a:ext cx="5536902" cy="6350"/>
          </a:xfrm>
          <a:prstGeom prst="rect">
            <a:avLst/>
          </a:prstGeom>
          <a:solidFill>
            <a:srgbClr val="E2E8F0"/>
          </a:solidFill>
          <a:ln>
            <a:noFill/>
          </a:ln>
        </p:spPr>
      </p:sp>
      <p:sp>
        <p:nvSpPr>
          <p:cNvPr id="26" name="Text: 📊 15 Epochs 학습 곡선: 손실(Loss) 급감 &amp; 정확도(mA"/>
          <p:cNvSpPr txBox="1"/>
          <p:nvPr/>
        </p:nvSpPr>
        <p:spPr>
          <a:xfrm>
            <a:off x="546100" y="3190478"/>
            <a:ext cx="3800971"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0F172A"/>
                </a:solidFill>
                <a:latin typeface="Segoe UI"/>
                <a:ea typeface="Segoe UI"/>
                <a:cs typeface="Segoe UI"/>
              </a:rPr>
              <a:t>📊 15 Epochs 학습 곡선: 손실(Loss) 급감 &amp; 정확도(mAP) 99.2% 고득점 수렴</a:t>
            </a:r>
            <a:endParaRPr lang="en-US" sz="850" dirty="0"/>
          </a:p>
        </p:txBody>
      </p:sp>
      <p:sp>
        <p:nvSpPr>
          <p:cNvPr id="27" name="Rounded Rectangle"/>
          <p:cNvSpPr/>
          <p:nvPr/>
        </p:nvSpPr>
        <p:spPr>
          <a:xfrm>
            <a:off x="4963220" y="3200003"/>
            <a:ext cx="1119783" cy="161925"/>
          </a:xfrm>
          <a:prstGeom prst="roundRect">
            <a:avLst>
              <a:gd name="adj" fmla="val 23529"/>
            </a:avLst>
          </a:prstGeom>
          <a:solidFill>
            <a:srgbClr val="EFF6FF"/>
          </a:solidFill>
          <a:ln>
            <a:noFill/>
          </a:ln>
        </p:spPr>
      </p:sp>
      <p:sp>
        <p:nvSpPr>
          <p:cNvPr id="28" name="Text: 18,776장 학습 • 64분 완주"/>
          <p:cNvSpPr txBox="1"/>
          <p:nvPr/>
        </p:nvSpPr>
        <p:spPr>
          <a:xfrm>
            <a:off x="5026720" y="3209528"/>
            <a:ext cx="992783"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b="1" spc="-4" dirty="0">
                <a:solidFill>
                  <a:srgbClr val="2563EB"/>
                </a:solidFill>
                <a:latin typeface="Segoe UI"/>
                <a:ea typeface="Segoe UI"/>
                <a:cs typeface="Segoe UI"/>
              </a:rPr>
              <a:t>18,776장 학습 • 64분 완주</a:t>
            </a:r>
            <a:endParaRPr lang="en-US" sz="650" dirty="0"/>
          </a:p>
        </p:txBody>
      </p:sp>
      <p:sp>
        <p:nvSpPr>
          <p:cNvPr id="29" name="Rounded Rectangle"/>
          <p:cNvSpPr/>
          <p:nvPr/>
        </p:nvSpPr>
        <p:spPr>
          <a:xfrm>
            <a:off x="549275" y="3415903"/>
            <a:ext cx="5530552" cy="1676400"/>
          </a:xfrm>
          <a:prstGeom prst="roundRect">
            <a:avLst>
              <a:gd name="adj" fmla="val 4356"/>
            </a:avLst>
          </a:prstGeom>
          <a:solidFill>
            <a:srgbClr val="FFFFFF"/>
          </a:solidFill>
          <a:ln w="6350" cap="flat" cmpd="sng" algn="ctr">
            <a:solidFill>
              <a:srgbClr val="CBD5E1"/>
            </a:solidFill>
            <a:miter lim="800000"/>
          </a:ln>
          <a:effectLst>
            <a:outerShdw blurRad="76200" dist="25400" dir="5400000" sx="100000" sy="100000" algn="ctr" rotWithShape="0">
              <a:srgbClr val="000000">
                <a:alpha val="3000"/>
              </a:srgbClr>
            </a:outerShdw>
          </a:effectLst>
        </p:spPr>
      </p:sp>
      <p:pic>
        <p:nvPicPr>
          <p:cNvPr id="30" name="Image: YOLO Training Results Curves (Loss &amp; mAP)"/>
          <p:cNvPicPr>
            <a:picLocks noChangeAspect="1"/>
          </p:cNvPicPr>
          <p:nvPr/>
        </p:nvPicPr>
        <p:blipFill>
          <a:blip r:embed="rId4"/>
          <a:stretch>
            <a:fillRect/>
          </a:stretch>
        </p:blipFill>
        <p:spPr>
          <a:xfrm>
            <a:off x="1111506" y="3419078"/>
            <a:ext cx="4406089" cy="1670050"/>
          </a:xfrm>
          <a:prstGeom prst="rect">
            <a:avLst/>
          </a:prstGeom>
          <a:ln>
            <a:noFill/>
          </a:ln>
        </p:spPr>
      </p:pic>
      <p:sp>
        <p:nvSpPr>
          <p:cNvPr id="31" name="Rounded Rectangle"/>
          <p:cNvSpPr/>
          <p:nvPr/>
        </p:nvSpPr>
        <p:spPr>
          <a:xfrm>
            <a:off x="549275" y="5162153"/>
            <a:ext cx="2730302" cy="504428"/>
          </a:xfrm>
          <a:prstGeom prst="roundRect">
            <a:avLst>
              <a:gd name="adj" fmla="val 9441"/>
            </a:avLst>
          </a:prstGeom>
          <a:solidFill>
            <a:srgbClr val="F8FAFC"/>
          </a:solidFill>
          <a:ln w="6350" cap="flat" cmpd="sng" algn="ctr">
            <a:solidFill>
              <a:srgbClr val="E2E8F0"/>
            </a:solidFill>
            <a:miter lim="800000"/>
          </a:ln>
        </p:spPr>
      </p:sp>
      <p:sp>
        <p:nvSpPr>
          <p:cNvPr id="32" name="Text: 📉 [왼쪽 차트] 관절 오차 (Loss)"/>
          <p:cNvSpPr txBox="1"/>
          <p:nvPr/>
        </p:nvSpPr>
        <p:spPr>
          <a:xfrm>
            <a:off x="628650" y="5205016"/>
            <a:ext cx="1334889"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1D4ED8"/>
                </a:solidFill>
                <a:latin typeface="Segoe UI"/>
                <a:ea typeface="Segoe UI"/>
                <a:cs typeface="Segoe UI"/>
              </a:rPr>
              <a:t>📉 [왼쪽 차트] 관절 오차 (Loss)</a:t>
            </a:r>
            <a:endParaRPr lang="en-US" sz="725" dirty="0"/>
          </a:p>
        </p:txBody>
      </p:sp>
      <p:sp>
        <p:nvSpPr>
          <p:cNvPr id="33" name="Text: •  7.79 ➔ 1.62 (-79.2%) : 학습을 거듭할수록 오차가 "/>
          <p:cNvSpPr txBox="1"/>
          <p:nvPr/>
        </p:nvSpPr>
        <p:spPr>
          <a:xfrm>
            <a:off x="628650" y="5361583"/>
            <a:ext cx="2548434" cy="239316"/>
          </a:xfrm>
          <a:prstGeom prst="rect">
            <a:avLst/>
          </a:prstGeom>
          <a:noFill/>
        </p:spPr>
        <p:txBody>
          <a:bodyPr wrap="none" lIns="0" tIns="0" rIns="0" bIns="0" rtlCol="0" anchor="t">
            <a:noAutofit/>
          </a:bodyPr>
          <a:lstStyle/>
          <a:p>
            <a:pPr algn="l">
              <a:lnSpc>
                <a:spcPts val="942"/>
              </a:lnSpc>
              <a:spcBef>
                <a:spcPts val="0"/>
              </a:spcBef>
              <a:spcAft>
                <a:spcPts val="0"/>
              </a:spcAft>
              <a:buNone/>
            </a:pPr>
            <a:r>
              <a:rPr lang="en-US" sz="650" spc="-4" dirty="0">
                <a:solidFill>
                  <a:srgbClr val="475569"/>
                </a:solidFill>
                <a:latin typeface="Segoe UI"/>
                <a:ea typeface="Segoe UI"/>
                <a:cs typeface="Segoe UI"/>
              </a:rPr>
              <a:t>• </a:t>
            </a:r>
            <a:r>
              <a:rPr lang="en-US" sz="650" b="1" spc="-4" dirty="0">
                <a:solidFill>
                  <a:srgbClr val="475569"/>
                </a:solidFill>
                <a:latin typeface="Segoe UI"/>
                <a:ea typeface="Segoe UI"/>
                <a:cs typeface="Segoe UI"/>
              </a:rPr>
              <a:t>7.79 ➔ 1.62 (-79.2%)</a:t>
            </a:r>
            <a:r>
              <a:rPr lang="en-US" sz="650" spc="-4" dirty="0">
                <a:solidFill>
                  <a:srgbClr val="475569"/>
                </a:solidFill>
                <a:latin typeface="Segoe UI"/>
                <a:ea typeface="Segoe UI"/>
                <a:cs typeface="Segoe UI"/>
              </a:rPr>
              <a:t>: 학습을 거듭할수록 오차가 바닥으로 수직 하</a:t>
            </a:r>
            <a:br>
              <a:rPr lang="en-US" sz="650"/>
            </a:br>
            <a:r>
              <a:rPr lang="en-US" sz="650" spc="-4" dirty="0">
                <a:solidFill>
                  <a:srgbClr val="475569"/>
                </a:solidFill>
                <a:latin typeface="Segoe UI"/>
                <a:ea typeface="Segoe UI"/>
                <a:cs typeface="Segoe UI"/>
              </a:rPr>
              <a:t>강하며 안정 수렴</a:t>
            </a:r>
            <a:endParaRPr lang="en-US" sz="650" dirty="0"/>
          </a:p>
        </p:txBody>
      </p:sp>
      <p:sp>
        <p:nvSpPr>
          <p:cNvPr id="34" name="Rounded Rectangle"/>
          <p:cNvSpPr/>
          <p:nvPr/>
        </p:nvSpPr>
        <p:spPr>
          <a:xfrm>
            <a:off x="3349427" y="5162153"/>
            <a:ext cx="2730401" cy="504428"/>
          </a:xfrm>
          <a:prstGeom prst="roundRect">
            <a:avLst>
              <a:gd name="adj" fmla="val 9441"/>
            </a:avLst>
          </a:prstGeom>
          <a:solidFill>
            <a:srgbClr val="F8FAFC"/>
          </a:solidFill>
          <a:ln w="6350" cap="flat" cmpd="sng" algn="ctr">
            <a:solidFill>
              <a:srgbClr val="E2E8F0"/>
            </a:solidFill>
            <a:miter lim="800000"/>
          </a:ln>
        </p:spPr>
      </p:sp>
      <p:sp>
        <p:nvSpPr>
          <p:cNvPr id="35" name="Text: 📈 [오른쪽 차트] 검출 성능 (mAP50)"/>
          <p:cNvSpPr txBox="1"/>
          <p:nvPr/>
        </p:nvSpPr>
        <p:spPr>
          <a:xfrm>
            <a:off x="3428802" y="5205016"/>
            <a:ext cx="1549797"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059669"/>
                </a:solidFill>
                <a:latin typeface="Segoe UI"/>
                <a:ea typeface="Segoe UI"/>
                <a:cs typeface="Segoe UI"/>
              </a:rPr>
              <a:t>📈 [오른쪽 차트] 검출 성능 (mAP50)</a:t>
            </a:r>
            <a:endParaRPr lang="en-US" sz="725" dirty="0"/>
          </a:p>
        </p:txBody>
      </p:sp>
      <p:sp>
        <p:nvSpPr>
          <p:cNvPr id="36" name="Text: •  손 검출 99.2% / 관절 87.9% : 1.8만 장 검증셋에서 "/>
          <p:cNvSpPr txBox="1"/>
          <p:nvPr/>
        </p:nvSpPr>
        <p:spPr>
          <a:xfrm>
            <a:off x="3428802" y="5361583"/>
            <a:ext cx="2372916" cy="239316"/>
          </a:xfrm>
          <a:prstGeom prst="rect">
            <a:avLst/>
          </a:prstGeom>
          <a:noFill/>
        </p:spPr>
        <p:txBody>
          <a:bodyPr wrap="none" lIns="0" tIns="0" rIns="0" bIns="0" rtlCol="0" anchor="t">
            <a:noAutofit/>
          </a:bodyPr>
          <a:lstStyle/>
          <a:p>
            <a:pPr algn="l">
              <a:lnSpc>
                <a:spcPts val="942"/>
              </a:lnSpc>
              <a:spcBef>
                <a:spcPts val="0"/>
              </a:spcBef>
              <a:spcAft>
                <a:spcPts val="0"/>
              </a:spcAft>
              <a:buNone/>
            </a:pPr>
            <a:r>
              <a:rPr lang="en-US" sz="650" spc="-4" dirty="0">
                <a:solidFill>
                  <a:srgbClr val="475569"/>
                </a:solidFill>
                <a:latin typeface="Segoe UI"/>
                <a:ea typeface="Segoe UI"/>
                <a:cs typeface="Segoe UI"/>
              </a:rPr>
              <a:t>• </a:t>
            </a:r>
            <a:r>
              <a:rPr lang="en-US" sz="650" b="1" spc="-4" dirty="0">
                <a:solidFill>
                  <a:srgbClr val="475569"/>
                </a:solidFill>
                <a:latin typeface="Segoe UI"/>
                <a:ea typeface="Segoe UI"/>
                <a:cs typeface="Segoe UI"/>
              </a:rPr>
              <a:t>손 검출 99.2% / 관절 87.9%</a:t>
            </a:r>
            <a:r>
              <a:rPr lang="en-US" sz="650" spc="-4" dirty="0">
                <a:solidFill>
                  <a:srgbClr val="475569"/>
                </a:solidFill>
                <a:latin typeface="Segoe UI"/>
                <a:ea typeface="Segoe UI"/>
                <a:cs typeface="Segoe UI"/>
              </a:rPr>
              <a:t>: 1.8만 장 검증셋에서 높은 정확도</a:t>
            </a:r>
            <a:br>
              <a:rPr lang="en-US" sz="650"/>
            </a:br>
            <a:r>
              <a:rPr lang="en-US" sz="650" spc="-4" dirty="0">
                <a:solidFill>
                  <a:srgbClr val="475569"/>
                </a:solidFill>
                <a:latin typeface="Segoe UI"/>
                <a:ea typeface="Segoe UI"/>
                <a:cs typeface="Segoe UI"/>
              </a:rPr>
              <a:t>(99.2%)에 도달</a:t>
            </a:r>
            <a:endParaRPr lang="en-US" sz="650" dirty="0"/>
          </a:p>
        </p:txBody>
      </p:sp>
      <p:sp>
        <p:nvSpPr>
          <p:cNvPr id="37" name="Rounded Rectangle"/>
          <p:cNvSpPr/>
          <p:nvPr/>
        </p:nvSpPr>
        <p:spPr>
          <a:xfrm>
            <a:off x="546100" y="5902325"/>
            <a:ext cx="5536902" cy="279400"/>
          </a:xfrm>
          <a:prstGeom prst="roundRect">
            <a:avLst>
              <a:gd name="adj" fmla="val 18182"/>
            </a:avLst>
          </a:prstGeom>
          <a:solidFill>
            <a:srgbClr val="EFF6FF"/>
          </a:solidFill>
          <a:ln>
            <a:noFill/>
          </a:ln>
        </p:spPr>
      </p:sp>
      <p:sp>
        <p:nvSpPr>
          <p:cNvPr id="38" name="Border"/>
          <p:cNvSpPr/>
          <p:nvPr/>
        </p:nvSpPr>
        <p:spPr>
          <a:xfrm>
            <a:off x="546100" y="5902325"/>
            <a:ext cx="25400" cy="279400"/>
          </a:xfrm>
          <a:prstGeom prst="rect">
            <a:avLst/>
          </a:prstGeom>
          <a:solidFill>
            <a:srgbClr val="2563EB"/>
          </a:solidFill>
          <a:ln>
            <a:noFill/>
          </a:ln>
        </p:spPr>
      </p:sp>
      <p:sp>
        <p:nvSpPr>
          <p:cNvPr id="39" name="Text: 💡 핵심 반전: &quot;학습 지표는 99.2%로 높게 수렴했으나, 펴진 손 "/>
          <p:cNvSpPr txBox="1"/>
          <p:nvPr/>
        </p:nvSpPr>
        <p:spPr>
          <a:xfrm>
            <a:off x="660400" y="5953125"/>
            <a:ext cx="4635302"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750" b="1" spc="-4" dirty="0">
                <a:solidFill>
                  <a:srgbClr val="1E40AF"/>
                </a:solidFill>
                <a:latin typeface="Segoe UI"/>
                <a:ea typeface="Segoe UI"/>
                <a:cs typeface="Segoe UI"/>
              </a:rPr>
              <a:t>💡 핵심 반전: "학습 지표는 99.2%로 높게 수렴했으나, 펴진 손 데이터 편향으로 접힌 제스처에서 관절 붕괴"</a:t>
            </a:r>
            <a:endParaRPr lang="en-US" sz="750" dirty="0"/>
          </a:p>
        </p:txBody>
      </p:sp>
      <p:sp>
        <p:nvSpPr>
          <p:cNvPr id="40" name="Rounded Rectangle"/>
          <p:cNvSpPr/>
          <p:nvPr/>
        </p:nvSpPr>
        <p:spPr>
          <a:xfrm>
            <a:off x="6416377" y="1277541"/>
            <a:ext cx="5391348" cy="5053409"/>
          </a:xfrm>
          <a:prstGeom prst="roundRect">
            <a:avLst>
              <a:gd name="adj" fmla="val 2199"/>
            </a:avLst>
          </a:prstGeom>
          <a:solidFill>
            <a:srgbClr val="FFFFFF"/>
          </a:solidFill>
          <a:ln w="6350" cap="flat" cmpd="sng" algn="ctr">
            <a:solidFill>
              <a:srgbClr val="E2E8F0"/>
            </a:solidFill>
            <a:miter lim="800000"/>
          </a:ln>
          <a:effectLst>
            <a:outerShdw blurRad="101600" dist="50800" dir="5400000" sx="99529" sy="99497" algn="ctr" rotWithShape="0">
              <a:srgbClr val="000000">
                <a:alpha val="5000"/>
              </a:srgbClr>
            </a:outerShdw>
          </a:effectLst>
        </p:spPr>
      </p:sp>
      <p:sp>
        <p:nvSpPr>
          <p:cNvPr id="41" name="Rounded Rectangle"/>
          <p:cNvSpPr/>
          <p:nvPr/>
        </p:nvSpPr>
        <p:spPr>
          <a:xfrm>
            <a:off x="6613227" y="1450578"/>
            <a:ext cx="633611" cy="238125"/>
          </a:xfrm>
          <a:prstGeom prst="roundRect">
            <a:avLst>
              <a:gd name="adj" fmla="val 20000"/>
            </a:avLst>
          </a:prstGeom>
          <a:solidFill>
            <a:srgbClr val="EFF6FF"/>
          </a:solidFill>
          <a:ln w="6350" cap="flat" cmpd="sng" algn="ctr">
            <a:solidFill>
              <a:srgbClr val="BFDBFE"/>
            </a:solidFill>
            <a:miter lim="800000"/>
          </a:ln>
        </p:spPr>
      </p:sp>
      <p:sp>
        <p:nvSpPr>
          <p:cNvPr id="42" name="Text: 원인 분석"/>
          <p:cNvSpPr txBox="1"/>
          <p:nvPr/>
        </p:nvSpPr>
        <p:spPr>
          <a:xfrm>
            <a:off x="6718002" y="1488678"/>
            <a:ext cx="42406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원인 분석</a:t>
            </a:r>
            <a:endParaRPr lang="en-US" sz="750" dirty="0"/>
          </a:p>
        </p:txBody>
      </p:sp>
      <p:sp>
        <p:nvSpPr>
          <p:cNvPr id="43" name="Text: 수치(99.2%)와 실전의 괴리 심층 분석"/>
          <p:cNvSpPr txBox="1"/>
          <p:nvPr/>
        </p:nvSpPr>
        <p:spPr>
          <a:xfrm>
            <a:off x="7313513" y="1426766"/>
            <a:ext cx="2794794" cy="247650"/>
          </a:xfrm>
          <a:prstGeom prst="rect">
            <a:avLst/>
          </a:prstGeom>
          <a:noFill/>
        </p:spPr>
        <p:txBody>
          <a:bodyPr wrap="none" lIns="0" tIns="0" rIns="0" bIns="0" rtlCol="0" anchor="t">
            <a:noAutofit/>
          </a:bodyPr>
          <a:lstStyle/>
          <a:p>
            <a:pPr algn="l">
              <a:lnSpc>
                <a:spcPts val="1950"/>
              </a:lnSpc>
              <a:spcBef>
                <a:spcPts val="0"/>
              </a:spcBef>
              <a:spcAft>
                <a:spcPts val="0"/>
              </a:spcAft>
              <a:buNone/>
            </a:pPr>
            <a:r>
              <a:rPr lang="en-US" sz="1300" b="1" spc="-4" dirty="0">
                <a:solidFill>
                  <a:srgbClr val="0F172A"/>
                </a:solidFill>
                <a:latin typeface="Segoe UI"/>
                <a:ea typeface="Segoe UI"/>
                <a:cs typeface="Segoe UI"/>
              </a:rPr>
              <a:t>수치(99.2%)와 실전의 괴리 심층 분석</a:t>
            </a:r>
            <a:endParaRPr lang="en-US" sz="1300" dirty="0"/>
          </a:p>
        </p:txBody>
      </p:sp>
      <p:sp>
        <p:nvSpPr>
          <p:cNvPr id="44" name="Rounded Rectangle"/>
          <p:cNvSpPr/>
          <p:nvPr/>
        </p:nvSpPr>
        <p:spPr>
          <a:xfrm>
            <a:off x="6610052" y="1807766"/>
            <a:ext cx="5003998" cy="859036"/>
          </a:xfrm>
          <a:prstGeom prst="roundRect">
            <a:avLst>
              <a:gd name="adj" fmla="val 8870"/>
            </a:avLst>
          </a:prstGeom>
          <a:solidFill>
            <a:srgbClr val="F8FAFC"/>
          </a:solidFill>
          <a:ln>
            <a:noFill/>
          </a:ln>
        </p:spPr>
      </p:sp>
      <p:sp>
        <p:nvSpPr>
          <p:cNvPr id="45" name="Border"/>
          <p:cNvSpPr/>
          <p:nvPr/>
        </p:nvSpPr>
        <p:spPr>
          <a:xfrm>
            <a:off x="6610052" y="1807766"/>
            <a:ext cx="5003998" cy="6350"/>
          </a:xfrm>
          <a:prstGeom prst="rect">
            <a:avLst/>
          </a:prstGeom>
          <a:solidFill>
            <a:srgbClr val="E2E8F0"/>
          </a:solidFill>
          <a:ln>
            <a:noFill/>
          </a:ln>
        </p:spPr>
      </p:sp>
      <p:sp>
        <p:nvSpPr>
          <p:cNvPr id="46" name="Border"/>
          <p:cNvSpPr/>
          <p:nvPr/>
        </p:nvSpPr>
        <p:spPr>
          <a:xfrm>
            <a:off x="11607701" y="1807766"/>
            <a:ext cx="6350" cy="859036"/>
          </a:xfrm>
          <a:prstGeom prst="rect">
            <a:avLst/>
          </a:prstGeom>
          <a:solidFill>
            <a:srgbClr val="E2E8F0"/>
          </a:solidFill>
          <a:ln>
            <a:noFill/>
          </a:ln>
        </p:spPr>
      </p:sp>
      <p:sp>
        <p:nvSpPr>
          <p:cNvPr id="47" name="Border"/>
          <p:cNvSpPr/>
          <p:nvPr/>
        </p:nvSpPr>
        <p:spPr>
          <a:xfrm>
            <a:off x="6610052" y="2660452"/>
            <a:ext cx="5003998" cy="6350"/>
          </a:xfrm>
          <a:prstGeom prst="rect">
            <a:avLst/>
          </a:prstGeom>
          <a:solidFill>
            <a:srgbClr val="E2E8F0"/>
          </a:solidFill>
          <a:ln>
            <a:noFill/>
          </a:ln>
        </p:spPr>
      </p:sp>
      <p:sp>
        <p:nvSpPr>
          <p:cNvPr id="48" name="Border"/>
          <p:cNvSpPr/>
          <p:nvPr/>
        </p:nvSpPr>
        <p:spPr>
          <a:xfrm>
            <a:off x="6610052" y="1807766"/>
            <a:ext cx="38100" cy="859036"/>
          </a:xfrm>
          <a:prstGeom prst="rect">
            <a:avLst/>
          </a:prstGeom>
          <a:solidFill>
            <a:srgbClr val="2563EB"/>
          </a:solidFill>
          <a:ln>
            <a:noFill/>
          </a:ln>
        </p:spPr>
      </p:sp>
      <p:sp>
        <p:nvSpPr>
          <p:cNvPr id="49" name="Text: 1. 자가 가림(Self-Occlusion)에 의한 2D 좌표 붕괴"/>
          <p:cNvSpPr txBox="1"/>
          <p:nvPr/>
        </p:nvSpPr>
        <p:spPr>
          <a:xfrm>
            <a:off x="6775152" y="1899841"/>
            <a:ext cx="3011190" cy="200025"/>
          </a:xfrm>
          <a:prstGeom prst="rect">
            <a:avLst/>
          </a:prstGeom>
          <a:noFill/>
        </p:spPr>
        <p:txBody>
          <a:bodyPr wrap="none" lIns="0" tIns="0" rIns="0" bIns="0" rtlCol="0" anchor="t">
            <a:noAutofit/>
          </a:bodyPr>
          <a:lstStyle/>
          <a:p>
            <a:pPr algn="l">
              <a:lnSpc>
                <a:spcPts val="1575"/>
              </a:lnSpc>
              <a:spcBef>
                <a:spcPts val="0"/>
              </a:spcBef>
              <a:spcAft>
                <a:spcPts val="0"/>
              </a:spcAft>
              <a:buNone/>
            </a:pPr>
            <a:r>
              <a:rPr lang="en-US" sz="1050" b="1" spc="-4" dirty="0">
                <a:solidFill>
                  <a:srgbClr val="0F172A"/>
                </a:solidFill>
                <a:latin typeface="Segoe UI"/>
                <a:ea typeface="Segoe UI"/>
                <a:cs typeface="Segoe UI"/>
              </a:rPr>
              <a:t>1. 자가 가림(Self-Occlusion)에 의한 2D 좌표 붕괴</a:t>
            </a:r>
            <a:endParaRPr lang="en-US" sz="1050" dirty="0"/>
          </a:p>
        </p:txBody>
      </p:sp>
      <p:sp>
        <p:nvSpPr>
          <p:cNvPr id="50" name="Text: •  자가 가림(Occlusion):  손가락을 접으면 앞마디가 뒷마디를"/>
          <p:cNvSpPr txBox="1"/>
          <p:nvPr/>
        </p:nvSpPr>
        <p:spPr>
          <a:xfrm>
            <a:off x="6775152" y="2148126"/>
            <a:ext cx="4147741"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자가 가림(Occlusion):</a:t>
            </a:r>
            <a:r>
              <a:rPr lang="en-US" sz="900" spc="-4" dirty="0">
                <a:solidFill>
                  <a:srgbClr val="334155"/>
                </a:solidFill>
                <a:latin typeface="Segoe UI"/>
                <a:ea typeface="Segoe UI"/>
                <a:cs typeface="Segoe UI"/>
              </a:rPr>
              <a:t> 손가락을 접으면 앞마디가 뒷마디를 가려 관절 위치 은폐</a:t>
            </a:r>
            <a:endParaRPr lang="en-US" sz="900" dirty="0"/>
          </a:p>
        </p:txBody>
      </p:sp>
      <p:sp>
        <p:nvSpPr>
          <p:cNvPr id="51" name="Text: •  깊이(z축) 부재:  2D 평면 신경망은 입체 깊이를 알 수 없어 "/>
          <p:cNvSpPr txBox="1"/>
          <p:nvPr/>
        </p:nvSpPr>
        <p:spPr>
          <a:xfrm>
            <a:off x="6775152" y="2363331"/>
            <a:ext cx="4439245"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깊이(z축) 부재:</a:t>
            </a:r>
            <a:r>
              <a:rPr lang="en-US" sz="900" spc="-4" dirty="0">
                <a:solidFill>
                  <a:srgbClr val="334155"/>
                </a:solidFill>
                <a:latin typeface="Segoe UI"/>
                <a:ea typeface="Segoe UI"/>
                <a:cs typeface="Segoe UI"/>
              </a:rPr>
              <a:t> 2D 평면 신경망은 입체 깊이를 알 수 없어 좌표가 손바닥 중심에 뭉침</a:t>
            </a:r>
            <a:endParaRPr lang="en-US" sz="900" dirty="0"/>
          </a:p>
        </p:txBody>
      </p:sp>
      <p:sp>
        <p:nvSpPr>
          <p:cNvPr id="52" name="Rounded Rectangle"/>
          <p:cNvSpPr/>
          <p:nvPr/>
        </p:nvSpPr>
        <p:spPr>
          <a:xfrm>
            <a:off x="6610052" y="2768402"/>
            <a:ext cx="5003998" cy="859036"/>
          </a:xfrm>
          <a:prstGeom prst="roundRect">
            <a:avLst>
              <a:gd name="adj" fmla="val 8870"/>
            </a:avLst>
          </a:prstGeom>
          <a:solidFill>
            <a:srgbClr val="F8FAFC"/>
          </a:solidFill>
          <a:ln>
            <a:noFill/>
          </a:ln>
        </p:spPr>
      </p:sp>
      <p:sp>
        <p:nvSpPr>
          <p:cNvPr id="53" name="Border"/>
          <p:cNvSpPr/>
          <p:nvPr/>
        </p:nvSpPr>
        <p:spPr>
          <a:xfrm>
            <a:off x="6610052" y="2768402"/>
            <a:ext cx="5003998" cy="6350"/>
          </a:xfrm>
          <a:prstGeom prst="rect">
            <a:avLst/>
          </a:prstGeom>
          <a:solidFill>
            <a:srgbClr val="E2E8F0"/>
          </a:solidFill>
          <a:ln>
            <a:noFill/>
          </a:ln>
        </p:spPr>
      </p:sp>
      <p:sp>
        <p:nvSpPr>
          <p:cNvPr id="54" name="Border"/>
          <p:cNvSpPr/>
          <p:nvPr/>
        </p:nvSpPr>
        <p:spPr>
          <a:xfrm>
            <a:off x="11607701" y="2768402"/>
            <a:ext cx="6350" cy="859036"/>
          </a:xfrm>
          <a:prstGeom prst="rect">
            <a:avLst/>
          </a:prstGeom>
          <a:solidFill>
            <a:srgbClr val="E2E8F0"/>
          </a:solidFill>
          <a:ln>
            <a:noFill/>
          </a:ln>
        </p:spPr>
      </p:sp>
      <p:sp>
        <p:nvSpPr>
          <p:cNvPr id="55" name="Border"/>
          <p:cNvSpPr/>
          <p:nvPr/>
        </p:nvSpPr>
        <p:spPr>
          <a:xfrm>
            <a:off x="6610052" y="3621088"/>
            <a:ext cx="5003998" cy="6350"/>
          </a:xfrm>
          <a:prstGeom prst="rect">
            <a:avLst/>
          </a:prstGeom>
          <a:solidFill>
            <a:srgbClr val="E2E8F0"/>
          </a:solidFill>
          <a:ln>
            <a:noFill/>
          </a:ln>
        </p:spPr>
      </p:sp>
      <p:sp>
        <p:nvSpPr>
          <p:cNvPr id="56" name="Border"/>
          <p:cNvSpPr/>
          <p:nvPr/>
        </p:nvSpPr>
        <p:spPr>
          <a:xfrm>
            <a:off x="6610052" y="2768402"/>
            <a:ext cx="38100" cy="859036"/>
          </a:xfrm>
          <a:prstGeom prst="rect">
            <a:avLst/>
          </a:prstGeom>
          <a:solidFill>
            <a:srgbClr val="0284C7"/>
          </a:solidFill>
          <a:ln>
            <a:noFill/>
          </a:ln>
        </p:spPr>
      </p:sp>
      <p:sp>
        <p:nvSpPr>
          <p:cNvPr id="57" name="Text: 2. 펴진 손 위주의 학습 데이터 편향 (Open-Palm Bias)"/>
          <p:cNvSpPr txBox="1"/>
          <p:nvPr/>
        </p:nvSpPr>
        <p:spPr>
          <a:xfrm>
            <a:off x="6775152" y="2860477"/>
            <a:ext cx="3259634" cy="200025"/>
          </a:xfrm>
          <a:prstGeom prst="rect">
            <a:avLst/>
          </a:prstGeom>
          <a:noFill/>
        </p:spPr>
        <p:txBody>
          <a:bodyPr wrap="none" lIns="0" tIns="0" rIns="0" bIns="0" rtlCol="0" anchor="t">
            <a:noAutofit/>
          </a:bodyPr>
          <a:lstStyle/>
          <a:p>
            <a:pPr algn="l">
              <a:lnSpc>
                <a:spcPts val="1575"/>
              </a:lnSpc>
              <a:spcBef>
                <a:spcPts val="0"/>
              </a:spcBef>
              <a:spcAft>
                <a:spcPts val="0"/>
              </a:spcAft>
              <a:buNone/>
            </a:pPr>
            <a:r>
              <a:rPr lang="en-US" sz="1050" b="1" spc="-4" dirty="0">
                <a:solidFill>
                  <a:srgbClr val="0F172A"/>
                </a:solidFill>
                <a:latin typeface="Segoe UI"/>
                <a:ea typeface="Segoe UI"/>
                <a:cs typeface="Segoe UI"/>
              </a:rPr>
              <a:t>2. 펴진 손 위주의 학습 데이터 편향 (Open-Palm Bias)</a:t>
            </a:r>
            <a:endParaRPr lang="en-US" sz="1050" dirty="0"/>
          </a:p>
        </p:txBody>
      </p:sp>
      <p:sp>
        <p:nvSpPr>
          <p:cNvPr id="58" name="Text: •  정면 펴진 손 편향:  18,776장 대다수가 활짝 편 손 위주로 "/>
          <p:cNvSpPr txBox="1"/>
          <p:nvPr/>
        </p:nvSpPr>
        <p:spPr>
          <a:xfrm>
            <a:off x="6775152" y="3108762"/>
            <a:ext cx="4536182"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정면 펴진 손 편향:</a:t>
            </a:r>
            <a:r>
              <a:rPr lang="en-US" sz="900" spc="-4" dirty="0">
                <a:solidFill>
                  <a:srgbClr val="334155"/>
                </a:solidFill>
                <a:latin typeface="Segoe UI"/>
                <a:ea typeface="Segoe UI"/>
                <a:cs typeface="Segoe UI"/>
              </a:rPr>
              <a:t> 18,776장 대다수가 활짝 편 손 위주로 구성되어 접힌 손 포즈 미학습</a:t>
            </a:r>
            <a:endParaRPr lang="en-US" sz="900" dirty="0"/>
          </a:p>
        </p:txBody>
      </p:sp>
      <p:sp>
        <p:nvSpPr>
          <p:cNvPr id="59" name="Text: •  비정형 포즈 취약:  펴진 손은 정밀 추적하나 V자·주먹 등 접힌 "/>
          <p:cNvSpPr txBox="1"/>
          <p:nvPr/>
        </p:nvSpPr>
        <p:spPr>
          <a:xfrm>
            <a:off x="6775152" y="3323967"/>
            <a:ext cx="4216598"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비정형 포즈 취약:</a:t>
            </a:r>
            <a:r>
              <a:rPr lang="en-US" sz="900" spc="-4" dirty="0">
                <a:solidFill>
                  <a:srgbClr val="334155"/>
                </a:solidFill>
                <a:latin typeface="Segoe UI"/>
                <a:ea typeface="Segoe UI"/>
                <a:cs typeface="Segoe UI"/>
              </a:rPr>
              <a:t> 펴진 손은 정밀 추적하나 V자·주먹 등 접힌 손에서 인식률 급락</a:t>
            </a:r>
            <a:endParaRPr lang="en-US" sz="900" dirty="0"/>
          </a:p>
        </p:txBody>
      </p:sp>
      <p:sp>
        <p:nvSpPr>
          <p:cNvPr id="60" name="Rounded Rectangle"/>
          <p:cNvSpPr/>
          <p:nvPr/>
        </p:nvSpPr>
        <p:spPr>
          <a:xfrm>
            <a:off x="6610052" y="3729038"/>
            <a:ext cx="5003998" cy="865386"/>
          </a:xfrm>
          <a:prstGeom prst="roundRect">
            <a:avLst>
              <a:gd name="adj" fmla="val 8805"/>
            </a:avLst>
          </a:prstGeom>
          <a:solidFill>
            <a:srgbClr val="F8FAFC"/>
          </a:solidFill>
          <a:ln>
            <a:noFill/>
          </a:ln>
        </p:spPr>
      </p:sp>
      <p:sp>
        <p:nvSpPr>
          <p:cNvPr id="61" name="Border"/>
          <p:cNvSpPr/>
          <p:nvPr/>
        </p:nvSpPr>
        <p:spPr>
          <a:xfrm>
            <a:off x="6610052" y="3729038"/>
            <a:ext cx="5003998" cy="6350"/>
          </a:xfrm>
          <a:prstGeom prst="rect">
            <a:avLst/>
          </a:prstGeom>
          <a:solidFill>
            <a:srgbClr val="E2E8F0"/>
          </a:solidFill>
          <a:ln>
            <a:noFill/>
          </a:ln>
        </p:spPr>
      </p:sp>
      <p:sp>
        <p:nvSpPr>
          <p:cNvPr id="62" name="Border"/>
          <p:cNvSpPr/>
          <p:nvPr/>
        </p:nvSpPr>
        <p:spPr>
          <a:xfrm>
            <a:off x="11607701" y="3729038"/>
            <a:ext cx="6350" cy="865386"/>
          </a:xfrm>
          <a:prstGeom prst="rect">
            <a:avLst/>
          </a:prstGeom>
          <a:solidFill>
            <a:srgbClr val="E2E8F0"/>
          </a:solidFill>
          <a:ln>
            <a:noFill/>
          </a:ln>
        </p:spPr>
      </p:sp>
      <p:sp>
        <p:nvSpPr>
          <p:cNvPr id="63" name="Border"/>
          <p:cNvSpPr/>
          <p:nvPr/>
        </p:nvSpPr>
        <p:spPr>
          <a:xfrm>
            <a:off x="6610052" y="4588073"/>
            <a:ext cx="5003998" cy="6350"/>
          </a:xfrm>
          <a:prstGeom prst="rect">
            <a:avLst/>
          </a:prstGeom>
          <a:solidFill>
            <a:srgbClr val="E2E8F0"/>
          </a:solidFill>
          <a:ln>
            <a:noFill/>
          </a:ln>
        </p:spPr>
      </p:sp>
      <p:sp>
        <p:nvSpPr>
          <p:cNvPr id="64" name="Border"/>
          <p:cNvSpPr/>
          <p:nvPr/>
        </p:nvSpPr>
        <p:spPr>
          <a:xfrm>
            <a:off x="6610052" y="3729038"/>
            <a:ext cx="38100" cy="865386"/>
          </a:xfrm>
          <a:prstGeom prst="rect">
            <a:avLst/>
          </a:prstGeom>
          <a:solidFill>
            <a:srgbClr val="D97706"/>
          </a:solidFill>
          <a:ln>
            <a:noFill/>
          </a:ln>
        </p:spPr>
      </p:sp>
      <p:sp>
        <p:nvSpPr>
          <p:cNvPr id="65" name="Text: 3. 손바닥 미분리(1-Stage) 단일 회귀의 한계"/>
          <p:cNvSpPr txBox="1"/>
          <p:nvPr/>
        </p:nvSpPr>
        <p:spPr>
          <a:xfrm>
            <a:off x="6775152" y="3821113"/>
            <a:ext cx="2645569" cy="200025"/>
          </a:xfrm>
          <a:prstGeom prst="rect">
            <a:avLst/>
          </a:prstGeom>
          <a:noFill/>
        </p:spPr>
        <p:txBody>
          <a:bodyPr wrap="none" lIns="0" tIns="0" rIns="0" bIns="0" rtlCol="0" anchor="t">
            <a:noAutofit/>
          </a:bodyPr>
          <a:lstStyle/>
          <a:p>
            <a:pPr algn="l">
              <a:lnSpc>
                <a:spcPts val="1575"/>
              </a:lnSpc>
              <a:spcBef>
                <a:spcPts val="0"/>
              </a:spcBef>
              <a:spcAft>
                <a:spcPts val="0"/>
              </a:spcAft>
              <a:buNone/>
            </a:pPr>
            <a:r>
              <a:rPr lang="en-US" sz="1050" b="1" spc="-4" dirty="0">
                <a:solidFill>
                  <a:srgbClr val="0F172A"/>
                </a:solidFill>
                <a:latin typeface="Segoe UI"/>
                <a:ea typeface="Segoe UI"/>
                <a:cs typeface="Segoe UI"/>
              </a:rPr>
              <a:t>3. 손바닥 미분리(1-Stage) 단일 회귀의 한계</a:t>
            </a:r>
            <a:endParaRPr lang="en-US" sz="1050" dirty="0"/>
          </a:p>
        </p:txBody>
      </p:sp>
      <p:sp>
        <p:nvSpPr>
          <p:cNvPr id="66" name="Text: •  손바닥 미분리(1-Stage):  손 영역 크롭 없이 전체 화면에서"/>
          <p:cNvSpPr txBox="1"/>
          <p:nvPr/>
        </p:nvSpPr>
        <p:spPr>
          <a:xfrm>
            <a:off x="6775152" y="4069398"/>
            <a:ext cx="4345484"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손바닥 미분리(1-Stage):</a:t>
            </a:r>
            <a:r>
              <a:rPr lang="en-US" sz="900" spc="-4" dirty="0">
                <a:solidFill>
                  <a:srgbClr val="334155"/>
                </a:solidFill>
                <a:latin typeface="Segoe UI"/>
                <a:ea typeface="Segoe UI"/>
                <a:cs typeface="Segoe UI"/>
              </a:rPr>
              <a:t> 손 영역 크롭 없이 전체 화면에서 예측하여 경계 혼선 발생</a:t>
            </a:r>
            <a:endParaRPr lang="en-US" sz="900" dirty="0"/>
          </a:p>
        </p:txBody>
      </p:sp>
      <p:sp>
        <p:nvSpPr>
          <p:cNvPr id="67" name="Text: •  회전 증강 부재:   degrees: 0.0  설정으로 손이 기울어"/>
          <p:cNvSpPr txBox="1"/>
          <p:nvPr/>
        </p:nvSpPr>
        <p:spPr>
          <a:xfrm>
            <a:off x="6775152" y="4284603"/>
            <a:ext cx="3888383" cy="177165"/>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회전 증강 부재:</a:t>
            </a:r>
            <a:r>
              <a:rPr lang="en-US" sz="900" spc="-4" dirty="0">
                <a:solidFill>
                  <a:srgbClr val="334155"/>
                </a:solidFill>
                <a:latin typeface="Segoe UI"/>
                <a:ea typeface="Segoe UI"/>
                <a:cs typeface="Segoe UI"/>
              </a:rPr>
              <a:t> </a:t>
            </a:r>
            <a:r>
              <a:rPr lang="en-US" sz="900" b="1" spc="-4" dirty="0">
                <a:solidFill>
                  <a:srgbClr val="2563EB"/>
                </a:solidFill>
                <a:latin typeface="Consolas"/>
                <a:ea typeface="Consolas"/>
                <a:cs typeface="Consolas"/>
              </a:rPr>
              <a:t>degrees: 0.0</a:t>
            </a:r>
            <a:r>
              <a:rPr lang="en-US" sz="900" spc="-4" dirty="0">
                <a:solidFill>
                  <a:srgbClr val="334155"/>
                </a:solidFill>
                <a:latin typeface="Segoe UI"/>
                <a:ea typeface="Segoe UI"/>
                <a:cs typeface="Segoe UI"/>
              </a:rPr>
              <a:t> 설정으로 손이 기울어질 때 키포인트 엉킴</a:t>
            </a:r>
            <a:endParaRPr lang="en-US" sz="900" dirty="0"/>
          </a:p>
        </p:txBody>
      </p:sp>
      <p:sp>
        <p:nvSpPr>
          <p:cNvPr id="68" name="Rounded Rectangle"/>
          <p:cNvSpPr/>
          <p:nvPr/>
        </p:nvSpPr>
        <p:spPr>
          <a:xfrm>
            <a:off x="6616402" y="5529064"/>
            <a:ext cx="4991298" cy="627261"/>
          </a:xfrm>
          <a:prstGeom prst="roundRect">
            <a:avLst>
              <a:gd name="adj" fmla="val 13160"/>
            </a:avLst>
          </a:prstGeom>
          <a:solidFill>
            <a:srgbClr val="F8FAFC"/>
          </a:solidFill>
          <a:ln w="12700" cap="flat" cmpd="sng" algn="ctr">
            <a:solidFill>
              <a:srgbClr val="CBD5E1"/>
            </a:solidFill>
            <a:miter lim="800000"/>
          </a:ln>
          <a:effectLst>
            <a:outerShdw blurRad="76200" dist="25400" dir="5400000" sx="100000" sy="100000" algn="ctr" rotWithShape="0">
              <a:srgbClr val="000000">
                <a:alpha val="3000"/>
              </a:srgbClr>
            </a:outerShdw>
          </a:effectLst>
        </p:spPr>
      </p:sp>
      <p:sp>
        <p:nvSpPr>
          <p:cNvPr id="69" name="Text: 💡  핵심 고찰:  &quot;1.8만 장 학습으로 펴진 손은 안정화했으나, 2"/>
          <p:cNvSpPr txBox="1"/>
          <p:nvPr/>
        </p:nvSpPr>
        <p:spPr>
          <a:xfrm>
            <a:off x="6775152" y="5634534"/>
            <a:ext cx="4608116" cy="385961"/>
          </a:xfrm>
          <a:prstGeom prst="rect">
            <a:avLst/>
          </a:prstGeom>
          <a:noFill/>
        </p:spPr>
        <p:txBody>
          <a:bodyPr wrap="none" lIns="0" tIns="0" rIns="0" bIns="0" rtlCol="0" anchor="t">
            <a:noAutofit/>
          </a:bodyPr>
          <a:lstStyle/>
          <a:p>
            <a:pPr algn="l">
              <a:lnSpc>
                <a:spcPts val="1520"/>
              </a:lnSpc>
              <a:spcBef>
                <a:spcPts val="0"/>
              </a:spcBef>
              <a:spcAft>
                <a:spcPts val="0"/>
              </a:spcAft>
              <a:buNone/>
            </a:pPr>
            <a:r>
              <a:rPr lang="en-US" sz="950" spc="-4" dirty="0">
                <a:solidFill>
                  <a:srgbClr val="1E293B"/>
                </a:solidFill>
                <a:latin typeface="Segoe UI"/>
                <a:ea typeface="Segoe UI"/>
                <a:cs typeface="Segoe UI"/>
              </a:rPr>
              <a:t>💡 </a:t>
            </a:r>
            <a:r>
              <a:rPr lang="en-US" sz="950" b="1" spc="-4" dirty="0">
                <a:solidFill>
                  <a:srgbClr val="1E293B"/>
                </a:solidFill>
                <a:latin typeface="Segoe UI"/>
                <a:ea typeface="Segoe UI"/>
                <a:cs typeface="Segoe UI"/>
              </a:rPr>
              <a:t>핵심 고찰:</a:t>
            </a:r>
            <a:r>
              <a:rPr lang="en-US" sz="950" spc="-4" dirty="0">
                <a:solidFill>
                  <a:srgbClr val="1E293B"/>
                </a:solidFill>
                <a:latin typeface="Segoe UI"/>
                <a:ea typeface="Segoe UI"/>
                <a:cs typeface="Segoe UI"/>
              </a:rPr>
              <a:t> "1.8만 장 학습으로 펴진 손은 안정화했으나, 2D 모델의 자가 가림 한계</a:t>
            </a:r>
            <a:br>
              <a:rPr lang="en-US" sz="950"/>
            </a:br>
            <a:r>
              <a:rPr lang="en-US" sz="950" spc="-4" dirty="0">
                <a:solidFill>
                  <a:srgbClr val="1E293B"/>
                </a:solidFill>
                <a:latin typeface="Segoe UI"/>
                <a:ea typeface="Segoe UI"/>
                <a:cs typeface="Segoe UI"/>
              </a:rPr>
              <a:t>로 인해 3D 좌표 추정이 가능한 </a:t>
            </a:r>
            <a:r>
              <a:rPr lang="en-US" sz="950" b="1" spc="-4" dirty="0">
                <a:solidFill>
                  <a:srgbClr val="1E293B"/>
                </a:solidFill>
                <a:latin typeface="Segoe UI"/>
                <a:ea typeface="Segoe UI"/>
                <a:cs typeface="Segoe UI"/>
              </a:rPr>
              <a:t>MediaPipe</a:t>
            </a:r>
            <a:r>
              <a:rPr lang="en-US" sz="950" spc="-4" dirty="0">
                <a:solidFill>
                  <a:srgbClr val="1E293B"/>
                </a:solidFill>
                <a:latin typeface="Segoe UI"/>
                <a:ea typeface="Segoe UI"/>
                <a:cs typeface="Segoe UI"/>
              </a:rPr>
              <a:t> 도입이 필수적임을 규명함"</a:t>
            </a:r>
            <a:endParaRPr lang="en-US" sz="950" dirty="0"/>
          </a:p>
        </p:txBody>
      </p:sp>
      <p:sp>
        <p:nvSpPr>
          <p:cNvPr id="70" name="Border"/>
          <p:cNvSpPr/>
          <p:nvPr/>
        </p:nvSpPr>
        <p:spPr>
          <a:xfrm>
            <a:off x="381000" y="6334125"/>
            <a:ext cx="11430000" cy="6350"/>
          </a:xfrm>
          <a:prstGeom prst="rect">
            <a:avLst/>
          </a:prstGeom>
          <a:solidFill>
            <a:srgbClr val="E2E8F0"/>
          </a:solidFill>
          <a:ln>
            <a:noFill/>
          </a:ln>
        </p:spPr>
      </p:sp>
      <p:sp>
        <p:nvSpPr>
          <p:cNvPr id="71"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72" name="Rounded Rectangle"/>
          <p:cNvSpPr/>
          <p:nvPr/>
        </p:nvSpPr>
        <p:spPr>
          <a:xfrm>
            <a:off x="11237714" y="6429375"/>
            <a:ext cx="573286" cy="225425"/>
          </a:xfrm>
          <a:prstGeom prst="roundRect">
            <a:avLst>
              <a:gd name="adj" fmla="val 22535"/>
            </a:avLst>
          </a:prstGeom>
          <a:solidFill>
            <a:srgbClr val="F1F5F9"/>
          </a:solidFill>
          <a:ln>
            <a:noFill/>
          </a:ln>
        </p:spPr>
      </p:sp>
      <p:sp>
        <p:nvSpPr>
          <p:cNvPr id="73" name="Text: 08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08 / 14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960166" cy="238125"/>
          </a:xfrm>
          <a:prstGeom prst="roundRect">
            <a:avLst>
              <a:gd name="adj" fmla="val 20000"/>
            </a:avLst>
          </a:prstGeom>
          <a:solidFill>
            <a:srgbClr val="EFF6FF"/>
          </a:solidFill>
          <a:ln w="6350" cap="flat" cmpd="sng" algn="ctr">
            <a:solidFill>
              <a:srgbClr val="BFDBFE"/>
            </a:solidFill>
            <a:miter lim="800000"/>
          </a:ln>
        </p:spPr>
      </p:sp>
      <p:sp>
        <p:nvSpPr>
          <p:cNvPr id="3" name="Text: PART 04 • 모델별 실전 추론 결과 (3/3)"/>
          <p:cNvSpPr txBox="1"/>
          <p:nvPr/>
        </p:nvSpPr>
        <p:spPr>
          <a:xfrm>
            <a:off x="488950" y="282575"/>
            <a:ext cx="1750616"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04 • 모델별 실전 추론 결과 (3/3)</a:t>
            </a:r>
            <a:endParaRPr lang="en-US" sz="750" dirty="0"/>
          </a:p>
        </p:txBody>
      </p:sp>
      <p:sp>
        <p:nvSpPr>
          <p:cNvPr id="4" name="Text: AuraSynth Engine Architecture"/>
          <p:cNvSpPr txBox="1"/>
          <p:nvPr/>
        </p:nvSpPr>
        <p:spPr>
          <a:xfrm>
            <a:off x="2436416"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Model 3] Google MediaPipe 상용 엔진 검증"/>
          <p:cNvSpPr txBox="1"/>
          <p:nvPr/>
        </p:nvSpPr>
        <p:spPr>
          <a:xfrm>
            <a:off x="381000" y="555625"/>
            <a:ext cx="6294041"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[Model 3] Google MediaPipe 상용 엔진 검증</a:t>
            </a:r>
            <a:endParaRPr lang="en-US" sz="2500" dirty="0"/>
          </a:p>
        </p:txBody>
      </p:sp>
      <p:sp>
        <p:nvSpPr>
          <p:cNvPr id="6" name="Text: 손바닥 1차 검출과 3D 합성 데이터로 복합 포즈부터 주먹까지 무지연 실"/>
          <p:cNvSpPr txBox="1"/>
          <p:nvPr/>
        </p:nvSpPr>
        <p:spPr>
          <a:xfrm>
            <a:off x="381000" y="948055"/>
            <a:ext cx="5677098"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손바닥 1차 검출과 3D 합성 데이터로 복합 포즈부터 주먹까지 무지연 실시간 연주 보장</a:t>
            </a:r>
            <a:endParaRPr lang="en-US" sz="1150" dirty="0"/>
          </a:p>
        </p:txBody>
      </p:sp>
      <p:sp>
        <p:nvSpPr>
          <p:cNvPr id="7" name="Rounded Rectangle"/>
          <p:cNvSpPr/>
          <p:nvPr/>
        </p:nvSpPr>
        <p:spPr>
          <a:xfrm>
            <a:off x="384175" y="1277541"/>
            <a:ext cx="5860752" cy="5053409"/>
          </a:xfrm>
          <a:prstGeom prst="roundRect">
            <a:avLst>
              <a:gd name="adj" fmla="val 2199"/>
            </a:avLst>
          </a:prstGeom>
          <a:solidFill>
            <a:srgbClr val="FFFFFF"/>
          </a:solidFill>
          <a:ln w="6350" cap="flat" cmpd="sng" algn="ctr">
            <a:solidFill>
              <a:srgbClr val="E2E8F0"/>
            </a:solidFill>
            <a:miter lim="800000"/>
          </a:ln>
          <a:effectLst>
            <a:outerShdw blurRad="101600" dist="50800" dir="5400000" sx="99567" sy="99497" algn="ctr" rotWithShape="0">
              <a:srgbClr val="000000">
                <a:alpha val="5000"/>
              </a:srgbClr>
            </a:outerShdw>
          </a:effectLst>
        </p:spPr>
      </p:sp>
      <p:sp>
        <p:nvSpPr>
          <p:cNvPr id="8" name="Rounded Rectangle"/>
          <p:cNvSpPr/>
          <p:nvPr/>
        </p:nvSpPr>
        <p:spPr>
          <a:xfrm>
            <a:off x="542925" y="1423591"/>
            <a:ext cx="960438" cy="238125"/>
          </a:xfrm>
          <a:prstGeom prst="roundRect">
            <a:avLst>
              <a:gd name="adj" fmla="val 20000"/>
            </a:avLst>
          </a:prstGeom>
          <a:solidFill>
            <a:srgbClr val="DCFCE7"/>
          </a:solidFill>
          <a:ln w="6350" cap="flat" cmpd="sng" algn="ctr">
            <a:solidFill>
              <a:srgbClr val="86EFAC"/>
            </a:solidFill>
            <a:miter lim="800000"/>
          </a:ln>
        </p:spPr>
      </p:sp>
      <p:sp>
        <p:nvSpPr>
          <p:cNvPr id="9" name="Text: 실전 추론 테스트"/>
          <p:cNvSpPr txBox="1"/>
          <p:nvPr/>
        </p:nvSpPr>
        <p:spPr>
          <a:xfrm>
            <a:off x="647700" y="1461691"/>
            <a:ext cx="75088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15803D"/>
                </a:solidFill>
                <a:latin typeface="Segoe UI"/>
                <a:ea typeface="Segoe UI"/>
                <a:cs typeface="Segoe UI"/>
              </a:rPr>
              <a:t>실전 추론 테스트</a:t>
            </a:r>
            <a:endParaRPr lang="en-US" sz="750" dirty="0"/>
          </a:p>
        </p:txBody>
      </p:sp>
      <p:sp>
        <p:nvSpPr>
          <p:cNvPr id="10" name="Text: 실제 웹캠 추론 화면 2종"/>
          <p:cNvSpPr txBox="1"/>
          <p:nvPr/>
        </p:nvSpPr>
        <p:spPr>
          <a:xfrm>
            <a:off x="1557338" y="1444228"/>
            <a:ext cx="1248668"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0F172A"/>
                </a:solidFill>
                <a:latin typeface="Segoe UI"/>
                <a:ea typeface="Segoe UI"/>
                <a:cs typeface="Segoe UI"/>
              </a:rPr>
              <a:t>실제 웹캠 추론 화면 2종</a:t>
            </a:r>
            <a:endParaRPr lang="en-US" sz="900" dirty="0"/>
          </a:p>
        </p:txBody>
      </p:sp>
      <p:sp>
        <p:nvSpPr>
          <p:cNvPr id="11" name="Rounded Rectangle"/>
          <p:cNvSpPr/>
          <p:nvPr/>
        </p:nvSpPr>
        <p:spPr>
          <a:xfrm>
            <a:off x="4917480" y="1453753"/>
            <a:ext cx="1168698" cy="177800"/>
          </a:xfrm>
          <a:prstGeom prst="roundRect">
            <a:avLst>
              <a:gd name="adj" fmla="val 19643"/>
            </a:avLst>
          </a:prstGeom>
          <a:solidFill>
            <a:srgbClr val="F0FDF4"/>
          </a:solidFill>
          <a:ln w="6350" cap="flat" cmpd="sng" algn="ctr">
            <a:solidFill>
              <a:srgbClr val="86EFAC"/>
            </a:solidFill>
            <a:miter lim="800000"/>
          </a:ln>
        </p:spPr>
      </p:sp>
      <p:sp>
        <p:nvSpPr>
          <p:cNvPr id="12" name="Text: SOTA 실시간 추적 (95%+)"/>
          <p:cNvSpPr txBox="1"/>
          <p:nvPr/>
        </p:nvSpPr>
        <p:spPr>
          <a:xfrm>
            <a:off x="4971455" y="1463278"/>
            <a:ext cx="1060748"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b="1" spc="-4" dirty="0">
                <a:solidFill>
                  <a:srgbClr val="16A34A"/>
                </a:solidFill>
                <a:latin typeface="Segoe UI"/>
                <a:ea typeface="Segoe UI"/>
                <a:cs typeface="Segoe UI"/>
              </a:rPr>
              <a:t>SOTA 실시간 추적 (95%+)</a:t>
            </a:r>
            <a:endParaRPr lang="en-US" sz="700" dirty="0"/>
          </a:p>
        </p:txBody>
      </p:sp>
      <p:sp>
        <p:nvSpPr>
          <p:cNvPr id="13" name="Rounded Rectangle"/>
          <p:cNvSpPr/>
          <p:nvPr/>
        </p:nvSpPr>
        <p:spPr>
          <a:xfrm>
            <a:off x="542925" y="1744266"/>
            <a:ext cx="2730302" cy="2182813"/>
          </a:xfrm>
          <a:prstGeom prst="roundRect">
            <a:avLst>
              <a:gd name="adj" fmla="val 2764"/>
            </a:avLst>
          </a:prstGeom>
          <a:solidFill>
            <a:srgbClr val="0A0F1D"/>
          </a:solidFill>
          <a:ln w="6350" cap="flat" cmpd="sng" algn="ctr">
            <a:solidFill>
              <a:srgbClr val="10B981"/>
            </a:solidFill>
            <a:miter lim="800000"/>
          </a:ln>
        </p:spPr>
      </p:sp>
      <p:sp>
        <p:nvSpPr>
          <p:cNvPr id="14" name="Rounded Rectangle"/>
          <p:cNvSpPr/>
          <p:nvPr/>
        </p:nvSpPr>
        <p:spPr>
          <a:xfrm>
            <a:off x="596900" y="1798241"/>
            <a:ext cx="2622352" cy="1746250"/>
          </a:xfrm>
          <a:prstGeom prst="roundRect">
            <a:avLst>
              <a:gd name="adj" fmla="val 2182"/>
            </a:avLst>
          </a:prstGeom>
          <a:solidFill>
            <a:srgbClr val="000000"/>
          </a:solidFill>
          <a:ln>
            <a:noFill/>
          </a:ln>
        </p:spPr>
      </p:sp>
      <p:pic>
        <p:nvPicPr>
          <p:cNvPr id="15" name="Image: MediaPipe Complex Pose"/>
          <p:cNvPicPr>
            <a:picLocks noChangeAspect="1"/>
          </p:cNvPicPr>
          <p:nvPr/>
        </p:nvPicPr>
        <p:blipFill>
          <a:blip r:embed="rId2"/>
          <a:stretch>
            <a:fillRect/>
          </a:stretch>
        </p:blipFill>
        <p:spPr>
          <a:xfrm>
            <a:off x="990011" y="1798241"/>
            <a:ext cx="1836131" cy="1746250"/>
          </a:xfrm>
          <a:prstGeom prst="rect">
            <a:avLst/>
          </a:prstGeom>
          <a:ln>
            <a:noFill/>
          </a:ln>
        </p:spPr>
      </p:pic>
      <p:sp>
        <p:nvSpPr>
          <p:cNvPr id="16" name="Rounded Rectangle"/>
          <p:cNvSpPr/>
          <p:nvPr/>
        </p:nvSpPr>
        <p:spPr>
          <a:xfrm>
            <a:off x="1407914" y="3588941"/>
            <a:ext cx="1000224" cy="139700"/>
          </a:xfrm>
          <a:prstGeom prst="roundRect">
            <a:avLst>
              <a:gd name="adj" fmla="val 18182"/>
            </a:avLst>
          </a:prstGeom>
          <a:solidFill>
            <a:srgbClr val="F0FDF4"/>
          </a:solidFill>
          <a:ln>
            <a:noFill/>
          </a:ln>
        </p:spPr>
      </p:sp>
      <p:sp>
        <p:nvSpPr>
          <p:cNvPr id="17" name="Text: ✓ 복합 포즈 추적 (성공)"/>
          <p:cNvSpPr txBox="1"/>
          <p:nvPr/>
        </p:nvSpPr>
        <p:spPr>
          <a:xfrm>
            <a:off x="1446014" y="3563541"/>
            <a:ext cx="924024" cy="152400"/>
          </a:xfrm>
          <a:prstGeom prst="rect">
            <a:avLst/>
          </a:prstGeom>
          <a:noFill/>
        </p:spPr>
        <p:txBody>
          <a:bodyPr wrap="none" lIns="0" tIns="0" rIns="0" bIns="0" rtlCol="0" anchor="t">
            <a:noAutofit/>
          </a:bodyPr>
          <a:lstStyle/>
          <a:p>
            <a:pPr algn="ctr">
              <a:lnSpc>
                <a:spcPts val="1200"/>
              </a:lnSpc>
              <a:spcBef>
                <a:spcPts val="0"/>
              </a:spcBef>
              <a:spcAft>
                <a:spcPts val="0"/>
              </a:spcAft>
              <a:buNone/>
            </a:pPr>
            <a:r>
              <a:rPr lang="en-US" sz="675" b="1" spc="-4" dirty="0">
                <a:solidFill>
                  <a:srgbClr val="15803D"/>
                </a:solidFill>
                <a:latin typeface="Segoe UI"/>
                <a:ea typeface="Segoe UI"/>
                <a:cs typeface="Segoe UI"/>
              </a:rPr>
              <a:t>✓ 복합 포즈 추적 (성공)</a:t>
            </a:r>
            <a:endParaRPr lang="en-US" sz="675" dirty="0"/>
          </a:p>
        </p:txBody>
      </p:sp>
      <p:sp>
        <p:nvSpPr>
          <p:cNvPr id="18" name="Text: 어두운 배경 노이즈 없이 21개 관절 정밀 고정"/>
          <p:cNvSpPr txBox="1"/>
          <p:nvPr/>
        </p:nvSpPr>
        <p:spPr>
          <a:xfrm>
            <a:off x="1098550" y="3742928"/>
            <a:ext cx="1618952"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spc="-4" dirty="0">
                <a:solidFill>
                  <a:srgbClr val="94A3B8"/>
                </a:solidFill>
                <a:latin typeface="Segoe UI"/>
                <a:ea typeface="Segoe UI"/>
                <a:cs typeface="Segoe UI"/>
              </a:rPr>
              <a:t>어두운 배경 노이즈 없이 21개 관절 정밀 고정</a:t>
            </a:r>
            <a:endParaRPr lang="en-US" sz="625" dirty="0"/>
          </a:p>
        </p:txBody>
      </p:sp>
      <p:sp>
        <p:nvSpPr>
          <p:cNvPr id="19" name="Rounded Rectangle"/>
          <p:cNvSpPr/>
          <p:nvPr/>
        </p:nvSpPr>
        <p:spPr>
          <a:xfrm>
            <a:off x="3355777" y="1744266"/>
            <a:ext cx="2730401" cy="2182813"/>
          </a:xfrm>
          <a:prstGeom prst="roundRect">
            <a:avLst>
              <a:gd name="adj" fmla="val 2764"/>
            </a:avLst>
          </a:prstGeom>
          <a:solidFill>
            <a:srgbClr val="0A0F1D"/>
          </a:solidFill>
          <a:ln w="6350" cap="flat" cmpd="sng" algn="ctr">
            <a:solidFill>
              <a:srgbClr val="10B981"/>
            </a:solidFill>
            <a:miter lim="800000"/>
          </a:ln>
        </p:spPr>
      </p:sp>
      <p:sp>
        <p:nvSpPr>
          <p:cNvPr id="20" name="Rounded Rectangle"/>
          <p:cNvSpPr/>
          <p:nvPr/>
        </p:nvSpPr>
        <p:spPr>
          <a:xfrm>
            <a:off x="3409752" y="1798241"/>
            <a:ext cx="2622451" cy="1746250"/>
          </a:xfrm>
          <a:prstGeom prst="roundRect">
            <a:avLst>
              <a:gd name="adj" fmla="val 2182"/>
            </a:avLst>
          </a:prstGeom>
          <a:solidFill>
            <a:srgbClr val="000000"/>
          </a:solidFill>
          <a:ln>
            <a:noFill/>
          </a:ln>
        </p:spPr>
      </p:sp>
      <p:pic>
        <p:nvPicPr>
          <p:cNvPr id="21" name="Image: MediaPipe Clenched Fist"/>
          <p:cNvPicPr>
            <a:picLocks noChangeAspect="1"/>
          </p:cNvPicPr>
          <p:nvPr/>
        </p:nvPicPr>
        <p:blipFill>
          <a:blip r:embed="rId3"/>
          <a:stretch>
            <a:fillRect/>
          </a:stretch>
        </p:blipFill>
        <p:spPr>
          <a:xfrm>
            <a:off x="3862526" y="1798241"/>
            <a:ext cx="1716901" cy="1746250"/>
          </a:xfrm>
          <a:prstGeom prst="rect">
            <a:avLst/>
          </a:prstGeom>
          <a:ln>
            <a:noFill/>
          </a:ln>
        </p:spPr>
      </p:pic>
      <p:sp>
        <p:nvSpPr>
          <p:cNvPr id="22" name="Rounded Rectangle"/>
          <p:cNvSpPr/>
          <p:nvPr/>
        </p:nvSpPr>
        <p:spPr>
          <a:xfrm>
            <a:off x="4061520" y="3588941"/>
            <a:ext cx="1318915" cy="139700"/>
          </a:xfrm>
          <a:prstGeom prst="roundRect">
            <a:avLst>
              <a:gd name="adj" fmla="val 18182"/>
            </a:avLst>
          </a:prstGeom>
          <a:solidFill>
            <a:srgbClr val="F0FDF4"/>
          </a:solidFill>
          <a:ln>
            <a:noFill/>
          </a:ln>
        </p:spPr>
      </p:sp>
      <p:sp>
        <p:nvSpPr>
          <p:cNvPr id="23" name="Text: ✓ ✊ 꽉 쥔 주먹 (3D 복원 성공)"/>
          <p:cNvSpPr txBox="1"/>
          <p:nvPr/>
        </p:nvSpPr>
        <p:spPr>
          <a:xfrm>
            <a:off x="4099620" y="3563541"/>
            <a:ext cx="1242715" cy="152400"/>
          </a:xfrm>
          <a:prstGeom prst="rect">
            <a:avLst/>
          </a:prstGeom>
          <a:noFill/>
        </p:spPr>
        <p:txBody>
          <a:bodyPr wrap="none" lIns="0" tIns="0" rIns="0" bIns="0" rtlCol="0" anchor="t">
            <a:noAutofit/>
          </a:bodyPr>
          <a:lstStyle/>
          <a:p>
            <a:pPr algn="ctr">
              <a:lnSpc>
                <a:spcPts val="1200"/>
              </a:lnSpc>
              <a:spcBef>
                <a:spcPts val="0"/>
              </a:spcBef>
              <a:spcAft>
                <a:spcPts val="0"/>
              </a:spcAft>
              <a:buNone/>
            </a:pPr>
            <a:r>
              <a:rPr lang="en-US" sz="675" b="1" spc="-4" dirty="0">
                <a:solidFill>
                  <a:srgbClr val="15803D"/>
                </a:solidFill>
                <a:latin typeface="Segoe UI"/>
                <a:ea typeface="Segoe UI"/>
                <a:cs typeface="Segoe UI"/>
              </a:rPr>
              <a:t>✓ ✊ 꽉 쥔 주먹 (3D 복원 성공)</a:t>
            </a:r>
            <a:endParaRPr lang="en-US" sz="675" dirty="0"/>
          </a:p>
        </p:txBody>
      </p:sp>
      <p:sp>
        <p:nvSpPr>
          <p:cNvPr id="24" name="Text: 손가락이 완전히 접혀도 21개 관절 입체 복원!"/>
          <p:cNvSpPr txBox="1"/>
          <p:nvPr/>
        </p:nvSpPr>
        <p:spPr>
          <a:xfrm>
            <a:off x="3913981" y="3742928"/>
            <a:ext cx="1613991"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spc="-4" dirty="0">
                <a:solidFill>
                  <a:srgbClr val="94A3B8"/>
                </a:solidFill>
                <a:latin typeface="Segoe UI"/>
                <a:ea typeface="Segoe UI"/>
                <a:cs typeface="Segoe UI"/>
              </a:rPr>
              <a:t>손가락이 완전히 접혀도 21개 관절 입체 복원!</a:t>
            </a:r>
            <a:endParaRPr lang="en-US" sz="625" dirty="0"/>
          </a:p>
        </p:txBody>
      </p:sp>
      <p:sp>
        <p:nvSpPr>
          <p:cNvPr id="25" name="Rounded Rectangle"/>
          <p:cNvSpPr/>
          <p:nvPr/>
        </p:nvSpPr>
        <p:spPr>
          <a:xfrm>
            <a:off x="539750" y="5908675"/>
            <a:ext cx="5549602" cy="279400"/>
          </a:xfrm>
          <a:prstGeom prst="roundRect">
            <a:avLst>
              <a:gd name="adj" fmla="val 18182"/>
            </a:avLst>
          </a:prstGeom>
          <a:solidFill>
            <a:srgbClr val="F0FDF4"/>
          </a:solidFill>
          <a:ln>
            <a:noFill/>
          </a:ln>
        </p:spPr>
      </p:sp>
      <p:sp>
        <p:nvSpPr>
          <p:cNvPr id="26" name="Border"/>
          <p:cNvSpPr/>
          <p:nvPr/>
        </p:nvSpPr>
        <p:spPr>
          <a:xfrm>
            <a:off x="539750" y="5908675"/>
            <a:ext cx="25400" cy="279400"/>
          </a:xfrm>
          <a:prstGeom prst="rect">
            <a:avLst/>
          </a:prstGeom>
          <a:solidFill>
            <a:srgbClr val="16A34A"/>
          </a:solidFill>
          <a:ln>
            <a:noFill/>
          </a:ln>
        </p:spPr>
      </p:sp>
      <p:sp>
        <p:nvSpPr>
          <p:cNvPr id="27" name="Text: ✓ 모델 2(YOLO)에서 붕괴되던 주먹 제스처를 3D 깊이 추정으로 정"/>
          <p:cNvSpPr txBox="1"/>
          <p:nvPr/>
        </p:nvSpPr>
        <p:spPr>
          <a:xfrm>
            <a:off x="654050" y="5959475"/>
            <a:ext cx="3168452"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750" b="1" spc="-4" dirty="0">
                <a:solidFill>
                  <a:srgbClr val="15803D"/>
                </a:solidFill>
                <a:latin typeface="Segoe UI"/>
                <a:ea typeface="Segoe UI"/>
                <a:cs typeface="Segoe UI"/>
              </a:rPr>
              <a:t>✓ 모델 2(YOLO)에서 붕괴되던 주먹 제스처를 3D 깊이 추정으로 정상 복원</a:t>
            </a:r>
            <a:endParaRPr lang="en-US" sz="750" dirty="0"/>
          </a:p>
        </p:txBody>
      </p:sp>
      <p:sp>
        <p:nvSpPr>
          <p:cNvPr id="28" name="Rounded Rectangle"/>
          <p:cNvSpPr/>
          <p:nvPr/>
        </p:nvSpPr>
        <p:spPr>
          <a:xfrm>
            <a:off x="6416377" y="1277541"/>
            <a:ext cx="5391348" cy="5053409"/>
          </a:xfrm>
          <a:prstGeom prst="roundRect">
            <a:avLst>
              <a:gd name="adj" fmla="val 2199"/>
            </a:avLst>
          </a:prstGeom>
          <a:solidFill>
            <a:srgbClr val="FFFFFF"/>
          </a:solidFill>
          <a:ln w="6350" cap="flat" cmpd="sng" algn="ctr">
            <a:solidFill>
              <a:srgbClr val="E2E8F0"/>
            </a:solidFill>
            <a:miter lim="800000"/>
          </a:ln>
          <a:effectLst>
            <a:outerShdw blurRad="101600" dist="50800" dir="5400000" sx="99529" sy="99497" algn="ctr" rotWithShape="0">
              <a:srgbClr val="000000">
                <a:alpha val="5000"/>
              </a:srgbClr>
            </a:outerShdw>
          </a:effectLst>
        </p:spPr>
      </p:sp>
      <p:sp>
        <p:nvSpPr>
          <p:cNvPr id="29" name="Rounded Rectangle"/>
          <p:cNvSpPr/>
          <p:nvPr/>
        </p:nvSpPr>
        <p:spPr>
          <a:xfrm>
            <a:off x="6625927" y="1649413"/>
            <a:ext cx="730746" cy="238125"/>
          </a:xfrm>
          <a:prstGeom prst="roundRect">
            <a:avLst>
              <a:gd name="adj" fmla="val 20000"/>
            </a:avLst>
          </a:prstGeom>
          <a:solidFill>
            <a:srgbClr val="DCFCE7"/>
          </a:solidFill>
          <a:ln w="6350" cap="flat" cmpd="sng" algn="ctr">
            <a:solidFill>
              <a:srgbClr val="86EFAC"/>
            </a:solidFill>
            <a:miter lim="800000"/>
          </a:ln>
        </p:spPr>
      </p:sp>
      <p:sp>
        <p:nvSpPr>
          <p:cNvPr id="30" name="Text: 기술적 분석"/>
          <p:cNvSpPr txBox="1"/>
          <p:nvPr/>
        </p:nvSpPr>
        <p:spPr>
          <a:xfrm>
            <a:off x="6730702" y="1687513"/>
            <a:ext cx="521196"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15803D"/>
                </a:solidFill>
                <a:latin typeface="Segoe UI"/>
                <a:ea typeface="Segoe UI"/>
                <a:cs typeface="Segoe UI"/>
              </a:rPr>
              <a:t>기술적 분석</a:t>
            </a:r>
            <a:endParaRPr lang="en-US" sz="750" dirty="0"/>
          </a:p>
        </p:txBody>
      </p:sp>
      <p:sp>
        <p:nvSpPr>
          <p:cNvPr id="31" name="Text: 구글 미디어파이프가 주먹까지 추적하는 핵심 원리"/>
          <p:cNvSpPr txBox="1"/>
          <p:nvPr/>
        </p:nvSpPr>
        <p:spPr>
          <a:xfrm>
            <a:off x="7423348" y="1625600"/>
            <a:ext cx="3744119" cy="247650"/>
          </a:xfrm>
          <a:prstGeom prst="rect">
            <a:avLst/>
          </a:prstGeom>
          <a:noFill/>
        </p:spPr>
        <p:txBody>
          <a:bodyPr wrap="none" lIns="0" tIns="0" rIns="0" bIns="0" rtlCol="0" anchor="t">
            <a:noAutofit/>
          </a:bodyPr>
          <a:lstStyle/>
          <a:p>
            <a:pPr algn="l">
              <a:lnSpc>
                <a:spcPts val="1950"/>
              </a:lnSpc>
              <a:spcBef>
                <a:spcPts val="0"/>
              </a:spcBef>
              <a:spcAft>
                <a:spcPts val="0"/>
              </a:spcAft>
              <a:buNone/>
            </a:pPr>
            <a:r>
              <a:rPr lang="en-US" sz="1300" b="1" spc="-4" dirty="0">
                <a:solidFill>
                  <a:srgbClr val="0F172A"/>
                </a:solidFill>
                <a:latin typeface="Segoe UI"/>
                <a:ea typeface="Segoe UI"/>
                <a:cs typeface="Segoe UI"/>
              </a:rPr>
              <a:t>구글 미디어파이프가 주먹까지 추적하는 핵심 원리</a:t>
            </a:r>
            <a:endParaRPr lang="en-US" sz="1300" dirty="0"/>
          </a:p>
        </p:txBody>
      </p:sp>
      <p:sp>
        <p:nvSpPr>
          <p:cNvPr id="32" name="Rounded Rectangle"/>
          <p:cNvSpPr/>
          <p:nvPr/>
        </p:nvSpPr>
        <p:spPr>
          <a:xfrm>
            <a:off x="6622752" y="2019300"/>
            <a:ext cx="4978598" cy="1238647"/>
          </a:xfrm>
          <a:prstGeom prst="roundRect">
            <a:avLst>
              <a:gd name="adj" fmla="val 6152"/>
            </a:avLst>
          </a:prstGeom>
          <a:solidFill>
            <a:srgbClr val="F8FAFC"/>
          </a:solidFill>
          <a:ln>
            <a:noFill/>
          </a:ln>
        </p:spPr>
      </p:sp>
      <p:sp>
        <p:nvSpPr>
          <p:cNvPr id="33" name="Border"/>
          <p:cNvSpPr/>
          <p:nvPr/>
        </p:nvSpPr>
        <p:spPr>
          <a:xfrm>
            <a:off x="6622752" y="2019300"/>
            <a:ext cx="4978598" cy="6350"/>
          </a:xfrm>
          <a:prstGeom prst="rect">
            <a:avLst/>
          </a:prstGeom>
          <a:solidFill>
            <a:srgbClr val="E2E8F0"/>
          </a:solidFill>
          <a:ln>
            <a:noFill/>
          </a:ln>
        </p:spPr>
      </p:sp>
      <p:sp>
        <p:nvSpPr>
          <p:cNvPr id="34" name="Border"/>
          <p:cNvSpPr/>
          <p:nvPr/>
        </p:nvSpPr>
        <p:spPr>
          <a:xfrm>
            <a:off x="11595001" y="2019300"/>
            <a:ext cx="6350" cy="1238647"/>
          </a:xfrm>
          <a:prstGeom prst="rect">
            <a:avLst/>
          </a:prstGeom>
          <a:solidFill>
            <a:srgbClr val="E2E8F0"/>
          </a:solidFill>
          <a:ln>
            <a:noFill/>
          </a:ln>
        </p:spPr>
      </p:sp>
      <p:sp>
        <p:nvSpPr>
          <p:cNvPr id="35" name="Border"/>
          <p:cNvSpPr/>
          <p:nvPr/>
        </p:nvSpPr>
        <p:spPr>
          <a:xfrm>
            <a:off x="6622752" y="3251597"/>
            <a:ext cx="4978598" cy="6350"/>
          </a:xfrm>
          <a:prstGeom prst="rect">
            <a:avLst/>
          </a:prstGeom>
          <a:solidFill>
            <a:srgbClr val="E2E8F0"/>
          </a:solidFill>
          <a:ln>
            <a:noFill/>
          </a:ln>
        </p:spPr>
      </p:sp>
      <p:sp>
        <p:nvSpPr>
          <p:cNvPr id="36" name="Border"/>
          <p:cNvSpPr/>
          <p:nvPr/>
        </p:nvSpPr>
        <p:spPr>
          <a:xfrm>
            <a:off x="6622752" y="2019300"/>
            <a:ext cx="38100" cy="1238647"/>
          </a:xfrm>
          <a:prstGeom prst="rect">
            <a:avLst/>
          </a:prstGeom>
          <a:solidFill>
            <a:srgbClr val="16A34A"/>
          </a:solidFill>
          <a:ln>
            <a:noFill/>
          </a:ln>
        </p:spPr>
      </p:sp>
      <p:sp>
        <p:nvSpPr>
          <p:cNvPr id="37" name="Text: 1. 2-Stage 파이프라인 (손바닥 먼저 검출 후 영역 크롭)"/>
          <p:cNvSpPr txBox="1"/>
          <p:nvPr/>
        </p:nvSpPr>
        <p:spPr>
          <a:xfrm>
            <a:off x="6800552" y="2124075"/>
            <a:ext cx="3315990" cy="200025"/>
          </a:xfrm>
          <a:prstGeom prst="rect">
            <a:avLst/>
          </a:prstGeom>
          <a:noFill/>
        </p:spPr>
        <p:txBody>
          <a:bodyPr wrap="none" lIns="0" tIns="0" rIns="0" bIns="0" rtlCol="0" anchor="t">
            <a:noAutofit/>
          </a:bodyPr>
          <a:lstStyle/>
          <a:p>
            <a:pPr algn="l">
              <a:lnSpc>
                <a:spcPts val="1575"/>
              </a:lnSpc>
              <a:spcBef>
                <a:spcPts val="0"/>
              </a:spcBef>
              <a:spcAft>
                <a:spcPts val="0"/>
              </a:spcAft>
              <a:buNone/>
            </a:pPr>
            <a:r>
              <a:rPr lang="en-US" sz="1050" b="1" spc="-4" dirty="0">
                <a:solidFill>
                  <a:srgbClr val="0F172A"/>
                </a:solidFill>
                <a:latin typeface="Segoe UI"/>
                <a:ea typeface="Segoe UI"/>
                <a:cs typeface="Segoe UI"/>
              </a:rPr>
              <a:t>1. 2-Stage 파이프라인 (손바닥 먼저 검출 후 영역 크롭)</a:t>
            </a:r>
            <a:endParaRPr lang="en-US" sz="1050" dirty="0"/>
          </a:p>
        </p:txBody>
      </p:sp>
      <p:sp>
        <p:nvSpPr>
          <p:cNvPr id="38" name="Text: •  손바닥 박스 먼저 추출:  1차 신경망(Palm Detector)이"/>
          <p:cNvSpPr txBox="1"/>
          <p:nvPr/>
        </p:nvSpPr>
        <p:spPr>
          <a:xfrm>
            <a:off x="6800552" y="2372420"/>
            <a:ext cx="4597202" cy="354211"/>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손바닥 박스 먼저 추출:</a:t>
            </a:r>
            <a:r>
              <a:rPr lang="en-US" sz="900" spc="-4" dirty="0">
                <a:solidFill>
                  <a:srgbClr val="334155"/>
                </a:solidFill>
                <a:latin typeface="Segoe UI"/>
                <a:ea typeface="Segoe UI"/>
                <a:cs typeface="Segoe UI"/>
              </a:rPr>
              <a:t> 1차 신경망(Palm Detector)이 손바닥을 정확히 오려낸 후 관절 추</a:t>
            </a:r>
            <a:br>
              <a:rPr lang="en-US" sz="900"/>
            </a:br>
            <a:r>
              <a:rPr lang="en-US" sz="900" spc="-4" dirty="0">
                <a:solidFill>
                  <a:srgbClr val="334155"/>
                </a:solidFill>
                <a:latin typeface="Segoe UI"/>
                <a:ea typeface="Segoe UI"/>
                <a:cs typeface="Segoe UI"/>
              </a:rPr>
              <a:t>적</a:t>
            </a:r>
            <a:endParaRPr lang="en-US" sz="900" dirty="0"/>
          </a:p>
        </p:txBody>
      </p:sp>
      <p:sp>
        <p:nvSpPr>
          <p:cNvPr id="39" name="Text: •  배경 노이즈 원천 차단:  잘라낸 손 안에서만 점을 찍으므로 Mod"/>
          <p:cNvSpPr txBox="1"/>
          <p:nvPr/>
        </p:nvSpPr>
        <p:spPr>
          <a:xfrm>
            <a:off x="6800552" y="2764730"/>
            <a:ext cx="4593530" cy="354211"/>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배경 노이즈 원천 차단:</a:t>
            </a:r>
            <a:r>
              <a:rPr lang="en-US" sz="900" spc="-4" dirty="0">
                <a:solidFill>
                  <a:srgbClr val="334155"/>
                </a:solidFill>
                <a:latin typeface="Segoe UI"/>
                <a:ea typeface="Segoe UI"/>
                <a:cs typeface="Segoe UI"/>
              </a:rPr>
              <a:t> 잘라낸 손 안에서만 점을 찍으므로 Model 1(Intel Geti)의 허공 유</a:t>
            </a:r>
            <a:br>
              <a:rPr lang="en-US" sz="900"/>
            </a:br>
            <a:r>
              <a:rPr lang="en-US" sz="900" spc="-4" dirty="0">
                <a:solidFill>
                  <a:srgbClr val="334155"/>
                </a:solidFill>
                <a:latin typeface="Segoe UI"/>
                <a:ea typeface="Segoe UI"/>
                <a:cs typeface="Segoe UI"/>
              </a:rPr>
              <a:t>령 관절 100% 방지</a:t>
            </a:r>
            <a:endParaRPr lang="en-US" sz="900" dirty="0"/>
          </a:p>
        </p:txBody>
      </p:sp>
      <p:sp>
        <p:nvSpPr>
          <p:cNvPr id="40" name="Rounded Rectangle"/>
          <p:cNvSpPr/>
          <p:nvPr/>
        </p:nvSpPr>
        <p:spPr>
          <a:xfrm>
            <a:off x="6622752" y="3372247"/>
            <a:ext cx="4978598" cy="1238647"/>
          </a:xfrm>
          <a:prstGeom prst="roundRect">
            <a:avLst>
              <a:gd name="adj" fmla="val 6152"/>
            </a:avLst>
          </a:prstGeom>
          <a:solidFill>
            <a:srgbClr val="F8FAFC"/>
          </a:solidFill>
          <a:ln>
            <a:noFill/>
          </a:ln>
        </p:spPr>
      </p:sp>
      <p:sp>
        <p:nvSpPr>
          <p:cNvPr id="41" name="Border"/>
          <p:cNvSpPr/>
          <p:nvPr/>
        </p:nvSpPr>
        <p:spPr>
          <a:xfrm>
            <a:off x="6622752" y="3372247"/>
            <a:ext cx="4978598" cy="6350"/>
          </a:xfrm>
          <a:prstGeom prst="rect">
            <a:avLst/>
          </a:prstGeom>
          <a:solidFill>
            <a:srgbClr val="E2E8F0"/>
          </a:solidFill>
          <a:ln>
            <a:noFill/>
          </a:ln>
        </p:spPr>
      </p:sp>
      <p:sp>
        <p:nvSpPr>
          <p:cNvPr id="42" name="Border"/>
          <p:cNvSpPr/>
          <p:nvPr/>
        </p:nvSpPr>
        <p:spPr>
          <a:xfrm>
            <a:off x="11595001" y="3372247"/>
            <a:ext cx="6350" cy="1238647"/>
          </a:xfrm>
          <a:prstGeom prst="rect">
            <a:avLst/>
          </a:prstGeom>
          <a:solidFill>
            <a:srgbClr val="E2E8F0"/>
          </a:solidFill>
          <a:ln>
            <a:noFill/>
          </a:ln>
        </p:spPr>
      </p:sp>
      <p:sp>
        <p:nvSpPr>
          <p:cNvPr id="43" name="Border"/>
          <p:cNvSpPr/>
          <p:nvPr/>
        </p:nvSpPr>
        <p:spPr>
          <a:xfrm>
            <a:off x="6622752" y="4604544"/>
            <a:ext cx="4978598" cy="6350"/>
          </a:xfrm>
          <a:prstGeom prst="rect">
            <a:avLst/>
          </a:prstGeom>
          <a:solidFill>
            <a:srgbClr val="E2E8F0"/>
          </a:solidFill>
          <a:ln>
            <a:noFill/>
          </a:ln>
        </p:spPr>
      </p:sp>
      <p:sp>
        <p:nvSpPr>
          <p:cNvPr id="44" name="Border"/>
          <p:cNvSpPr/>
          <p:nvPr/>
        </p:nvSpPr>
        <p:spPr>
          <a:xfrm>
            <a:off x="6622752" y="3372247"/>
            <a:ext cx="38100" cy="1238647"/>
          </a:xfrm>
          <a:prstGeom prst="rect">
            <a:avLst/>
          </a:prstGeom>
          <a:solidFill>
            <a:srgbClr val="059669"/>
          </a:solidFill>
          <a:ln>
            <a:noFill/>
          </a:ln>
        </p:spPr>
      </p:sp>
      <p:sp>
        <p:nvSpPr>
          <p:cNvPr id="45" name="Text: 2. 3D 입체 좌표 추정 (가려진 주먹 관절도 z축 깊이로 복원)"/>
          <p:cNvSpPr txBox="1"/>
          <p:nvPr/>
        </p:nvSpPr>
        <p:spPr>
          <a:xfrm>
            <a:off x="6800552" y="3477022"/>
            <a:ext cx="3565922" cy="200025"/>
          </a:xfrm>
          <a:prstGeom prst="rect">
            <a:avLst/>
          </a:prstGeom>
          <a:noFill/>
        </p:spPr>
        <p:txBody>
          <a:bodyPr wrap="none" lIns="0" tIns="0" rIns="0" bIns="0" rtlCol="0" anchor="t">
            <a:noAutofit/>
          </a:bodyPr>
          <a:lstStyle/>
          <a:p>
            <a:pPr algn="l">
              <a:lnSpc>
                <a:spcPts val="1575"/>
              </a:lnSpc>
              <a:spcBef>
                <a:spcPts val="0"/>
              </a:spcBef>
              <a:spcAft>
                <a:spcPts val="0"/>
              </a:spcAft>
              <a:buNone/>
            </a:pPr>
            <a:r>
              <a:rPr lang="en-US" sz="1050" b="1" spc="-4" dirty="0">
                <a:solidFill>
                  <a:srgbClr val="0F172A"/>
                </a:solidFill>
                <a:latin typeface="Segoe UI"/>
                <a:ea typeface="Segoe UI"/>
                <a:cs typeface="Segoe UI"/>
              </a:rPr>
              <a:t>2. 3D 입체 좌표 추정 (가려진 주먹 관절도 z축 깊이로 복원)</a:t>
            </a:r>
            <a:endParaRPr lang="en-US" sz="1050" dirty="0"/>
          </a:p>
        </p:txBody>
      </p:sp>
      <p:sp>
        <p:nvSpPr>
          <p:cNvPr id="46" name="Text: •  해부학적 3D 관절 모델링:  수백만 장의 3D 합성 데이터로 관절"/>
          <p:cNvSpPr txBox="1"/>
          <p:nvPr/>
        </p:nvSpPr>
        <p:spPr>
          <a:xfrm>
            <a:off x="6800552" y="3725366"/>
            <a:ext cx="4607620" cy="354211"/>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해부학적 3D 관절 모델링:</a:t>
            </a:r>
            <a:r>
              <a:rPr lang="en-US" sz="900" spc="-4" dirty="0">
                <a:solidFill>
                  <a:srgbClr val="334155"/>
                </a:solidFill>
                <a:latin typeface="Segoe UI"/>
                <a:ea typeface="Segoe UI"/>
                <a:cs typeface="Segoe UI"/>
              </a:rPr>
              <a:t> 수백만 장의 3D 합성 데이터로 관절 간의 뼈대 연결 법칙 사전</a:t>
            </a:r>
            <a:br>
              <a:rPr lang="en-US" sz="900"/>
            </a:br>
            <a:r>
              <a:rPr lang="en-US" sz="900" spc="-4" dirty="0">
                <a:solidFill>
                  <a:srgbClr val="334155"/>
                </a:solidFill>
                <a:latin typeface="Segoe UI"/>
                <a:ea typeface="Segoe UI"/>
                <a:cs typeface="Segoe UI"/>
              </a:rPr>
              <a:t>학습</a:t>
            </a:r>
            <a:endParaRPr lang="en-US" sz="900" dirty="0"/>
          </a:p>
        </p:txBody>
      </p:sp>
      <p:sp>
        <p:nvSpPr>
          <p:cNvPr id="47" name="Text: •  주먹 자가 가림 극복:  손가락이 안쪽으로 완전히 말려 가려져도 입"/>
          <p:cNvSpPr txBox="1"/>
          <p:nvPr/>
        </p:nvSpPr>
        <p:spPr>
          <a:xfrm>
            <a:off x="6800552" y="4117677"/>
            <a:ext cx="4638675" cy="354211"/>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주먹 자가 가림 극복:</a:t>
            </a:r>
            <a:r>
              <a:rPr lang="en-US" sz="900" spc="-4" dirty="0">
                <a:solidFill>
                  <a:srgbClr val="334155"/>
                </a:solidFill>
                <a:latin typeface="Segoe UI"/>
                <a:ea typeface="Segoe UI"/>
                <a:cs typeface="Segoe UI"/>
              </a:rPr>
              <a:t> 손가락이 안쪽으로 완전히 말려 가려져도 입체적인 z축 좌표로 21개</a:t>
            </a:r>
            <a:br>
              <a:rPr lang="en-US" sz="900"/>
            </a:br>
            <a:r>
              <a:rPr lang="en-US" sz="900" spc="-4" dirty="0">
                <a:solidFill>
                  <a:srgbClr val="334155"/>
                </a:solidFill>
                <a:latin typeface="Segoe UI"/>
                <a:ea typeface="Segoe UI"/>
                <a:cs typeface="Segoe UI"/>
              </a:rPr>
              <a:t>점 정밀 복원</a:t>
            </a:r>
            <a:endParaRPr lang="en-US" sz="900" dirty="0"/>
          </a:p>
        </p:txBody>
      </p:sp>
      <p:sp>
        <p:nvSpPr>
          <p:cNvPr id="48" name="Rounded Rectangle"/>
          <p:cNvSpPr/>
          <p:nvPr/>
        </p:nvSpPr>
        <p:spPr>
          <a:xfrm>
            <a:off x="6622752" y="4725194"/>
            <a:ext cx="4978598" cy="1238647"/>
          </a:xfrm>
          <a:prstGeom prst="roundRect">
            <a:avLst>
              <a:gd name="adj" fmla="val 6152"/>
            </a:avLst>
          </a:prstGeom>
          <a:solidFill>
            <a:srgbClr val="F8FAFC"/>
          </a:solidFill>
          <a:ln>
            <a:noFill/>
          </a:ln>
        </p:spPr>
      </p:sp>
      <p:sp>
        <p:nvSpPr>
          <p:cNvPr id="49" name="Border"/>
          <p:cNvSpPr/>
          <p:nvPr/>
        </p:nvSpPr>
        <p:spPr>
          <a:xfrm>
            <a:off x="6622752" y="4725194"/>
            <a:ext cx="4978598" cy="6350"/>
          </a:xfrm>
          <a:prstGeom prst="rect">
            <a:avLst/>
          </a:prstGeom>
          <a:solidFill>
            <a:srgbClr val="E2E8F0"/>
          </a:solidFill>
          <a:ln>
            <a:noFill/>
          </a:ln>
        </p:spPr>
      </p:sp>
      <p:sp>
        <p:nvSpPr>
          <p:cNvPr id="50" name="Border"/>
          <p:cNvSpPr/>
          <p:nvPr/>
        </p:nvSpPr>
        <p:spPr>
          <a:xfrm>
            <a:off x="11595001" y="4725194"/>
            <a:ext cx="6350" cy="1238647"/>
          </a:xfrm>
          <a:prstGeom prst="rect">
            <a:avLst/>
          </a:prstGeom>
          <a:solidFill>
            <a:srgbClr val="E2E8F0"/>
          </a:solidFill>
          <a:ln>
            <a:noFill/>
          </a:ln>
        </p:spPr>
      </p:sp>
      <p:sp>
        <p:nvSpPr>
          <p:cNvPr id="51" name="Border"/>
          <p:cNvSpPr/>
          <p:nvPr/>
        </p:nvSpPr>
        <p:spPr>
          <a:xfrm>
            <a:off x="6622752" y="5957491"/>
            <a:ext cx="4978598" cy="6350"/>
          </a:xfrm>
          <a:prstGeom prst="rect">
            <a:avLst/>
          </a:prstGeom>
          <a:solidFill>
            <a:srgbClr val="E2E8F0"/>
          </a:solidFill>
          <a:ln>
            <a:noFill/>
          </a:ln>
        </p:spPr>
      </p:sp>
      <p:sp>
        <p:nvSpPr>
          <p:cNvPr id="52" name="Border"/>
          <p:cNvSpPr/>
          <p:nvPr/>
        </p:nvSpPr>
        <p:spPr>
          <a:xfrm>
            <a:off x="6622752" y="4725194"/>
            <a:ext cx="38100" cy="1238647"/>
          </a:xfrm>
          <a:prstGeom prst="rect">
            <a:avLst/>
          </a:prstGeom>
          <a:solidFill>
            <a:srgbClr val="2563EB"/>
          </a:solidFill>
          <a:ln>
            <a:noFill/>
          </a:ln>
        </p:spPr>
      </p:sp>
      <p:sp>
        <p:nvSpPr>
          <p:cNvPr id="53" name="Text: 3. 60 FPS 웹 브라우저 경량화 추론 (WASM / WebGL)"/>
          <p:cNvSpPr txBox="1"/>
          <p:nvPr/>
        </p:nvSpPr>
        <p:spPr>
          <a:xfrm>
            <a:off x="6800552" y="4829969"/>
            <a:ext cx="3264098" cy="200025"/>
          </a:xfrm>
          <a:prstGeom prst="rect">
            <a:avLst/>
          </a:prstGeom>
          <a:noFill/>
        </p:spPr>
        <p:txBody>
          <a:bodyPr wrap="none" lIns="0" tIns="0" rIns="0" bIns="0" rtlCol="0" anchor="t">
            <a:noAutofit/>
          </a:bodyPr>
          <a:lstStyle/>
          <a:p>
            <a:pPr algn="l">
              <a:lnSpc>
                <a:spcPts val="1575"/>
              </a:lnSpc>
              <a:spcBef>
                <a:spcPts val="0"/>
              </a:spcBef>
              <a:spcAft>
                <a:spcPts val="0"/>
              </a:spcAft>
              <a:buNone/>
            </a:pPr>
            <a:r>
              <a:rPr lang="en-US" sz="1050" b="1" spc="-4" dirty="0">
                <a:solidFill>
                  <a:srgbClr val="0F172A"/>
                </a:solidFill>
                <a:latin typeface="Segoe UI"/>
                <a:ea typeface="Segoe UI"/>
                <a:cs typeface="Segoe UI"/>
              </a:rPr>
              <a:t>3. 60 FPS 웹 브라우저 경량화 추론 (WASM / WebGL)</a:t>
            </a:r>
            <a:endParaRPr lang="en-US" sz="1050" dirty="0"/>
          </a:p>
        </p:txBody>
      </p:sp>
      <p:sp>
        <p:nvSpPr>
          <p:cNvPr id="54" name="Text: •  온디바이스 WebGL 가속:  별도 GPU 서버 없이 브라우저 내에"/>
          <p:cNvSpPr txBox="1"/>
          <p:nvPr/>
        </p:nvSpPr>
        <p:spPr>
          <a:xfrm>
            <a:off x="6800552" y="5078313"/>
            <a:ext cx="4543524" cy="354211"/>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온디바이스 WebGL 가속:</a:t>
            </a:r>
            <a:r>
              <a:rPr lang="en-US" sz="900" spc="-4" dirty="0">
                <a:solidFill>
                  <a:srgbClr val="334155"/>
                </a:solidFill>
                <a:latin typeface="Segoe UI"/>
                <a:ea typeface="Segoe UI"/>
                <a:cs typeface="Segoe UI"/>
              </a:rPr>
              <a:t> 별도 GPU 서버 없이 브라우저 내에서 프레임당 16ms(60 FPS)</a:t>
            </a:r>
            <a:br>
              <a:rPr lang="en-US" sz="900"/>
            </a:br>
            <a:r>
              <a:rPr lang="en-US" sz="900" spc="-4" dirty="0">
                <a:solidFill>
                  <a:srgbClr val="334155"/>
                </a:solidFill>
                <a:latin typeface="Segoe UI"/>
                <a:ea typeface="Segoe UI"/>
                <a:cs typeface="Segoe UI"/>
              </a:rPr>
              <a:t>연산</a:t>
            </a:r>
            <a:endParaRPr lang="en-US" sz="900" dirty="0"/>
          </a:p>
        </p:txBody>
      </p:sp>
      <p:sp>
        <p:nvSpPr>
          <p:cNvPr id="55" name="Text: •  무지연 실시간 연주:  입력 지연(Latency)이 없어 손가락을 "/>
          <p:cNvSpPr txBox="1"/>
          <p:nvPr/>
        </p:nvSpPr>
        <p:spPr>
          <a:xfrm>
            <a:off x="6800552" y="5470624"/>
            <a:ext cx="4649688" cy="354211"/>
          </a:xfrm>
          <a:prstGeom prst="rect">
            <a:avLst/>
          </a:prstGeom>
          <a:noFill/>
        </p:spPr>
        <p:txBody>
          <a:bodyPr wrap="none" lIns="0" tIns="0" rIns="0" bIns="0" rtlCol="0" anchor="t">
            <a:noAutofit/>
          </a:bodyPr>
          <a:lstStyle/>
          <a:p>
            <a:pPr algn="l">
              <a:lnSpc>
                <a:spcPts val="1395"/>
              </a:lnSpc>
              <a:spcBef>
                <a:spcPts val="0"/>
              </a:spcBef>
              <a:spcAft>
                <a:spcPts val="0"/>
              </a:spcAft>
              <a:buNone/>
            </a:pPr>
            <a:r>
              <a:rPr lang="en-US" sz="900" spc="-4" dirty="0">
                <a:solidFill>
                  <a:srgbClr val="334155"/>
                </a:solidFill>
                <a:latin typeface="Segoe UI"/>
                <a:ea typeface="Segoe UI"/>
                <a:cs typeface="Segoe UI"/>
              </a:rPr>
              <a:t>• </a:t>
            </a:r>
            <a:r>
              <a:rPr lang="en-US" sz="900" b="1" spc="-4" dirty="0">
                <a:solidFill>
                  <a:srgbClr val="334155"/>
                </a:solidFill>
                <a:latin typeface="Segoe UI"/>
                <a:ea typeface="Segoe UI"/>
                <a:cs typeface="Segoe UI"/>
              </a:rPr>
              <a:t>무지연 실시간 연주:</a:t>
            </a:r>
            <a:r>
              <a:rPr lang="en-US" sz="900" spc="-4" dirty="0">
                <a:solidFill>
                  <a:srgbClr val="334155"/>
                </a:solidFill>
                <a:latin typeface="Segoe UI"/>
                <a:ea typeface="Segoe UI"/>
                <a:cs typeface="Segoe UI"/>
              </a:rPr>
              <a:t> 입력 지연(Latency)이 없어 손가락을 움직이는 즉시 실시간 피아노 사</a:t>
            </a:r>
            <a:br>
              <a:rPr lang="en-US" sz="900"/>
            </a:br>
            <a:r>
              <a:rPr lang="en-US" sz="900" spc="-4" dirty="0">
                <a:solidFill>
                  <a:srgbClr val="334155"/>
                </a:solidFill>
                <a:latin typeface="Segoe UI"/>
                <a:ea typeface="Segoe UI"/>
                <a:cs typeface="Segoe UI"/>
              </a:rPr>
              <a:t>운드 생성</a:t>
            </a:r>
            <a:endParaRPr lang="en-US" sz="900" dirty="0"/>
          </a:p>
        </p:txBody>
      </p:sp>
      <p:sp>
        <p:nvSpPr>
          <p:cNvPr id="56" name="Border"/>
          <p:cNvSpPr/>
          <p:nvPr/>
        </p:nvSpPr>
        <p:spPr>
          <a:xfrm>
            <a:off x="381000" y="6334125"/>
            <a:ext cx="11430000" cy="6350"/>
          </a:xfrm>
          <a:prstGeom prst="rect">
            <a:avLst/>
          </a:prstGeom>
          <a:solidFill>
            <a:srgbClr val="E2E8F0"/>
          </a:solidFill>
          <a:ln>
            <a:noFill/>
          </a:ln>
        </p:spPr>
      </p:sp>
      <p:sp>
        <p:nvSpPr>
          <p:cNvPr id="57"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58" name="Rounded Rectangle"/>
          <p:cNvSpPr/>
          <p:nvPr/>
        </p:nvSpPr>
        <p:spPr>
          <a:xfrm>
            <a:off x="11237714" y="6429375"/>
            <a:ext cx="573286" cy="225425"/>
          </a:xfrm>
          <a:prstGeom prst="roundRect">
            <a:avLst>
              <a:gd name="adj" fmla="val 22535"/>
            </a:avLst>
          </a:prstGeom>
          <a:solidFill>
            <a:srgbClr val="F1F5F9"/>
          </a:solidFill>
          <a:ln>
            <a:noFill/>
          </a:ln>
        </p:spPr>
      </p:sp>
      <p:sp>
        <p:nvSpPr>
          <p:cNvPr id="59" name="Text: 09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09 / 14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562298" cy="238125"/>
          </a:xfrm>
          <a:prstGeom prst="roundRect">
            <a:avLst>
              <a:gd name="adj" fmla="val 20000"/>
            </a:avLst>
          </a:prstGeom>
          <a:solidFill>
            <a:srgbClr val="EFF6FF"/>
          </a:solidFill>
          <a:ln w="6350" cap="flat" cmpd="sng" algn="ctr">
            <a:solidFill>
              <a:srgbClr val="BFDBFE"/>
            </a:solidFill>
            <a:miter lim="800000"/>
          </a:ln>
        </p:spPr>
      </p:sp>
      <p:sp>
        <p:nvSpPr>
          <p:cNvPr id="3" name="Text: PART 05 • 실시간 악기 시스템"/>
          <p:cNvSpPr txBox="1"/>
          <p:nvPr/>
        </p:nvSpPr>
        <p:spPr>
          <a:xfrm>
            <a:off x="488950" y="282575"/>
            <a:ext cx="135274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05 • 실시간 악기 시스템</a:t>
            </a:r>
            <a:endParaRPr lang="en-US" sz="750" dirty="0"/>
          </a:p>
        </p:txBody>
      </p:sp>
      <p:sp>
        <p:nvSpPr>
          <p:cNvPr id="4" name="Text: AuraSynth Engine Architecture"/>
          <p:cNvSpPr txBox="1"/>
          <p:nvPr/>
        </p:nvSpPr>
        <p:spPr>
          <a:xfrm>
            <a:off x="2038548"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손 제스처 음악 변환과 실시간 악기 연동"/>
          <p:cNvSpPr txBox="1"/>
          <p:nvPr/>
        </p:nvSpPr>
        <p:spPr>
          <a:xfrm>
            <a:off x="381000" y="555625"/>
            <a:ext cx="5540177"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손 제스처 음악 변환과 실시간 악기 연동</a:t>
            </a:r>
            <a:endParaRPr lang="en-US" sz="2500" dirty="0"/>
          </a:p>
        </p:txBody>
      </p:sp>
      <p:sp>
        <p:nvSpPr>
          <p:cNvPr id="6" name="Text: 카메라 앞에서 양손의 제스처만으로 피아노 화음과 음색을 자유롭게 연주하는"/>
          <p:cNvSpPr txBox="1"/>
          <p:nvPr/>
        </p:nvSpPr>
        <p:spPr>
          <a:xfrm>
            <a:off x="381000" y="948055"/>
            <a:ext cx="6330156"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카메라 앞에서 양손의 제스처만으로 피아노 화음과 음색을 자유롭게 연주하는 비접촉 신디사이저</a:t>
            </a:r>
            <a:endParaRPr lang="en-US" sz="1150" dirty="0"/>
          </a:p>
        </p:txBody>
      </p:sp>
      <p:sp>
        <p:nvSpPr>
          <p:cNvPr id="7" name="Rounded Rectangle"/>
          <p:cNvSpPr/>
          <p:nvPr/>
        </p:nvSpPr>
        <p:spPr>
          <a:xfrm>
            <a:off x="384175" y="1277541"/>
            <a:ext cx="5619750" cy="4037013"/>
          </a:xfrm>
          <a:prstGeom prst="roundRect">
            <a:avLst>
              <a:gd name="adj" fmla="val 2753"/>
            </a:avLst>
          </a:prstGeom>
          <a:solidFill>
            <a:srgbClr val="FFFFFF"/>
          </a:solidFill>
          <a:ln w="6350" cap="flat" cmpd="sng" algn="ctr">
            <a:solidFill>
              <a:srgbClr val="E2E8F0"/>
            </a:solidFill>
            <a:miter lim="800000"/>
          </a:ln>
          <a:effectLst>
            <a:outerShdw blurRad="101600" dist="50800" dir="5400000" sx="99548" sy="99371" algn="ctr" rotWithShape="0">
              <a:srgbClr val="000000">
                <a:alpha val="5000"/>
              </a:srgbClr>
            </a:outerShdw>
          </a:effectLst>
        </p:spPr>
      </p:sp>
      <p:sp>
        <p:nvSpPr>
          <p:cNvPr id="8" name="Rounded Rectangle"/>
          <p:cNvSpPr/>
          <p:nvPr/>
        </p:nvSpPr>
        <p:spPr>
          <a:xfrm>
            <a:off x="555625" y="1423591"/>
            <a:ext cx="754261" cy="238125"/>
          </a:xfrm>
          <a:prstGeom prst="roundRect">
            <a:avLst>
              <a:gd name="adj" fmla="val 20000"/>
            </a:avLst>
          </a:prstGeom>
          <a:solidFill>
            <a:srgbClr val="EFF6FF"/>
          </a:solidFill>
          <a:ln w="6350" cap="flat" cmpd="sng" algn="ctr">
            <a:solidFill>
              <a:srgbClr val="BFDBFE"/>
            </a:solidFill>
            <a:miter lim="800000"/>
          </a:ln>
        </p:spPr>
      </p:sp>
      <p:sp>
        <p:nvSpPr>
          <p:cNvPr id="9" name="Text: LEFT HAND"/>
          <p:cNvSpPr txBox="1"/>
          <p:nvPr/>
        </p:nvSpPr>
        <p:spPr>
          <a:xfrm>
            <a:off x="660400" y="1461691"/>
            <a:ext cx="54471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LEFT HAND</a:t>
            </a:r>
            <a:endParaRPr lang="en-US" sz="750" dirty="0"/>
          </a:p>
        </p:txBody>
      </p:sp>
      <p:sp>
        <p:nvSpPr>
          <p:cNvPr id="10" name="Text: 왼손: 피아노 화음(코드) 만들기"/>
          <p:cNvSpPr txBox="1"/>
          <p:nvPr/>
        </p:nvSpPr>
        <p:spPr>
          <a:xfrm>
            <a:off x="1389261" y="1407716"/>
            <a:ext cx="2218531" cy="238125"/>
          </a:xfrm>
          <a:prstGeom prst="rect">
            <a:avLst/>
          </a:prstGeom>
          <a:noFill/>
        </p:spPr>
        <p:txBody>
          <a:bodyPr wrap="none" lIns="0" tIns="0" rIns="0" bIns="0" rtlCol="0" anchor="t">
            <a:noAutofit/>
          </a:bodyPr>
          <a:lstStyle/>
          <a:p>
            <a:pPr algn="l">
              <a:lnSpc>
                <a:spcPts val="1875"/>
              </a:lnSpc>
              <a:spcBef>
                <a:spcPts val="0"/>
              </a:spcBef>
              <a:spcAft>
                <a:spcPts val="0"/>
              </a:spcAft>
              <a:buNone/>
            </a:pPr>
            <a:r>
              <a:rPr lang="en-US" sz="1250" b="1" spc="-4" dirty="0">
                <a:solidFill>
                  <a:srgbClr val="0F172A"/>
                </a:solidFill>
                <a:latin typeface="Segoe UI"/>
                <a:ea typeface="Segoe UI"/>
                <a:cs typeface="Segoe UI"/>
              </a:rPr>
              <a:t>왼손: 피아노 화음(코드) 만들기</a:t>
            </a:r>
            <a:endParaRPr lang="en-US" sz="1250" dirty="0"/>
          </a:p>
        </p:txBody>
      </p:sp>
      <p:sp>
        <p:nvSpPr>
          <p:cNvPr id="11" name="Text: Chord &amp; Mode"/>
          <p:cNvSpPr txBox="1"/>
          <p:nvPr/>
        </p:nvSpPr>
        <p:spPr>
          <a:xfrm>
            <a:off x="5155902" y="1461691"/>
            <a:ext cx="67974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64748B"/>
                </a:solidFill>
                <a:latin typeface="Segoe UI"/>
                <a:ea typeface="Segoe UI"/>
                <a:cs typeface="Segoe UI"/>
              </a:rPr>
              <a:t>Chord &amp; Mode</a:t>
            </a:r>
            <a:endParaRPr lang="en-US" sz="750" dirty="0"/>
          </a:p>
        </p:txBody>
      </p:sp>
      <p:sp>
        <p:nvSpPr>
          <p:cNvPr id="12" name="Rounded Rectangle"/>
          <p:cNvSpPr/>
          <p:nvPr/>
        </p:nvSpPr>
        <p:spPr>
          <a:xfrm>
            <a:off x="552450" y="3207941"/>
            <a:ext cx="5283200" cy="620713"/>
          </a:xfrm>
          <a:prstGeom prst="roundRect">
            <a:avLst>
              <a:gd name="adj" fmla="val 10230"/>
            </a:avLst>
          </a:prstGeom>
          <a:solidFill>
            <a:srgbClr val="F8FAFC"/>
          </a:solidFill>
          <a:ln>
            <a:noFill/>
          </a:ln>
        </p:spPr>
      </p:sp>
      <p:sp>
        <p:nvSpPr>
          <p:cNvPr id="13" name="Border"/>
          <p:cNvSpPr/>
          <p:nvPr/>
        </p:nvSpPr>
        <p:spPr>
          <a:xfrm>
            <a:off x="552450" y="3207941"/>
            <a:ext cx="5283200" cy="6350"/>
          </a:xfrm>
          <a:prstGeom prst="rect">
            <a:avLst/>
          </a:prstGeom>
          <a:solidFill>
            <a:srgbClr val="E2E8F0"/>
          </a:solidFill>
          <a:ln>
            <a:noFill/>
          </a:ln>
        </p:spPr>
      </p:sp>
      <p:sp>
        <p:nvSpPr>
          <p:cNvPr id="14" name="Border"/>
          <p:cNvSpPr/>
          <p:nvPr/>
        </p:nvSpPr>
        <p:spPr>
          <a:xfrm>
            <a:off x="5829300" y="3207941"/>
            <a:ext cx="6350" cy="620713"/>
          </a:xfrm>
          <a:prstGeom prst="rect">
            <a:avLst/>
          </a:prstGeom>
          <a:solidFill>
            <a:srgbClr val="E2E8F0"/>
          </a:solidFill>
          <a:ln>
            <a:noFill/>
          </a:ln>
        </p:spPr>
      </p:sp>
      <p:sp>
        <p:nvSpPr>
          <p:cNvPr id="15" name="Border"/>
          <p:cNvSpPr/>
          <p:nvPr/>
        </p:nvSpPr>
        <p:spPr>
          <a:xfrm>
            <a:off x="552450" y="3822303"/>
            <a:ext cx="5283200" cy="6350"/>
          </a:xfrm>
          <a:prstGeom prst="rect">
            <a:avLst/>
          </a:prstGeom>
          <a:solidFill>
            <a:srgbClr val="E2E8F0"/>
          </a:solidFill>
          <a:ln>
            <a:noFill/>
          </a:ln>
        </p:spPr>
      </p:sp>
      <p:sp>
        <p:nvSpPr>
          <p:cNvPr id="16" name="Border"/>
          <p:cNvSpPr/>
          <p:nvPr/>
        </p:nvSpPr>
        <p:spPr>
          <a:xfrm>
            <a:off x="552450" y="3207941"/>
            <a:ext cx="31750" cy="620713"/>
          </a:xfrm>
          <a:prstGeom prst="rect">
            <a:avLst/>
          </a:prstGeom>
          <a:solidFill>
            <a:srgbClr val="2563EB"/>
          </a:solidFill>
          <a:ln>
            <a:noFill/>
          </a:ln>
        </p:spPr>
      </p:sp>
      <p:sp>
        <p:nvSpPr>
          <p:cNvPr id="17" name="Rounded Rectangle"/>
          <p:cNvSpPr/>
          <p:nvPr/>
        </p:nvSpPr>
        <p:spPr>
          <a:xfrm>
            <a:off x="673100" y="3277791"/>
            <a:ext cx="1943199" cy="158750"/>
          </a:xfrm>
          <a:prstGeom prst="roundRect">
            <a:avLst>
              <a:gd name="adj" fmla="val 16000"/>
            </a:avLst>
          </a:prstGeom>
          <a:solidFill>
            <a:srgbClr val="EFF6FF"/>
          </a:solidFill>
          <a:ln>
            <a:noFill/>
          </a:ln>
        </p:spPr>
      </p:sp>
      <p:sp>
        <p:nvSpPr>
          <p:cNvPr id="18" name="Text: [손가락 펴짐(1~5개)] ➔ [피아노 코드 (I ~ V)]"/>
          <p:cNvSpPr txBox="1"/>
          <p:nvPr/>
        </p:nvSpPr>
        <p:spPr>
          <a:xfrm>
            <a:off x="723900" y="3277791"/>
            <a:ext cx="1841599"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b="1" spc="-4" dirty="0">
                <a:solidFill>
                  <a:srgbClr val="1D4ED8"/>
                </a:solidFill>
                <a:latin typeface="Segoe UI"/>
                <a:ea typeface="Segoe UI"/>
                <a:cs typeface="Segoe UI"/>
              </a:rPr>
              <a:t>[손가락 펴짐(1~5개)] ➔ [피아노 코드 (I ~ V)]</a:t>
            </a:r>
            <a:endParaRPr lang="en-US" sz="700" dirty="0"/>
          </a:p>
        </p:txBody>
      </p:sp>
      <p:sp>
        <p:nvSpPr>
          <p:cNvPr id="19" name="Text: Chord Select"/>
          <p:cNvSpPr txBox="1"/>
          <p:nvPr/>
        </p:nvSpPr>
        <p:spPr>
          <a:xfrm>
            <a:off x="5266829" y="3286522"/>
            <a:ext cx="473571" cy="119063"/>
          </a:xfrm>
          <a:prstGeom prst="rect">
            <a:avLst/>
          </a:prstGeom>
          <a:noFill/>
        </p:spPr>
        <p:txBody>
          <a:bodyPr wrap="none" lIns="0" tIns="0" rIns="0" bIns="0" rtlCol="0" anchor="t">
            <a:noAutofit/>
          </a:bodyPr>
          <a:lstStyle/>
          <a:p>
            <a:pPr algn="l">
              <a:lnSpc>
                <a:spcPts val="938"/>
              </a:lnSpc>
              <a:spcBef>
                <a:spcPts val="0"/>
              </a:spcBef>
              <a:spcAft>
                <a:spcPts val="0"/>
              </a:spcAft>
              <a:buNone/>
            </a:pPr>
            <a:r>
              <a:rPr lang="en-US" sz="625" b="1" spc="-4" dirty="0">
                <a:solidFill>
                  <a:srgbClr val="64748B"/>
                </a:solidFill>
                <a:latin typeface="Segoe UI"/>
                <a:ea typeface="Segoe UI"/>
                <a:cs typeface="Segoe UI"/>
              </a:rPr>
              <a:t>Chord Select</a:t>
            </a:r>
            <a:endParaRPr lang="en-US" sz="625" dirty="0"/>
          </a:p>
        </p:txBody>
      </p:sp>
      <p:sp>
        <p:nvSpPr>
          <p:cNvPr id="20" name="Text: 🖐️ 1개(C) • 2개(Dm) • 3개(Em) • 4개(F) • 5개"/>
          <p:cNvSpPr txBox="1"/>
          <p:nvPr/>
        </p:nvSpPr>
        <p:spPr>
          <a:xfrm>
            <a:off x="673100" y="3444478"/>
            <a:ext cx="2357636" cy="157163"/>
          </a:xfrm>
          <a:prstGeom prst="rect">
            <a:avLst/>
          </a:prstGeom>
          <a:noFill/>
        </p:spPr>
        <p:txBody>
          <a:bodyPr wrap="none" lIns="0" tIns="0" rIns="0" bIns="0" rtlCol="0" anchor="t">
            <a:noAutofit/>
          </a:bodyPr>
          <a:lstStyle/>
          <a:p>
            <a:pPr algn="l">
              <a:lnSpc>
                <a:spcPts val="1238"/>
              </a:lnSpc>
              <a:spcBef>
                <a:spcPts val="0"/>
              </a:spcBef>
              <a:spcAft>
                <a:spcPts val="0"/>
              </a:spcAft>
              <a:buNone/>
            </a:pPr>
            <a:r>
              <a:rPr lang="en-US" sz="825" b="1" spc="-4" dirty="0">
                <a:solidFill>
                  <a:srgbClr val="0F172A"/>
                </a:solidFill>
                <a:latin typeface="Segoe UI"/>
                <a:ea typeface="Segoe UI"/>
                <a:cs typeface="Segoe UI"/>
              </a:rPr>
              <a:t>🖐️ 1개(C) • 2개(Dm) • 3개(Em) • 4개(F) • 5개(G)</a:t>
            </a:r>
            <a:endParaRPr lang="en-US" sz="825" dirty="0"/>
          </a:p>
        </p:txBody>
      </p:sp>
      <p:sp>
        <p:nvSpPr>
          <p:cNvPr id="21" name="Text: 건반 터치 없이 손가락 포즈만으로 풍성한 코드 즉각 반주"/>
          <p:cNvSpPr txBox="1"/>
          <p:nvPr/>
        </p:nvSpPr>
        <p:spPr>
          <a:xfrm>
            <a:off x="673100" y="3612753"/>
            <a:ext cx="2279055"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spc="-4" dirty="0">
                <a:solidFill>
                  <a:srgbClr val="475569"/>
                </a:solidFill>
                <a:latin typeface="Segoe UI"/>
                <a:ea typeface="Segoe UI"/>
                <a:cs typeface="Segoe UI"/>
              </a:rPr>
              <a:t>건반 터치 없이 손가락 포즈만으로 풍성한 코드 즉각 반주</a:t>
            </a:r>
            <a:endParaRPr lang="en-US" sz="700" dirty="0"/>
          </a:p>
        </p:txBody>
      </p:sp>
      <p:sp>
        <p:nvSpPr>
          <p:cNvPr id="22" name="Rounded Rectangle"/>
          <p:cNvSpPr/>
          <p:nvPr/>
        </p:nvSpPr>
        <p:spPr>
          <a:xfrm>
            <a:off x="552450" y="3879453"/>
            <a:ext cx="5283200" cy="620713"/>
          </a:xfrm>
          <a:prstGeom prst="roundRect">
            <a:avLst>
              <a:gd name="adj" fmla="val 10230"/>
            </a:avLst>
          </a:prstGeom>
          <a:solidFill>
            <a:srgbClr val="F8FAFC"/>
          </a:solidFill>
          <a:ln>
            <a:noFill/>
          </a:ln>
        </p:spPr>
      </p:sp>
      <p:sp>
        <p:nvSpPr>
          <p:cNvPr id="23" name="Border"/>
          <p:cNvSpPr/>
          <p:nvPr/>
        </p:nvSpPr>
        <p:spPr>
          <a:xfrm>
            <a:off x="552450" y="3879453"/>
            <a:ext cx="5283200" cy="6350"/>
          </a:xfrm>
          <a:prstGeom prst="rect">
            <a:avLst/>
          </a:prstGeom>
          <a:solidFill>
            <a:srgbClr val="E2E8F0"/>
          </a:solidFill>
          <a:ln>
            <a:noFill/>
          </a:ln>
        </p:spPr>
      </p:sp>
      <p:sp>
        <p:nvSpPr>
          <p:cNvPr id="24" name="Border"/>
          <p:cNvSpPr/>
          <p:nvPr/>
        </p:nvSpPr>
        <p:spPr>
          <a:xfrm>
            <a:off x="5829300" y="3879453"/>
            <a:ext cx="6350" cy="620713"/>
          </a:xfrm>
          <a:prstGeom prst="rect">
            <a:avLst/>
          </a:prstGeom>
          <a:solidFill>
            <a:srgbClr val="E2E8F0"/>
          </a:solidFill>
          <a:ln>
            <a:noFill/>
          </a:ln>
        </p:spPr>
      </p:sp>
      <p:sp>
        <p:nvSpPr>
          <p:cNvPr id="25" name="Border"/>
          <p:cNvSpPr/>
          <p:nvPr/>
        </p:nvSpPr>
        <p:spPr>
          <a:xfrm>
            <a:off x="552450" y="4493816"/>
            <a:ext cx="5283200" cy="6350"/>
          </a:xfrm>
          <a:prstGeom prst="rect">
            <a:avLst/>
          </a:prstGeom>
          <a:solidFill>
            <a:srgbClr val="E2E8F0"/>
          </a:solidFill>
          <a:ln>
            <a:noFill/>
          </a:ln>
        </p:spPr>
      </p:sp>
      <p:sp>
        <p:nvSpPr>
          <p:cNvPr id="26" name="Border"/>
          <p:cNvSpPr/>
          <p:nvPr/>
        </p:nvSpPr>
        <p:spPr>
          <a:xfrm>
            <a:off x="552450" y="3879453"/>
            <a:ext cx="31750" cy="620713"/>
          </a:xfrm>
          <a:prstGeom prst="rect">
            <a:avLst/>
          </a:prstGeom>
          <a:solidFill>
            <a:srgbClr val="0284C7"/>
          </a:solidFill>
          <a:ln>
            <a:noFill/>
          </a:ln>
        </p:spPr>
      </p:sp>
      <p:sp>
        <p:nvSpPr>
          <p:cNvPr id="27" name="Rounded Rectangle"/>
          <p:cNvSpPr/>
          <p:nvPr/>
        </p:nvSpPr>
        <p:spPr>
          <a:xfrm>
            <a:off x="673100" y="3949303"/>
            <a:ext cx="1748334" cy="158750"/>
          </a:xfrm>
          <a:prstGeom prst="roundRect">
            <a:avLst>
              <a:gd name="adj" fmla="val 16000"/>
            </a:avLst>
          </a:prstGeom>
          <a:solidFill>
            <a:srgbClr val="E0F2FE"/>
          </a:solidFill>
          <a:ln>
            <a:noFill/>
          </a:ln>
        </p:spPr>
      </p:sp>
      <p:sp>
        <p:nvSpPr>
          <p:cNvPr id="28" name="Text: [손목 롤 틸트(Roll)] ➔ [Major ↔ Minor]"/>
          <p:cNvSpPr txBox="1"/>
          <p:nvPr/>
        </p:nvSpPr>
        <p:spPr>
          <a:xfrm>
            <a:off x="723900" y="3949303"/>
            <a:ext cx="1646734"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b="1" spc="-4" dirty="0">
                <a:solidFill>
                  <a:srgbClr val="0369A1"/>
                </a:solidFill>
                <a:latin typeface="Segoe UI"/>
                <a:ea typeface="Segoe UI"/>
                <a:cs typeface="Segoe UI"/>
              </a:rPr>
              <a:t>[손목 롤 틸트(Roll)] ➔ [Major ↔ Minor]</a:t>
            </a:r>
            <a:endParaRPr lang="en-US" sz="700" dirty="0"/>
          </a:p>
        </p:txBody>
      </p:sp>
      <p:sp>
        <p:nvSpPr>
          <p:cNvPr id="29" name="Text: Mode Switch"/>
          <p:cNvSpPr txBox="1"/>
          <p:nvPr/>
        </p:nvSpPr>
        <p:spPr>
          <a:xfrm>
            <a:off x="5253137" y="3958034"/>
            <a:ext cx="487263" cy="119063"/>
          </a:xfrm>
          <a:prstGeom prst="rect">
            <a:avLst/>
          </a:prstGeom>
          <a:noFill/>
        </p:spPr>
        <p:txBody>
          <a:bodyPr wrap="none" lIns="0" tIns="0" rIns="0" bIns="0" rtlCol="0" anchor="t">
            <a:noAutofit/>
          </a:bodyPr>
          <a:lstStyle/>
          <a:p>
            <a:pPr algn="l">
              <a:lnSpc>
                <a:spcPts val="938"/>
              </a:lnSpc>
              <a:spcBef>
                <a:spcPts val="0"/>
              </a:spcBef>
              <a:spcAft>
                <a:spcPts val="0"/>
              </a:spcAft>
              <a:buNone/>
            </a:pPr>
            <a:r>
              <a:rPr lang="en-US" sz="625" b="1" spc="-4" dirty="0">
                <a:solidFill>
                  <a:srgbClr val="64748B"/>
                </a:solidFill>
                <a:latin typeface="Segoe UI"/>
                <a:ea typeface="Segoe UI"/>
                <a:cs typeface="Segoe UI"/>
              </a:rPr>
              <a:t>Mode Switch</a:t>
            </a:r>
            <a:endParaRPr lang="en-US" sz="625" dirty="0"/>
          </a:p>
        </p:txBody>
      </p:sp>
      <p:sp>
        <p:nvSpPr>
          <p:cNvPr id="30" name="Text: 🔄 안쪽 기울기(밝은 장조) ↔ 바깥 기울기(슬픈 단조)"/>
          <p:cNvSpPr txBox="1"/>
          <p:nvPr/>
        </p:nvSpPr>
        <p:spPr>
          <a:xfrm>
            <a:off x="673100" y="4115991"/>
            <a:ext cx="2526705" cy="157163"/>
          </a:xfrm>
          <a:prstGeom prst="rect">
            <a:avLst/>
          </a:prstGeom>
          <a:noFill/>
        </p:spPr>
        <p:txBody>
          <a:bodyPr wrap="none" lIns="0" tIns="0" rIns="0" bIns="0" rtlCol="0" anchor="t">
            <a:noAutofit/>
          </a:bodyPr>
          <a:lstStyle/>
          <a:p>
            <a:pPr algn="l">
              <a:lnSpc>
                <a:spcPts val="1238"/>
              </a:lnSpc>
              <a:spcBef>
                <a:spcPts val="0"/>
              </a:spcBef>
              <a:spcAft>
                <a:spcPts val="0"/>
              </a:spcAft>
              <a:buNone/>
            </a:pPr>
            <a:r>
              <a:rPr lang="en-US" sz="825" b="1" spc="-4" dirty="0">
                <a:solidFill>
                  <a:srgbClr val="0F172A"/>
                </a:solidFill>
                <a:latin typeface="Segoe UI"/>
                <a:ea typeface="Segoe UI"/>
                <a:cs typeface="Segoe UI"/>
              </a:rPr>
              <a:t>🔄 안쪽 기울기(밝은 장조) ↔ 바깥 기울기(슬픈 단조)</a:t>
            </a:r>
            <a:endParaRPr lang="en-US" sz="825" dirty="0"/>
          </a:p>
        </p:txBody>
      </p:sp>
      <p:sp>
        <p:nvSpPr>
          <p:cNvPr id="31" name="Text: 손목 스윙 각도 조작만으로 곡의 분위기와 무드 실시간 변형"/>
          <p:cNvSpPr txBox="1"/>
          <p:nvPr/>
        </p:nvSpPr>
        <p:spPr>
          <a:xfrm>
            <a:off x="673100" y="4284266"/>
            <a:ext cx="2367459"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spc="-4" dirty="0">
                <a:solidFill>
                  <a:srgbClr val="475569"/>
                </a:solidFill>
                <a:latin typeface="Segoe UI"/>
                <a:ea typeface="Segoe UI"/>
                <a:cs typeface="Segoe UI"/>
              </a:rPr>
              <a:t>손목 스윙 각도 조작만으로 곡의 분위기와 무드 실시간 변형</a:t>
            </a:r>
            <a:endParaRPr lang="en-US" sz="700" dirty="0"/>
          </a:p>
        </p:txBody>
      </p:sp>
      <p:sp>
        <p:nvSpPr>
          <p:cNvPr id="32" name="Rounded Rectangle"/>
          <p:cNvSpPr/>
          <p:nvPr/>
        </p:nvSpPr>
        <p:spPr>
          <a:xfrm>
            <a:off x="552450" y="4550966"/>
            <a:ext cx="5283200" cy="620713"/>
          </a:xfrm>
          <a:prstGeom prst="roundRect">
            <a:avLst>
              <a:gd name="adj" fmla="val 10230"/>
            </a:avLst>
          </a:prstGeom>
          <a:solidFill>
            <a:srgbClr val="F8FAFC"/>
          </a:solidFill>
          <a:ln>
            <a:noFill/>
          </a:ln>
        </p:spPr>
      </p:sp>
      <p:sp>
        <p:nvSpPr>
          <p:cNvPr id="33" name="Border"/>
          <p:cNvSpPr/>
          <p:nvPr/>
        </p:nvSpPr>
        <p:spPr>
          <a:xfrm>
            <a:off x="552450" y="4550966"/>
            <a:ext cx="5283200" cy="6350"/>
          </a:xfrm>
          <a:prstGeom prst="rect">
            <a:avLst/>
          </a:prstGeom>
          <a:solidFill>
            <a:srgbClr val="E2E8F0"/>
          </a:solidFill>
          <a:ln>
            <a:noFill/>
          </a:ln>
        </p:spPr>
      </p:sp>
      <p:sp>
        <p:nvSpPr>
          <p:cNvPr id="34" name="Border"/>
          <p:cNvSpPr/>
          <p:nvPr/>
        </p:nvSpPr>
        <p:spPr>
          <a:xfrm>
            <a:off x="5829300" y="4550966"/>
            <a:ext cx="6350" cy="620713"/>
          </a:xfrm>
          <a:prstGeom prst="rect">
            <a:avLst/>
          </a:prstGeom>
          <a:solidFill>
            <a:srgbClr val="E2E8F0"/>
          </a:solidFill>
          <a:ln>
            <a:noFill/>
          </a:ln>
        </p:spPr>
      </p:sp>
      <p:sp>
        <p:nvSpPr>
          <p:cNvPr id="35" name="Border"/>
          <p:cNvSpPr/>
          <p:nvPr/>
        </p:nvSpPr>
        <p:spPr>
          <a:xfrm>
            <a:off x="552450" y="5165328"/>
            <a:ext cx="5283200" cy="6350"/>
          </a:xfrm>
          <a:prstGeom prst="rect">
            <a:avLst/>
          </a:prstGeom>
          <a:solidFill>
            <a:srgbClr val="E2E8F0"/>
          </a:solidFill>
          <a:ln>
            <a:noFill/>
          </a:ln>
        </p:spPr>
      </p:sp>
      <p:sp>
        <p:nvSpPr>
          <p:cNvPr id="36" name="Border"/>
          <p:cNvSpPr/>
          <p:nvPr/>
        </p:nvSpPr>
        <p:spPr>
          <a:xfrm>
            <a:off x="552450" y="4550966"/>
            <a:ext cx="31750" cy="620713"/>
          </a:xfrm>
          <a:prstGeom prst="rect">
            <a:avLst/>
          </a:prstGeom>
          <a:solidFill>
            <a:srgbClr val="7C3AED"/>
          </a:solidFill>
          <a:ln>
            <a:noFill/>
          </a:ln>
        </p:spPr>
      </p:sp>
      <p:sp>
        <p:nvSpPr>
          <p:cNvPr id="37" name="Rounded Rectangle"/>
          <p:cNvSpPr/>
          <p:nvPr/>
        </p:nvSpPr>
        <p:spPr>
          <a:xfrm>
            <a:off x="673100" y="4620816"/>
            <a:ext cx="1551087" cy="158750"/>
          </a:xfrm>
          <a:prstGeom prst="roundRect">
            <a:avLst>
              <a:gd name="adj" fmla="val 16000"/>
            </a:avLst>
          </a:prstGeom>
          <a:solidFill>
            <a:srgbClr val="F3E8FF"/>
          </a:solidFill>
          <a:ln>
            <a:noFill/>
          </a:ln>
        </p:spPr>
      </p:sp>
      <p:sp>
        <p:nvSpPr>
          <p:cNvPr id="38" name="Text: [제스처 연산] ➔ [네온 텍스트 HUD]"/>
          <p:cNvSpPr txBox="1"/>
          <p:nvPr/>
        </p:nvSpPr>
        <p:spPr>
          <a:xfrm>
            <a:off x="723900" y="4620816"/>
            <a:ext cx="1449487"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b="1" spc="-4" dirty="0">
                <a:solidFill>
                  <a:srgbClr val="6D28D9"/>
                </a:solidFill>
                <a:latin typeface="Segoe UI"/>
                <a:ea typeface="Segoe UI"/>
                <a:cs typeface="Segoe UI"/>
              </a:rPr>
              <a:t>[제스처 연산] ➔ [네온 텍스트 HUD]</a:t>
            </a:r>
            <a:endParaRPr lang="en-US" sz="700" dirty="0"/>
          </a:p>
        </p:txBody>
      </p:sp>
      <p:sp>
        <p:nvSpPr>
          <p:cNvPr id="39" name="Text: Visual Feedback"/>
          <p:cNvSpPr txBox="1"/>
          <p:nvPr/>
        </p:nvSpPr>
        <p:spPr>
          <a:xfrm>
            <a:off x="5141913" y="4629547"/>
            <a:ext cx="598488" cy="119063"/>
          </a:xfrm>
          <a:prstGeom prst="rect">
            <a:avLst/>
          </a:prstGeom>
          <a:noFill/>
        </p:spPr>
        <p:txBody>
          <a:bodyPr wrap="none" lIns="0" tIns="0" rIns="0" bIns="0" rtlCol="0" anchor="t">
            <a:noAutofit/>
          </a:bodyPr>
          <a:lstStyle/>
          <a:p>
            <a:pPr algn="l">
              <a:lnSpc>
                <a:spcPts val="938"/>
              </a:lnSpc>
              <a:spcBef>
                <a:spcPts val="0"/>
              </a:spcBef>
              <a:spcAft>
                <a:spcPts val="0"/>
              </a:spcAft>
              <a:buNone/>
            </a:pPr>
            <a:r>
              <a:rPr lang="en-US" sz="625" b="1" spc="-4" dirty="0">
                <a:solidFill>
                  <a:srgbClr val="64748B"/>
                </a:solidFill>
                <a:latin typeface="Segoe UI"/>
                <a:ea typeface="Segoe UI"/>
                <a:cs typeface="Segoe UI"/>
              </a:rPr>
              <a:t>Visual Feedback</a:t>
            </a:r>
            <a:endParaRPr lang="en-US" sz="625" dirty="0"/>
          </a:p>
        </p:txBody>
      </p:sp>
      <p:sp>
        <p:nvSpPr>
          <p:cNvPr id="40" name="Text: ✨ 연주 코드(C Major, Am7) 화면 하단 실시간 점등"/>
          <p:cNvSpPr txBox="1"/>
          <p:nvPr/>
        </p:nvSpPr>
        <p:spPr>
          <a:xfrm>
            <a:off x="673100" y="4787503"/>
            <a:ext cx="2468364" cy="157163"/>
          </a:xfrm>
          <a:prstGeom prst="rect">
            <a:avLst/>
          </a:prstGeom>
          <a:noFill/>
        </p:spPr>
        <p:txBody>
          <a:bodyPr wrap="none" lIns="0" tIns="0" rIns="0" bIns="0" rtlCol="0" anchor="t">
            <a:noAutofit/>
          </a:bodyPr>
          <a:lstStyle/>
          <a:p>
            <a:pPr algn="l">
              <a:lnSpc>
                <a:spcPts val="1238"/>
              </a:lnSpc>
              <a:spcBef>
                <a:spcPts val="0"/>
              </a:spcBef>
              <a:spcAft>
                <a:spcPts val="0"/>
              </a:spcAft>
              <a:buNone/>
            </a:pPr>
            <a:r>
              <a:rPr lang="en-US" sz="825" b="1" spc="-4" dirty="0">
                <a:solidFill>
                  <a:srgbClr val="0F172A"/>
                </a:solidFill>
                <a:latin typeface="Segoe UI"/>
                <a:ea typeface="Segoe UI"/>
                <a:cs typeface="Segoe UI"/>
              </a:rPr>
              <a:t>✨ 연주 코드(C Major, Am7) 화면 하단 실시간 점등</a:t>
            </a:r>
            <a:endParaRPr lang="en-US" sz="825" dirty="0"/>
          </a:p>
        </p:txBody>
      </p:sp>
      <p:sp>
        <p:nvSpPr>
          <p:cNvPr id="41" name="Text: 현재 화음 상태를 눈으로 보며 미스 터치 없는 안정적 즉흥 연주"/>
          <p:cNvSpPr txBox="1"/>
          <p:nvPr/>
        </p:nvSpPr>
        <p:spPr>
          <a:xfrm>
            <a:off x="673100" y="4955778"/>
            <a:ext cx="2517279"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spc="-4" dirty="0">
                <a:solidFill>
                  <a:srgbClr val="475569"/>
                </a:solidFill>
                <a:latin typeface="Segoe UI"/>
                <a:ea typeface="Segoe UI"/>
                <a:cs typeface="Segoe UI"/>
              </a:rPr>
              <a:t>현재 화음 상태를 눈으로 보며 미스 터치 없는 안정적 즉흥 연주</a:t>
            </a:r>
            <a:endParaRPr lang="en-US" sz="700" dirty="0"/>
          </a:p>
        </p:txBody>
      </p:sp>
      <p:sp>
        <p:nvSpPr>
          <p:cNvPr id="42" name="Rounded Rectangle"/>
          <p:cNvSpPr/>
          <p:nvPr/>
        </p:nvSpPr>
        <p:spPr>
          <a:xfrm>
            <a:off x="555625" y="1756966"/>
            <a:ext cx="5276850" cy="1358900"/>
          </a:xfrm>
          <a:prstGeom prst="roundRect">
            <a:avLst>
              <a:gd name="adj" fmla="val 5374"/>
            </a:avLst>
          </a:prstGeom>
          <a:solidFill>
            <a:srgbClr val="090D16"/>
          </a:solidFill>
          <a:ln w="6350" cap="flat" cmpd="sng" algn="ctr">
            <a:solidFill>
              <a:srgbClr val="CBD5E1"/>
            </a:solidFill>
            <a:miter lim="800000"/>
          </a:ln>
        </p:spPr>
      </p:sp>
      <p:pic>
        <p:nvPicPr>
          <p:cNvPr id="43" name="Image: 왼손 화음 제스처 매핑"/>
          <p:cNvPicPr>
            <a:picLocks noChangeAspect="1"/>
          </p:cNvPicPr>
          <p:nvPr/>
        </p:nvPicPr>
        <p:blipFill>
          <a:blip r:embed="rId2"/>
          <a:srcRect l="0" t="32815" r="0" b="32815"/>
          <a:stretch>
            <a:fillRect/>
          </a:stretch>
        </p:blipFill>
        <p:spPr>
          <a:xfrm>
            <a:off x="558800" y="1760141"/>
            <a:ext cx="5270500" cy="1352550"/>
          </a:xfrm>
          <a:prstGeom prst="rect">
            <a:avLst/>
          </a:prstGeom>
          <a:ln>
            <a:noFill/>
          </a:ln>
        </p:spPr>
      </p:pic>
      <p:pic>
        <p:nvPicPr>
          <p:cNvPr id="44" name="Rendered image"/>
          <p:cNvPicPr>
            <a:picLocks noChangeAspect="1"/>
          </p:cNvPicPr>
          <p:nvPr/>
        </p:nvPicPr>
        <p:blipFill>
          <a:blip r:embed="rId3"/>
          <a:stretch>
            <a:fillRect/>
          </a:stretch>
        </p:blipFill>
        <p:spPr>
          <a:xfrm>
            <a:off x="4083050" y="2876550"/>
            <a:ext cx="1670050" cy="171450"/>
          </a:xfrm>
          <a:prstGeom prst="rect">
            <a:avLst/>
          </a:prstGeom>
          <a:ln>
            <a:noFill/>
          </a:ln>
        </p:spPr>
      </p:pic>
      <p:sp>
        <p:nvSpPr>
          <p:cNvPr id="45" name="Rounded Rectangle"/>
          <p:cNvSpPr/>
          <p:nvPr/>
        </p:nvSpPr>
        <p:spPr>
          <a:xfrm>
            <a:off x="6188075" y="1277541"/>
            <a:ext cx="5619750" cy="4037013"/>
          </a:xfrm>
          <a:prstGeom prst="roundRect">
            <a:avLst>
              <a:gd name="adj" fmla="val 2753"/>
            </a:avLst>
          </a:prstGeom>
          <a:solidFill>
            <a:srgbClr val="FFFFFF"/>
          </a:solidFill>
          <a:ln w="6350" cap="flat" cmpd="sng" algn="ctr">
            <a:solidFill>
              <a:srgbClr val="E2E8F0"/>
            </a:solidFill>
            <a:miter lim="800000"/>
          </a:ln>
          <a:effectLst>
            <a:outerShdw blurRad="101600" dist="50800" dir="5400000" sx="99548" sy="99371" algn="ctr" rotWithShape="0">
              <a:srgbClr val="000000">
                <a:alpha val="5000"/>
              </a:srgbClr>
            </a:outerShdw>
          </a:effectLst>
        </p:spPr>
      </p:sp>
      <p:sp>
        <p:nvSpPr>
          <p:cNvPr id="46" name="Rounded Rectangle"/>
          <p:cNvSpPr/>
          <p:nvPr/>
        </p:nvSpPr>
        <p:spPr>
          <a:xfrm>
            <a:off x="6359525" y="1423591"/>
            <a:ext cx="838795" cy="238125"/>
          </a:xfrm>
          <a:prstGeom prst="roundRect">
            <a:avLst>
              <a:gd name="adj" fmla="val 20000"/>
            </a:avLst>
          </a:prstGeom>
          <a:solidFill>
            <a:srgbClr val="DCFCE7"/>
          </a:solidFill>
          <a:ln w="6350" cap="flat" cmpd="sng" algn="ctr">
            <a:solidFill>
              <a:srgbClr val="86EFAC"/>
            </a:solidFill>
            <a:miter lim="800000"/>
          </a:ln>
        </p:spPr>
      </p:sp>
      <p:sp>
        <p:nvSpPr>
          <p:cNvPr id="47" name="Text: RIGHT HAND"/>
          <p:cNvSpPr txBox="1"/>
          <p:nvPr/>
        </p:nvSpPr>
        <p:spPr>
          <a:xfrm>
            <a:off x="6464300" y="1461691"/>
            <a:ext cx="629245"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15803D"/>
                </a:solidFill>
                <a:latin typeface="Segoe UI"/>
                <a:ea typeface="Segoe UI"/>
                <a:cs typeface="Segoe UI"/>
              </a:rPr>
              <a:t>RIGHT HAND</a:t>
            </a:r>
            <a:endParaRPr lang="en-US" sz="750" dirty="0"/>
          </a:p>
        </p:txBody>
      </p:sp>
      <p:sp>
        <p:nvSpPr>
          <p:cNvPr id="48" name="Text: 오른손: 볼륨(소리 크기)과 음색 조절"/>
          <p:cNvSpPr txBox="1"/>
          <p:nvPr/>
        </p:nvSpPr>
        <p:spPr>
          <a:xfrm>
            <a:off x="7277695" y="1407716"/>
            <a:ext cx="2590304" cy="238125"/>
          </a:xfrm>
          <a:prstGeom prst="rect">
            <a:avLst/>
          </a:prstGeom>
          <a:noFill/>
        </p:spPr>
        <p:txBody>
          <a:bodyPr wrap="none" lIns="0" tIns="0" rIns="0" bIns="0" rtlCol="0" anchor="t">
            <a:noAutofit/>
          </a:bodyPr>
          <a:lstStyle/>
          <a:p>
            <a:pPr algn="l">
              <a:lnSpc>
                <a:spcPts val="1875"/>
              </a:lnSpc>
              <a:spcBef>
                <a:spcPts val="0"/>
              </a:spcBef>
              <a:spcAft>
                <a:spcPts val="0"/>
              </a:spcAft>
              <a:buNone/>
            </a:pPr>
            <a:r>
              <a:rPr lang="en-US" sz="1250" b="1" spc="-4" dirty="0">
                <a:solidFill>
                  <a:srgbClr val="0F172A"/>
                </a:solidFill>
                <a:latin typeface="Segoe UI"/>
                <a:ea typeface="Segoe UI"/>
                <a:cs typeface="Segoe UI"/>
              </a:rPr>
              <a:t>오른손: 볼륨(소리 크기)과 음색 조절</a:t>
            </a:r>
            <a:endParaRPr lang="en-US" sz="1250" dirty="0"/>
          </a:p>
        </p:txBody>
      </p:sp>
      <p:sp>
        <p:nvSpPr>
          <p:cNvPr id="49" name="Text: Volume &amp; Expression"/>
          <p:cNvSpPr txBox="1"/>
          <p:nvPr/>
        </p:nvSpPr>
        <p:spPr>
          <a:xfrm>
            <a:off x="10677128" y="1461691"/>
            <a:ext cx="962422"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64748B"/>
                </a:solidFill>
                <a:latin typeface="Segoe UI"/>
                <a:ea typeface="Segoe UI"/>
                <a:cs typeface="Segoe UI"/>
              </a:rPr>
              <a:t>Volume &amp; Expression</a:t>
            </a:r>
            <a:endParaRPr lang="en-US" sz="750" dirty="0"/>
          </a:p>
        </p:txBody>
      </p:sp>
      <p:sp>
        <p:nvSpPr>
          <p:cNvPr id="50" name="Rounded Rectangle"/>
          <p:cNvSpPr/>
          <p:nvPr/>
        </p:nvSpPr>
        <p:spPr>
          <a:xfrm>
            <a:off x="6356350" y="3207941"/>
            <a:ext cx="5283200" cy="620713"/>
          </a:xfrm>
          <a:prstGeom prst="roundRect">
            <a:avLst>
              <a:gd name="adj" fmla="val 10230"/>
            </a:avLst>
          </a:prstGeom>
          <a:solidFill>
            <a:srgbClr val="F8FAFC"/>
          </a:solidFill>
          <a:ln>
            <a:noFill/>
          </a:ln>
        </p:spPr>
      </p:sp>
      <p:sp>
        <p:nvSpPr>
          <p:cNvPr id="51" name="Border"/>
          <p:cNvSpPr/>
          <p:nvPr/>
        </p:nvSpPr>
        <p:spPr>
          <a:xfrm>
            <a:off x="6356350" y="3207941"/>
            <a:ext cx="5283200" cy="6350"/>
          </a:xfrm>
          <a:prstGeom prst="rect">
            <a:avLst/>
          </a:prstGeom>
          <a:solidFill>
            <a:srgbClr val="E2E8F0"/>
          </a:solidFill>
          <a:ln>
            <a:noFill/>
          </a:ln>
        </p:spPr>
      </p:sp>
      <p:sp>
        <p:nvSpPr>
          <p:cNvPr id="52" name="Border"/>
          <p:cNvSpPr/>
          <p:nvPr/>
        </p:nvSpPr>
        <p:spPr>
          <a:xfrm>
            <a:off x="11633200" y="3207941"/>
            <a:ext cx="6350" cy="620713"/>
          </a:xfrm>
          <a:prstGeom prst="rect">
            <a:avLst/>
          </a:prstGeom>
          <a:solidFill>
            <a:srgbClr val="E2E8F0"/>
          </a:solidFill>
          <a:ln>
            <a:noFill/>
          </a:ln>
        </p:spPr>
      </p:sp>
      <p:sp>
        <p:nvSpPr>
          <p:cNvPr id="53" name="Border"/>
          <p:cNvSpPr/>
          <p:nvPr/>
        </p:nvSpPr>
        <p:spPr>
          <a:xfrm>
            <a:off x="6356350" y="3822303"/>
            <a:ext cx="5283200" cy="6350"/>
          </a:xfrm>
          <a:prstGeom prst="rect">
            <a:avLst/>
          </a:prstGeom>
          <a:solidFill>
            <a:srgbClr val="E2E8F0"/>
          </a:solidFill>
          <a:ln>
            <a:noFill/>
          </a:ln>
        </p:spPr>
      </p:sp>
      <p:sp>
        <p:nvSpPr>
          <p:cNvPr id="54" name="Border"/>
          <p:cNvSpPr/>
          <p:nvPr/>
        </p:nvSpPr>
        <p:spPr>
          <a:xfrm>
            <a:off x="6356350" y="3207941"/>
            <a:ext cx="31750" cy="620713"/>
          </a:xfrm>
          <a:prstGeom prst="rect">
            <a:avLst/>
          </a:prstGeom>
          <a:solidFill>
            <a:srgbClr val="16A34A"/>
          </a:solidFill>
          <a:ln>
            <a:noFill/>
          </a:ln>
        </p:spPr>
      </p:sp>
      <p:sp>
        <p:nvSpPr>
          <p:cNvPr id="55" name="Rounded Rectangle"/>
          <p:cNvSpPr/>
          <p:nvPr/>
        </p:nvSpPr>
        <p:spPr>
          <a:xfrm>
            <a:off x="6477000" y="3277791"/>
            <a:ext cx="1926828" cy="158750"/>
          </a:xfrm>
          <a:prstGeom prst="roundRect">
            <a:avLst>
              <a:gd name="adj" fmla="val 16000"/>
            </a:avLst>
          </a:prstGeom>
          <a:solidFill>
            <a:srgbClr val="DCFCE7"/>
          </a:solidFill>
          <a:ln>
            <a:noFill/>
          </a:ln>
        </p:spPr>
      </p:sp>
      <p:sp>
        <p:nvSpPr>
          <p:cNvPr id="56" name="Text: [손 높이(Y축)] ➔ [마스터 볼륨 (0% ~ 150%)]"/>
          <p:cNvSpPr txBox="1"/>
          <p:nvPr/>
        </p:nvSpPr>
        <p:spPr>
          <a:xfrm>
            <a:off x="6527800" y="3277791"/>
            <a:ext cx="1825228"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b="1" spc="-4" dirty="0">
                <a:solidFill>
                  <a:srgbClr val="15803D"/>
                </a:solidFill>
                <a:latin typeface="Segoe UI"/>
                <a:ea typeface="Segoe UI"/>
                <a:cs typeface="Segoe UI"/>
              </a:rPr>
              <a:t>[손 높이(Y축)] ➔ [마스터 볼륨 (0% ~ 150%)]</a:t>
            </a:r>
            <a:endParaRPr lang="en-US" sz="700" dirty="0"/>
          </a:p>
        </p:txBody>
      </p:sp>
      <p:sp>
        <p:nvSpPr>
          <p:cNvPr id="57" name="Text: Volume Dynamics"/>
          <p:cNvSpPr txBox="1"/>
          <p:nvPr/>
        </p:nvSpPr>
        <p:spPr>
          <a:xfrm>
            <a:off x="10876558" y="3286522"/>
            <a:ext cx="667742" cy="119063"/>
          </a:xfrm>
          <a:prstGeom prst="rect">
            <a:avLst/>
          </a:prstGeom>
          <a:noFill/>
        </p:spPr>
        <p:txBody>
          <a:bodyPr wrap="none" lIns="0" tIns="0" rIns="0" bIns="0" rtlCol="0" anchor="t">
            <a:noAutofit/>
          </a:bodyPr>
          <a:lstStyle/>
          <a:p>
            <a:pPr algn="l">
              <a:lnSpc>
                <a:spcPts val="938"/>
              </a:lnSpc>
              <a:spcBef>
                <a:spcPts val="0"/>
              </a:spcBef>
              <a:spcAft>
                <a:spcPts val="0"/>
              </a:spcAft>
              <a:buNone/>
            </a:pPr>
            <a:r>
              <a:rPr lang="en-US" sz="625" b="1" spc="-4" dirty="0">
                <a:solidFill>
                  <a:srgbClr val="64748B"/>
                </a:solidFill>
                <a:latin typeface="Segoe UI"/>
                <a:ea typeface="Segoe UI"/>
                <a:cs typeface="Segoe UI"/>
              </a:rPr>
              <a:t>Volume Dynamics</a:t>
            </a:r>
            <a:endParaRPr lang="en-US" sz="625" dirty="0"/>
          </a:p>
        </p:txBody>
      </p:sp>
      <p:sp>
        <p:nvSpPr>
          <p:cNvPr id="58" name="Text: 🔊 손 올림(Crescendo ⬆) ↔ 손 내림(Decrescendo "/>
          <p:cNvSpPr txBox="1"/>
          <p:nvPr/>
        </p:nvSpPr>
        <p:spPr>
          <a:xfrm>
            <a:off x="6477000" y="3444478"/>
            <a:ext cx="2626916" cy="157163"/>
          </a:xfrm>
          <a:prstGeom prst="rect">
            <a:avLst/>
          </a:prstGeom>
          <a:noFill/>
        </p:spPr>
        <p:txBody>
          <a:bodyPr wrap="none" lIns="0" tIns="0" rIns="0" bIns="0" rtlCol="0" anchor="t">
            <a:noAutofit/>
          </a:bodyPr>
          <a:lstStyle/>
          <a:p>
            <a:pPr algn="l">
              <a:lnSpc>
                <a:spcPts val="1238"/>
              </a:lnSpc>
              <a:spcBef>
                <a:spcPts val="0"/>
              </a:spcBef>
              <a:spcAft>
                <a:spcPts val="0"/>
              </a:spcAft>
              <a:buNone/>
            </a:pPr>
            <a:r>
              <a:rPr lang="en-US" sz="825" b="1" spc="-4" dirty="0">
                <a:solidFill>
                  <a:srgbClr val="0F172A"/>
                </a:solidFill>
                <a:latin typeface="Segoe UI"/>
                <a:ea typeface="Segoe UI"/>
                <a:cs typeface="Segoe UI"/>
              </a:rPr>
              <a:t>🔊 손 올림(Crescendo ⬆) ↔ 손 내림(Decrescendo ⬇)</a:t>
            </a:r>
            <a:endParaRPr lang="en-US" sz="825" dirty="0"/>
          </a:p>
        </p:txBody>
      </p:sp>
      <p:sp>
        <p:nvSpPr>
          <p:cNvPr id="59" name="Text: 하드웨어 노브 없이 허공의 높낮이만으로 음량 연속 제어"/>
          <p:cNvSpPr txBox="1"/>
          <p:nvPr/>
        </p:nvSpPr>
        <p:spPr>
          <a:xfrm>
            <a:off x="6477000" y="3612753"/>
            <a:ext cx="2248297"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spc="-4" dirty="0">
                <a:solidFill>
                  <a:srgbClr val="475569"/>
                </a:solidFill>
                <a:latin typeface="Segoe UI"/>
                <a:ea typeface="Segoe UI"/>
                <a:cs typeface="Segoe UI"/>
              </a:rPr>
              <a:t>하드웨어 노브 없이 허공의 높낮이만으로 음량 연속 제어</a:t>
            </a:r>
            <a:endParaRPr lang="en-US" sz="700" dirty="0"/>
          </a:p>
        </p:txBody>
      </p:sp>
      <p:sp>
        <p:nvSpPr>
          <p:cNvPr id="60" name="Rounded Rectangle"/>
          <p:cNvSpPr/>
          <p:nvPr/>
        </p:nvSpPr>
        <p:spPr>
          <a:xfrm>
            <a:off x="6356350" y="3879453"/>
            <a:ext cx="5283200" cy="620713"/>
          </a:xfrm>
          <a:prstGeom prst="roundRect">
            <a:avLst>
              <a:gd name="adj" fmla="val 10230"/>
            </a:avLst>
          </a:prstGeom>
          <a:solidFill>
            <a:srgbClr val="F8FAFC"/>
          </a:solidFill>
          <a:ln>
            <a:noFill/>
          </a:ln>
        </p:spPr>
      </p:sp>
      <p:sp>
        <p:nvSpPr>
          <p:cNvPr id="61" name="Border"/>
          <p:cNvSpPr/>
          <p:nvPr/>
        </p:nvSpPr>
        <p:spPr>
          <a:xfrm>
            <a:off x="6356350" y="3879453"/>
            <a:ext cx="5283200" cy="6350"/>
          </a:xfrm>
          <a:prstGeom prst="rect">
            <a:avLst/>
          </a:prstGeom>
          <a:solidFill>
            <a:srgbClr val="E2E8F0"/>
          </a:solidFill>
          <a:ln>
            <a:noFill/>
          </a:ln>
        </p:spPr>
      </p:sp>
      <p:sp>
        <p:nvSpPr>
          <p:cNvPr id="62" name="Border"/>
          <p:cNvSpPr/>
          <p:nvPr/>
        </p:nvSpPr>
        <p:spPr>
          <a:xfrm>
            <a:off x="11633200" y="3879453"/>
            <a:ext cx="6350" cy="620713"/>
          </a:xfrm>
          <a:prstGeom prst="rect">
            <a:avLst/>
          </a:prstGeom>
          <a:solidFill>
            <a:srgbClr val="E2E8F0"/>
          </a:solidFill>
          <a:ln>
            <a:noFill/>
          </a:ln>
        </p:spPr>
      </p:sp>
      <p:sp>
        <p:nvSpPr>
          <p:cNvPr id="63" name="Border"/>
          <p:cNvSpPr/>
          <p:nvPr/>
        </p:nvSpPr>
        <p:spPr>
          <a:xfrm>
            <a:off x="6356350" y="4493816"/>
            <a:ext cx="5283200" cy="6350"/>
          </a:xfrm>
          <a:prstGeom prst="rect">
            <a:avLst/>
          </a:prstGeom>
          <a:solidFill>
            <a:srgbClr val="E2E8F0"/>
          </a:solidFill>
          <a:ln>
            <a:noFill/>
          </a:ln>
        </p:spPr>
      </p:sp>
      <p:sp>
        <p:nvSpPr>
          <p:cNvPr id="64" name="Border"/>
          <p:cNvSpPr/>
          <p:nvPr/>
        </p:nvSpPr>
        <p:spPr>
          <a:xfrm>
            <a:off x="6356350" y="3879453"/>
            <a:ext cx="31750" cy="620713"/>
          </a:xfrm>
          <a:prstGeom prst="rect">
            <a:avLst/>
          </a:prstGeom>
          <a:solidFill>
            <a:srgbClr val="059669"/>
          </a:solidFill>
          <a:ln>
            <a:noFill/>
          </a:ln>
        </p:spPr>
      </p:sp>
      <p:sp>
        <p:nvSpPr>
          <p:cNvPr id="65" name="Rounded Rectangle"/>
          <p:cNvSpPr/>
          <p:nvPr/>
        </p:nvSpPr>
        <p:spPr>
          <a:xfrm>
            <a:off x="6477000" y="3949303"/>
            <a:ext cx="1888133" cy="158750"/>
          </a:xfrm>
          <a:prstGeom prst="roundRect">
            <a:avLst>
              <a:gd name="adj" fmla="val 16000"/>
            </a:avLst>
          </a:prstGeom>
          <a:solidFill>
            <a:srgbClr val="D1FAE5"/>
          </a:solidFill>
          <a:ln>
            <a:noFill/>
          </a:ln>
        </p:spPr>
      </p:sp>
      <p:sp>
        <p:nvSpPr>
          <p:cNvPr id="66" name="Text: [손목 틸트 각도] ➔ [Low-Pass Filter Cutoff]"/>
          <p:cNvSpPr txBox="1"/>
          <p:nvPr/>
        </p:nvSpPr>
        <p:spPr>
          <a:xfrm>
            <a:off x="6527800" y="3949303"/>
            <a:ext cx="1786533"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b="1" spc="-4" dirty="0">
                <a:solidFill>
                  <a:srgbClr val="047857"/>
                </a:solidFill>
                <a:latin typeface="Segoe UI"/>
                <a:ea typeface="Segoe UI"/>
                <a:cs typeface="Segoe UI"/>
              </a:rPr>
              <a:t>[손목 틸트 각도] ➔ [Low-Pass Filter Cutoff]</a:t>
            </a:r>
            <a:endParaRPr lang="en-US" sz="700" dirty="0"/>
          </a:p>
        </p:txBody>
      </p:sp>
      <p:sp>
        <p:nvSpPr>
          <p:cNvPr id="67" name="Text: Tone Modulation"/>
          <p:cNvSpPr txBox="1"/>
          <p:nvPr/>
        </p:nvSpPr>
        <p:spPr>
          <a:xfrm>
            <a:off x="10906125" y="3958034"/>
            <a:ext cx="638175" cy="119063"/>
          </a:xfrm>
          <a:prstGeom prst="rect">
            <a:avLst/>
          </a:prstGeom>
          <a:noFill/>
        </p:spPr>
        <p:txBody>
          <a:bodyPr wrap="none" lIns="0" tIns="0" rIns="0" bIns="0" rtlCol="0" anchor="t">
            <a:noAutofit/>
          </a:bodyPr>
          <a:lstStyle/>
          <a:p>
            <a:pPr algn="l">
              <a:lnSpc>
                <a:spcPts val="938"/>
              </a:lnSpc>
              <a:spcBef>
                <a:spcPts val="0"/>
              </a:spcBef>
              <a:spcAft>
                <a:spcPts val="0"/>
              </a:spcAft>
              <a:buNone/>
            </a:pPr>
            <a:r>
              <a:rPr lang="en-US" sz="625" b="1" spc="-4" dirty="0">
                <a:solidFill>
                  <a:srgbClr val="64748B"/>
                </a:solidFill>
                <a:latin typeface="Segoe UI"/>
                <a:ea typeface="Segoe UI"/>
                <a:cs typeface="Segoe UI"/>
              </a:rPr>
              <a:t>Tone Modulation</a:t>
            </a:r>
            <a:endParaRPr lang="en-US" sz="625" dirty="0"/>
          </a:p>
        </p:txBody>
      </p:sp>
      <p:sp>
        <p:nvSpPr>
          <p:cNvPr id="68" name="Text: 🎛️ 수평(따뜻한 아날로그 톤) ➔ 젖힘(날카로운 EDM 신스)"/>
          <p:cNvSpPr txBox="1"/>
          <p:nvPr/>
        </p:nvSpPr>
        <p:spPr>
          <a:xfrm>
            <a:off x="6477000" y="4115991"/>
            <a:ext cx="2760762" cy="157163"/>
          </a:xfrm>
          <a:prstGeom prst="rect">
            <a:avLst/>
          </a:prstGeom>
          <a:noFill/>
        </p:spPr>
        <p:txBody>
          <a:bodyPr wrap="none" lIns="0" tIns="0" rIns="0" bIns="0" rtlCol="0" anchor="t">
            <a:noAutofit/>
          </a:bodyPr>
          <a:lstStyle/>
          <a:p>
            <a:pPr algn="l">
              <a:lnSpc>
                <a:spcPts val="1238"/>
              </a:lnSpc>
              <a:spcBef>
                <a:spcPts val="0"/>
              </a:spcBef>
              <a:spcAft>
                <a:spcPts val="0"/>
              </a:spcAft>
              <a:buNone/>
            </a:pPr>
            <a:r>
              <a:rPr lang="en-US" sz="825" b="1" spc="-4" dirty="0">
                <a:solidFill>
                  <a:srgbClr val="0F172A"/>
                </a:solidFill>
                <a:latin typeface="Segoe UI"/>
                <a:ea typeface="Segoe UI"/>
                <a:cs typeface="Segoe UI"/>
              </a:rPr>
              <a:t>🎛️ 수평(따뜻한 아날로그 톤) ➔ 젖힘(날카로운 EDM 신스)</a:t>
            </a:r>
            <a:endParaRPr lang="en-US" sz="825" dirty="0"/>
          </a:p>
        </p:txBody>
      </p:sp>
      <p:sp>
        <p:nvSpPr>
          <p:cNvPr id="69" name="Text: 손목 스윙만으로 드라마틱한 필터 스윕 사운드 빌드업"/>
          <p:cNvSpPr txBox="1"/>
          <p:nvPr/>
        </p:nvSpPr>
        <p:spPr>
          <a:xfrm>
            <a:off x="6477000" y="4284266"/>
            <a:ext cx="2129135"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spc="-4" dirty="0">
                <a:solidFill>
                  <a:srgbClr val="475569"/>
                </a:solidFill>
                <a:latin typeface="Segoe UI"/>
                <a:ea typeface="Segoe UI"/>
                <a:cs typeface="Segoe UI"/>
              </a:rPr>
              <a:t>손목 스윙만으로 드라마틱한 필터 스윕 사운드 빌드업</a:t>
            </a:r>
            <a:endParaRPr lang="en-US" sz="700" dirty="0"/>
          </a:p>
        </p:txBody>
      </p:sp>
      <p:sp>
        <p:nvSpPr>
          <p:cNvPr id="70" name="Rounded Rectangle"/>
          <p:cNvSpPr/>
          <p:nvPr/>
        </p:nvSpPr>
        <p:spPr>
          <a:xfrm>
            <a:off x="6356350" y="4550966"/>
            <a:ext cx="5283200" cy="620713"/>
          </a:xfrm>
          <a:prstGeom prst="roundRect">
            <a:avLst>
              <a:gd name="adj" fmla="val 10230"/>
            </a:avLst>
          </a:prstGeom>
          <a:solidFill>
            <a:srgbClr val="F8FAFC"/>
          </a:solidFill>
          <a:ln>
            <a:noFill/>
          </a:ln>
        </p:spPr>
      </p:sp>
      <p:sp>
        <p:nvSpPr>
          <p:cNvPr id="71" name="Border"/>
          <p:cNvSpPr/>
          <p:nvPr/>
        </p:nvSpPr>
        <p:spPr>
          <a:xfrm>
            <a:off x="6356350" y="4550966"/>
            <a:ext cx="5283200" cy="6350"/>
          </a:xfrm>
          <a:prstGeom prst="rect">
            <a:avLst/>
          </a:prstGeom>
          <a:solidFill>
            <a:srgbClr val="E2E8F0"/>
          </a:solidFill>
          <a:ln>
            <a:noFill/>
          </a:ln>
        </p:spPr>
      </p:sp>
      <p:sp>
        <p:nvSpPr>
          <p:cNvPr id="72" name="Border"/>
          <p:cNvSpPr/>
          <p:nvPr/>
        </p:nvSpPr>
        <p:spPr>
          <a:xfrm>
            <a:off x="11633200" y="4550966"/>
            <a:ext cx="6350" cy="620713"/>
          </a:xfrm>
          <a:prstGeom prst="rect">
            <a:avLst/>
          </a:prstGeom>
          <a:solidFill>
            <a:srgbClr val="E2E8F0"/>
          </a:solidFill>
          <a:ln>
            <a:noFill/>
          </a:ln>
        </p:spPr>
      </p:sp>
      <p:sp>
        <p:nvSpPr>
          <p:cNvPr id="73" name="Border"/>
          <p:cNvSpPr/>
          <p:nvPr/>
        </p:nvSpPr>
        <p:spPr>
          <a:xfrm>
            <a:off x="6356350" y="5165328"/>
            <a:ext cx="5283200" cy="6350"/>
          </a:xfrm>
          <a:prstGeom prst="rect">
            <a:avLst/>
          </a:prstGeom>
          <a:solidFill>
            <a:srgbClr val="E2E8F0"/>
          </a:solidFill>
          <a:ln>
            <a:noFill/>
          </a:ln>
        </p:spPr>
      </p:sp>
      <p:sp>
        <p:nvSpPr>
          <p:cNvPr id="74" name="Border"/>
          <p:cNvSpPr/>
          <p:nvPr/>
        </p:nvSpPr>
        <p:spPr>
          <a:xfrm>
            <a:off x="6356350" y="4550966"/>
            <a:ext cx="31750" cy="620713"/>
          </a:xfrm>
          <a:prstGeom prst="rect">
            <a:avLst/>
          </a:prstGeom>
          <a:solidFill>
            <a:srgbClr val="D97706"/>
          </a:solidFill>
          <a:ln>
            <a:noFill/>
          </a:ln>
        </p:spPr>
      </p:sp>
      <p:sp>
        <p:nvSpPr>
          <p:cNvPr id="75" name="Rounded Rectangle"/>
          <p:cNvSpPr/>
          <p:nvPr/>
        </p:nvSpPr>
        <p:spPr>
          <a:xfrm>
            <a:off x="6477000" y="4620816"/>
            <a:ext cx="1928912" cy="158750"/>
          </a:xfrm>
          <a:prstGeom prst="roundRect">
            <a:avLst>
              <a:gd name="adj" fmla="val 16000"/>
            </a:avLst>
          </a:prstGeom>
          <a:solidFill>
            <a:srgbClr val="FEF3C7"/>
          </a:solidFill>
          <a:ln>
            <a:noFill/>
          </a:ln>
        </p:spPr>
      </p:sp>
      <p:sp>
        <p:nvSpPr>
          <p:cNvPr id="76" name="Text: [엄지 펴짐 + 핑거] ➔ [베이스(-1 Oct) &amp; 7th]"/>
          <p:cNvSpPr txBox="1"/>
          <p:nvPr/>
        </p:nvSpPr>
        <p:spPr>
          <a:xfrm>
            <a:off x="6527800" y="4620816"/>
            <a:ext cx="1827312"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b="1" spc="-4" dirty="0">
                <a:solidFill>
                  <a:srgbClr val="B45309"/>
                </a:solidFill>
                <a:latin typeface="Segoe UI"/>
                <a:ea typeface="Segoe UI"/>
                <a:cs typeface="Segoe UI"/>
              </a:rPr>
              <a:t>[엄지 펴짐 + 핑거] ➔ [베이스(-1 Oct) &amp; 7th]</a:t>
            </a:r>
            <a:endParaRPr lang="en-US" sz="700" dirty="0"/>
          </a:p>
        </p:txBody>
      </p:sp>
      <p:sp>
        <p:nvSpPr>
          <p:cNvPr id="77" name="Text: Layering"/>
          <p:cNvSpPr txBox="1"/>
          <p:nvPr/>
        </p:nvSpPr>
        <p:spPr>
          <a:xfrm>
            <a:off x="11227991" y="4629547"/>
            <a:ext cx="316309" cy="119063"/>
          </a:xfrm>
          <a:prstGeom prst="rect">
            <a:avLst/>
          </a:prstGeom>
          <a:noFill/>
        </p:spPr>
        <p:txBody>
          <a:bodyPr wrap="none" lIns="0" tIns="0" rIns="0" bIns="0" rtlCol="0" anchor="t">
            <a:noAutofit/>
          </a:bodyPr>
          <a:lstStyle/>
          <a:p>
            <a:pPr algn="l">
              <a:lnSpc>
                <a:spcPts val="938"/>
              </a:lnSpc>
              <a:spcBef>
                <a:spcPts val="0"/>
              </a:spcBef>
              <a:spcAft>
                <a:spcPts val="0"/>
              </a:spcAft>
              <a:buNone/>
            </a:pPr>
            <a:r>
              <a:rPr lang="en-US" sz="625" b="1" spc="-4" dirty="0">
                <a:solidFill>
                  <a:srgbClr val="64748B"/>
                </a:solidFill>
                <a:latin typeface="Segoe UI"/>
                <a:ea typeface="Segoe UI"/>
                <a:cs typeface="Segoe UI"/>
              </a:rPr>
              <a:t>Layering</a:t>
            </a:r>
            <a:endParaRPr lang="en-US" sz="625" dirty="0"/>
          </a:p>
        </p:txBody>
      </p:sp>
      <p:sp>
        <p:nvSpPr>
          <p:cNvPr id="78" name="Text: 🎶 엄지 ON: -1옥타브 서브 베이스 • 손가락 추가: 7th 재즈 "/>
          <p:cNvSpPr txBox="1"/>
          <p:nvPr/>
        </p:nvSpPr>
        <p:spPr>
          <a:xfrm>
            <a:off x="6477000" y="4787503"/>
            <a:ext cx="3051175" cy="157163"/>
          </a:xfrm>
          <a:prstGeom prst="rect">
            <a:avLst/>
          </a:prstGeom>
          <a:noFill/>
        </p:spPr>
        <p:txBody>
          <a:bodyPr wrap="none" lIns="0" tIns="0" rIns="0" bIns="0" rtlCol="0" anchor="t">
            <a:noAutofit/>
          </a:bodyPr>
          <a:lstStyle/>
          <a:p>
            <a:pPr algn="l">
              <a:lnSpc>
                <a:spcPts val="1238"/>
              </a:lnSpc>
              <a:spcBef>
                <a:spcPts val="0"/>
              </a:spcBef>
              <a:spcAft>
                <a:spcPts val="0"/>
              </a:spcAft>
              <a:buNone/>
            </a:pPr>
            <a:r>
              <a:rPr lang="en-US" sz="825" b="1" spc="-4" dirty="0">
                <a:solidFill>
                  <a:srgbClr val="0F172A"/>
                </a:solidFill>
                <a:latin typeface="Segoe UI"/>
                <a:ea typeface="Segoe UI"/>
                <a:cs typeface="Segoe UI"/>
              </a:rPr>
              <a:t>🎶 엄지 ON: -1옥타브 서브 베이스 • 손가락 추가: 7th 재즈 텐션</a:t>
            </a:r>
            <a:endParaRPr lang="en-US" sz="825" dirty="0"/>
          </a:p>
        </p:txBody>
      </p:sp>
      <p:sp>
        <p:nvSpPr>
          <p:cNvPr id="79" name="Text: 한 손 제어만으로 풀 밴드 수준의 웅장한 입체 사운드 완성"/>
          <p:cNvSpPr txBox="1"/>
          <p:nvPr/>
        </p:nvSpPr>
        <p:spPr>
          <a:xfrm>
            <a:off x="6477000" y="4955778"/>
            <a:ext cx="2309813"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spc="-4" dirty="0">
                <a:solidFill>
                  <a:srgbClr val="475569"/>
                </a:solidFill>
                <a:latin typeface="Segoe UI"/>
                <a:ea typeface="Segoe UI"/>
                <a:cs typeface="Segoe UI"/>
              </a:rPr>
              <a:t>한 손 제어만으로 풀 밴드 수준의 웅장한 입체 사운드 완성</a:t>
            </a:r>
            <a:endParaRPr lang="en-US" sz="700" dirty="0"/>
          </a:p>
        </p:txBody>
      </p:sp>
      <p:sp>
        <p:nvSpPr>
          <p:cNvPr id="80" name="Rounded Rectangle"/>
          <p:cNvSpPr/>
          <p:nvPr/>
        </p:nvSpPr>
        <p:spPr>
          <a:xfrm>
            <a:off x="6359525" y="1756966"/>
            <a:ext cx="5276850" cy="1358900"/>
          </a:xfrm>
          <a:prstGeom prst="roundRect">
            <a:avLst>
              <a:gd name="adj" fmla="val 5374"/>
            </a:avLst>
          </a:prstGeom>
          <a:solidFill>
            <a:srgbClr val="090D16"/>
          </a:solidFill>
          <a:ln w="6350" cap="flat" cmpd="sng" algn="ctr">
            <a:solidFill>
              <a:srgbClr val="CBD5E1"/>
            </a:solidFill>
            <a:miter lim="800000"/>
          </a:ln>
        </p:spPr>
      </p:sp>
      <p:pic>
        <p:nvPicPr>
          <p:cNvPr id="81" name="Image: 오른손 볼륨 및 필터 음색 조절"/>
          <p:cNvPicPr>
            <a:picLocks noChangeAspect="1"/>
          </p:cNvPicPr>
          <p:nvPr/>
        </p:nvPicPr>
        <p:blipFill>
          <a:blip r:embed="rId4"/>
          <a:srcRect l="0" t="32815" r="0" b="32815"/>
          <a:stretch>
            <a:fillRect/>
          </a:stretch>
        </p:blipFill>
        <p:spPr>
          <a:xfrm>
            <a:off x="6362700" y="1760141"/>
            <a:ext cx="5270500" cy="1352550"/>
          </a:xfrm>
          <a:prstGeom prst="rect">
            <a:avLst/>
          </a:prstGeom>
          <a:ln>
            <a:noFill/>
          </a:ln>
        </p:spPr>
      </p:pic>
      <p:pic>
        <p:nvPicPr>
          <p:cNvPr id="82" name="Rendered image"/>
          <p:cNvPicPr>
            <a:picLocks noChangeAspect="1"/>
          </p:cNvPicPr>
          <p:nvPr/>
        </p:nvPicPr>
        <p:blipFill>
          <a:blip r:embed="rId5"/>
          <a:stretch>
            <a:fillRect/>
          </a:stretch>
        </p:blipFill>
        <p:spPr>
          <a:xfrm>
            <a:off x="9772650" y="2876550"/>
            <a:ext cx="1784350" cy="171450"/>
          </a:xfrm>
          <a:prstGeom prst="rect">
            <a:avLst/>
          </a:prstGeom>
          <a:ln>
            <a:noFill/>
          </a:ln>
        </p:spPr>
      </p:pic>
      <p:sp>
        <p:nvSpPr>
          <p:cNvPr id="83" name="Rounded Rectangle"/>
          <p:cNvSpPr/>
          <p:nvPr/>
        </p:nvSpPr>
        <p:spPr>
          <a:xfrm>
            <a:off x="384175" y="5378450"/>
            <a:ext cx="11423650" cy="952500"/>
          </a:xfrm>
          <a:prstGeom prst="roundRect">
            <a:avLst>
              <a:gd name="adj" fmla="val 9000"/>
            </a:avLst>
          </a:prstGeom>
          <a:solidFill>
            <a:srgbClr val="FFFFFF"/>
          </a:solidFill>
          <a:ln w="6350" cap="flat" cmpd="sng" algn="ctr">
            <a:solidFill>
              <a:srgbClr val="CBD5E1"/>
            </a:solidFill>
            <a:miter lim="800000"/>
          </a:ln>
          <a:effectLst>
            <a:outerShdw blurRad="76200" dist="25400" dir="5400000" sx="99778" sy="97333" algn="ctr" rotWithShape="0">
              <a:srgbClr val="0F172A">
                <a:alpha val="5000"/>
              </a:srgbClr>
            </a:outerShdw>
          </a:effectLst>
        </p:spPr>
      </p:sp>
      <p:sp>
        <p:nvSpPr>
          <p:cNvPr id="84" name="Text: 실제 신디사이저 연주 화면:  E(V) Dominant 7th (-8ve"/>
          <p:cNvSpPr txBox="1"/>
          <p:nvPr/>
        </p:nvSpPr>
        <p:spPr>
          <a:xfrm>
            <a:off x="2673350" y="5592763"/>
            <a:ext cx="2804220"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0F172A"/>
                </a:solidFill>
                <a:latin typeface="Segoe UI"/>
                <a:ea typeface="Segoe UI"/>
                <a:cs typeface="Segoe UI"/>
              </a:rPr>
              <a:t>실제 신디사이저 연주 화면: </a:t>
            </a:r>
            <a:r>
              <a:rPr lang="en-US" sz="900" b="1" spc="-4" dirty="0">
                <a:solidFill>
                  <a:srgbClr val="2563EB"/>
                </a:solidFill>
                <a:latin typeface="Segoe UI"/>
                <a:ea typeface="Segoe UI"/>
                <a:cs typeface="Segoe UI"/>
              </a:rPr>
              <a:t>E(V) Dominant 7th (-8ve)</a:t>
            </a:r>
            <a:endParaRPr lang="en-US" sz="900" dirty="0"/>
          </a:p>
        </p:txBody>
      </p:sp>
      <p:sp>
        <p:nvSpPr>
          <p:cNvPr id="85" name="Rounded Rectangle"/>
          <p:cNvSpPr/>
          <p:nvPr/>
        </p:nvSpPr>
        <p:spPr>
          <a:xfrm>
            <a:off x="10092432" y="5572125"/>
            <a:ext cx="1582043" cy="238125"/>
          </a:xfrm>
          <a:prstGeom prst="roundRect">
            <a:avLst>
              <a:gd name="adj" fmla="val 20000"/>
            </a:avLst>
          </a:prstGeom>
          <a:solidFill>
            <a:srgbClr val="EFF6FF"/>
          </a:solidFill>
          <a:ln w="6350" cap="flat" cmpd="sng" algn="ctr">
            <a:solidFill>
              <a:srgbClr val="BFDBFE"/>
            </a:solidFill>
            <a:miter lim="800000"/>
          </a:ln>
        </p:spPr>
      </p:sp>
      <p:sp>
        <p:nvSpPr>
          <p:cNvPr id="86" name="Text: 양손 인터랙티브 AI 신디사이저"/>
          <p:cNvSpPr txBox="1"/>
          <p:nvPr/>
        </p:nvSpPr>
        <p:spPr>
          <a:xfrm>
            <a:off x="10197207" y="5610225"/>
            <a:ext cx="137249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양손 인터랙티브 AI 신디사이저</a:t>
            </a:r>
            <a:endParaRPr lang="en-US" sz="750" dirty="0"/>
          </a:p>
        </p:txBody>
      </p:sp>
      <p:sp>
        <p:nvSpPr>
          <p:cNvPr id="87" name="Text: 🎯  양손 제스처 연산:  왼손 E(V) 코드 + 오른손 7th 텐션 "/>
          <p:cNvSpPr txBox="1"/>
          <p:nvPr/>
        </p:nvSpPr>
        <p:spPr>
          <a:xfrm>
            <a:off x="2673350" y="5834063"/>
            <a:ext cx="3694013"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50" spc="-4" dirty="0">
                <a:solidFill>
                  <a:srgbClr val="334155"/>
                </a:solidFill>
                <a:latin typeface="Segoe UI"/>
                <a:ea typeface="Segoe UI"/>
                <a:cs typeface="Segoe UI"/>
              </a:rPr>
              <a:t>🎯 </a:t>
            </a:r>
            <a:r>
              <a:rPr lang="en-US" sz="750" b="1" spc="-4" dirty="0">
                <a:solidFill>
                  <a:srgbClr val="334155"/>
                </a:solidFill>
                <a:latin typeface="Segoe UI"/>
                <a:ea typeface="Segoe UI"/>
                <a:cs typeface="Segoe UI"/>
              </a:rPr>
              <a:t>양손 제스처 연산:</a:t>
            </a:r>
            <a:r>
              <a:rPr lang="en-US" sz="750" spc="-4" dirty="0">
                <a:solidFill>
                  <a:srgbClr val="334155"/>
                </a:solidFill>
                <a:latin typeface="Segoe UI"/>
                <a:ea typeface="Segoe UI"/>
                <a:cs typeface="Segoe UI"/>
              </a:rPr>
              <a:t> 왼손 E(V) 코드 + 오른손 7th 텐션 및 서브베이스(-8ve) 즉시 결합</a:t>
            </a:r>
            <a:endParaRPr lang="en-US" sz="750" dirty="0"/>
          </a:p>
        </p:txBody>
      </p:sp>
      <p:sp>
        <p:nvSpPr>
          <p:cNvPr id="88" name="Text: 🔊  실시간 오디오 파형:  하단 네온 오실로스코프로 출력 파형 시각화"/>
          <p:cNvSpPr txBox="1"/>
          <p:nvPr/>
        </p:nvSpPr>
        <p:spPr>
          <a:xfrm>
            <a:off x="2673350" y="5991225"/>
            <a:ext cx="3899495"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50" spc="-4" dirty="0">
                <a:solidFill>
                  <a:srgbClr val="334155"/>
                </a:solidFill>
                <a:latin typeface="Segoe UI"/>
                <a:ea typeface="Segoe UI"/>
                <a:cs typeface="Segoe UI"/>
              </a:rPr>
              <a:t>🔊 </a:t>
            </a:r>
            <a:r>
              <a:rPr lang="en-US" sz="750" b="1" spc="-4" dirty="0">
                <a:solidFill>
                  <a:srgbClr val="334155"/>
                </a:solidFill>
                <a:latin typeface="Segoe UI"/>
                <a:ea typeface="Segoe UI"/>
                <a:cs typeface="Segoe UI"/>
              </a:rPr>
              <a:t>실시간 오디오 파형:</a:t>
            </a:r>
            <a:r>
              <a:rPr lang="en-US" sz="750" spc="-4" dirty="0">
                <a:solidFill>
                  <a:srgbClr val="334155"/>
                </a:solidFill>
                <a:latin typeface="Segoe UI"/>
                <a:ea typeface="Segoe UI"/>
                <a:cs typeface="Segoe UI"/>
              </a:rPr>
              <a:t> 하단 네온 오실로스코프로 출력 파형 시각화 및 무지연 실시간 발성</a:t>
            </a:r>
            <a:endParaRPr lang="en-US" sz="750" dirty="0"/>
          </a:p>
        </p:txBody>
      </p:sp>
      <p:sp>
        <p:nvSpPr>
          <p:cNvPr id="89" name="Rounded Rectangle"/>
          <p:cNvSpPr/>
          <p:nvPr/>
        </p:nvSpPr>
        <p:spPr>
          <a:xfrm>
            <a:off x="520700" y="5464175"/>
            <a:ext cx="2019300" cy="781050"/>
          </a:xfrm>
          <a:prstGeom prst="roundRect">
            <a:avLst>
              <a:gd name="adj" fmla="val 7317"/>
            </a:avLst>
          </a:prstGeom>
          <a:solidFill>
            <a:srgbClr val="040711"/>
          </a:solidFill>
          <a:ln w="12700" cap="flat" cmpd="sng" algn="ctr">
            <a:solidFill>
              <a:srgbClr val="0284C7"/>
            </a:solidFill>
            <a:miter lim="800000"/>
          </a:ln>
          <a:effectLst>
            <a:outerShdw blurRad="88900" dist="25400" dir="5400000" sx="98113" sy="95122" algn="ctr" rotWithShape="0">
              <a:srgbClr val="0284C7">
                <a:alpha val="30000"/>
              </a:srgbClr>
            </a:outerShdw>
          </a:effectLst>
        </p:spPr>
      </p:sp>
      <p:pic>
        <p:nvPicPr>
          <p:cNvPr id="90" name="Image: AuraSynth 실제 연주 화면"/>
          <p:cNvPicPr>
            <a:picLocks noChangeAspect="1"/>
          </p:cNvPicPr>
          <p:nvPr/>
        </p:nvPicPr>
        <p:blipFill>
          <a:blip r:embed="rId6"/>
          <a:srcRect l="0" t="3486" r="0" b="3486"/>
          <a:stretch>
            <a:fillRect/>
          </a:stretch>
        </p:blipFill>
        <p:spPr>
          <a:xfrm>
            <a:off x="527050" y="5470525"/>
            <a:ext cx="2006600" cy="768350"/>
          </a:xfrm>
          <a:prstGeom prst="rect">
            <a:avLst/>
          </a:prstGeom>
          <a:ln>
            <a:noFill/>
          </a:ln>
        </p:spPr>
      </p:pic>
      <p:sp>
        <p:nvSpPr>
          <p:cNvPr id="91" name="Border"/>
          <p:cNvSpPr/>
          <p:nvPr/>
        </p:nvSpPr>
        <p:spPr>
          <a:xfrm>
            <a:off x="381000" y="6334125"/>
            <a:ext cx="11430000" cy="6350"/>
          </a:xfrm>
          <a:prstGeom prst="rect">
            <a:avLst/>
          </a:prstGeom>
          <a:solidFill>
            <a:srgbClr val="E2E8F0"/>
          </a:solidFill>
          <a:ln>
            <a:noFill/>
          </a:ln>
        </p:spPr>
      </p:sp>
      <p:sp>
        <p:nvSpPr>
          <p:cNvPr id="92"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93" name="Rounded Rectangle"/>
          <p:cNvSpPr/>
          <p:nvPr/>
        </p:nvSpPr>
        <p:spPr>
          <a:xfrm>
            <a:off x="11237714" y="6429375"/>
            <a:ext cx="573286" cy="225425"/>
          </a:xfrm>
          <a:prstGeom prst="roundRect">
            <a:avLst>
              <a:gd name="adj" fmla="val 22535"/>
            </a:avLst>
          </a:prstGeom>
          <a:solidFill>
            <a:srgbClr val="F1F5F9"/>
          </a:solidFill>
          <a:ln>
            <a:noFill/>
          </a:ln>
        </p:spPr>
      </p:sp>
      <p:sp>
        <p:nvSpPr>
          <p:cNvPr id="94" name="Text: 10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10 / 14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562298" cy="238125"/>
          </a:xfrm>
          <a:prstGeom prst="roundRect">
            <a:avLst>
              <a:gd name="adj" fmla="val 20000"/>
            </a:avLst>
          </a:prstGeom>
          <a:solidFill>
            <a:srgbClr val="EFF6FF"/>
          </a:solidFill>
          <a:ln w="6350" cap="flat" cmpd="sng" algn="ctr">
            <a:solidFill>
              <a:srgbClr val="BFDBFE"/>
            </a:solidFill>
            <a:miter lim="800000"/>
          </a:ln>
        </p:spPr>
      </p:sp>
      <p:sp>
        <p:nvSpPr>
          <p:cNvPr id="3" name="Text: PART 05 • 실시간 악기 시스템"/>
          <p:cNvSpPr txBox="1"/>
          <p:nvPr/>
        </p:nvSpPr>
        <p:spPr>
          <a:xfrm>
            <a:off x="488950" y="282575"/>
            <a:ext cx="135274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05 • 실시간 악기 시스템</a:t>
            </a:r>
            <a:endParaRPr lang="en-US" sz="750" dirty="0"/>
          </a:p>
        </p:txBody>
      </p:sp>
      <p:sp>
        <p:nvSpPr>
          <p:cNvPr id="4" name="Text: AuraSynth Engine Architecture"/>
          <p:cNvSpPr txBox="1"/>
          <p:nvPr/>
        </p:nvSpPr>
        <p:spPr>
          <a:xfrm>
            <a:off x="2038548"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AuraSynth 상단 제어 바(Control Bar) 주요 기능"/>
          <p:cNvSpPr txBox="1"/>
          <p:nvPr/>
        </p:nvSpPr>
        <p:spPr>
          <a:xfrm>
            <a:off x="381000" y="555625"/>
            <a:ext cx="6596261"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AuraSynth 상단 제어 바(Control Bar) 주요 기능</a:t>
            </a:r>
            <a:endParaRPr lang="en-US" sz="2500" dirty="0"/>
          </a:p>
        </p:txBody>
      </p:sp>
      <p:sp>
        <p:nvSpPr>
          <p:cNvPr id="6" name="Text: 연주 중 AI 모델 전환부터 음색, 조옮김, 볼륨 및 필터까지 한눈에 조"/>
          <p:cNvSpPr txBox="1"/>
          <p:nvPr/>
        </p:nvSpPr>
        <p:spPr>
          <a:xfrm>
            <a:off x="381000" y="948055"/>
            <a:ext cx="5661223"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연주 중 AI 모델 전환부터 음색, 조옮김, 볼륨 및 필터까지 한눈에 조작하는 컨트롤 타워</a:t>
            </a:r>
            <a:endParaRPr lang="en-US" sz="1150" dirty="0"/>
          </a:p>
        </p:txBody>
      </p:sp>
      <p:sp>
        <p:nvSpPr>
          <p:cNvPr id="7" name="Rounded Rectangle"/>
          <p:cNvSpPr/>
          <p:nvPr/>
        </p:nvSpPr>
        <p:spPr>
          <a:xfrm>
            <a:off x="387350" y="1280716"/>
            <a:ext cx="11417300" cy="1098252"/>
          </a:xfrm>
          <a:prstGeom prst="roundRect">
            <a:avLst>
              <a:gd name="adj" fmla="val 9829"/>
            </a:avLst>
          </a:prstGeom>
          <a:solidFill>
            <a:srgbClr val="07090E"/>
          </a:solidFill>
          <a:ln w="12700" cap="flat" cmpd="sng" algn="ctr">
            <a:solidFill>
              <a:srgbClr val="1E293B"/>
            </a:solidFill>
            <a:miter lim="800000"/>
          </a:ln>
          <a:effectLst>
            <a:outerShdw blurRad="190500" dist="50800" dir="5400000" sx="100000" sy="100000" algn="ctr" rotWithShape="0">
              <a:srgbClr val="000000">
                <a:alpha val="25000"/>
              </a:srgbClr>
            </a:outerShdw>
          </a:effectLst>
        </p:spPr>
      </p:sp>
      <p:sp>
        <p:nvSpPr>
          <p:cNvPr id="8" name="Text: 🖥️ AuraSynth 실제 실행 화면 상단 헤더 (스튜디오 DAW 스"/>
          <p:cNvSpPr txBox="1"/>
          <p:nvPr/>
        </p:nvSpPr>
        <p:spPr>
          <a:xfrm>
            <a:off x="558800" y="1429941"/>
            <a:ext cx="369272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94A3B8"/>
                </a:solidFill>
                <a:latin typeface="Segoe UI"/>
                <a:ea typeface="Segoe UI"/>
                <a:cs typeface="Segoe UI"/>
              </a:rPr>
              <a:t>🖥️ AuraSynth 실제 실행 화면 상단 헤더 (스튜디오 DAW 스타일 제로-오버랩 고정 바)</a:t>
            </a:r>
            <a:endParaRPr lang="en-US" sz="750" dirty="0"/>
          </a:p>
        </p:txBody>
      </p:sp>
      <p:sp>
        <p:nvSpPr>
          <p:cNvPr id="9" name="Rounded Rectangle"/>
          <p:cNvSpPr/>
          <p:nvPr/>
        </p:nvSpPr>
        <p:spPr>
          <a:xfrm>
            <a:off x="9956602" y="1391841"/>
            <a:ext cx="1673423" cy="238125"/>
          </a:xfrm>
          <a:prstGeom prst="roundRect">
            <a:avLst>
              <a:gd name="adj" fmla="val 20000"/>
            </a:avLst>
          </a:prstGeom>
          <a:solidFill>
            <a:srgbClr val="0F172A"/>
          </a:solidFill>
          <a:ln w="6350" cap="flat" cmpd="sng" algn="ctr">
            <a:solidFill>
              <a:srgbClr val="0284C7"/>
            </a:solidFill>
            <a:miter lim="800000"/>
          </a:ln>
        </p:spPr>
      </p:sp>
      <p:sp>
        <p:nvSpPr>
          <p:cNvPr id="10" name="Text: ZERO-OVERLAP CONTROL BAR"/>
          <p:cNvSpPr txBox="1"/>
          <p:nvPr/>
        </p:nvSpPr>
        <p:spPr>
          <a:xfrm>
            <a:off x="10061377" y="1429941"/>
            <a:ext cx="146387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38BDF8"/>
                </a:solidFill>
                <a:latin typeface="Segoe UI"/>
                <a:ea typeface="Segoe UI"/>
                <a:cs typeface="Segoe UI"/>
              </a:rPr>
              <a:t>ZERO-OVERLAP CONTROL BAR</a:t>
            </a:r>
            <a:endParaRPr lang="en-US" sz="750" dirty="0"/>
          </a:p>
        </p:txBody>
      </p:sp>
      <p:sp>
        <p:nvSpPr>
          <p:cNvPr id="11" name="Rounded Rectangle"/>
          <p:cNvSpPr/>
          <p:nvPr/>
        </p:nvSpPr>
        <p:spPr>
          <a:xfrm>
            <a:off x="561975" y="1699816"/>
            <a:ext cx="11068050" cy="568027"/>
          </a:xfrm>
          <a:prstGeom prst="roundRect">
            <a:avLst>
              <a:gd name="adj" fmla="val 8384"/>
            </a:avLst>
          </a:prstGeom>
          <a:noFill/>
          <a:ln w="6350" cap="flat" cmpd="sng" algn="ctr">
            <a:solidFill>
              <a:srgbClr val="FFFFFF">
                <a:alpha val="12000"/>
              </a:srgbClr>
            </a:solidFill>
            <a:miter lim="800000"/>
          </a:ln>
        </p:spPr>
      </p:sp>
      <p:pic>
        <p:nvPicPr>
          <p:cNvPr id="12" name="Image: AuraSynth 상단 제어 바"/>
          <p:cNvPicPr>
            <a:picLocks noChangeAspect="1"/>
          </p:cNvPicPr>
          <p:nvPr/>
        </p:nvPicPr>
        <p:blipFill>
          <a:blip r:embed="rId2"/>
          <a:stretch>
            <a:fillRect/>
          </a:stretch>
        </p:blipFill>
        <p:spPr>
          <a:xfrm>
            <a:off x="565150" y="1702991"/>
            <a:ext cx="11061700" cy="561677"/>
          </a:xfrm>
          <a:prstGeom prst="rect">
            <a:avLst/>
          </a:prstGeom>
          <a:ln>
            <a:noFill/>
          </a:ln>
        </p:spPr>
      </p:pic>
      <p:sp>
        <p:nvSpPr>
          <p:cNvPr id="13" name="Rounded Rectangle"/>
          <p:cNvSpPr/>
          <p:nvPr/>
        </p:nvSpPr>
        <p:spPr>
          <a:xfrm>
            <a:off x="381000" y="2512318"/>
            <a:ext cx="2762250" cy="3259832"/>
          </a:xfrm>
          <a:prstGeom prst="roundRect">
            <a:avLst>
              <a:gd name="adj" fmla="val 4138"/>
            </a:avLst>
          </a:prstGeom>
          <a:solidFill>
            <a:srgbClr val="FFFFFF"/>
          </a:solidFill>
          <a:ln>
            <a:noFill/>
          </a:ln>
          <a:effectLst>
            <a:outerShdw blurRad="101600" dist="50800" dir="5400000" sx="99080" sy="99221" algn="ctr" rotWithShape="0">
              <a:srgbClr val="000000">
                <a:alpha val="5000"/>
              </a:srgbClr>
            </a:outerShdw>
          </a:effectLst>
        </p:spPr>
      </p:sp>
      <p:sp>
        <p:nvSpPr>
          <p:cNvPr id="14" name="Border"/>
          <p:cNvSpPr/>
          <p:nvPr/>
        </p:nvSpPr>
        <p:spPr>
          <a:xfrm>
            <a:off x="381000" y="2512318"/>
            <a:ext cx="2762250" cy="38100"/>
          </a:xfrm>
          <a:prstGeom prst="rect">
            <a:avLst/>
          </a:prstGeom>
          <a:solidFill>
            <a:srgbClr val="2563EB"/>
          </a:solidFill>
          <a:ln>
            <a:noFill/>
          </a:ln>
        </p:spPr>
      </p:sp>
      <p:sp>
        <p:nvSpPr>
          <p:cNvPr id="15" name="Border"/>
          <p:cNvSpPr/>
          <p:nvPr/>
        </p:nvSpPr>
        <p:spPr>
          <a:xfrm>
            <a:off x="3136900" y="2512318"/>
            <a:ext cx="6350" cy="3259832"/>
          </a:xfrm>
          <a:prstGeom prst="rect">
            <a:avLst/>
          </a:prstGeom>
          <a:solidFill>
            <a:srgbClr val="E2E8F0"/>
          </a:solidFill>
          <a:ln>
            <a:noFill/>
          </a:ln>
        </p:spPr>
      </p:sp>
      <p:sp>
        <p:nvSpPr>
          <p:cNvPr id="16" name="Border"/>
          <p:cNvSpPr/>
          <p:nvPr/>
        </p:nvSpPr>
        <p:spPr>
          <a:xfrm>
            <a:off x="381000" y="5765800"/>
            <a:ext cx="2762250" cy="6350"/>
          </a:xfrm>
          <a:prstGeom prst="rect">
            <a:avLst/>
          </a:prstGeom>
          <a:solidFill>
            <a:srgbClr val="E2E8F0"/>
          </a:solidFill>
          <a:ln>
            <a:noFill/>
          </a:ln>
        </p:spPr>
      </p:sp>
      <p:sp>
        <p:nvSpPr>
          <p:cNvPr id="17" name="Border"/>
          <p:cNvSpPr/>
          <p:nvPr/>
        </p:nvSpPr>
        <p:spPr>
          <a:xfrm>
            <a:off x="381000" y="2512318"/>
            <a:ext cx="6350" cy="3259832"/>
          </a:xfrm>
          <a:prstGeom prst="rect">
            <a:avLst/>
          </a:prstGeom>
          <a:solidFill>
            <a:srgbClr val="E2E8F0"/>
          </a:solidFill>
          <a:ln>
            <a:noFill/>
          </a:ln>
        </p:spPr>
      </p:sp>
      <p:sp>
        <p:nvSpPr>
          <p:cNvPr id="18" name="Rounded Rectangle"/>
          <p:cNvSpPr/>
          <p:nvPr/>
        </p:nvSpPr>
        <p:spPr>
          <a:xfrm>
            <a:off x="555625" y="2705993"/>
            <a:ext cx="709712" cy="238125"/>
          </a:xfrm>
          <a:prstGeom prst="roundRect">
            <a:avLst>
              <a:gd name="adj" fmla="val 20000"/>
            </a:avLst>
          </a:prstGeom>
          <a:solidFill>
            <a:srgbClr val="EFF6FF"/>
          </a:solidFill>
          <a:ln w="6350" cap="flat" cmpd="sng" algn="ctr">
            <a:solidFill>
              <a:srgbClr val="BFDBFE"/>
            </a:solidFill>
            <a:miter lim="800000"/>
          </a:ln>
        </p:spPr>
      </p:sp>
      <p:sp>
        <p:nvSpPr>
          <p:cNvPr id="19" name="Text: AI ENGINE"/>
          <p:cNvSpPr txBox="1"/>
          <p:nvPr/>
        </p:nvSpPr>
        <p:spPr>
          <a:xfrm>
            <a:off x="660400" y="2744093"/>
            <a:ext cx="500162"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AI ENGINE</a:t>
            </a:r>
            <a:endParaRPr lang="en-US" sz="750" dirty="0"/>
          </a:p>
        </p:txBody>
      </p:sp>
      <p:sp>
        <p:nvSpPr>
          <p:cNvPr id="20" name="Text: 01"/>
          <p:cNvSpPr txBox="1"/>
          <p:nvPr/>
        </p:nvSpPr>
        <p:spPr>
          <a:xfrm>
            <a:off x="2862362" y="2744093"/>
            <a:ext cx="10943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64748B"/>
                </a:solidFill>
                <a:latin typeface="Segoe UI"/>
                <a:ea typeface="Segoe UI"/>
                <a:cs typeface="Segoe UI"/>
              </a:rPr>
              <a:t>01</a:t>
            </a:r>
            <a:endParaRPr lang="en-US" sz="750" dirty="0"/>
          </a:p>
        </p:txBody>
      </p:sp>
      <p:sp>
        <p:nvSpPr>
          <p:cNvPr id="21" name="Text: 3대 AI 모델 실시간 스위칭"/>
          <p:cNvSpPr txBox="1"/>
          <p:nvPr/>
        </p:nvSpPr>
        <p:spPr>
          <a:xfrm>
            <a:off x="552450" y="3020318"/>
            <a:ext cx="1744464" cy="219075"/>
          </a:xfrm>
          <a:prstGeom prst="rect">
            <a:avLst/>
          </a:prstGeom>
          <a:noFill/>
        </p:spPr>
        <p:txBody>
          <a:bodyPr wrap="none" lIns="0" tIns="0" rIns="0" bIns="0" rtlCol="0" anchor="t">
            <a:noAutofit/>
          </a:bodyPr>
          <a:lstStyle/>
          <a:p>
            <a:pPr algn="l">
              <a:lnSpc>
                <a:spcPts val="1725"/>
              </a:lnSpc>
              <a:spcBef>
                <a:spcPts val="0"/>
              </a:spcBef>
              <a:spcAft>
                <a:spcPts val="0"/>
              </a:spcAft>
              <a:buNone/>
            </a:pPr>
            <a:r>
              <a:rPr lang="en-US" sz="1150" b="1" spc="-4" dirty="0">
                <a:solidFill>
                  <a:srgbClr val="0F172A"/>
                </a:solidFill>
                <a:latin typeface="Segoe UI"/>
                <a:ea typeface="Segoe UI"/>
                <a:cs typeface="Segoe UI"/>
              </a:rPr>
              <a:t>3대 AI 모델 실시간 스위칭</a:t>
            </a:r>
            <a:endParaRPr lang="en-US" sz="1150" dirty="0"/>
          </a:p>
        </p:txBody>
      </p:sp>
      <p:sp>
        <p:nvSpPr>
          <p:cNvPr id="22" name="Text: •  무중단 모델 교체:  드롭다운 클릭만으로 MediaPipe, Get"/>
          <p:cNvSpPr txBox="1"/>
          <p:nvPr/>
        </p:nvSpPr>
        <p:spPr>
          <a:xfrm>
            <a:off x="552450" y="3330674"/>
            <a:ext cx="2037358"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무중단 모델 교체:</a:t>
            </a:r>
            <a:r>
              <a:rPr lang="en-US" sz="875" spc="-4" dirty="0">
                <a:solidFill>
                  <a:srgbClr val="334155"/>
                </a:solidFill>
                <a:latin typeface="Segoe UI"/>
                <a:ea typeface="Segoe UI"/>
                <a:cs typeface="Segoe UI"/>
              </a:rPr>
              <a:t> 드롭다운 클릭만으로</a:t>
            </a:r>
            <a:br>
              <a:rPr lang="en-US" sz="875"/>
            </a:br>
            <a:r>
              <a:rPr lang="en-US" sz="875" spc="-4" dirty="0">
                <a:solidFill>
                  <a:srgbClr val="334155"/>
                </a:solidFill>
                <a:latin typeface="Segoe UI"/>
                <a:ea typeface="Segoe UI"/>
                <a:cs typeface="Segoe UI"/>
              </a:rPr>
              <a:t>MediaPipe, Geti, YOLOv8을 실시간 전환</a:t>
            </a:r>
            <a:endParaRPr lang="en-US" sz="875" dirty="0"/>
          </a:p>
        </p:txBody>
      </p:sp>
      <p:sp>
        <p:nvSpPr>
          <p:cNvPr id="23" name="Text: •  AI 상태 배지:  현재 어떤 엔진으로 손을 인식 중 인지 상단 배"/>
          <p:cNvSpPr txBox="1"/>
          <p:nvPr/>
        </p:nvSpPr>
        <p:spPr>
          <a:xfrm>
            <a:off x="552450" y="3738662"/>
            <a:ext cx="2413794"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AI 상태 배지:</a:t>
            </a:r>
            <a:r>
              <a:rPr lang="en-US" sz="875" spc="-4" dirty="0">
                <a:solidFill>
                  <a:srgbClr val="334155"/>
                </a:solidFill>
                <a:latin typeface="Segoe UI"/>
                <a:ea typeface="Segoe UI"/>
                <a:cs typeface="Segoe UI"/>
              </a:rPr>
              <a:t> 현재 어떤 엔진으로 손을 인식 중</a:t>
            </a:r>
            <a:br>
              <a:rPr lang="en-US" sz="875"/>
            </a:br>
            <a:r>
              <a:rPr lang="en-US" sz="875" spc="-4" dirty="0">
                <a:solidFill>
                  <a:srgbClr val="334155"/>
                </a:solidFill>
                <a:latin typeface="Segoe UI"/>
                <a:ea typeface="Segoe UI"/>
                <a:cs typeface="Segoe UI"/>
              </a:rPr>
              <a:t>인지 상단 배지에서 즉각 확인</a:t>
            </a:r>
            <a:endParaRPr lang="en-US" sz="875" dirty="0"/>
          </a:p>
        </p:txBody>
      </p:sp>
      <p:sp>
        <p:nvSpPr>
          <p:cNvPr id="24" name="Text: •  무지연 스트리밍:  웹소켓 브릿지 연동으로 연주 중 끊김 없는 제로"/>
          <p:cNvSpPr txBox="1"/>
          <p:nvPr/>
        </p:nvSpPr>
        <p:spPr>
          <a:xfrm>
            <a:off x="552450" y="4146649"/>
            <a:ext cx="2407741"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무지연 스트리밍:</a:t>
            </a:r>
            <a:r>
              <a:rPr lang="en-US" sz="875" spc="-4" dirty="0">
                <a:solidFill>
                  <a:srgbClr val="334155"/>
                </a:solidFill>
                <a:latin typeface="Segoe UI"/>
                <a:ea typeface="Segoe UI"/>
                <a:cs typeface="Segoe UI"/>
              </a:rPr>
              <a:t> 웹소켓 브릿지 연동으로 연주</a:t>
            </a:r>
            <a:br>
              <a:rPr lang="en-US" sz="875"/>
            </a:br>
            <a:r>
              <a:rPr lang="en-US" sz="875" spc="-4" dirty="0">
                <a:solidFill>
                  <a:srgbClr val="334155"/>
                </a:solidFill>
                <a:latin typeface="Segoe UI"/>
                <a:ea typeface="Segoe UI"/>
                <a:cs typeface="Segoe UI"/>
              </a:rPr>
              <a:t>중 끊김 없는 제로-딜레이 스왑</a:t>
            </a:r>
            <a:endParaRPr lang="en-US" sz="875" dirty="0"/>
          </a:p>
        </p:txBody>
      </p:sp>
      <p:sp>
        <p:nvSpPr>
          <p:cNvPr id="25" name="Rounded Rectangle"/>
          <p:cNvSpPr/>
          <p:nvPr/>
        </p:nvSpPr>
        <p:spPr>
          <a:xfrm>
            <a:off x="552450" y="5373688"/>
            <a:ext cx="2419350" cy="239713"/>
          </a:xfrm>
          <a:prstGeom prst="roundRect">
            <a:avLst>
              <a:gd name="adj" fmla="val 15894"/>
            </a:avLst>
          </a:prstGeom>
          <a:solidFill>
            <a:srgbClr val="F8FAFC"/>
          </a:solidFill>
          <a:ln>
            <a:noFill/>
          </a:ln>
        </p:spPr>
      </p:sp>
      <p:sp>
        <p:nvSpPr>
          <p:cNvPr id="26" name="Text: ✓ 런타임 실시간 모델 교체 지원"/>
          <p:cNvSpPr txBox="1"/>
          <p:nvPr/>
        </p:nvSpPr>
        <p:spPr>
          <a:xfrm>
            <a:off x="628650" y="5413375"/>
            <a:ext cx="1324273"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2563EB"/>
                </a:solidFill>
                <a:latin typeface="Segoe UI"/>
                <a:ea typeface="Segoe UI"/>
                <a:cs typeface="Segoe UI"/>
              </a:rPr>
              <a:t>✓ 런타임 실시간 모델 교체 지원</a:t>
            </a:r>
            <a:endParaRPr lang="en-US" sz="725" dirty="0"/>
          </a:p>
        </p:txBody>
      </p:sp>
      <p:sp>
        <p:nvSpPr>
          <p:cNvPr id="27" name="Rounded Rectangle"/>
          <p:cNvSpPr/>
          <p:nvPr/>
        </p:nvSpPr>
        <p:spPr>
          <a:xfrm>
            <a:off x="3270250" y="2512318"/>
            <a:ext cx="2762250" cy="3259832"/>
          </a:xfrm>
          <a:prstGeom prst="roundRect">
            <a:avLst>
              <a:gd name="adj" fmla="val 4138"/>
            </a:avLst>
          </a:prstGeom>
          <a:solidFill>
            <a:srgbClr val="FFFFFF"/>
          </a:solidFill>
          <a:ln>
            <a:noFill/>
          </a:ln>
          <a:effectLst>
            <a:outerShdw blurRad="101600" dist="50800" dir="5400000" sx="99080" sy="99221" algn="ctr" rotWithShape="0">
              <a:srgbClr val="000000">
                <a:alpha val="5000"/>
              </a:srgbClr>
            </a:outerShdw>
          </a:effectLst>
        </p:spPr>
      </p:sp>
      <p:sp>
        <p:nvSpPr>
          <p:cNvPr id="28" name="Border"/>
          <p:cNvSpPr/>
          <p:nvPr/>
        </p:nvSpPr>
        <p:spPr>
          <a:xfrm>
            <a:off x="3270250" y="2512318"/>
            <a:ext cx="2762250" cy="38100"/>
          </a:xfrm>
          <a:prstGeom prst="rect">
            <a:avLst/>
          </a:prstGeom>
          <a:solidFill>
            <a:srgbClr val="0284C7"/>
          </a:solidFill>
          <a:ln>
            <a:noFill/>
          </a:ln>
        </p:spPr>
      </p:sp>
      <p:sp>
        <p:nvSpPr>
          <p:cNvPr id="29" name="Border"/>
          <p:cNvSpPr/>
          <p:nvPr/>
        </p:nvSpPr>
        <p:spPr>
          <a:xfrm>
            <a:off x="6026150" y="2512318"/>
            <a:ext cx="6350" cy="3259832"/>
          </a:xfrm>
          <a:prstGeom prst="rect">
            <a:avLst/>
          </a:prstGeom>
          <a:solidFill>
            <a:srgbClr val="E2E8F0"/>
          </a:solidFill>
          <a:ln>
            <a:noFill/>
          </a:ln>
        </p:spPr>
      </p:sp>
      <p:sp>
        <p:nvSpPr>
          <p:cNvPr id="30" name="Border"/>
          <p:cNvSpPr/>
          <p:nvPr/>
        </p:nvSpPr>
        <p:spPr>
          <a:xfrm>
            <a:off x="3270250" y="5765800"/>
            <a:ext cx="2762250" cy="6350"/>
          </a:xfrm>
          <a:prstGeom prst="rect">
            <a:avLst/>
          </a:prstGeom>
          <a:solidFill>
            <a:srgbClr val="E2E8F0"/>
          </a:solidFill>
          <a:ln>
            <a:noFill/>
          </a:ln>
        </p:spPr>
      </p:sp>
      <p:sp>
        <p:nvSpPr>
          <p:cNvPr id="31" name="Border"/>
          <p:cNvSpPr/>
          <p:nvPr/>
        </p:nvSpPr>
        <p:spPr>
          <a:xfrm>
            <a:off x="3270250" y="2512318"/>
            <a:ext cx="6350" cy="3259832"/>
          </a:xfrm>
          <a:prstGeom prst="rect">
            <a:avLst/>
          </a:prstGeom>
          <a:solidFill>
            <a:srgbClr val="E2E8F0"/>
          </a:solidFill>
          <a:ln>
            <a:noFill/>
          </a:ln>
        </p:spPr>
      </p:sp>
      <p:sp>
        <p:nvSpPr>
          <p:cNvPr id="32" name="Rounded Rectangle"/>
          <p:cNvSpPr/>
          <p:nvPr/>
        </p:nvSpPr>
        <p:spPr>
          <a:xfrm>
            <a:off x="3444875" y="2705993"/>
            <a:ext cx="943967" cy="238125"/>
          </a:xfrm>
          <a:prstGeom prst="roundRect">
            <a:avLst>
              <a:gd name="adj" fmla="val 20000"/>
            </a:avLst>
          </a:prstGeom>
          <a:solidFill>
            <a:srgbClr val="E0F2FE"/>
          </a:solidFill>
          <a:ln w="6350" cap="flat" cmpd="sng" algn="ctr">
            <a:solidFill>
              <a:srgbClr val="BAE6FD"/>
            </a:solidFill>
            <a:miter lim="800000"/>
          </a:ln>
        </p:spPr>
      </p:sp>
      <p:sp>
        <p:nvSpPr>
          <p:cNvPr id="33" name="Text: SOUND PRESET"/>
          <p:cNvSpPr txBox="1"/>
          <p:nvPr/>
        </p:nvSpPr>
        <p:spPr>
          <a:xfrm>
            <a:off x="3549650" y="2744093"/>
            <a:ext cx="734417"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0284C7"/>
                </a:solidFill>
                <a:latin typeface="Segoe UI"/>
                <a:ea typeface="Segoe UI"/>
                <a:cs typeface="Segoe UI"/>
              </a:rPr>
              <a:t>SOUND PRESET</a:t>
            </a:r>
            <a:endParaRPr lang="en-US" sz="750" dirty="0"/>
          </a:p>
        </p:txBody>
      </p:sp>
      <p:sp>
        <p:nvSpPr>
          <p:cNvPr id="34" name="Text: 02"/>
          <p:cNvSpPr txBox="1"/>
          <p:nvPr/>
        </p:nvSpPr>
        <p:spPr>
          <a:xfrm>
            <a:off x="5751612" y="2744093"/>
            <a:ext cx="10943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64748B"/>
                </a:solidFill>
                <a:latin typeface="Segoe UI"/>
                <a:ea typeface="Segoe UI"/>
                <a:cs typeface="Segoe UI"/>
              </a:rPr>
              <a:t>02</a:t>
            </a:r>
            <a:endParaRPr lang="en-US" sz="750" dirty="0"/>
          </a:p>
        </p:txBody>
      </p:sp>
      <p:sp>
        <p:nvSpPr>
          <p:cNvPr id="35" name="Text: 조옮김(Key) &amp; 음색 프리셋"/>
          <p:cNvSpPr txBox="1"/>
          <p:nvPr/>
        </p:nvSpPr>
        <p:spPr>
          <a:xfrm>
            <a:off x="3441700" y="3020318"/>
            <a:ext cx="1794570" cy="219075"/>
          </a:xfrm>
          <a:prstGeom prst="rect">
            <a:avLst/>
          </a:prstGeom>
          <a:noFill/>
        </p:spPr>
        <p:txBody>
          <a:bodyPr wrap="none" lIns="0" tIns="0" rIns="0" bIns="0" rtlCol="0" anchor="t">
            <a:noAutofit/>
          </a:bodyPr>
          <a:lstStyle/>
          <a:p>
            <a:pPr algn="l">
              <a:lnSpc>
                <a:spcPts val="1725"/>
              </a:lnSpc>
              <a:spcBef>
                <a:spcPts val="0"/>
              </a:spcBef>
              <a:spcAft>
                <a:spcPts val="0"/>
              </a:spcAft>
              <a:buNone/>
            </a:pPr>
            <a:r>
              <a:rPr lang="en-US" sz="1150" b="1" spc="-4" dirty="0">
                <a:solidFill>
                  <a:srgbClr val="0F172A"/>
                </a:solidFill>
                <a:latin typeface="Segoe UI"/>
                <a:ea typeface="Segoe UI"/>
                <a:cs typeface="Segoe UI"/>
              </a:rPr>
              <a:t>조옮김(Key) &amp; 음색 프리셋</a:t>
            </a:r>
            <a:endParaRPr lang="en-US" sz="1150" dirty="0"/>
          </a:p>
        </p:txBody>
      </p:sp>
      <p:sp>
        <p:nvSpPr>
          <p:cNvPr id="36" name="Text: •  12키 조옮김:  A, C, G 등 원하는 악곡의 조에 맞 춰 기준"/>
          <p:cNvSpPr txBox="1"/>
          <p:nvPr/>
        </p:nvSpPr>
        <p:spPr>
          <a:xfrm>
            <a:off x="3441700" y="3330674"/>
            <a:ext cx="2408436"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12키 조옮김:</a:t>
            </a:r>
            <a:r>
              <a:rPr lang="en-US" sz="875" spc="-4" dirty="0">
                <a:solidFill>
                  <a:srgbClr val="334155"/>
                </a:solidFill>
                <a:latin typeface="Segoe UI"/>
                <a:ea typeface="Segoe UI"/>
                <a:cs typeface="Segoe UI"/>
              </a:rPr>
              <a:t> A, C, G 등 원하는 악곡의 조에 맞</a:t>
            </a:r>
            <a:br>
              <a:rPr lang="en-US" sz="875"/>
            </a:br>
            <a:r>
              <a:rPr lang="en-US" sz="875" spc="-4" dirty="0">
                <a:solidFill>
                  <a:srgbClr val="334155"/>
                </a:solidFill>
                <a:latin typeface="Segoe UI"/>
                <a:ea typeface="Segoe UI"/>
                <a:cs typeface="Segoe UI"/>
              </a:rPr>
              <a:t>춰 기준 음을 즉시 변경 (Transpose)</a:t>
            </a:r>
            <a:endParaRPr lang="en-US" sz="875" dirty="0"/>
          </a:p>
        </p:txBody>
      </p:sp>
      <p:sp>
        <p:nvSpPr>
          <p:cNvPr id="37" name="Text: •  3종 음색 선택:  따뜻한 신스(삼각파), 밝은 신스 (톱니파), "/>
          <p:cNvSpPr txBox="1"/>
          <p:nvPr/>
        </p:nvSpPr>
        <p:spPr>
          <a:xfrm>
            <a:off x="3441700" y="3738662"/>
            <a:ext cx="2379464"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3종 음색 선택:</a:t>
            </a:r>
            <a:r>
              <a:rPr lang="en-US" sz="875" spc="-4" dirty="0">
                <a:solidFill>
                  <a:srgbClr val="334155"/>
                </a:solidFill>
                <a:latin typeface="Segoe UI"/>
                <a:ea typeface="Segoe UI"/>
                <a:cs typeface="Segoe UI"/>
              </a:rPr>
              <a:t> 따뜻한 신스(삼각파), 밝은 신스</a:t>
            </a:r>
            <a:br>
              <a:rPr lang="en-US" sz="875"/>
            </a:br>
            <a:r>
              <a:rPr lang="en-US" sz="875" spc="-4" dirty="0">
                <a:solidFill>
                  <a:srgbClr val="334155"/>
                </a:solidFill>
                <a:latin typeface="Segoe UI"/>
                <a:ea typeface="Segoe UI"/>
                <a:cs typeface="Segoe UI"/>
              </a:rPr>
              <a:t>(톱니파), 레트로 신스(사각파)</a:t>
            </a:r>
            <a:endParaRPr lang="en-US" sz="875" dirty="0"/>
          </a:p>
        </p:txBody>
      </p:sp>
      <p:sp>
        <p:nvSpPr>
          <p:cNvPr id="38" name="Text: •  실시간 배음 합성:  음색 모드별 오실레이터 주 파수 배율을 오디오"/>
          <p:cNvSpPr txBox="1"/>
          <p:nvPr/>
        </p:nvSpPr>
        <p:spPr>
          <a:xfrm>
            <a:off x="3441700" y="4146649"/>
            <a:ext cx="2335709"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실시간 배음 합성:</a:t>
            </a:r>
            <a:r>
              <a:rPr lang="en-US" sz="875" spc="-4" dirty="0">
                <a:solidFill>
                  <a:srgbClr val="334155"/>
                </a:solidFill>
                <a:latin typeface="Segoe UI"/>
                <a:ea typeface="Segoe UI"/>
                <a:cs typeface="Segoe UI"/>
              </a:rPr>
              <a:t> 음색 모드별 오실레이터 주</a:t>
            </a:r>
            <a:br>
              <a:rPr lang="en-US" sz="875"/>
            </a:br>
            <a:r>
              <a:rPr lang="en-US" sz="875" spc="-4" dirty="0">
                <a:solidFill>
                  <a:srgbClr val="334155"/>
                </a:solidFill>
                <a:latin typeface="Segoe UI"/>
                <a:ea typeface="Segoe UI"/>
                <a:cs typeface="Segoe UI"/>
              </a:rPr>
              <a:t>파수 배율을 오디오 파이프라인에 반영</a:t>
            </a:r>
            <a:endParaRPr lang="en-US" sz="875" dirty="0"/>
          </a:p>
        </p:txBody>
      </p:sp>
      <p:sp>
        <p:nvSpPr>
          <p:cNvPr id="39" name="Rounded Rectangle"/>
          <p:cNvSpPr/>
          <p:nvPr/>
        </p:nvSpPr>
        <p:spPr>
          <a:xfrm>
            <a:off x="3441700" y="5373688"/>
            <a:ext cx="2419350" cy="239713"/>
          </a:xfrm>
          <a:prstGeom prst="roundRect">
            <a:avLst>
              <a:gd name="adj" fmla="val 15894"/>
            </a:avLst>
          </a:prstGeom>
          <a:solidFill>
            <a:srgbClr val="F8FAFC"/>
          </a:solidFill>
          <a:ln>
            <a:noFill/>
          </a:ln>
        </p:spPr>
      </p:sp>
      <p:sp>
        <p:nvSpPr>
          <p:cNvPr id="40" name="Text: ✓ 12 Key &amp; 3 Color Presets"/>
          <p:cNvSpPr txBox="1"/>
          <p:nvPr/>
        </p:nvSpPr>
        <p:spPr>
          <a:xfrm>
            <a:off x="3517900" y="5413375"/>
            <a:ext cx="1193403"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0284C7"/>
                </a:solidFill>
                <a:latin typeface="Segoe UI"/>
                <a:ea typeface="Segoe UI"/>
                <a:cs typeface="Segoe UI"/>
              </a:rPr>
              <a:t>✓ 12 Key &amp; 3 Color Presets</a:t>
            </a:r>
            <a:endParaRPr lang="en-US" sz="725" dirty="0"/>
          </a:p>
        </p:txBody>
      </p:sp>
      <p:sp>
        <p:nvSpPr>
          <p:cNvPr id="41" name="Rounded Rectangle"/>
          <p:cNvSpPr/>
          <p:nvPr/>
        </p:nvSpPr>
        <p:spPr>
          <a:xfrm>
            <a:off x="6159500" y="2512318"/>
            <a:ext cx="2762250" cy="3259832"/>
          </a:xfrm>
          <a:prstGeom prst="roundRect">
            <a:avLst>
              <a:gd name="adj" fmla="val 4138"/>
            </a:avLst>
          </a:prstGeom>
          <a:solidFill>
            <a:srgbClr val="FFFFFF"/>
          </a:solidFill>
          <a:ln>
            <a:noFill/>
          </a:ln>
          <a:effectLst>
            <a:outerShdw blurRad="101600" dist="50800" dir="5400000" sx="99080" sy="99221" algn="ctr" rotWithShape="0">
              <a:srgbClr val="000000">
                <a:alpha val="5000"/>
              </a:srgbClr>
            </a:outerShdw>
          </a:effectLst>
        </p:spPr>
      </p:sp>
      <p:sp>
        <p:nvSpPr>
          <p:cNvPr id="42" name="Border"/>
          <p:cNvSpPr/>
          <p:nvPr/>
        </p:nvSpPr>
        <p:spPr>
          <a:xfrm>
            <a:off x="6159500" y="2512318"/>
            <a:ext cx="2762250" cy="38100"/>
          </a:xfrm>
          <a:prstGeom prst="rect">
            <a:avLst/>
          </a:prstGeom>
          <a:solidFill>
            <a:srgbClr val="16A34A"/>
          </a:solidFill>
          <a:ln>
            <a:noFill/>
          </a:ln>
        </p:spPr>
      </p:sp>
      <p:sp>
        <p:nvSpPr>
          <p:cNvPr id="43" name="Border"/>
          <p:cNvSpPr/>
          <p:nvPr/>
        </p:nvSpPr>
        <p:spPr>
          <a:xfrm>
            <a:off x="8915400" y="2512318"/>
            <a:ext cx="6350" cy="3259832"/>
          </a:xfrm>
          <a:prstGeom prst="rect">
            <a:avLst/>
          </a:prstGeom>
          <a:solidFill>
            <a:srgbClr val="E2E8F0"/>
          </a:solidFill>
          <a:ln>
            <a:noFill/>
          </a:ln>
        </p:spPr>
      </p:sp>
      <p:sp>
        <p:nvSpPr>
          <p:cNvPr id="44" name="Border"/>
          <p:cNvSpPr/>
          <p:nvPr/>
        </p:nvSpPr>
        <p:spPr>
          <a:xfrm>
            <a:off x="6159500" y="5765800"/>
            <a:ext cx="2762250" cy="6350"/>
          </a:xfrm>
          <a:prstGeom prst="rect">
            <a:avLst/>
          </a:prstGeom>
          <a:solidFill>
            <a:srgbClr val="E2E8F0"/>
          </a:solidFill>
          <a:ln>
            <a:noFill/>
          </a:ln>
        </p:spPr>
      </p:sp>
      <p:sp>
        <p:nvSpPr>
          <p:cNvPr id="45" name="Border"/>
          <p:cNvSpPr/>
          <p:nvPr/>
        </p:nvSpPr>
        <p:spPr>
          <a:xfrm>
            <a:off x="6159500" y="2512318"/>
            <a:ext cx="6350" cy="3259832"/>
          </a:xfrm>
          <a:prstGeom prst="rect">
            <a:avLst/>
          </a:prstGeom>
          <a:solidFill>
            <a:srgbClr val="E2E8F0"/>
          </a:solidFill>
          <a:ln>
            <a:noFill/>
          </a:ln>
        </p:spPr>
      </p:sp>
      <p:sp>
        <p:nvSpPr>
          <p:cNvPr id="46" name="Rounded Rectangle"/>
          <p:cNvSpPr/>
          <p:nvPr/>
        </p:nvSpPr>
        <p:spPr>
          <a:xfrm>
            <a:off x="6334125" y="2705993"/>
            <a:ext cx="1086743" cy="238125"/>
          </a:xfrm>
          <a:prstGeom prst="roundRect">
            <a:avLst>
              <a:gd name="adj" fmla="val 20000"/>
            </a:avLst>
          </a:prstGeom>
          <a:solidFill>
            <a:srgbClr val="DCFCE7"/>
          </a:solidFill>
          <a:ln w="6350" cap="flat" cmpd="sng" algn="ctr">
            <a:solidFill>
              <a:srgbClr val="86EFAC"/>
            </a:solidFill>
            <a:miter lim="800000"/>
          </a:ln>
        </p:spPr>
      </p:sp>
      <p:sp>
        <p:nvSpPr>
          <p:cNvPr id="47" name="Text: INTERACTIVE HUD"/>
          <p:cNvSpPr txBox="1"/>
          <p:nvPr/>
        </p:nvSpPr>
        <p:spPr>
          <a:xfrm>
            <a:off x="6438900" y="2744093"/>
            <a:ext cx="87719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15803D"/>
                </a:solidFill>
                <a:latin typeface="Segoe UI"/>
                <a:ea typeface="Segoe UI"/>
                <a:cs typeface="Segoe UI"/>
              </a:rPr>
              <a:t>INTERACTIVE HUD</a:t>
            </a:r>
            <a:endParaRPr lang="en-US" sz="750" dirty="0"/>
          </a:p>
        </p:txBody>
      </p:sp>
      <p:sp>
        <p:nvSpPr>
          <p:cNvPr id="48" name="Text: 03"/>
          <p:cNvSpPr txBox="1"/>
          <p:nvPr/>
        </p:nvSpPr>
        <p:spPr>
          <a:xfrm>
            <a:off x="8640862" y="2744093"/>
            <a:ext cx="10943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64748B"/>
                </a:solidFill>
                <a:latin typeface="Segoe UI"/>
                <a:ea typeface="Segoe UI"/>
                <a:cs typeface="Segoe UI"/>
              </a:rPr>
              <a:t>03</a:t>
            </a:r>
            <a:endParaRPr lang="en-US" sz="750" dirty="0"/>
          </a:p>
        </p:txBody>
      </p:sp>
      <p:sp>
        <p:nvSpPr>
          <p:cNvPr id="49" name="Text: 초보자를 위한 실시간 가이드"/>
          <p:cNvSpPr txBox="1"/>
          <p:nvPr/>
        </p:nvSpPr>
        <p:spPr>
          <a:xfrm>
            <a:off x="6330950" y="3020318"/>
            <a:ext cx="1899047" cy="219075"/>
          </a:xfrm>
          <a:prstGeom prst="rect">
            <a:avLst/>
          </a:prstGeom>
          <a:noFill/>
        </p:spPr>
        <p:txBody>
          <a:bodyPr wrap="none" lIns="0" tIns="0" rIns="0" bIns="0" rtlCol="0" anchor="t">
            <a:noAutofit/>
          </a:bodyPr>
          <a:lstStyle/>
          <a:p>
            <a:pPr algn="l">
              <a:lnSpc>
                <a:spcPts val="1725"/>
              </a:lnSpc>
              <a:spcBef>
                <a:spcPts val="0"/>
              </a:spcBef>
              <a:spcAft>
                <a:spcPts val="0"/>
              </a:spcAft>
              <a:buNone/>
            </a:pPr>
            <a:r>
              <a:rPr lang="en-US" sz="1150" b="1" spc="-4" dirty="0">
                <a:solidFill>
                  <a:srgbClr val="0F172A"/>
                </a:solidFill>
                <a:latin typeface="Segoe UI"/>
                <a:ea typeface="Segoe UI"/>
                <a:cs typeface="Segoe UI"/>
              </a:rPr>
              <a:t>초보자를 위한 실시간 가이드</a:t>
            </a:r>
            <a:endParaRPr lang="en-US" sz="1150" dirty="0"/>
          </a:p>
        </p:txBody>
      </p:sp>
      <p:sp>
        <p:nvSpPr>
          <p:cNvPr id="50" name="Text: •  화음 매핑 HUD:  가이드 버튼 클릭 시 손가락- 화음표(도, 레"/>
          <p:cNvSpPr txBox="1"/>
          <p:nvPr/>
        </p:nvSpPr>
        <p:spPr>
          <a:xfrm>
            <a:off x="6330950" y="3330674"/>
            <a:ext cx="2335609"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화음 매핑 HUD:</a:t>
            </a:r>
            <a:r>
              <a:rPr lang="en-US" sz="875" spc="-4" dirty="0">
                <a:solidFill>
                  <a:srgbClr val="334155"/>
                </a:solidFill>
                <a:latin typeface="Segoe UI"/>
                <a:ea typeface="Segoe UI"/>
                <a:cs typeface="Segoe UI"/>
              </a:rPr>
              <a:t> 가이드 버튼 클릭 시 손가락-</a:t>
            </a:r>
            <a:br>
              <a:rPr lang="en-US" sz="875"/>
            </a:br>
            <a:r>
              <a:rPr lang="en-US" sz="875" spc="-4" dirty="0">
                <a:solidFill>
                  <a:srgbClr val="334155"/>
                </a:solidFill>
                <a:latin typeface="Segoe UI"/>
                <a:ea typeface="Segoe UI"/>
                <a:cs typeface="Segoe UI"/>
              </a:rPr>
              <a:t>화음표(도, 레, 미...)가 반투명 오버레이</a:t>
            </a:r>
            <a:endParaRPr lang="en-US" sz="875" dirty="0"/>
          </a:p>
        </p:txBody>
      </p:sp>
      <p:sp>
        <p:nvSpPr>
          <p:cNvPr id="51" name="Text: •  직관적 즉석 연주:  코드를 모르는 사용자도 손 모양을 보며 누구나"/>
          <p:cNvSpPr txBox="1"/>
          <p:nvPr/>
        </p:nvSpPr>
        <p:spPr>
          <a:xfrm>
            <a:off x="6330950" y="3738662"/>
            <a:ext cx="2335709"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직관적 즉석 연주:</a:t>
            </a:r>
            <a:r>
              <a:rPr lang="en-US" sz="875" spc="-4" dirty="0">
                <a:solidFill>
                  <a:srgbClr val="334155"/>
                </a:solidFill>
                <a:latin typeface="Segoe UI"/>
                <a:ea typeface="Segoe UI"/>
                <a:cs typeface="Segoe UI"/>
              </a:rPr>
              <a:t> 코드를 모르는 사용자도 손</a:t>
            </a:r>
            <a:br>
              <a:rPr lang="en-US" sz="875"/>
            </a:br>
            <a:r>
              <a:rPr lang="en-US" sz="875" spc="-4" dirty="0">
                <a:solidFill>
                  <a:srgbClr val="334155"/>
                </a:solidFill>
                <a:latin typeface="Segoe UI"/>
                <a:ea typeface="Segoe UI"/>
                <a:cs typeface="Segoe UI"/>
              </a:rPr>
              <a:t>모양을 보며 누구나 즉시 쉽게 연주</a:t>
            </a:r>
            <a:endParaRPr lang="en-US" sz="875" dirty="0"/>
          </a:p>
        </p:txBody>
      </p:sp>
      <p:sp>
        <p:nvSpPr>
          <p:cNvPr id="52" name="Text: •  제스처 피드백:  왼손 제스처 변화에 따라 현재 잡힌 코드가 화면에"/>
          <p:cNvSpPr txBox="1"/>
          <p:nvPr/>
        </p:nvSpPr>
        <p:spPr>
          <a:xfrm>
            <a:off x="6330950" y="4146649"/>
            <a:ext cx="2335609"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제스처 피드백:</a:t>
            </a:r>
            <a:r>
              <a:rPr lang="en-US" sz="875" spc="-4" dirty="0">
                <a:solidFill>
                  <a:srgbClr val="334155"/>
                </a:solidFill>
                <a:latin typeface="Segoe UI"/>
                <a:ea typeface="Segoe UI"/>
                <a:cs typeface="Segoe UI"/>
              </a:rPr>
              <a:t> 왼손 제스처 변화에 따라 현재</a:t>
            </a:r>
            <a:br>
              <a:rPr lang="en-US" sz="875"/>
            </a:br>
            <a:r>
              <a:rPr lang="en-US" sz="875" spc="-4" dirty="0">
                <a:solidFill>
                  <a:srgbClr val="334155"/>
                </a:solidFill>
                <a:latin typeface="Segoe UI"/>
                <a:ea typeface="Segoe UI"/>
                <a:cs typeface="Segoe UI"/>
              </a:rPr>
              <a:t>잡힌 코드가 화면에 실시간 점등</a:t>
            </a:r>
            <a:endParaRPr lang="en-US" sz="875" dirty="0"/>
          </a:p>
        </p:txBody>
      </p:sp>
      <p:sp>
        <p:nvSpPr>
          <p:cNvPr id="53" name="Rounded Rectangle"/>
          <p:cNvSpPr/>
          <p:nvPr/>
        </p:nvSpPr>
        <p:spPr>
          <a:xfrm>
            <a:off x="6330950" y="5373688"/>
            <a:ext cx="2419350" cy="239713"/>
          </a:xfrm>
          <a:prstGeom prst="roundRect">
            <a:avLst>
              <a:gd name="adj" fmla="val 15894"/>
            </a:avLst>
          </a:prstGeom>
          <a:solidFill>
            <a:srgbClr val="F8FAFC"/>
          </a:solidFill>
          <a:ln>
            <a:noFill/>
          </a:ln>
        </p:spPr>
      </p:sp>
      <p:sp>
        <p:nvSpPr>
          <p:cNvPr id="54" name="Text: ✓ On-Screen Interactive Guide"/>
          <p:cNvSpPr txBox="1"/>
          <p:nvPr/>
        </p:nvSpPr>
        <p:spPr>
          <a:xfrm>
            <a:off x="6407150" y="5413375"/>
            <a:ext cx="1321594"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16A34A"/>
                </a:solidFill>
                <a:latin typeface="Segoe UI"/>
                <a:ea typeface="Segoe UI"/>
                <a:cs typeface="Segoe UI"/>
              </a:rPr>
              <a:t>✓ On-Screen Interactive Guide</a:t>
            </a:r>
            <a:endParaRPr lang="en-US" sz="725" dirty="0"/>
          </a:p>
        </p:txBody>
      </p:sp>
      <p:sp>
        <p:nvSpPr>
          <p:cNvPr id="55" name="Rounded Rectangle"/>
          <p:cNvSpPr/>
          <p:nvPr/>
        </p:nvSpPr>
        <p:spPr>
          <a:xfrm>
            <a:off x="9048750" y="2512318"/>
            <a:ext cx="2762250" cy="3259832"/>
          </a:xfrm>
          <a:prstGeom prst="roundRect">
            <a:avLst>
              <a:gd name="adj" fmla="val 4138"/>
            </a:avLst>
          </a:prstGeom>
          <a:solidFill>
            <a:srgbClr val="FFFFFF"/>
          </a:solidFill>
          <a:ln>
            <a:noFill/>
          </a:ln>
          <a:effectLst>
            <a:outerShdw blurRad="101600" dist="50800" dir="5400000" sx="99080" sy="99221" algn="ctr" rotWithShape="0">
              <a:srgbClr val="000000">
                <a:alpha val="5000"/>
              </a:srgbClr>
            </a:outerShdw>
          </a:effectLst>
        </p:spPr>
      </p:sp>
      <p:sp>
        <p:nvSpPr>
          <p:cNvPr id="56" name="Border"/>
          <p:cNvSpPr/>
          <p:nvPr/>
        </p:nvSpPr>
        <p:spPr>
          <a:xfrm>
            <a:off x="9048750" y="2512318"/>
            <a:ext cx="2762250" cy="38100"/>
          </a:xfrm>
          <a:prstGeom prst="rect">
            <a:avLst/>
          </a:prstGeom>
          <a:solidFill>
            <a:srgbClr val="D97706"/>
          </a:solidFill>
          <a:ln>
            <a:noFill/>
          </a:ln>
        </p:spPr>
      </p:sp>
      <p:sp>
        <p:nvSpPr>
          <p:cNvPr id="57" name="Border"/>
          <p:cNvSpPr/>
          <p:nvPr/>
        </p:nvSpPr>
        <p:spPr>
          <a:xfrm>
            <a:off x="11804650" y="2512318"/>
            <a:ext cx="6350" cy="3259832"/>
          </a:xfrm>
          <a:prstGeom prst="rect">
            <a:avLst/>
          </a:prstGeom>
          <a:solidFill>
            <a:srgbClr val="E2E8F0"/>
          </a:solidFill>
          <a:ln>
            <a:noFill/>
          </a:ln>
        </p:spPr>
      </p:sp>
      <p:sp>
        <p:nvSpPr>
          <p:cNvPr id="58" name="Border"/>
          <p:cNvSpPr/>
          <p:nvPr/>
        </p:nvSpPr>
        <p:spPr>
          <a:xfrm>
            <a:off x="9048750" y="5765800"/>
            <a:ext cx="2762250" cy="6350"/>
          </a:xfrm>
          <a:prstGeom prst="rect">
            <a:avLst/>
          </a:prstGeom>
          <a:solidFill>
            <a:srgbClr val="E2E8F0"/>
          </a:solidFill>
          <a:ln>
            <a:noFill/>
          </a:ln>
        </p:spPr>
      </p:sp>
      <p:sp>
        <p:nvSpPr>
          <p:cNvPr id="59" name="Border"/>
          <p:cNvSpPr/>
          <p:nvPr/>
        </p:nvSpPr>
        <p:spPr>
          <a:xfrm>
            <a:off x="9048750" y="2512318"/>
            <a:ext cx="6350" cy="3259832"/>
          </a:xfrm>
          <a:prstGeom prst="rect">
            <a:avLst/>
          </a:prstGeom>
          <a:solidFill>
            <a:srgbClr val="E2E8F0"/>
          </a:solidFill>
          <a:ln>
            <a:noFill/>
          </a:ln>
        </p:spPr>
      </p:sp>
      <p:sp>
        <p:nvSpPr>
          <p:cNvPr id="60" name="Rounded Rectangle"/>
          <p:cNvSpPr/>
          <p:nvPr/>
        </p:nvSpPr>
        <p:spPr>
          <a:xfrm>
            <a:off x="9223375" y="2705993"/>
            <a:ext cx="939998" cy="238125"/>
          </a:xfrm>
          <a:prstGeom prst="roundRect">
            <a:avLst>
              <a:gd name="adj" fmla="val 20000"/>
            </a:avLst>
          </a:prstGeom>
          <a:solidFill>
            <a:srgbClr val="FEF3C7"/>
          </a:solidFill>
          <a:ln w="6350" cap="flat" cmpd="sng" algn="ctr">
            <a:solidFill>
              <a:srgbClr val="FDE68A"/>
            </a:solidFill>
            <a:miter lim="800000"/>
          </a:ln>
        </p:spPr>
      </p:sp>
      <p:sp>
        <p:nvSpPr>
          <p:cNvPr id="61" name="Text: LEVEL &amp; FILTER"/>
          <p:cNvSpPr txBox="1"/>
          <p:nvPr/>
        </p:nvSpPr>
        <p:spPr>
          <a:xfrm>
            <a:off x="9328150" y="2744093"/>
            <a:ext cx="73044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D97706"/>
                </a:solidFill>
                <a:latin typeface="Segoe UI"/>
                <a:ea typeface="Segoe UI"/>
                <a:cs typeface="Segoe UI"/>
              </a:rPr>
              <a:t>LEVEL &amp; FILTER</a:t>
            </a:r>
            <a:endParaRPr lang="en-US" sz="750" dirty="0"/>
          </a:p>
        </p:txBody>
      </p:sp>
      <p:sp>
        <p:nvSpPr>
          <p:cNvPr id="62" name="Text: 04"/>
          <p:cNvSpPr txBox="1"/>
          <p:nvPr/>
        </p:nvSpPr>
        <p:spPr>
          <a:xfrm>
            <a:off x="11530112" y="2744093"/>
            <a:ext cx="10943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64748B"/>
                </a:solidFill>
                <a:latin typeface="Segoe UI"/>
                <a:ea typeface="Segoe UI"/>
                <a:cs typeface="Segoe UI"/>
              </a:rPr>
              <a:t>04</a:t>
            </a:r>
            <a:endParaRPr lang="en-US" sz="750" dirty="0"/>
          </a:p>
        </p:txBody>
      </p:sp>
      <p:sp>
        <p:nvSpPr>
          <p:cNvPr id="63" name="Text: 볼륨 슬라이더 &amp; LED 미터"/>
          <p:cNvSpPr txBox="1"/>
          <p:nvPr/>
        </p:nvSpPr>
        <p:spPr>
          <a:xfrm>
            <a:off x="9220200" y="3020318"/>
            <a:ext cx="1753195" cy="219075"/>
          </a:xfrm>
          <a:prstGeom prst="rect">
            <a:avLst/>
          </a:prstGeom>
          <a:noFill/>
        </p:spPr>
        <p:txBody>
          <a:bodyPr wrap="none" lIns="0" tIns="0" rIns="0" bIns="0" rtlCol="0" anchor="t">
            <a:noAutofit/>
          </a:bodyPr>
          <a:lstStyle/>
          <a:p>
            <a:pPr algn="l">
              <a:lnSpc>
                <a:spcPts val="1725"/>
              </a:lnSpc>
              <a:spcBef>
                <a:spcPts val="0"/>
              </a:spcBef>
              <a:spcAft>
                <a:spcPts val="0"/>
              </a:spcAft>
              <a:buNone/>
            </a:pPr>
            <a:r>
              <a:rPr lang="en-US" sz="1150" b="1" spc="-4" dirty="0">
                <a:solidFill>
                  <a:srgbClr val="0F172A"/>
                </a:solidFill>
                <a:latin typeface="Segoe UI"/>
                <a:ea typeface="Segoe UI"/>
                <a:cs typeface="Segoe UI"/>
              </a:rPr>
              <a:t>볼륨 슬라이더 &amp; LED 미터</a:t>
            </a:r>
            <a:endParaRPr lang="en-US" sz="1150" dirty="0"/>
          </a:p>
        </p:txBody>
      </p:sp>
      <p:sp>
        <p:nvSpPr>
          <p:cNvPr id="64" name="Text: •  마스터 볼륨:  0%부터 150%(사운드 증폭)까지 마우스 슬라이더"/>
          <p:cNvSpPr txBox="1"/>
          <p:nvPr/>
        </p:nvSpPr>
        <p:spPr>
          <a:xfrm>
            <a:off x="9220200" y="3330674"/>
            <a:ext cx="2310507"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마스터 볼륨:</a:t>
            </a:r>
            <a:r>
              <a:rPr lang="en-US" sz="875" spc="-4" dirty="0">
                <a:solidFill>
                  <a:srgbClr val="334155"/>
                </a:solidFill>
                <a:latin typeface="Segoe UI"/>
                <a:ea typeface="Segoe UI"/>
                <a:cs typeface="Segoe UI"/>
              </a:rPr>
              <a:t> 0%부터 150%(사운드 증폭)까지</a:t>
            </a:r>
            <a:br>
              <a:rPr lang="en-US" sz="875"/>
            </a:br>
            <a:r>
              <a:rPr lang="en-US" sz="875" spc="-4" dirty="0">
                <a:solidFill>
                  <a:srgbClr val="334155"/>
                </a:solidFill>
                <a:latin typeface="Segoe UI"/>
                <a:ea typeface="Segoe UI"/>
                <a:cs typeface="Segoe UI"/>
              </a:rPr>
              <a:t>마우스 슬라이더로 출력 음량 조절</a:t>
            </a:r>
            <a:endParaRPr lang="en-US" sz="875" dirty="0"/>
          </a:p>
        </p:txBody>
      </p:sp>
      <p:sp>
        <p:nvSpPr>
          <p:cNvPr id="65" name="Text: •  네온 LED 미터:  손목 기울기에 따른 음량 레벨 과 필터 개방도"/>
          <p:cNvSpPr txBox="1"/>
          <p:nvPr/>
        </p:nvSpPr>
        <p:spPr>
          <a:xfrm>
            <a:off x="9220200" y="3738662"/>
            <a:ext cx="2351088"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네온 LED 미터:</a:t>
            </a:r>
            <a:r>
              <a:rPr lang="en-US" sz="875" spc="-4" dirty="0">
                <a:solidFill>
                  <a:srgbClr val="334155"/>
                </a:solidFill>
                <a:latin typeface="Segoe UI"/>
                <a:ea typeface="Segoe UI"/>
                <a:cs typeface="Segoe UI"/>
              </a:rPr>
              <a:t> 손목 기울기에 따른 음량 레벨</a:t>
            </a:r>
            <a:br>
              <a:rPr lang="en-US" sz="875"/>
            </a:br>
            <a:r>
              <a:rPr lang="en-US" sz="875" spc="-4" dirty="0">
                <a:solidFill>
                  <a:srgbClr val="334155"/>
                </a:solidFill>
                <a:latin typeface="Segoe UI"/>
                <a:ea typeface="Segoe UI"/>
                <a:cs typeface="Segoe UI"/>
              </a:rPr>
              <a:t>과 필터 개방도 실시간 시각화</a:t>
            </a:r>
            <a:endParaRPr lang="en-US" sz="875" dirty="0"/>
          </a:p>
        </p:txBody>
      </p:sp>
      <p:sp>
        <p:nvSpPr>
          <p:cNvPr id="66" name="Text: •  필터 상태 HUD:  오른손 틸트 각도에 따른 로우 패스 필터 개방"/>
          <p:cNvSpPr txBox="1"/>
          <p:nvPr/>
        </p:nvSpPr>
        <p:spPr>
          <a:xfrm>
            <a:off x="9220200" y="4146649"/>
            <a:ext cx="2401094" cy="344488"/>
          </a:xfrm>
          <a:prstGeom prst="rect">
            <a:avLst/>
          </a:prstGeom>
          <a:noFill/>
        </p:spPr>
        <p:txBody>
          <a:bodyPr wrap="none" lIns="0" tIns="0" rIns="0" bIns="0" rtlCol="0" anchor="t">
            <a:noAutofit/>
          </a:bodyPr>
          <a:lstStyle/>
          <a:p>
            <a:pPr algn="l">
              <a:lnSpc>
                <a:spcPts val="1356"/>
              </a:lnSpc>
              <a:spcBef>
                <a:spcPts val="0"/>
              </a:spcBef>
              <a:spcAft>
                <a:spcPts val="0"/>
              </a:spcAft>
              <a:buNone/>
            </a:pPr>
            <a:r>
              <a:rPr lang="en-US" sz="875" spc="-4" dirty="0">
                <a:solidFill>
                  <a:srgbClr val="334155"/>
                </a:solidFill>
                <a:latin typeface="Segoe UI"/>
                <a:ea typeface="Segoe UI"/>
                <a:cs typeface="Segoe UI"/>
              </a:rPr>
              <a:t>• </a:t>
            </a:r>
            <a:r>
              <a:rPr lang="en-US" sz="875" b="1" spc="-4" dirty="0">
                <a:solidFill>
                  <a:srgbClr val="334155"/>
                </a:solidFill>
                <a:latin typeface="Segoe UI"/>
                <a:ea typeface="Segoe UI"/>
                <a:cs typeface="Segoe UI"/>
              </a:rPr>
              <a:t>필터 상태 HUD:</a:t>
            </a:r>
            <a:r>
              <a:rPr lang="en-US" sz="875" spc="-4" dirty="0">
                <a:solidFill>
                  <a:srgbClr val="334155"/>
                </a:solidFill>
                <a:latin typeface="Segoe UI"/>
                <a:ea typeface="Segoe UI"/>
                <a:cs typeface="Segoe UI"/>
              </a:rPr>
              <a:t> 오른손 틸트 각도에 따른 로우</a:t>
            </a:r>
            <a:br>
              <a:rPr lang="en-US" sz="875"/>
            </a:br>
            <a:r>
              <a:rPr lang="en-US" sz="875" spc="-4" dirty="0">
                <a:solidFill>
                  <a:srgbClr val="334155"/>
                </a:solidFill>
                <a:latin typeface="Segoe UI"/>
                <a:ea typeface="Segoe UI"/>
                <a:cs typeface="Segoe UI"/>
              </a:rPr>
              <a:t>패스 필터 개방치(+7%) 실시간 표시</a:t>
            </a:r>
            <a:endParaRPr lang="en-US" sz="875" dirty="0"/>
          </a:p>
        </p:txBody>
      </p:sp>
      <p:sp>
        <p:nvSpPr>
          <p:cNvPr id="67" name="Rounded Rectangle"/>
          <p:cNvSpPr/>
          <p:nvPr/>
        </p:nvSpPr>
        <p:spPr>
          <a:xfrm>
            <a:off x="9220200" y="5373688"/>
            <a:ext cx="2419350" cy="239713"/>
          </a:xfrm>
          <a:prstGeom prst="roundRect">
            <a:avLst>
              <a:gd name="adj" fmla="val 15894"/>
            </a:avLst>
          </a:prstGeom>
          <a:solidFill>
            <a:srgbClr val="F8FAFC"/>
          </a:solidFill>
          <a:ln>
            <a:noFill/>
          </a:ln>
        </p:spPr>
      </p:sp>
      <p:sp>
        <p:nvSpPr>
          <p:cNvPr id="68" name="Text: ✓ Dynamic Output &amp; Filter HUD"/>
          <p:cNvSpPr txBox="1"/>
          <p:nvPr/>
        </p:nvSpPr>
        <p:spPr>
          <a:xfrm>
            <a:off x="9296400" y="5413375"/>
            <a:ext cx="1411188"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D97706"/>
                </a:solidFill>
                <a:latin typeface="Segoe UI"/>
                <a:ea typeface="Segoe UI"/>
                <a:cs typeface="Segoe UI"/>
              </a:rPr>
              <a:t>✓ Dynamic Output &amp; Filter HUD</a:t>
            </a:r>
            <a:endParaRPr lang="en-US" sz="725" dirty="0"/>
          </a:p>
        </p:txBody>
      </p:sp>
      <p:sp>
        <p:nvSpPr>
          <p:cNvPr id="69" name="Rounded Rectangle"/>
          <p:cNvSpPr/>
          <p:nvPr/>
        </p:nvSpPr>
        <p:spPr>
          <a:xfrm>
            <a:off x="384175" y="5876925"/>
            <a:ext cx="11423650" cy="454025"/>
          </a:xfrm>
          <a:prstGeom prst="roundRect">
            <a:avLst>
              <a:gd name="adj" fmla="val 18881"/>
            </a:avLst>
          </a:prstGeom>
          <a:solidFill>
            <a:srgbClr val="FFFFFF"/>
          </a:solidFill>
          <a:ln w="6350" cap="flat" cmpd="sng" algn="ctr">
            <a:solidFill>
              <a:srgbClr val="CBD5E1"/>
            </a:solidFill>
            <a:miter lim="800000"/>
          </a:ln>
          <a:effectLst>
            <a:outerShdw blurRad="76200" dist="25400" dir="5400000" sx="100000" sy="100000" algn="ctr" rotWithShape="0">
              <a:srgbClr val="000000">
                <a:alpha val="3000"/>
              </a:srgbClr>
            </a:outerShdw>
          </a:effectLst>
        </p:spPr>
      </p:sp>
      <p:sp>
        <p:nvSpPr>
          <p:cNvPr id="70" name="Text: 💡  통합 제어 경험:  복잡한 터미널 명령이나 오디오 장비 없이, 단"/>
          <p:cNvSpPr txBox="1"/>
          <p:nvPr/>
        </p:nvSpPr>
        <p:spPr>
          <a:xfrm>
            <a:off x="565150" y="6005513"/>
            <a:ext cx="7650063"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spc="-4" dirty="0">
                <a:solidFill>
                  <a:srgbClr val="1E293B"/>
                </a:solidFill>
                <a:latin typeface="Segoe UI"/>
                <a:ea typeface="Segoe UI"/>
                <a:cs typeface="Segoe UI"/>
              </a:rPr>
              <a:t>💡 </a:t>
            </a:r>
            <a:r>
              <a:rPr lang="en-US" sz="900" b="1" spc="-4" dirty="0">
                <a:solidFill>
                  <a:srgbClr val="1E293B"/>
                </a:solidFill>
                <a:latin typeface="Segoe UI"/>
                <a:ea typeface="Segoe UI"/>
                <a:cs typeface="Segoe UI"/>
              </a:rPr>
              <a:t>통합 제어 경험:</a:t>
            </a:r>
            <a:r>
              <a:rPr lang="en-US" sz="900" spc="-4" dirty="0">
                <a:solidFill>
                  <a:srgbClr val="1E293B"/>
                </a:solidFill>
                <a:latin typeface="Segoe UI"/>
                <a:ea typeface="Segoe UI"/>
                <a:cs typeface="Segoe UI"/>
              </a:rPr>
              <a:t> 복잡한 터미널 명령이나 오디오 장비 없이, 단 하나의 상단 바에서 </a:t>
            </a:r>
            <a:r>
              <a:rPr lang="en-US" sz="900" b="1" spc="-4" dirty="0">
                <a:solidFill>
                  <a:srgbClr val="1E293B"/>
                </a:solidFill>
                <a:latin typeface="Segoe UI"/>
                <a:ea typeface="Segoe UI"/>
                <a:cs typeface="Segoe UI"/>
              </a:rPr>
              <a:t>AI 모델 교체 ➔ 사운드 조율 ➔ 실시간 모니터링</a:t>
            </a:r>
            <a:r>
              <a:rPr lang="en-US" sz="900" spc="-4" dirty="0">
                <a:solidFill>
                  <a:srgbClr val="1E293B"/>
                </a:solidFill>
                <a:latin typeface="Segoe UI"/>
                <a:ea typeface="Segoe UI"/>
                <a:cs typeface="Segoe UI"/>
              </a:rPr>
              <a:t>이 즉각 완결됨</a:t>
            </a:r>
            <a:endParaRPr lang="en-US" sz="900" dirty="0"/>
          </a:p>
        </p:txBody>
      </p:sp>
      <p:sp>
        <p:nvSpPr>
          <p:cNvPr id="71" name="Rounded Rectangle"/>
          <p:cNvSpPr/>
          <p:nvPr/>
        </p:nvSpPr>
        <p:spPr>
          <a:xfrm>
            <a:off x="10116145" y="5984875"/>
            <a:ext cx="1507530" cy="238125"/>
          </a:xfrm>
          <a:prstGeom prst="roundRect">
            <a:avLst>
              <a:gd name="adj" fmla="val 20000"/>
            </a:avLst>
          </a:prstGeom>
          <a:solidFill>
            <a:srgbClr val="EFF6FF"/>
          </a:solidFill>
          <a:ln w="6350" cap="flat" cmpd="sng" algn="ctr">
            <a:solidFill>
              <a:srgbClr val="BFDBFE"/>
            </a:solidFill>
            <a:miter lim="800000"/>
          </a:ln>
        </p:spPr>
      </p:sp>
      <p:sp>
        <p:nvSpPr>
          <p:cNvPr id="72" name="Text: ALL-IN-ONE CONTROL BAR"/>
          <p:cNvSpPr txBox="1"/>
          <p:nvPr/>
        </p:nvSpPr>
        <p:spPr>
          <a:xfrm>
            <a:off x="10220920" y="6022975"/>
            <a:ext cx="1297980"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ALL-IN-ONE CONTROL BAR</a:t>
            </a:r>
            <a:endParaRPr lang="en-US" sz="750" dirty="0"/>
          </a:p>
        </p:txBody>
      </p:sp>
      <p:sp>
        <p:nvSpPr>
          <p:cNvPr id="73" name="Border"/>
          <p:cNvSpPr/>
          <p:nvPr/>
        </p:nvSpPr>
        <p:spPr>
          <a:xfrm>
            <a:off x="381000" y="6334125"/>
            <a:ext cx="11430000" cy="6350"/>
          </a:xfrm>
          <a:prstGeom prst="rect">
            <a:avLst/>
          </a:prstGeom>
          <a:solidFill>
            <a:srgbClr val="E2E8F0"/>
          </a:solidFill>
          <a:ln>
            <a:noFill/>
          </a:ln>
        </p:spPr>
      </p:sp>
      <p:sp>
        <p:nvSpPr>
          <p:cNvPr id="74"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75" name="Rounded Rectangle"/>
          <p:cNvSpPr/>
          <p:nvPr/>
        </p:nvSpPr>
        <p:spPr>
          <a:xfrm>
            <a:off x="11237714" y="6429375"/>
            <a:ext cx="573286" cy="225425"/>
          </a:xfrm>
          <a:prstGeom prst="roundRect">
            <a:avLst>
              <a:gd name="adj" fmla="val 22535"/>
            </a:avLst>
          </a:prstGeom>
          <a:solidFill>
            <a:srgbClr val="F1F5F9"/>
          </a:solidFill>
          <a:ln>
            <a:noFill/>
          </a:ln>
        </p:spPr>
      </p:sp>
      <p:sp>
        <p:nvSpPr>
          <p:cNvPr id="76" name="Text: 11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11 / 14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950839" cy="238125"/>
          </a:xfrm>
          <a:prstGeom prst="roundRect">
            <a:avLst>
              <a:gd name="adj" fmla="val 20000"/>
            </a:avLst>
          </a:prstGeom>
          <a:solidFill>
            <a:srgbClr val="EFF6FF"/>
          </a:solidFill>
          <a:ln w="6350" cap="flat" cmpd="sng" algn="ctr">
            <a:solidFill>
              <a:srgbClr val="BFDBFE"/>
            </a:solidFill>
            <a:miter lim="800000"/>
          </a:ln>
        </p:spPr>
      </p:sp>
      <p:sp>
        <p:nvSpPr>
          <p:cNvPr id="3" name="Text: PART 05 • 하이브리드 추론 파이프라인"/>
          <p:cNvSpPr txBox="1"/>
          <p:nvPr/>
        </p:nvSpPr>
        <p:spPr>
          <a:xfrm>
            <a:off x="488950" y="282575"/>
            <a:ext cx="1741289"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05 • 하이브리드 추론 파이프라인</a:t>
            </a:r>
            <a:endParaRPr lang="en-US" sz="750" dirty="0"/>
          </a:p>
        </p:txBody>
      </p:sp>
      <p:sp>
        <p:nvSpPr>
          <p:cNvPr id="4" name="Text: AuraSynth Engine Architecture"/>
          <p:cNvSpPr txBox="1"/>
          <p:nvPr/>
        </p:nvSpPr>
        <p:spPr>
          <a:xfrm>
            <a:off x="2427089"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이원화 파이프라인] 온디바이스 웹 vs 파이썬 소켓 브릿지"/>
          <p:cNvSpPr txBox="1"/>
          <p:nvPr/>
        </p:nvSpPr>
        <p:spPr>
          <a:xfrm>
            <a:off x="381000" y="555625"/>
            <a:ext cx="7996337"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[이원화 파이프라인] 온디바이스 웹 vs 파이썬 소켓 브릿지</a:t>
            </a:r>
            <a:endParaRPr lang="en-US" sz="2500" dirty="0"/>
          </a:p>
        </p:txBody>
      </p:sp>
      <p:sp>
        <p:nvSpPr>
          <p:cNvPr id="6" name="Text: MediaPipe의 브라우저 직접 추론과 Geti·YOLO의 소켓 통신을"/>
          <p:cNvSpPr txBox="1"/>
          <p:nvPr/>
        </p:nvSpPr>
        <p:spPr>
          <a:xfrm>
            <a:off x="381000" y="948055"/>
            <a:ext cx="8650387"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MediaPipe의 브라우저 직접 추론과 Geti·YOLO의 소켓 통신을 'MediaPipe 21개 관절 표준 스키마'로 Y자 병합한 하이브리드 아키텍처</a:t>
            </a:r>
            <a:endParaRPr lang="en-US" sz="1150" dirty="0"/>
          </a:p>
        </p:txBody>
      </p:sp>
      <p:sp>
        <p:nvSpPr>
          <p:cNvPr id="7" name="Rounded Rectangle"/>
          <p:cNvSpPr/>
          <p:nvPr/>
        </p:nvSpPr>
        <p:spPr>
          <a:xfrm>
            <a:off x="387350" y="1280716"/>
            <a:ext cx="11417300" cy="2561233"/>
          </a:xfrm>
          <a:prstGeom prst="roundRect">
            <a:avLst>
              <a:gd name="adj" fmla="val 4215"/>
            </a:avLst>
          </a:prstGeom>
          <a:gradFill rotWithShape="1">
            <a:gsLst>
              <a:gs pos="0">
                <a:srgbClr val="FFFFFF"/>
              </a:gs>
              <a:gs pos="100000">
                <a:srgbClr val="F8FAFC"/>
              </a:gs>
            </a:gsLst>
            <a:lin ang="5400000" scaled="0"/>
          </a:gradFill>
          <a:ln w="12700" cap="flat" cmpd="sng" algn="ctr">
            <a:solidFill>
              <a:srgbClr val="E2E8F0"/>
            </a:solidFill>
            <a:miter lim="800000"/>
          </a:ln>
          <a:effectLst>
            <a:outerShdw blurRad="101600" dist="50800" dir="5400000" sx="99778" sy="99008" algn="ctr" rotWithShape="0">
              <a:srgbClr val="000000">
                <a:alpha val="5000"/>
              </a:srgbClr>
            </a:outerShdw>
          </a:effectLst>
        </p:spPr>
      </p:sp>
      <p:sp>
        <p:nvSpPr>
          <p:cNvPr id="8" name="Rounded Rectangle"/>
          <p:cNvSpPr/>
          <p:nvPr/>
        </p:nvSpPr>
        <p:spPr>
          <a:xfrm>
            <a:off x="574675" y="1429941"/>
            <a:ext cx="1479848" cy="238125"/>
          </a:xfrm>
          <a:prstGeom prst="roundRect">
            <a:avLst>
              <a:gd name="adj" fmla="val 20000"/>
            </a:avLst>
          </a:prstGeom>
          <a:solidFill>
            <a:srgbClr val="EFF6FF"/>
          </a:solidFill>
          <a:ln w="6350" cap="flat" cmpd="sng" algn="ctr">
            <a:solidFill>
              <a:srgbClr val="BFDBFE"/>
            </a:solidFill>
            <a:miter lim="800000"/>
          </a:ln>
        </p:spPr>
      </p:sp>
      <p:sp>
        <p:nvSpPr>
          <p:cNvPr id="9" name="Text: Y-CONVERGENCE PIPELINE"/>
          <p:cNvSpPr txBox="1"/>
          <p:nvPr/>
        </p:nvSpPr>
        <p:spPr>
          <a:xfrm>
            <a:off x="679450" y="1468041"/>
            <a:ext cx="127029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Y-CONVERGENCE PIPELINE</a:t>
            </a:r>
            <a:endParaRPr lang="en-US" sz="750" dirty="0"/>
          </a:p>
        </p:txBody>
      </p:sp>
      <p:sp>
        <p:nvSpPr>
          <p:cNvPr id="10" name="Text: 이기종 모델 입력 전달 및 표준 스키마 어댑터(Adapter) 수렴 구조"/>
          <p:cNvSpPr txBox="1"/>
          <p:nvPr/>
        </p:nvSpPr>
        <p:spPr>
          <a:xfrm>
            <a:off x="2121198" y="1441053"/>
            <a:ext cx="3751858" cy="190500"/>
          </a:xfrm>
          <a:prstGeom prst="rect">
            <a:avLst/>
          </a:prstGeom>
          <a:noFill/>
        </p:spPr>
        <p:txBody>
          <a:bodyPr wrap="none" lIns="0" tIns="0" rIns="0" bIns="0" rtlCol="0" anchor="t">
            <a:noAutofit/>
          </a:bodyPr>
          <a:lstStyle/>
          <a:p>
            <a:pPr algn="l">
              <a:lnSpc>
                <a:spcPts val="1500"/>
              </a:lnSpc>
              <a:spcBef>
                <a:spcPts val="0"/>
              </a:spcBef>
              <a:spcAft>
                <a:spcPts val="0"/>
              </a:spcAft>
              <a:buNone/>
            </a:pPr>
            <a:r>
              <a:rPr lang="en-US" sz="1000" b="1" spc="-4" dirty="0">
                <a:solidFill>
                  <a:srgbClr val="0F172A"/>
                </a:solidFill>
                <a:latin typeface="Segoe UI"/>
                <a:ea typeface="Segoe UI"/>
                <a:cs typeface="Segoe UI"/>
              </a:rPr>
              <a:t>이기종 모델 입력 전달 및 표준 스키마 어댑터(Adapter) 수렴 구조</a:t>
            </a:r>
            <a:endParaRPr lang="en-US" sz="1000" dirty="0"/>
          </a:p>
        </p:txBody>
      </p:sp>
      <p:sp>
        <p:nvSpPr>
          <p:cNvPr id="11" name="Rounded Rectangle"/>
          <p:cNvSpPr/>
          <p:nvPr/>
        </p:nvSpPr>
        <p:spPr>
          <a:xfrm>
            <a:off x="9327555" y="1462484"/>
            <a:ext cx="2289770" cy="173038"/>
          </a:xfrm>
          <a:prstGeom prst="roundRect">
            <a:avLst>
              <a:gd name="adj" fmla="val 50000"/>
            </a:avLst>
          </a:prstGeom>
          <a:solidFill>
            <a:srgbClr val="F0FDF4"/>
          </a:solidFill>
          <a:ln w="6350" cap="flat" cmpd="sng" algn="ctr">
            <a:solidFill>
              <a:srgbClr val="86EFAC"/>
            </a:solidFill>
            <a:miter lim="800000"/>
          </a:ln>
        </p:spPr>
      </p:sp>
      <p:sp>
        <p:nvSpPr>
          <p:cNvPr id="12" name="Text: ⚡ 사운드 엔진 결합도 분리 (Decoupled Architecture)"/>
          <p:cNvSpPr txBox="1"/>
          <p:nvPr/>
        </p:nvSpPr>
        <p:spPr>
          <a:xfrm>
            <a:off x="9406930" y="1476772"/>
            <a:ext cx="2131020" cy="128588"/>
          </a:xfrm>
          <a:prstGeom prst="rect">
            <a:avLst/>
          </a:prstGeom>
          <a:noFill/>
        </p:spPr>
        <p:txBody>
          <a:bodyPr wrap="none" lIns="0" tIns="0" rIns="0" bIns="0" rtlCol="0" anchor="t">
            <a:noAutofit/>
          </a:bodyPr>
          <a:lstStyle/>
          <a:p>
            <a:pPr algn="l">
              <a:lnSpc>
                <a:spcPts val="1013"/>
              </a:lnSpc>
              <a:spcBef>
                <a:spcPts val="0"/>
              </a:spcBef>
              <a:spcAft>
                <a:spcPts val="0"/>
              </a:spcAft>
              <a:buNone/>
            </a:pPr>
            <a:r>
              <a:rPr lang="en-US" sz="675" b="1" spc="-4" dirty="0">
                <a:solidFill>
                  <a:srgbClr val="16A34A"/>
                </a:solidFill>
                <a:latin typeface="Segoe UI"/>
                <a:ea typeface="Segoe UI"/>
                <a:cs typeface="Segoe UI"/>
              </a:rPr>
              <a:t>⚡ 사운드 엔진 결합도 분리 (Decoupled Architecture)</a:t>
            </a:r>
            <a:endParaRPr lang="en-US" sz="675" dirty="0"/>
          </a:p>
        </p:txBody>
      </p:sp>
      <p:sp>
        <p:nvSpPr>
          <p:cNvPr id="13" name="Rounded Rectangle"/>
          <p:cNvSpPr/>
          <p:nvPr/>
        </p:nvSpPr>
        <p:spPr>
          <a:xfrm>
            <a:off x="577850" y="2107307"/>
            <a:ext cx="8166596" cy="569913"/>
          </a:xfrm>
          <a:prstGeom prst="roundRect">
            <a:avLst>
              <a:gd name="adj" fmla="val 12256"/>
            </a:avLst>
          </a:prstGeom>
          <a:solidFill>
            <a:srgbClr val="F0FDF4"/>
          </a:solidFill>
          <a:ln w="12700" cap="flat" cmpd="sng" algn="ctr">
            <a:solidFill>
              <a:srgbClr val="86EFAC"/>
            </a:solidFill>
            <a:miter lim="800000"/>
          </a:ln>
          <a:effectLst>
            <a:outerShdw blurRad="76200" dist="25400" dir="5400000" sx="100000" sy="100000" algn="ctr" rotWithShape="0">
              <a:srgbClr val="10B981">
                <a:alpha val="6000"/>
              </a:srgbClr>
            </a:outerShdw>
          </a:effectLst>
        </p:spPr>
      </p:sp>
      <p:sp>
        <p:nvSpPr>
          <p:cNvPr id="14" name="Text: 🌟 경로 A: MediaPipe"/>
          <p:cNvSpPr txBox="1"/>
          <p:nvPr/>
        </p:nvSpPr>
        <p:spPr>
          <a:xfrm>
            <a:off x="698500" y="2180332"/>
            <a:ext cx="983555"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15803D"/>
                </a:solidFill>
                <a:latin typeface="Segoe UI"/>
                <a:ea typeface="Segoe UI"/>
                <a:cs typeface="Segoe UI"/>
              </a:rPr>
              <a:t>🌟 경로 A: MediaPipe</a:t>
            </a:r>
            <a:endParaRPr lang="en-US" sz="750" dirty="0"/>
          </a:p>
        </p:txBody>
      </p:sp>
      <p:sp>
        <p:nvSpPr>
          <p:cNvPr id="15" name="Text: 웹 브라우저 온디바이스"/>
          <p:cNvSpPr txBox="1"/>
          <p:nvPr/>
        </p:nvSpPr>
        <p:spPr>
          <a:xfrm>
            <a:off x="698500" y="2324795"/>
            <a:ext cx="775593" cy="109538"/>
          </a:xfrm>
          <a:prstGeom prst="rect">
            <a:avLst/>
          </a:prstGeom>
          <a:noFill/>
        </p:spPr>
        <p:txBody>
          <a:bodyPr wrap="none" lIns="0" tIns="0" rIns="0" bIns="0" rtlCol="0" anchor="t">
            <a:noAutofit/>
          </a:bodyPr>
          <a:lstStyle/>
          <a:p>
            <a:pPr algn="l">
              <a:lnSpc>
                <a:spcPts val="863"/>
              </a:lnSpc>
              <a:spcBef>
                <a:spcPts val="0"/>
              </a:spcBef>
              <a:spcAft>
                <a:spcPts val="0"/>
              </a:spcAft>
              <a:buNone/>
            </a:pPr>
            <a:r>
              <a:rPr lang="en-US" sz="575" b="1" spc="-4" dirty="0">
                <a:solidFill>
                  <a:srgbClr val="166534"/>
                </a:solidFill>
                <a:latin typeface="Segoe UI"/>
                <a:ea typeface="Segoe UI"/>
                <a:cs typeface="Segoe UI"/>
              </a:rPr>
              <a:t>웹 브라우저 온디바이스</a:t>
            </a:r>
            <a:endParaRPr lang="en-US" sz="575" dirty="0"/>
          </a:p>
        </p:txBody>
      </p:sp>
      <p:sp>
        <p:nvSpPr>
          <p:cNvPr id="16" name="Rounded Rectangle"/>
          <p:cNvSpPr/>
          <p:nvPr/>
        </p:nvSpPr>
        <p:spPr>
          <a:xfrm>
            <a:off x="698500" y="2480370"/>
            <a:ext cx="781943" cy="112713"/>
          </a:xfrm>
          <a:prstGeom prst="roundRect">
            <a:avLst>
              <a:gd name="adj" fmla="val 22535"/>
            </a:avLst>
          </a:prstGeom>
          <a:solidFill>
            <a:srgbClr val="DCFCE7"/>
          </a:solidFill>
          <a:ln>
            <a:noFill/>
          </a:ln>
        </p:spPr>
      </p:sp>
      <p:sp>
        <p:nvSpPr>
          <p:cNvPr id="17" name="Text: Zero-Copy 메모리 직결"/>
          <p:cNvSpPr txBox="1"/>
          <p:nvPr/>
        </p:nvSpPr>
        <p:spPr>
          <a:xfrm>
            <a:off x="736600" y="2475607"/>
            <a:ext cx="705743" cy="100013"/>
          </a:xfrm>
          <a:prstGeom prst="rect">
            <a:avLst/>
          </a:prstGeom>
          <a:noFill/>
        </p:spPr>
        <p:txBody>
          <a:bodyPr wrap="none" lIns="0" tIns="0" rIns="0" bIns="0" rtlCol="0" anchor="t">
            <a:noAutofit/>
          </a:bodyPr>
          <a:lstStyle/>
          <a:p>
            <a:pPr algn="l">
              <a:lnSpc>
                <a:spcPts val="788"/>
              </a:lnSpc>
              <a:spcBef>
                <a:spcPts val="0"/>
              </a:spcBef>
              <a:spcAft>
                <a:spcPts val="0"/>
              </a:spcAft>
              <a:buNone/>
            </a:pPr>
            <a:r>
              <a:rPr lang="en-US" sz="525" b="1" spc="-4" dirty="0">
                <a:solidFill>
                  <a:srgbClr val="047857"/>
                </a:solidFill>
                <a:latin typeface="Segoe UI"/>
                <a:ea typeface="Segoe UI"/>
                <a:cs typeface="Segoe UI"/>
              </a:rPr>
              <a:t>Zero-Copy 메모리 직결</a:t>
            </a:r>
            <a:endParaRPr lang="en-US" sz="525" dirty="0"/>
          </a:p>
        </p:txBody>
      </p:sp>
      <p:sp>
        <p:nvSpPr>
          <p:cNvPr id="18" name="Text: ➔"/>
          <p:cNvSpPr txBox="1"/>
          <p:nvPr/>
        </p:nvSpPr>
        <p:spPr>
          <a:xfrm>
            <a:off x="1885950" y="2303363"/>
            <a:ext cx="101104"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15803D"/>
                </a:solidFill>
                <a:latin typeface="Segoe UI"/>
                <a:ea typeface="Segoe UI"/>
                <a:cs typeface="Segoe UI"/>
              </a:rPr>
              <a:t>➔</a:t>
            </a:r>
            <a:endParaRPr lang="en-US" sz="800" dirty="0"/>
          </a:p>
        </p:txBody>
      </p:sp>
      <p:sp>
        <p:nvSpPr>
          <p:cNvPr id="19" name="Rounded Rectangle"/>
          <p:cNvSpPr/>
          <p:nvPr/>
        </p:nvSpPr>
        <p:spPr>
          <a:xfrm>
            <a:off x="2041029" y="2232720"/>
            <a:ext cx="2483842" cy="319088"/>
          </a:xfrm>
          <a:prstGeom prst="roundRect">
            <a:avLst>
              <a:gd name="adj" fmla="val 14925"/>
            </a:avLst>
          </a:prstGeom>
          <a:solidFill>
            <a:srgbClr val="FFFFFF"/>
          </a:solidFill>
          <a:ln w="6350" cap="flat" cmpd="sng" algn="ctr">
            <a:solidFill>
              <a:srgbClr val="BBF7D0"/>
            </a:solidFill>
            <a:miter lim="800000"/>
          </a:ln>
        </p:spPr>
      </p:sp>
      <p:sp>
        <p:nvSpPr>
          <p:cNvPr id="20" name="Text: 입력 피딩"/>
          <p:cNvSpPr txBox="1"/>
          <p:nvPr/>
        </p:nvSpPr>
        <p:spPr>
          <a:xfrm>
            <a:off x="3132237" y="2270820"/>
            <a:ext cx="301427" cy="104775"/>
          </a:xfrm>
          <a:prstGeom prst="rect">
            <a:avLst/>
          </a:prstGeom>
          <a:noFill/>
        </p:spPr>
        <p:txBody>
          <a:bodyPr wrap="none" lIns="0" tIns="0" rIns="0" bIns="0" rtlCol="0" anchor="t">
            <a:noAutofit/>
          </a:bodyPr>
          <a:lstStyle/>
          <a:p>
            <a:pPr algn="ctr">
              <a:lnSpc>
                <a:spcPts val="825"/>
              </a:lnSpc>
              <a:spcBef>
                <a:spcPts val="0"/>
              </a:spcBef>
              <a:spcAft>
                <a:spcPts val="0"/>
              </a:spcAft>
              <a:buNone/>
            </a:pPr>
            <a:r>
              <a:rPr lang="en-US" sz="550" b="1" spc="-4" dirty="0">
                <a:solidFill>
                  <a:srgbClr val="166534"/>
                </a:solidFill>
                <a:latin typeface="Segoe UI"/>
                <a:ea typeface="Segoe UI"/>
                <a:cs typeface="Segoe UI"/>
              </a:rPr>
              <a:t>입력 피딩</a:t>
            </a:r>
            <a:endParaRPr lang="en-US" sz="550" dirty="0"/>
          </a:p>
        </p:txBody>
      </p:sp>
      <p:sp>
        <p:nvSpPr>
          <p:cNvPr id="21" name="Text: 📷 &lt;video&gt; DOM 직결"/>
          <p:cNvSpPr txBox="1"/>
          <p:nvPr/>
        </p:nvSpPr>
        <p:spPr>
          <a:xfrm>
            <a:off x="2852043" y="2374007"/>
            <a:ext cx="861814"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b="1" spc="-4" dirty="0">
                <a:solidFill>
                  <a:srgbClr val="0F172A"/>
                </a:solidFill>
                <a:latin typeface="Segoe UI"/>
                <a:ea typeface="Segoe UI"/>
                <a:cs typeface="Segoe UI"/>
              </a:rPr>
              <a:t>📷 &lt;video&gt; DOM 직결</a:t>
            </a:r>
            <a:endParaRPr lang="en-US" sz="625" dirty="0"/>
          </a:p>
        </p:txBody>
      </p:sp>
      <p:sp>
        <p:nvSpPr>
          <p:cNvPr id="22" name="Text: ➔"/>
          <p:cNvSpPr txBox="1"/>
          <p:nvPr/>
        </p:nvSpPr>
        <p:spPr>
          <a:xfrm>
            <a:off x="4578846" y="2303363"/>
            <a:ext cx="101104"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15803D"/>
                </a:solidFill>
                <a:latin typeface="Segoe UI"/>
                <a:ea typeface="Segoe UI"/>
                <a:cs typeface="Segoe UI"/>
              </a:rPr>
              <a:t>➔</a:t>
            </a:r>
            <a:endParaRPr lang="en-US" sz="800" dirty="0"/>
          </a:p>
        </p:txBody>
      </p:sp>
      <p:sp>
        <p:nvSpPr>
          <p:cNvPr id="23" name="Rounded Rectangle"/>
          <p:cNvSpPr/>
          <p:nvPr/>
        </p:nvSpPr>
        <p:spPr>
          <a:xfrm>
            <a:off x="4733925" y="2232720"/>
            <a:ext cx="2483842" cy="319088"/>
          </a:xfrm>
          <a:prstGeom prst="roundRect">
            <a:avLst>
              <a:gd name="adj" fmla="val 14925"/>
            </a:avLst>
          </a:prstGeom>
          <a:solidFill>
            <a:srgbClr val="FFFFFF"/>
          </a:solidFill>
          <a:ln w="6350" cap="flat" cmpd="sng" algn="ctr">
            <a:solidFill>
              <a:srgbClr val="BBF7D0"/>
            </a:solidFill>
            <a:miter lim="800000"/>
          </a:ln>
        </p:spPr>
      </p:sp>
      <p:sp>
        <p:nvSpPr>
          <p:cNvPr id="24" name="Text: 가속 연산"/>
          <p:cNvSpPr txBox="1"/>
          <p:nvPr/>
        </p:nvSpPr>
        <p:spPr>
          <a:xfrm>
            <a:off x="5825133" y="2270820"/>
            <a:ext cx="301427" cy="104775"/>
          </a:xfrm>
          <a:prstGeom prst="rect">
            <a:avLst/>
          </a:prstGeom>
          <a:noFill/>
        </p:spPr>
        <p:txBody>
          <a:bodyPr wrap="none" lIns="0" tIns="0" rIns="0" bIns="0" rtlCol="0" anchor="t">
            <a:noAutofit/>
          </a:bodyPr>
          <a:lstStyle/>
          <a:p>
            <a:pPr algn="ctr">
              <a:lnSpc>
                <a:spcPts val="825"/>
              </a:lnSpc>
              <a:spcBef>
                <a:spcPts val="0"/>
              </a:spcBef>
              <a:spcAft>
                <a:spcPts val="0"/>
              </a:spcAft>
              <a:buNone/>
            </a:pPr>
            <a:r>
              <a:rPr lang="en-US" sz="550" b="1" spc="-4" dirty="0">
                <a:solidFill>
                  <a:srgbClr val="166534"/>
                </a:solidFill>
                <a:latin typeface="Segoe UI"/>
                <a:ea typeface="Segoe UI"/>
                <a:cs typeface="Segoe UI"/>
              </a:rPr>
              <a:t>가속 연산</a:t>
            </a:r>
            <a:endParaRPr lang="en-US" sz="550" dirty="0"/>
          </a:p>
        </p:txBody>
      </p:sp>
      <p:sp>
        <p:nvSpPr>
          <p:cNvPr id="25" name="Text: ⚡ WebGL &amp; WASM"/>
          <p:cNvSpPr txBox="1"/>
          <p:nvPr/>
        </p:nvSpPr>
        <p:spPr>
          <a:xfrm>
            <a:off x="5587107" y="2374007"/>
            <a:ext cx="777379"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b="1" spc="-4" dirty="0">
                <a:solidFill>
                  <a:srgbClr val="047857"/>
                </a:solidFill>
                <a:latin typeface="Segoe UI"/>
                <a:ea typeface="Segoe UI"/>
                <a:cs typeface="Segoe UI"/>
              </a:rPr>
              <a:t>⚡ WebGL &amp; WASM</a:t>
            </a:r>
            <a:endParaRPr lang="en-US" sz="625" dirty="0"/>
          </a:p>
        </p:txBody>
      </p:sp>
      <p:sp>
        <p:nvSpPr>
          <p:cNvPr id="26" name="Text: ➔"/>
          <p:cNvSpPr txBox="1"/>
          <p:nvPr/>
        </p:nvSpPr>
        <p:spPr>
          <a:xfrm>
            <a:off x="7271742" y="2303363"/>
            <a:ext cx="101104"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15803D"/>
                </a:solidFill>
                <a:latin typeface="Segoe UI"/>
                <a:ea typeface="Segoe UI"/>
                <a:cs typeface="Segoe UI"/>
              </a:rPr>
              <a:t>➔</a:t>
            </a:r>
            <a:endParaRPr lang="en-US" sz="800" dirty="0"/>
          </a:p>
        </p:txBody>
      </p:sp>
      <p:sp>
        <p:nvSpPr>
          <p:cNvPr id="27" name="Rounded Rectangle"/>
          <p:cNvSpPr/>
          <p:nvPr/>
        </p:nvSpPr>
        <p:spPr>
          <a:xfrm>
            <a:off x="7455396" y="2216051"/>
            <a:ext cx="1162050" cy="352425"/>
          </a:xfrm>
          <a:prstGeom prst="roundRect">
            <a:avLst>
              <a:gd name="adj" fmla="val 16216"/>
            </a:avLst>
          </a:prstGeom>
          <a:solidFill>
            <a:srgbClr val="FFFFFF"/>
          </a:solidFill>
          <a:ln w="12700" cap="flat" cmpd="sng" algn="ctr">
            <a:solidFill>
              <a:srgbClr val="86EFAC"/>
            </a:solidFill>
            <a:miter lim="800000"/>
          </a:ln>
        </p:spPr>
      </p:sp>
      <p:sp>
        <p:nvSpPr>
          <p:cNvPr id="28" name="Text: JS 메모리 반환"/>
          <p:cNvSpPr txBox="1"/>
          <p:nvPr/>
        </p:nvSpPr>
        <p:spPr>
          <a:xfrm>
            <a:off x="7751465" y="2265263"/>
            <a:ext cx="569813" cy="128588"/>
          </a:xfrm>
          <a:prstGeom prst="rect">
            <a:avLst/>
          </a:prstGeom>
          <a:noFill/>
        </p:spPr>
        <p:txBody>
          <a:bodyPr wrap="none" lIns="0" tIns="0" rIns="0" bIns="0" rtlCol="0" anchor="t">
            <a:noAutofit/>
          </a:bodyPr>
          <a:lstStyle/>
          <a:p>
            <a:pPr algn="ctr">
              <a:lnSpc>
                <a:spcPts val="1013"/>
              </a:lnSpc>
              <a:spcBef>
                <a:spcPts val="0"/>
              </a:spcBef>
              <a:spcAft>
                <a:spcPts val="0"/>
              </a:spcAft>
              <a:buNone/>
            </a:pPr>
            <a:r>
              <a:rPr lang="en-US" sz="675" b="1" spc="-4" dirty="0">
                <a:solidFill>
                  <a:srgbClr val="15803D"/>
                </a:solidFill>
                <a:latin typeface="Segoe UI"/>
                <a:ea typeface="Segoe UI"/>
                <a:cs typeface="Segoe UI"/>
              </a:rPr>
              <a:t>JS 메모리 반환</a:t>
            </a:r>
            <a:endParaRPr lang="en-US" sz="675" dirty="0"/>
          </a:p>
        </p:txBody>
      </p:sp>
      <p:sp>
        <p:nvSpPr>
          <p:cNvPr id="29" name="Text: ~16ms (60 FPS 초저지연)"/>
          <p:cNvSpPr txBox="1"/>
          <p:nvPr/>
        </p:nvSpPr>
        <p:spPr>
          <a:xfrm>
            <a:off x="7606804" y="2393851"/>
            <a:ext cx="859234" cy="109538"/>
          </a:xfrm>
          <a:prstGeom prst="rect">
            <a:avLst/>
          </a:prstGeom>
          <a:noFill/>
        </p:spPr>
        <p:txBody>
          <a:bodyPr wrap="none" lIns="0" tIns="0" rIns="0" bIns="0" rtlCol="0" anchor="t">
            <a:noAutofit/>
          </a:bodyPr>
          <a:lstStyle/>
          <a:p>
            <a:pPr algn="ctr">
              <a:lnSpc>
                <a:spcPts val="863"/>
              </a:lnSpc>
              <a:spcBef>
                <a:spcPts val="0"/>
              </a:spcBef>
              <a:spcAft>
                <a:spcPts val="0"/>
              </a:spcAft>
              <a:buNone/>
            </a:pPr>
            <a:r>
              <a:rPr lang="en-US" sz="575" b="1" spc="-4" dirty="0">
                <a:solidFill>
                  <a:srgbClr val="059669"/>
                </a:solidFill>
                <a:latin typeface="Segoe UI"/>
                <a:ea typeface="Segoe UI"/>
                <a:cs typeface="Segoe UI"/>
              </a:rPr>
              <a:t>~16ms (60 FPS 초저지연)</a:t>
            </a:r>
            <a:endParaRPr lang="en-US" sz="575" dirty="0"/>
          </a:p>
        </p:txBody>
      </p:sp>
      <p:sp>
        <p:nvSpPr>
          <p:cNvPr id="30" name="Rounded Rectangle"/>
          <p:cNvSpPr/>
          <p:nvPr/>
        </p:nvSpPr>
        <p:spPr>
          <a:xfrm>
            <a:off x="577850" y="2778820"/>
            <a:ext cx="8166596" cy="569913"/>
          </a:xfrm>
          <a:prstGeom prst="roundRect">
            <a:avLst>
              <a:gd name="adj" fmla="val 12256"/>
            </a:avLst>
          </a:prstGeom>
          <a:solidFill>
            <a:srgbClr val="EFF6FF"/>
          </a:solidFill>
          <a:ln w="12700" cap="flat" cmpd="sng" algn="ctr">
            <a:solidFill>
              <a:srgbClr val="93C5FD"/>
            </a:solidFill>
            <a:miter lim="800000"/>
          </a:ln>
          <a:effectLst>
            <a:outerShdw blurRad="76200" dist="25400" dir="5400000" sx="100000" sy="100000" algn="ctr" rotWithShape="0">
              <a:srgbClr val="2563EB">
                <a:alpha val="6000"/>
              </a:srgbClr>
            </a:outerShdw>
          </a:effectLst>
        </p:spPr>
      </p:sp>
      <p:sp>
        <p:nvSpPr>
          <p:cNvPr id="31" name="Text: 🧪 경로 B: Geti / YOLO"/>
          <p:cNvSpPr txBox="1"/>
          <p:nvPr/>
        </p:nvSpPr>
        <p:spPr>
          <a:xfrm>
            <a:off x="698500" y="2851845"/>
            <a:ext cx="103971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4" dirty="0">
                <a:solidFill>
                  <a:srgbClr val="1D4ED8"/>
                </a:solidFill>
                <a:latin typeface="Segoe UI"/>
                <a:ea typeface="Segoe UI"/>
                <a:cs typeface="Segoe UI"/>
              </a:rPr>
              <a:t>🧪 경로 B: Geti / YOLO</a:t>
            </a:r>
            <a:endParaRPr lang="en-US" sz="750" dirty="0"/>
          </a:p>
        </p:txBody>
      </p:sp>
      <p:sp>
        <p:nvSpPr>
          <p:cNvPr id="32" name="Text: 파이썬 로컬 브릿지"/>
          <p:cNvSpPr txBox="1"/>
          <p:nvPr/>
        </p:nvSpPr>
        <p:spPr>
          <a:xfrm>
            <a:off x="698500" y="2996307"/>
            <a:ext cx="630535" cy="109538"/>
          </a:xfrm>
          <a:prstGeom prst="rect">
            <a:avLst/>
          </a:prstGeom>
          <a:noFill/>
        </p:spPr>
        <p:txBody>
          <a:bodyPr wrap="none" lIns="0" tIns="0" rIns="0" bIns="0" rtlCol="0" anchor="t">
            <a:noAutofit/>
          </a:bodyPr>
          <a:lstStyle/>
          <a:p>
            <a:pPr algn="l">
              <a:lnSpc>
                <a:spcPts val="863"/>
              </a:lnSpc>
              <a:spcBef>
                <a:spcPts val="0"/>
              </a:spcBef>
              <a:spcAft>
                <a:spcPts val="0"/>
              </a:spcAft>
              <a:buNone/>
            </a:pPr>
            <a:r>
              <a:rPr lang="en-US" sz="575" b="1" spc="-4" dirty="0">
                <a:solidFill>
                  <a:srgbClr val="1E40AF"/>
                </a:solidFill>
                <a:latin typeface="Segoe UI"/>
                <a:ea typeface="Segoe UI"/>
                <a:cs typeface="Segoe UI"/>
              </a:rPr>
              <a:t>파이썬 로컬 브릿지</a:t>
            </a:r>
            <a:endParaRPr lang="en-US" sz="575" dirty="0"/>
          </a:p>
        </p:txBody>
      </p:sp>
      <p:sp>
        <p:nvSpPr>
          <p:cNvPr id="33" name="Rounded Rectangle"/>
          <p:cNvSpPr/>
          <p:nvPr/>
        </p:nvSpPr>
        <p:spPr>
          <a:xfrm>
            <a:off x="698500" y="3151882"/>
            <a:ext cx="928489" cy="112713"/>
          </a:xfrm>
          <a:prstGeom prst="roundRect">
            <a:avLst>
              <a:gd name="adj" fmla="val 22535"/>
            </a:avLst>
          </a:prstGeom>
          <a:solidFill>
            <a:srgbClr val="DBEAFE"/>
          </a:solidFill>
          <a:ln>
            <a:noFill/>
          </a:ln>
        </p:spPr>
      </p:sp>
      <p:sp>
        <p:nvSpPr>
          <p:cNvPr id="34" name="Text: WebSocket IPC (포트 8765)"/>
          <p:cNvSpPr txBox="1"/>
          <p:nvPr/>
        </p:nvSpPr>
        <p:spPr>
          <a:xfrm>
            <a:off x="736600" y="3147120"/>
            <a:ext cx="852289" cy="100013"/>
          </a:xfrm>
          <a:prstGeom prst="rect">
            <a:avLst/>
          </a:prstGeom>
          <a:noFill/>
        </p:spPr>
        <p:txBody>
          <a:bodyPr wrap="none" lIns="0" tIns="0" rIns="0" bIns="0" rtlCol="0" anchor="t">
            <a:noAutofit/>
          </a:bodyPr>
          <a:lstStyle/>
          <a:p>
            <a:pPr algn="l">
              <a:lnSpc>
                <a:spcPts val="788"/>
              </a:lnSpc>
              <a:spcBef>
                <a:spcPts val="0"/>
              </a:spcBef>
              <a:spcAft>
                <a:spcPts val="0"/>
              </a:spcAft>
              <a:buNone/>
            </a:pPr>
            <a:r>
              <a:rPr lang="en-US" sz="525" b="1" spc="-4" dirty="0">
                <a:solidFill>
                  <a:srgbClr val="1E40AF"/>
                </a:solidFill>
                <a:latin typeface="Segoe UI"/>
                <a:ea typeface="Segoe UI"/>
                <a:cs typeface="Segoe UI"/>
              </a:rPr>
              <a:t>WebSocket IPC (포트 8765)</a:t>
            </a:r>
            <a:endParaRPr lang="en-US" sz="525" dirty="0"/>
          </a:p>
        </p:txBody>
      </p:sp>
      <p:sp>
        <p:nvSpPr>
          <p:cNvPr id="35" name="Text: ➔"/>
          <p:cNvSpPr txBox="1"/>
          <p:nvPr/>
        </p:nvSpPr>
        <p:spPr>
          <a:xfrm>
            <a:off x="1885950" y="2974876"/>
            <a:ext cx="101104"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2563EB"/>
                </a:solidFill>
                <a:latin typeface="Segoe UI"/>
                <a:ea typeface="Segoe UI"/>
                <a:cs typeface="Segoe UI"/>
              </a:rPr>
              <a:t>➔</a:t>
            </a:r>
            <a:endParaRPr lang="en-US" sz="800" dirty="0"/>
          </a:p>
        </p:txBody>
      </p:sp>
      <p:sp>
        <p:nvSpPr>
          <p:cNvPr id="36" name="Rounded Rectangle"/>
          <p:cNvSpPr/>
          <p:nvPr/>
        </p:nvSpPr>
        <p:spPr>
          <a:xfrm>
            <a:off x="2041029" y="2904232"/>
            <a:ext cx="2483842" cy="319088"/>
          </a:xfrm>
          <a:prstGeom prst="roundRect">
            <a:avLst>
              <a:gd name="adj" fmla="val 14925"/>
            </a:avLst>
          </a:prstGeom>
          <a:solidFill>
            <a:srgbClr val="FFFFFF"/>
          </a:solidFill>
          <a:ln w="6350" cap="flat" cmpd="sng" algn="ctr">
            <a:solidFill>
              <a:srgbClr val="BFDBFE"/>
            </a:solidFill>
            <a:miter lim="800000"/>
          </a:ln>
        </p:spPr>
      </p:sp>
      <p:sp>
        <p:nvSpPr>
          <p:cNvPr id="37" name="Text: 입력 피딩"/>
          <p:cNvSpPr txBox="1"/>
          <p:nvPr/>
        </p:nvSpPr>
        <p:spPr>
          <a:xfrm>
            <a:off x="3132237" y="2942332"/>
            <a:ext cx="301427" cy="104775"/>
          </a:xfrm>
          <a:prstGeom prst="rect">
            <a:avLst/>
          </a:prstGeom>
          <a:noFill/>
        </p:spPr>
        <p:txBody>
          <a:bodyPr wrap="none" lIns="0" tIns="0" rIns="0" bIns="0" rtlCol="0" anchor="t">
            <a:noAutofit/>
          </a:bodyPr>
          <a:lstStyle/>
          <a:p>
            <a:pPr algn="ctr">
              <a:lnSpc>
                <a:spcPts val="825"/>
              </a:lnSpc>
              <a:spcBef>
                <a:spcPts val="0"/>
              </a:spcBef>
              <a:spcAft>
                <a:spcPts val="0"/>
              </a:spcAft>
              <a:buNone/>
            </a:pPr>
            <a:r>
              <a:rPr lang="en-US" sz="550" b="1" spc="-4" dirty="0">
                <a:solidFill>
                  <a:srgbClr val="1E40AF"/>
                </a:solidFill>
                <a:latin typeface="Segoe UI"/>
                <a:ea typeface="Segoe UI"/>
                <a:cs typeface="Segoe UI"/>
              </a:rPr>
              <a:t>입력 피딩</a:t>
            </a:r>
            <a:endParaRPr lang="en-US" sz="550" dirty="0"/>
          </a:p>
        </p:txBody>
      </p:sp>
      <p:sp>
        <p:nvSpPr>
          <p:cNvPr id="38" name="Text: 📦 Canvas 캡처 &amp; Base64"/>
          <p:cNvSpPr txBox="1"/>
          <p:nvPr/>
        </p:nvSpPr>
        <p:spPr>
          <a:xfrm>
            <a:off x="2799755" y="3045520"/>
            <a:ext cx="966391"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b="1" spc="-4" dirty="0">
                <a:solidFill>
                  <a:srgbClr val="0F172A"/>
                </a:solidFill>
                <a:latin typeface="Segoe UI"/>
                <a:ea typeface="Segoe UI"/>
                <a:cs typeface="Segoe UI"/>
              </a:rPr>
              <a:t>📦 Canvas 캡처 &amp; Base64</a:t>
            </a:r>
            <a:endParaRPr lang="en-US" sz="625" dirty="0"/>
          </a:p>
        </p:txBody>
      </p:sp>
      <p:sp>
        <p:nvSpPr>
          <p:cNvPr id="39" name="Text: ➔"/>
          <p:cNvSpPr txBox="1"/>
          <p:nvPr/>
        </p:nvSpPr>
        <p:spPr>
          <a:xfrm>
            <a:off x="4578846" y="2974876"/>
            <a:ext cx="101104"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2563EB"/>
                </a:solidFill>
                <a:latin typeface="Segoe UI"/>
                <a:ea typeface="Segoe UI"/>
                <a:cs typeface="Segoe UI"/>
              </a:rPr>
              <a:t>➔</a:t>
            </a:r>
            <a:endParaRPr lang="en-US" sz="800" dirty="0"/>
          </a:p>
        </p:txBody>
      </p:sp>
      <p:sp>
        <p:nvSpPr>
          <p:cNvPr id="40" name="Rounded Rectangle"/>
          <p:cNvSpPr/>
          <p:nvPr/>
        </p:nvSpPr>
        <p:spPr>
          <a:xfrm>
            <a:off x="4733925" y="2904232"/>
            <a:ext cx="2483842" cy="319088"/>
          </a:xfrm>
          <a:prstGeom prst="roundRect">
            <a:avLst>
              <a:gd name="adj" fmla="val 14925"/>
            </a:avLst>
          </a:prstGeom>
          <a:solidFill>
            <a:srgbClr val="FFFFFF"/>
          </a:solidFill>
          <a:ln w="6350" cap="flat" cmpd="sng" algn="ctr">
            <a:solidFill>
              <a:srgbClr val="BFDBFE"/>
            </a:solidFill>
            <a:miter lim="800000"/>
          </a:ln>
        </p:spPr>
      </p:sp>
      <p:sp>
        <p:nvSpPr>
          <p:cNvPr id="41" name="Text: 가속 연산"/>
          <p:cNvSpPr txBox="1"/>
          <p:nvPr/>
        </p:nvSpPr>
        <p:spPr>
          <a:xfrm>
            <a:off x="5825133" y="2942332"/>
            <a:ext cx="301427" cy="104775"/>
          </a:xfrm>
          <a:prstGeom prst="rect">
            <a:avLst/>
          </a:prstGeom>
          <a:noFill/>
        </p:spPr>
        <p:txBody>
          <a:bodyPr wrap="none" lIns="0" tIns="0" rIns="0" bIns="0" rtlCol="0" anchor="t">
            <a:noAutofit/>
          </a:bodyPr>
          <a:lstStyle/>
          <a:p>
            <a:pPr algn="ctr">
              <a:lnSpc>
                <a:spcPts val="825"/>
              </a:lnSpc>
              <a:spcBef>
                <a:spcPts val="0"/>
              </a:spcBef>
              <a:spcAft>
                <a:spcPts val="0"/>
              </a:spcAft>
              <a:buNone/>
            </a:pPr>
            <a:r>
              <a:rPr lang="en-US" sz="550" b="1" spc="-4" dirty="0">
                <a:solidFill>
                  <a:srgbClr val="1E40AF"/>
                </a:solidFill>
                <a:latin typeface="Segoe UI"/>
                <a:ea typeface="Segoe UI"/>
                <a:cs typeface="Segoe UI"/>
              </a:rPr>
              <a:t>가속 연산</a:t>
            </a:r>
            <a:endParaRPr lang="en-US" sz="550" dirty="0"/>
          </a:p>
        </p:txBody>
      </p:sp>
      <p:sp>
        <p:nvSpPr>
          <p:cNvPr id="42" name="Text: 🐍 Python (OpenVINO/YOLO)"/>
          <p:cNvSpPr txBox="1"/>
          <p:nvPr/>
        </p:nvSpPr>
        <p:spPr>
          <a:xfrm>
            <a:off x="5412978" y="3045520"/>
            <a:ext cx="1125736"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b="1" spc="-4" dirty="0">
                <a:solidFill>
                  <a:srgbClr val="7C3AED"/>
                </a:solidFill>
                <a:latin typeface="Segoe UI"/>
                <a:ea typeface="Segoe UI"/>
                <a:cs typeface="Segoe UI"/>
              </a:rPr>
              <a:t>🐍 Python (OpenVINO/YOLO)</a:t>
            </a:r>
            <a:endParaRPr lang="en-US" sz="625" dirty="0"/>
          </a:p>
        </p:txBody>
      </p:sp>
      <p:sp>
        <p:nvSpPr>
          <p:cNvPr id="43" name="Text: ➔"/>
          <p:cNvSpPr txBox="1"/>
          <p:nvPr/>
        </p:nvSpPr>
        <p:spPr>
          <a:xfrm>
            <a:off x="7271742" y="2974876"/>
            <a:ext cx="101104" cy="152400"/>
          </a:xfrm>
          <a:prstGeom prst="rect">
            <a:avLst/>
          </a:prstGeom>
          <a:noFill/>
        </p:spPr>
        <p:txBody>
          <a:bodyPr wrap="none" lIns="0" tIns="0" rIns="0" bIns="0" rtlCol="0" anchor="t">
            <a:noAutofit/>
          </a:bodyPr>
          <a:lstStyle/>
          <a:p>
            <a:pPr algn="l">
              <a:lnSpc>
                <a:spcPts val="1200"/>
              </a:lnSpc>
              <a:spcBef>
                <a:spcPts val="0"/>
              </a:spcBef>
              <a:spcAft>
                <a:spcPts val="0"/>
              </a:spcAft>
              <a:buNone/>
            </a:pPr>
            <a:r>
              <a:rPr lang="en-US" sz="800" b="1" spc="-4" dirty="0">
                <a:solidFill>
                  <a:srgbClr val="2563EB"/>
                </a:solidFill>
                <a:latin typeface="Segoe UI"/>
                <a:ea typeface="Segoe UI"/>
                <a:cs typeface="Segoe UI"/>
              </a:rPr>
              <a:t>➔</a:t>
            </a:r>
            <a:endParaRPr lang="en-US" sz="800" dirty="0"/>
          </a:p>
        </p:txBody>
      </p:sp>
      <p:sp>
        <p:nvSpPr>
          <p:cNvPr id="44" name="Rounded Rectangle"/>
          <p:cNvSpPr/>
          <p:nvPr/>
        </p:nvSpPr>
        <p:spPr>
          <a:xfrm>
            <a:off x="7455396" y="2887563"/>
            <a:ext cx="1162050" cy="352425"/>
          </a:xfrm>
          <a:prstGeom prst="roundRect">
            <a:avLst>
              <a:gd name="adj" fmla="val 16216"/>
            </a:avLst>
          </a:prstGeom>
          <a:solidFill>
            <a:srgbClr val="FFFFFF"/>
          </a:solidFill>
          <a:ln w="12700" cap="flat" cmpd="sng" algn="ctr">
            <a:solidFill>
              <a:srgbClr val="93C5FD"/>
            </a:solidFill>
            <a:miter lim="800000"/>
          </a:ln>
        </p:spPr>
      </p:sp>
      <p:sp>
        <p:nvSpPr>
          <p:cNvPr id="45" name="Text: 표준 JSON 반환"/>
          <p:cNvSpPr txBox="1"/>
          <p:nvPr/>
        </p:nvSpPr>
        <p:spPr>
          <a:xfrm>
            <a:off x="7727156" y="2936776"/>
            <a:ext cx="618530" cy="128588"/>
          </a:xfrm>
          <a:prstGeom prst="rect">
            <a:avLst/>
          </a:prstGeom>
          <a:noFill/>
        </p:spPr>
        <p:txBody>
          <a:bodyPr wrap="none" lIns="0" tIns="0" rIns="0" bIns="0" rtlCol="0" anchor="t">
            <a:noAutofit/>
          </a:bodyPr>
          <a:lstStyle/>
          <a:p>
            <a:pPr algn="ctr">
              <a:lnSpc>
                <a:spcPts val="1013"/>
              </a:lnSpc>
              <a:spcBef>
                <a:spcPts val="0"/>
              </a:spcBef>
              <a:spcAft>
                <a:spcPts val="0"/>
              </a:spcAft>
              <a:buNone/>
            </a:pPr>
            <a:r>
              <a:rPr lang="en-US" sz="675" b="1" spc="-4" dirty="0">
                <a:solidFill>
                  <a:srgbClr val="1D4ED8"/>
                </a:solidFill>
                <a:latin typeface="Segoe UI"/>
                <a:ea typeface="Segoe UI"/>
                <a:cs typeface="Segoe UI"/>
              </a:rPr>
              <a:t>표준 JSON 반환</a:t>
            </a:r>
            <a:endParaRPr lang="en-US" sz="675" dirty="0"/>
          </a:p>
        </p:txBody>
      </p:sp>
      <p:sp>
        <p:nvSpPr>
          <p:cNvPr id="46" name="Text: ~45ms (소켓 IPC + 추론)"/>
          <p:cNvSpPr txBox="1"/>
          <p:nvPr/>
        </p:nvSpPr>
        <p:spPr>
          <a:xfrm>
            <a:off x="7615138" y="3065363"/>
            <a:ext cx="842466" cy="109538"/>
          </a:xfrm>
          <a:prstGeom prst="rect">
            <a:avLst/>
          </a:prstGeom>
          <a:noFill/>
        </p:spPr>
        <p:txBody>
          <a:bodyPr wrap="none" lIns="0" tIns="0" rIns="0" bIns="0" rtlCol="0" anchor="t">
            <a:noAutofit/>
          </a:bodyPr>
          <a:lstStyle/>
          <a:p>
            <a:pPr algn="ctr">
              <a:lnSpc>
                <a:spcPts val="863"/>
              </a:lnSpc>
              <a:spcBef>
                <a:spcPts val="0"/>
              </a:spcBef>
              <a:spcAft>
                <a:spcPts val="0"/>
              </a:spcAft>
              <a:buNone/>
            </a:pPr>
            <a:r>
              <a:rPr lang="en-US" sz="575" b="1" spc="-4" dirty="0">
                <a:solidFill>
                  <a:srgbClr val="DC2626"/>
                </a:solidFill>
                <a:latin typeface="Segoe UI"/>
                <a:ea typeface="Segoe UI"/>
                <a:cs typeface="Segoe UI"/>
              </a:rPr>
              <a:t>~45ms (소켓 IPC + 추론)</a:t>
            </a:r>
            <a:endParaRPr lang="en-US" sz="575" dirty="0"/>
          </a:p>
        </p:txBody>
      </p:sp>
      <p:sp>
        <p:nvSpPr>
          <p:cNvPr id="47" name="Text: ➔"/>
          <p:cNvSpPr txBox="1"/>
          <p:nvPr/>
        </p:nvSpPr>
        <p:spPr>
          <a:xfrm rot="1499999">
            <a:off x="8885847" y="2329754"/>
            <a:ext cx="202704" cy="304800"/>
          </a:xfrm>
          <a:prstGeom prst="rect">
            <a:avLst/>
          </a:prstGeom>
          <a:noFill/>
        </p:spPr>
        <p:txBody>
          <a:bodyPr wrap="none" lIns="0" tIns="0" rIns="0" bIns="0" rtlCol="0" anchor="t">
            <a:noAutofit/>
          </a:bodyPr>
          <a:lstStyle/>
          <a:p>
            <a:pPr algn="l">
              <a:lnSpc>
                <a:spcPts val="2400"/>
              </a:lnSpc>
              <a:spcBef>
                <a:spcPts val="0"/>
              </a:spcBef>
              <a:spcAft>
                <a:spcPts val="0"/>
              </a:spcAft>
              <a:buNone/>
            </a:pPr>
            <a:r>
              <a:rPr lang="en-US" sz="1600" b="1" spc="-4" dirty="0">
                <a:solidFill>
                  <a:srgbClr val="10B981"/>
                </a:solidFill>
                <a:latin typeface="Segoe UI"/>
                <a:ea typeface="Segoe UI"/>
                <a:cs typeface="Segoe UI"/>
              </a:rPr>
              <a:t>➔</a:t>
            </a:r>
            <a:endParaRPr lang="en-US" sz="1600" dirty="0"/>
          </a:p>
        </p:txBody>
      </p:sp>
      <p:sp>
        <p:nvSpPr>
          <p:cNvPr id="48" name="Text: ➔"/>
          <p:cNvSpPr txBox="1"/>
          <p:nvPr/>
        </p:nvSpPr>
        <p:spPr>
          <a:xfrm rot="20100001">
            <a:off x="8869745" y="2786954"/>
            <a:ext cx="202704" cy="304800"/>
          </a:xfrm>
          <a:prstGeom prst="rect">
            <a:avLst/>
          </a:prstGeom>
          <a:noFill/>
        </p:spPr>
        <p:txBody>
          <a:bodyPr wrap="none" lIns="0" tIns="0" rIns="0" bIns="0" rtlCol="0" anchor="t">
            <a:noAutofit/>
          </a:bodyPr>
          <a:lstStyle/>
          <a:p>
            <a:pPr algn="l">
              <a:lnSpc>
                <a:spcPts val="2400"/>
              </a:lnSpc>
              <a:spcBef>
                <a:spcPts val="0"/>
              </a:spcBef>
              <a:spcAft>
                <a:spcPts val="0"/>
              </a:spcAft>
              <a:buNone/>
            </a:pPr>
            <a:r>
              <a:rPr lang="en-US" sz="1600" b="1" spc="-4" dirty="0">
                <a:solidFill>
                  <a:srgbClr val="2563EB"/>
                </a:solidFill>
                <a:latin typeface="Segoe UI"/>
                <a:ea typeface="Segoe UI"/>
                <a:cs typeface="Segoe UI"/>
              </a:rPr>
              <a:t>➔</a:t>
            </a:r>
            <a:endParaRPr lang="en-US" sz="1600" dirty="0"/>
          </a:p>
        </p:txBody>
      </p:sp>
      <p:sp>
        <p:nvSpPr>
          <p:cNvPr id="49" name="Rounded Rectangle"/>
          <p:cNvSpPr/>
          <p:nvPr/>
        </p:nvSpPr>
        <p:spPr>
          <a:xfrm>
            <a:off x="9213850" y="1766491"/>
            <a:ext cx="2400300" cy="1923058"/>
          </a:xfrm>
          <a:prstGeom prst="roundRect">
            <a:avLst>
              <a:gd name="adj" fmla="val 4953"/>
            </a:avLst>
          </a:prstGeom>
          <a:gradFill rotWithShape="1">
            <a:gsLst>
              <a:gs pos="0">
                <a:srgbClr val="1E1B4B"/>
              </a:gs>
              <a:gs pos="100000">
                <a:srgbClr val="312E81"/>
              </a:gs>
            </a:gsLst>
            <a:lin ang="2700000" scaled="0"/>
          </a:gradFill>
          <a:ln w="12700" cap="flat" cmpd="sng" algn="ctr">
            <a:solidFill>
              <a:srgbClr val="6366F1"/>
            </a:solidFill>
            <a:miter lim="800000"/>
          </a:ln>
          <a:effectLst>
            <a:outerShdw blurRad="152400" dist="50800" dir="5400000" sx="100000" sy="100000" algn="ctr" rotWithShape="0">
              <a:srgbClr val="312E81">
                <a:alpha val="25000"/>
              </a:srgbClr>
            </a:outerShdw>
          </a:effectLst>
        </p:spPr>
      </p:sp>
      <p:sp>
        <p:nvSpPr>
          <p:cNvPr id="50" name="Text: 🎯"/>
          <p:cNvSpPr txBox="1"/>
          <p:nvPr/>
        </p:nvSpPr>
        <p:spPr>
          <a:xfrm>
            <a:off x="9359900" y="1887141"/>
            <a:ext cx="173930" cy="190500"/>
          </a:xfrm>
          <a:prstGeom prst="rect">
            <a:avLst/>
          </a:prstGeom>
          <a:noFill/>
        </p:spPr>
        <p:txBody>
          <a:bodyPr wrap="none" lIns="0" tIns="0" rIns="0" bIns="0" rtlCol="0" anchor="t">
            <a:noAutofit/>
          </a:bodyPr>
          <a:lstStyle/>
          <a:p>
            <a:pPr algn="l">
              <a:lnSpc>
                <a:spcPts val="1500"/>
              </a:lnSpc>
              <a:spcBef>
                <a:spcPts val="0"/>
              </a:spcBef>
              <a:spcAft>
                <a:spcPts val="0"/>
              </a:spcAft>
              <a:buNone/>
            </a:pPr>
            <a:r>
              <a:rPr lang="en-US" sz="1000" spc="-4" dirty="0">
                <a:solidFill>
                  <a:srgbClr val="FFFFFF"/>
                </a:solidFill>
                <a:latin typeface="Segoe UI"/>
                <a:ea typeface="Segoe UI"/>
                <a:cs typeface="Segoe UI"/>
              </a:rPr>
              <a:t>🎯</a:t>
            </a:r>
            <a:endParaRPr lang="en-US" sz="1000" dirty="0"/>
          </a:p>
        </p:txBody>
      </p:sp>
      <p:sp>
        <p:nvSpPr>
          <p:cNvPr id="51" name="Text: DE FACTO STANDARD ADAPTER"/>
          <p:cNvSpPr txBox="1"/>
          <p:nvPr/>
        </p:nvSpPr>
        <p:spPr>
          <a:xfrm>
            <a:off x="9584630" y="1923653"/>
            <a:ext cx="1372890"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b="1" spc="33" dirty="0">
                <a:solidFill>
                  <a:srgbClr val="A5B4FC"/>
                </a:solidFill>
                <a:latin typeface="Segoe UI"/>
                <a:ea typeface="Segoe UI"/>
                <a:cs typeface="Segoe UI"/>
              </a:rPr>
              <a:t>DE FACTO STANDARD ADAPTER</a:t>
            </a:r>
            <a:endParaRPr lang="en-US" sz="650" dirty="0"/>
          </a:p>
        </p:txBody>
      </p:sp>
      <p:sp>
        <p:nvSpPr>
          <p:cNvPr id="52" name="Text: MediaPipe 21개 관절 글로벌 표준 스키마 일원화"/>
          <p:cNvSpPr txBox="1"/>
          <p:nvPr/>
        </p:nvSpPr>
        <p:spPr>
          <a:xfrm>
            <a:off x="9359900" y="2139255"/>
            <a:ext cx="1370806" cy="308570"/>
          </a:xfrm>
          <a:prstGeom prst="rect">
            <a:avLst/>
          </a:prstGeom>
          <a:noFill/>
        </p:spPr>
        <p:txBody>
          <a:bodyPr wrap="none" lIns="0" tIns="0" rIns="0" bIns="0" rtlCol="0" anchor="t">
            <a:noAutofit/>
          </a:bodyPr>
          <a:lstStyle/>
          <a:p>
            <a:pPr algn="l">
              <a:lnSpc>
                <a:spcPts val="1215"/>
              </a:lnSpc>
              <a:spcBef>
                <a:spcPts val="0"/>
              </a:spcBef>
              <a:spcAft>
                <a:spcPts val="0"/>
              </a:spcAft>
              <a:buNone/>
            </a:pPr>
            <a:r>
              <a:rPr lang="en-US" sz="900" b="1" spc="-4" dirty="0">
                <a:solidFill>
                  <a:srgbClr val="FFFFFF"/>
                </a:solidFill>
                <a:latin typeface="Segoe UI"/>
                <a:ea typeface="Segoe UI"/>
                <a:cs typeface="Segoe UI"/>
              </a:rPr>
              <a:t>MediaPipe 21개 관절</a:t>
            </a:r>
            <a:br>
              <a:rPr lang="en-US" sz="900"/>
            </a:br>
            <a:r>
              <a:rPr lang="en-US" sz="900" b="1" spc="-4" dirty="0">
                <a:solidFill>
                  <a:srgbClr val="FFFFFF"/>
                </a:solidFill>
                <a:latin typeface="Segoe UI"/>
                <a:ea typeface="Segoe UI"/>
                <a:cs typeface="Segoe UI"/>
              </a:rPr>
              <a:t>글로벌 표준 스키마 일원화</a:t>
            </a:r>
            <a:endParaRPr lang="en-US" sz="900" dirty="0"/>
          </a:p>
        </p:txBody>
      </p:sp>
      <p:sp>
        <p:nvSpPr>
          <p:cNvPr id="53" name="Rounded Rectangle"/>
          <p:cNvSpPr/>
          <p:nvPr/>
        </p:nvSpPr>
        <p:spPr>
          <a:xfrm>
            <a:off x="9363075" y="2516386"/>
            <a:ext cx="2101850" cy="565150"/>
          </a:xfrm>
          <a:prstGeom prst="roundRect">
            <a:avLst>
              <a:gd name="adj" fmla="val 8427"/>
            </a:avLst>
          </a:prstGeom>
          <a:solidFill>
            <a:srgbClr val="FFFFFF">
              <a:alpha val="10000"/>
            </a:srgbClr>
          </a:solidFill>
          <a:ln w="6350" cap="flat" cmpd="sng" algn="ctr">
            <a:solidFill>
              <a:srgbClr val="FFFFFF">
                <a:alpha val="20000"/>
              </a:srgbClr>
            </a:solidFill>
            <a:miter lim="800000"/>
          </a:ln>
        </p:spPr>
      </p:sp>
      <p:sp>
        <p:nvSpPr>
          <p:cNvPr id="54" name="Text: {   landmarks: [ {x, y, z} × 21 ],   han"/>
          <p:cNvSpPr txBox="1"/>
          <p:nvPr/>
        </p:nvSpPr>
        <p:spPr>
          <a:xfrm>
            <a:off x="9442450" y="2551311"/>
            <a:ext cx="1241127" cy="457200"/>
          </a:xfrm>
          <a:prstGeom prst="rect">
            <a:avLst/>
          </a:prstGeom>
          <a:noFill/>
        </p:spPr>
        <p:txBody>
          <a:bodyPr wrap="none" lIns="0" tIns="0" rIns="0" bIns="0" rtlCol="0" anchor="t">
            <a:noAutofit/>
          </a:bodyPr>
          <a:lstStyle/>
          <a:p>
            <a:pPr algn="l">
              <a:lnSpc>
                <a:spcPts val="900"/>
              </a:lnSpc>
              <a:spcBef>
                <a:spcPts val="0"/>
              </a:spcBef>
              <a:spcAft>
                <a:spcPts val="0"/>
              </a:spcAft>
              <a:buNone/>
            </a:pPr>
            <a:r>
              <a:rPr lang="en-US" sz="600" spc="-4" dirty="0">
                <a:solidFill>
                  <a:srgbClr val="93C5FD"/>
                </a:solidFill>
                <a:latin typeface="Consolas"/>
                <a:ea typeface="Consolas"/>
                <a:cs typeface="Consolas"/>
              </a:rPr>
              <a:t>{</a:t>
            </a:r>
            <a:br>
              <a:rPr lang="en-US" sz="600"/>
            </a:br>
            <a:r>
              <a:rPr lang="en-US" sz="600" spc="-4" dirty="0">
                <a:solidFill>
                  <a:srgbClr val="93C5FD"/>
                </a:solidFill>
                <a:latin typeface="Consolas"/>
                <a:ea typeface="Consolas"/>
                <a:cs typeface="Consolas"/>
              </a:rPr>
              <a:t>  landmarks: [ {x, y, z} × 21 ],</a:t>
            </a:r>
            <a:br>
              <a:rPr lang="en-US" sz="600"/>
            </a:br>
            <a:r>
              <a:rPr lang="en-US" sz="600" spc="-4" dirty="0">
                <a:solidFill>
                  <a:srgbClr val="93C5FD"/>
                </a:solidFill>
                <a:latin typeface="Consolas"/>
                <a:ea typeface="Consolas"/>
                <a:cs typeface="Consolas"/>
              </a:rPr>
              <a:t>  handedness: "Left" | "Right"</a:t>
            </a:r>
            <a:br>
              <a:rPr lang="en-US" sz="600"/>
            </a:br>
            <a:r>
              <a:rPr lang="en-US" sz="600" spc="-4" dirty="0">
                <a:solidFill>
                  <a:srgbClr val="93C5FD"/>
                </a:solidFill>
                <a:latin typeface="Consolas"/>
                <a:ea typeface="Consolas"/>
                <a:cs typeface="Consolas"/>
              </a:rPr>
              <a:t>}</a:t>
            </a:r>
            <a:endParaRPr lang="en-US" sz="600" dirty="0"/>
          </a:p>
        </p:txBody>
      </p:sp>
      <p:sp>
        <p:nvSpPr>
          <p:cNvPr id="55" name="Rounded Rectangle"/>
          <p:cNvSpPr/>
          <p:nvPr/>
        </p:nvSpPr>
        <p:spPr>
          <a:xfrm>
            <a:off x="9363075" y="3164086"/>
            <a:ext cx="2101850" cy="388938"/>
          </a:xfrm>
          <a:prstGeom prst="roundRect">
            <a:avLst>
              <a:gd name="adj" fmla="val 15510"/>
            </a:avLst>
          </a:prstGeom>
          <a:solidFill>
            <a:srgbClr val="4338CA"/>
          </a:solidFill>
          <a:ln w="6350" cap="flat" cmpd="sng" algn="ctr">
            <a:solidFill>
              <a:srgbClr val="818CF8"/>
            </a:solidFill>
            <a:miter lim="800000"/>
          </a:ln>
        </p:spPr>
      </p:sp>
      <p:sp>
        <p:nvSpPr>
          <p:cNvPr id="56" name="Text: 🎹 Web Audio 신디사이저 엔진"/>
          <p:cNvSpPr txBox="1"/>
          <p:nvPr/>
        </p:nvSpPr>
        <p:spPr>
          <a:xfrm>
            <a:off x="9739114" y="3219648"/>
            <a:ext cx="1349772" cy="138113"/>
          </a:xfrm>
          <a:prstGeom prst="rect">
            <a:avLst/>
          </a:prstGeom>
          <a:noFill/>
        </p:spPr>
        <p:txBody>
          <a:bodyPr wrap="none" lIns="0" tIns="0" rIns="0" bIns="0" rtlCol="0" anchor="t">
            <a:noAutofit/>
          </a:bodyPr>
          <a:lstStyle/>
          <a:p>
            <a:pPr algn="ctr">
              <a:lnSpc>
                <a:spcPts val="1088"/>
              </a:lnSpc>
              <a:spcBef>
                <a:spcPts val="0"/>
              </a:spcBef>
              <a:spcAft>
                <a:spcPts val="0"/>
              </a:spcAft>
              <a:buNone/>
            </a:pPr>
            <a:r>
              <a:rPr lang="en-US" sz="725" b="1" spc="-4" dirty="0">
                <a:solidFill>
                  <a:srgbClr val="FFFFFF"/>
                </a:solidFill>
                <a:latin typeface="Segoe UI"/>
                <a:ea typeface="Segoe UI"/>
                <a:cs typeface="Segoe UI"/>
              </a:rPr>
              <a:t>🎹 Web Audio 신디사이저 엔진</a:t>
            </a:r>
            <a:endParaRPr lang="en-US" sz="725" dirty="0"/>
          </a:p>
        </p:txBody>
      </p:sp>
      <p:sp>
        <p:nvSpPr>
          <p:cNvPr id="57" name="Text: 단일 오디오 코드로 실시간 화음 발성"/>
          <p:cNvSpPr txBox="1"/>
          <p:nvPr/>
        </p:nvSpPr>
        <p:spPr>
          <a:xfrm>
            <a:off x="9833769" y="3372048"/>
            <a:ext cx="1160463" cy="104775"/>
          </a:xfrm>
          <a:prstGeom prst="rect">
            <a:avLst/>
          </a:prstGeom>
          <a:noFill/>
        </p:spPr>
        <p:txBody>
          <a:bodyPr wrap="none" lIns="0" tIns="0" rIns="0" bIns="0" rtlCol="0" anchor="t">
            <a:noAutofit/>
          </a:bodyPr>
          <a:lstStyle/>
          <a:p>
            <a:pPr algn="ctr">
              <a:lnSpc>
                <a:spcPts val="825"/>
              </a:lnSpc>
              <a:spcBef>
                <a:spcPts val="0"/>
              </a:spcBef>
              <a:spcAft>
                <a:spcPts val="0"/>
              </a:spcAft>
              <a:buNone/>
            </a:pPr>
            <a:r>
              <a:rPr lang="en-US" sz="550" spc="-4" dirty="0">
                <a:solidFill>
                  <a:srgbClr val="C7D2FE"/>
                </a:solidFill>
                <a:latin typeface="Segoe UI"/>
                <a:ea typeface="Segoe UI"/>
                <a:cs typeface="Segoe UI"/>
              </a:rPr>
              <a:t>단일 오디오 코드로 실시간 화음 발성</a:t>
            </a:r>
            <a:endParaRPr lang="en-US" sz="550" dirty="0"/>
          </a:p>
        </p:txBody>
      </p:sp>
      <p:sp>
        <p:nvSpPr>
          <p:cNvPr id="58" name="Rounded Rectangle"/>
          <p:cNvSpPr/>
          <p:nvPr/>
        </p:nvSpPr>
        <p:spPr>
          <a:xfrm>
            <a:off x="381000" y="3949898"/>
            <a:ext cx="5651500" cy="1936552"/>
          </a:xfrm>
          <a:prstGeom prst="roundRect">
            <a:avLst>
              <a:gd name="adj" fmla="val 5902"/>
            </a:avLst>
          </a:prstGeom>
          <a:solidFill>
            <a:srgbClr val="FFFFFF"/>
          </a:solidFill>
          <a:ln>
            <a:noFill/>
          </a:ln>
          <a:effectLst>
            <a:outerShdw blurRad="101600" dist="50800" dir="5400000" sx="99551" sy="98688" algn="ctr" rotWithShape="0">
              <a:srgbClr val="000000">
                <a:alpha val="5000"/>
              </a:srgbClr>
            </a:outerShdw>
          </a:effectLst>
        </p:spPr>
      </p:sp>
      <p:sp>
        <p:nvSpPr>
          <p:cNvPr id="59" name="Border"/>
          <p:cNvSpPr/>
          <p:nvPr/>
        </p:nvSpPr>
        <p:spPr>
          <a:xfrm>
            <a:off x="381000" y="3949898"/>
            <a:ext cx="5651500" cy="38100"/>
          </a:xfrm>
          <a:prstGeom prst="rect">
            <a:avLst/>
          </a:prstGeom>
          <a:solidFill>
            <a:srgbClr val="10B981"/>
          </a:solidFill>
          <a:ln>
            <a:noFill/>
          </a:ln>
        </p:spPr>
      </p:sp>
      <p:sp>
        <p:nvSpPr>
          <p:cNvPr id="60" name="Border"/>
          <p:cNvSpPr/>
          <p:nvPr/>
        </p:nvSpPr>
        <p:spPr>
          <a:xfrm>
            <a:off x="6026150" y="3949898"/>
            <a:ext cx="6350" cy="1936552"/>
          </a:xfrm>
          <a:prstGeom prst="rect">
            <a:avLst/>
          </a:prstGeom>
          <a:solidFill>
            <a:srgbClr val="E2E8F0"/>
          </a:solidFill>
          <a:ln>
            <a:noFill/>
          </a:ln>
        </p:spPr>
      </p:sp>
      <p:sp>
        <p:nvSpPr>
          <p:cNvPr id="61" name="Border"/>
          <p:cNvSpPr/>
          <p:nvPr/>
        </p:nvSpPr>
        <p:spPr>
          <a:xfrm>
            <a:off x="381000" y="5880100"/>
            <a:ext cx="5651500" cy="6350"/>
          </a:xfrm>
          <a:prstGeom prst="rect">
            <a:avLst/>
          </a:prstGeom>
          <a:solidFill>
            <a:srgbClr val="E2E8F0"/>
          </a:solidFill>
          <a:ln>
            <a:noFill/>
          </a:ln>
        </p:spPr>
      </p:sp>
      <p:sp>
        <p:nvSpPr>
          <p:cNvPr id="62" name="Border"/>
          <p:cNvSpPr/>
          <p:nvPr/>
        </p:nvSpPr>
        <p:spPr>
          <a:xfrm>
            <a:off x="381000" y="3949898"/>
            <a:ext cx="6350" cy="1936552"/>
          </a:xfrm>
          <a:prstGeom prst="rect">
            <a:avLst/>
          </a:prstGeom>
          <a:solidFill>
            <a:srgbClr val="E2E8F0"/>
          </a:solidFill>
          <a:ln>
            <a:noFill/>
          </a:ln>
        </p:spPr>
      </p:sp>
      <p:sp>
        <p:nvSpPr>
          <p:cNvPr id="63" name="Rounded Rectangle"/>
          <p:cNvSpPr/>
          <p:nvPr/>
        </p:nvSpPr>
        <p:spPr>
          <a:xfrm>
            <a:off x="542925" y="4118173"/>
            <a:ext cx="1370310" cy="238125"/>
          </a:xfrm>
          <a:prstGeom prst="roundRect">
            <a:avLst>
              <a:gd name="adj" fmla="val 20000"/>
            </a:avLst>
          </a:prstGeom>
          <a:solidFill>
            <a:srgbClr val="DCFCE7"/>
          </a:solidFill>
          <a:ln w="6350" cap="flat" cmpd="sng" algn="ctr">
            <a:solidFill>
              <a:srgbClr val="86EFAC"/>
            </a:solidFill>
            <a:miter lim="800000"/>
          </a:ln>
        </p:spPr>
      </p:sp>
      <p:sp>
        <p:nvSpPr>
          <p:cNvPr id="64" name="Text: CORE ARCHITECTURE 01"/>
          <p:cNvSpPr txBox="1"/>
          <p:nvPr/>
        </p:nvSpPr>
        <p:spPr>
          <a:xfrm>
            <a:off x="647700" y="4156273"/>
            <a:ext cx="1160760"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059669"/>
                </a:solidFill>
                <a:latin typeface="Segoe UI"/>
                <a:ea typeface="Segoe UI"/>
                <a:cs typeface="Segoe UI"/>
              </a:rPr>
              <a:t>CORE ARCHITECTURE 01</a:t>
            </a:r>
            <a:endParaRPr lang="en-US" sz="750" dirty="0"/>
          </a:p>
        </p:txBody>
      </p:sp>
      <p:sp>
        <p:nvSpPr>
          <p:cNvPr id="65" name="Text: Zero-Latency Realtime"/>
          <p:cNvSpPr txBox="1"/>
          <p:nvPr/>
        </p:nvSpPr>
        <p:spPr>
          <a:xfrm>
            <a:off x="5003006" y="4165798"/>
            <a:ext cx="870744"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b="1" spc="-4" dirty="0">
                <a:solidFill>
                  <a:srgbClr val="059669"/>
                </a:solidFill>
                <a:latin typeface="Segoe UI"/>
                <a:ea typeface="Segoe UI"/>
                <a:cs typeface="Segoe UI"/>
              </a:rPr>
              <a:t>Zero-Latency Realtime</a:t>
            </a:r>
            <a:endParaRPr lang="en-US" sz="650" dirty="0"/>
          </a:p>
        </p:txBody>
      </p:sp>
      <p:sp>
        <p:nvSpPr>
          <p:cNvPr id="66" name="Text: ⚡ Zero-Copy 초저지연: 실제 악기 수준의 물리적 타건 반응성"/>
          <p:cNvSpPr txBox="1"/>
          <p:nvPr/>
        </p:nvSpPr>
        <p:spPr>
          <a:xfrm>
            <a:off x="539750" y="4384873"/>
            <a:ext cx="3594001" cy="190500"/>
          </a:xfrm>
          <a:prstGeom prst="rect">
            <a:avLst/>
          </a:prstGeom>
          <a:noFill/>
        </p:spPr>
        <p:txBody>
          <a:bodyPr wrap="none" lIns="0" tIns="0" rIns="0" bIns="0" rtlCol="0" anchor="t">
            <a:noAutofit/>
          </a:bodyPr>
          <a:lstStyle/>
          <a:p>
            <a:pPr algn="l">
              <a:lnSpc>
                <a:spcPts val="1500"/>
              </a:lnSpc>
              <a:spcBef>
                <a:spcPts val="0"/>
              </a:spcBef>
              <a:spcAft>
                <a:spcPts val="0"/>
              </a:spcAft>
              <a:buNone/>
            </a:pPr>
            <a:r>
              <a:rPr lang="en-US" sz="1000" b="1" spc="-4" dirty="0">
                <a:solidFill>
                  <a:srgbClr val="0F172A"/>
                </a:solidFill>
                <a:latin typeface="Segoe UI"/>
                <a:ea typeface="Segoe UI"/>
                <a:cs typeface="Segoe UI"/>
              </a:rPr>
              <a:t>⚡ Zero-Copy 초저지연: 실제 악기 수준의 물리적 타건 반응성</a:t>
            </a:r>
            <a:endParaRPr lang="en-US" sz="1000" dirty="0"/>
          </a:p>
        </p:txBody>
      </p:sp>
      <p:sp>
        <p:nvSpPr>
          <p:cNvPr id="67" name="Text: 경로 A(MediaPipe)는 브라우저 내부에서 WebGL 텍스처와 WA"/>
          <p:cNvSpPr txBox="1"/>
          <p:nvPr/>
        </p:nvSpPr>
        <p:spPr>
          <a:xfrm>
            <a:off x="539750" y="4615061"/>
            <a:ext cx="3810695"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spc="-4" dirty="0">
                <a:solidFill>
                  <a:srgbClr val="475569"/>
                </a:solidFill>
                <a:latin typeface="Segoe UI"/>
                <a:ea typeface="Segoe UI"/>
                <a:cs typeface="Segoe UI"/>
              </a:rPr>
              <a:t>경로 A(MediaPipe)는 브라우저 내부에서 WebGL 텍스처와 WASM 메모리를 직접 공유합니다.</a:t>
            </a:r>
            <a:endParaRPr lang="en-US" sz="725" dirty="0"/>
          </a:p>
        </p:txBody>
      </p:sp>
      <p:sp>
        <p:nvSpPr>
          <p:cNvPr id="68" name="Text: •  직렬화/소켓 복사 0초:  네트워크 버퍼 복사 없이 JS 힙 메모리"/>
          <p:cNvSpPr txBox="1"/>
          <p:nvPr/>
        </p:nvSpPr>
        <p:spPr>
          <a:xfrm>
            <a:off x="539750" y="4819848"/>
            <a:ext cx="3247033" cy="128588"/>
          </a:xfrm>
          <a:prstGeom prst="rect">
            <a:avLst/>
          </a:prstGeom>
          <a:noFill/>
        </p:spPr>
        <p:txBody>
          <a:bodyPr wrap="none" lIns="0" tIns="0" rIns="0" bIns="0" rtlCol="0" anchor="t">
            <a:noAutofit/>
          </a:bodyPr>
          <a:lstStyle/>
          <a:p>
            <a:pPr algn="l">
              <a:lnSpc>
                <a:spcPts val="1013"/>
              </a:lnSpc>
              <a:spcBef>
                <a:spcPts val="0"/>
              </a:spcBef>
              <a:spcAft>
                <a:spcPts val="0"/>
              </a:spcAft>
              <a:buNone/>
            </a:pPr>
            <a:r>
              <a:rPr lang="en-US" sz="675" spc="-4" dirty="0">
                <a:solidFill>
                  <a:srgbClr val="334155"/>
                </a:solidFill>
                <a:latin typeface="Segoe UI"/>
                <a:ea typeface="Segoe UI"/>
                <a:cs typeface="Segoe UI"/>
              </a:rPr>
              <a:t>• </a:t>
            </a:r>
            <a:r>
              <a:rPr lang="en-US" sz="675" b="1" spc="-4" dirty="0">
                <a:solidFill>
                  <a:srgbClr val="334155"/>
                </a:solidFill>
                <a:latin typeface="Segoe UI"/>
                <a:ea typeface="Segoe UI"/>
                <a:cs typeface="Segoe UI"/>
              </a:rPr>
              <a:t>직렬화/소켓 복사 0초:</a:t>
            </a:r>
            <a:r>
              <a:rPr lang="en-US" sz="675" spc="-4" dirty="0">
                <a:solidFill>
                  <a:srgbClr val="334155"/>
                </a:solidFill>
                <a:latin typeface="Segoe UI"/>
                <a:ea typeface="Segoe UI"/>
                <a:cs typeface="Segoe UI"/>
              </a:rPr>
              <a:t> 네트워크 버퍼 복사 없이 JS 힙 메모리에서 객체를 즉시 반환</a:t>
            </a:r>
            <a:endParaRPr lang="en-US" sz="675" dirty="0"/>
          </a:p>
        </p:txBody>
      </p:sp>
      <p:sp>
        <p:nvSpPr>
          <p:cNvPr id="69" name="Text: •  16ms(60 FPS) 타건감:  손가락을 펴는 순간 딜레이 없이 "/>
          <p:cNvSpPr txBox="1"/>
          <p:nvPr/>
        </p:nvSpPr>
        <p:spPr>
          <a:xfrm>
            <a:off x="539750" y="4986536"/>
            <a:ext cx="4003873" cy="128588"/>
          </a:xfrm>
          <a:prstGeom prst="rect">
            <a:avLst/>
          </a:prstGeom>
          <a:noFill/>
        </p:spPr>
        <p:txBody>
          <a:bodyPr wrap="none" lIns="0" tIns="0" rIns="0" bIns="0" rtlCol="0" anchor="t">
            <a:noAutofit/>
          </a:bodyPr>
          <a:lstStyle/>
          <a:p>
            <a:pPr algn="l">
              <a:lnSpc>
                <a:spcPts val="1013"/>
              </a:lnSpc>
              <a:spcBef>
                <a:spcPts val="0"/>
              </a:spcBef>
              <a:spcAft>
                <a:spcPts val="0"/>
              </a:spcAft>
              <a:buNone/>
            </a:pPr>
            <a:r>
              <a:rPr lang="en-US" sz="675" spc="-4" dirty="0">
                <a:solidFill>
                  <a:srgbClr val="334155"/>
                </a:solidFill>
                <a:latin typeface="Segoe UI"/>
                <a:ea typeface="Segoe UI"/>
                <a:cs typeface="Segoe UI"/>
              </a:rPr>
              <a:t>• </a:t>
            </a:r>
            <a:r>
              <a:rPr lang="en-US" sz="675" b="1" spc="-4" dirty="0">
                <a:solidFill>
                  <a:srgbClr val="334155"/>
                </a:solidFill>
                <a:latin typeface="Segoe UI"/>
                <a:ea typeface="Segoe UI"/>
                <a:cs typeface="Segoe UI"/>
              </a:rPr>
              <a:t>16ms(60 FPS) 타건감:</a:t>
            </a:r>
            <a:r>
              <a:rPr lang="en-US" sz="675" spc="-4" dirty="0">
                <a:solidFill>
                  <a:srgbClr val="334155"/>
                </a:solidFill>
                <a:latin typeface="Segoe UI"/>
                <a:ea typeface="Segoe UI"/>
                <a:cs typeface="Segoe UI"/>
              </a:rPr>
              <a:t> 손가락을 펴는 순간 딜레이 없이 피아노 화음이 울리는 상용 악기 반응속도 달성</a:t>
            </a:r>
            <a:endParaRPr lang="en-US" sz="675" dirty="0"/>
          </a:p>
        </p:txBody>
      </p:sp>
      <p:sp>
        <p:nvSpPr>
          <p:cNvPr id="70" name="Rounded Rectangle"/>
          <p:cNvSpPr/>
          <p:nvPr/>
        </p:nvSpPr>
        <p:spPr>
          <a:xfrm>
            <a:off x="542925" y="5518150"/>
            <a:ext cx="5327650" cy="231775"/>
          </a:xfrm>
          <a:prstGeom prst="roundRect">
            <a:avLst>
              <a:gd name="adj" fmla="val 20548"/>
            </a:avLst>
          </a:prstGeom>
          <a:solidFill>
            <a:srgbClr val="F0FDF4"/>
          </a:solidFill>
          <a:ln w="6350" cap="flat" cmpd="sng" algn="ctr">
            <a:solidFill>
              <a:srgbClr val="86EFAC"/>
            </a:solidFill>
            <a:miter lim="800000"/>
          </a:ln>
        </p:spPr>
      </p:sp>
      <p:sp>
        <p:nvSpPr>
          <p:cNvPr id="71" name="Text: ✓ 실시간 연주 성능은 온디바이스 MediaPipe가 100% 전담하여 "/>
          <p:cNvSpPr txBox="1"/>
          <p:nvPr/>
        </p:nvSpPr>
        <p:spPr>
          <a:xfrm>
            <a:off x="622300" y="5562600"/>
            <a:ext cx="3021112"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b="1" spc="-4" dirty="0">
                <a:solidFill>
                  <a:srgbClr val="15803D"/>
                </a:solidFill>
                <a:latin typeface="Segoe UI"/>
                <a:ea typeface="Segoe UI"/>
                <a:cs typeface="Segoe UI"/>
              </a:rPr>
              <a:t>✓ 실시간 연주 성능은 온디바이스 MediaPipe가 100% 전담하여 프레임 드랍 방지</a:t>
            </a:r>
            <a:endParaRPr lang="en-US" sz="650" dirty="0"/>
          </a:p>
        </p:txBody>
      </p:sp>
      <p:sp>
        <p:nvSpPr>
          <p:cNvPr id="72" name="Rounded Rectangle"/>
          <p:cNvSpPr/>
          <p:nvPr/>
        </p:nvSpPr>
        <p:spPr>
          <a:xfrm>
            <a:off x="6159500" y="3949898"/>
            <a:ext cx="5651500" cy="1936552"/>
          </a:xfrm>
          <a:prstGeom prst="roundRect">
            <a:avLst>
              <a:gd name="adj" fmla="val 5902"/>
            </a:avLst>
          </a:prstGeom>
          <a:solidFill>
            <a:srgbClr val="FFFFFF"/>
          </a:solidFill>
          <a:ln>
            <a:noFill/>
          </a:ln>
          <a:effectLst>
            <a:outerShdw blurRad="101600" dist="50800" dir="5400000" sx="99551" sy="98688" algn="ctr" rotWithShape="0">
              <a:srgbClr val="000000">
                <a:alpha val="5000"/>
              </a:srgbClr>
            </a:outerShdw>
          </a:effectLst>
        </p:spPr>
      </p:sp>
      <p:sp>
        <p:nvSpPr>
          <p:cNvPr id="73" name="Border"/>
          <p:cNvSpPr/>
          <p:nvPr/>
        </p:nvSpPr>
        <p:spPr>
          <a:xfrm>
            <a:off x="6159500" y="3949898"/>
            <a:ext cx="5651500" cy="38100"/>
          </a:xfrm>
          <a:prstGeom prst="rect">
            <a:avLst/>
          </a:prstGeom>
          <a:solidFill>
            <a:srgbClr val="2563EB"/>
          </a:solidFill>
          <a:ln>
            <a:noFill/>
          </a:ln>
        </p:spPr>
      </p:sp>
      <p:sp>
        <p:nvSpPr>
          <p:cNvPr id="74" name="Border"/>
          <p:cNvSpPr/>
          <p:nvPr/>
        </p:nvSpPr>
        <p:spPr>
          <a:xfrm>
            <a:off x="11804650" y="3949898"/>
            <a:ext cx="6350" cy="1936552"/>
          </a:xfrm>
          <a:prstGeom prst="rect">
            <a:avLst/>
          </a:prstGeom>
          <a:solidFill>
            <a:srgbClr val="E2E8F0"/>
          </a:solidFill>
          <a:ln>
            <a:noFill/>
          </a:ln>
        </p:spPr>
      </p:sp>
      <p:sp>
        <p:nvSpPr>
          <p:cNvPr id="75" name="Border"/>
          <p:cNvSpPr/>
          <p:nvPr/>
        </p:nvSpPr>
        <p:spPr>
          <a:xfrm>
            <a:off x="6159500" y="5880100"/>
            <a:ext cx="5651500" cy="6350"/>
          </a:xfrm>
          <a:prstGeom prst="rect">
            <a:avLst/>
          </a:prstGeom>
          <a:solidFill>
            <a:srgbClr val="E2E8F0"/>
          </a:solidFill>
          <a:ln>
            <a:noFill/>
          </a:ln>
        </p:spPr>
      </p:sp>
      <p:sp>
        <p:nvSpPr>
          <p:cNvPr id="76" name="Border"/>
          <p:cNvSpPr/>
          <p:nvPr/>
        </p:nvSpPr>
        <p:spPr>
          <a:xfrm>
            <a:off x="6159500" y="3949898"/>
            <a:ext cx="6350" cy="1936552"/>
          </a:xfrm>
          <a:prstGeom prst="rect">
            <a:avLst/>
          </a:prstGeom>
          <a:solidFill>
            <a:srgbClr val="E2E8F0"/>
          </a:solidFill>
          <a:ln>
            <a:noFill/>
          </a:ln>
        </p:spPr>
      </p:sp>
      <p:sp>
        <p:nvSpPr>
          <p:cNvPr id="77" name="Rounded Rectangle"/>
          <p:cNvSpPr/>
          <p:nvPr/>
        </p:nvSpPr>
        <p:spPr>
          <a:xfrm>
            <a:off x="6321425" y="4118173"/>
            <a:ext cx="1370310" cy="238125"/>
          </a:xfrm>
          <a:prstGeom prst="roundRect">
            <a:avLst>
              <a:gd name="adj" fmla="val 20000"/>
            </a:avLst>
          </a:prstGeom>
          <a:solidFill>
            <a:srgbClr val="EFF6FF"/>
          </a:solidFill>
          <a:ln w="6350" cap="flat" cmpd="sng" algn="ctr">
            <a:solidFill>
              <a:srgbClr val="BFDBFE"/>
            </a:solidFill>
            <a:miter lim="800000"/>
          </a:ln>
        </p:spPr>
      </p:sp>
      <p:sp>
        <p:nvSpPr>
          <p:cNvPr id="78" name="Text: CORE ARCHITECTURE 02"/>
          <p:cNvSpPr txBox="1"/>
          <p:nvPr/>
        </p:nvSpPr>
        <p:spPr>
          <a:xfrm>
            <a:off x="6426200" y="4156273"/>
            <a:ext cx="1160760"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CORE ARCHITECTURE 02</a:t>
            </a:r>
            <a:endParaRPr lang="en-US" sz="750" dirty="0"/>
          </a:p>
        </p:txBody>
      </p:sp>
      <p:sp>
        <p:nvSpPr>
          <p:cNvPr id="79" name="Text: Adapter Pattern &amp; Decoupling"/>
          <p:cNvSpPr txBox="1"/>
          <p:nvPr/>
        </p:nvSpPr>
        <p:spPr>
          <a:xfrm>
            <a:off x="10461030" y="4165798"/>
            <a:ext cx="1191220"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b="1" spc="-4" dirty="0">
                <a:solidFill>
                  <a:srgbClr val="2563EB"/>
                </a:solidFill>
                <a:latin typeface="Segoe UI"/>
                <a:ea typeface="Segoe UI"/>
                <a:cs typeface="Segoe UI"/>
              </a:rPr>
              <a:t>Adapter Pattern &amp; Decoupling</a:t>
            </a:r>
            <a:endParaRPr lang="en-US" sz="650" dirty="0"/>
          </a:p>
        </p:txBody>
      </p:sp>
      <p:sp>
        <p:nvSpPr>
          <p:cNvPr id="80" name="Text: 🔄 어댑터 패턴: 연주 중단 없는 실시간 AI 모델 핫스위칭"/>
          <p:cNvSpPr txBox="1"/>
          <p:nvPr/>
        </p:nvSpPr>
        <p:spPr>
          <a:xfrm>
            <a:off x="6318250" y="4384873"/>
            <a:ext cx="3261519" cy="190500"/>
          </a:xfrm>
          <a:prstGeom prst="rect">
            <a:avLst/>
          </a:prstGeom>
          <a:noFill/>
        </p:spPr>
        <p:txBody>
          <a:bodyPr wrap="none" lIns="0" tIns="0" rIns="0" bIns="0" rtlCol="0" anchor="t">
            <a:noAutofit/>
          </a:bodyPr>
          <a:lstStyle/>
          <a:p>
            <a:pPr algn="l">
              <a:lnSpc>
                <a:spcPts val="1500"/>
              </a:lnSpc>
              <a:spcBef>
                <a:spcPts val="0"/>
              </a:spcBef>
              <a:spcAft>
                <a:spcPts val="0"/>
              </a:spcAft>
              <a:buNone/>
            </a:pPr>
            <a:r>
              <a:rPr lang="en-US" sz="1000" b="1" spc="-4" dirty="0">
                <a:solidFill>
                  <a:srgbClr val="0F172A"/>
                </a:solidFill>
                <a:latin typeface="Segoe UI"/>
                <a:ea typeface="Segoe UI"/>
                <a:cs typeface="Segoe UI"/>
              </a:rPr>
              <a:t>🔄 어댑터 패턴: 연주 중단 없는 실시간 AI 모델 핫스위칭</a:t>
            </a:r>
            <a:endParaRPr lang="en-US" sz="1000" dirty="0"/>
          </a:p>
        </p:txBody>
      </p:sp>
      <p:sp>
        <p:nvSpPr>
          <p:cNvPr id="81" name="Text: 파이썬 브릿지가 Geti와 YOLO의 뒤섞인 인덱스를  'MediaPip"/>
          <p:cNvSpPr txBox="1"/>
          <p:nvPr/>
        </p:nvSpPr>
        <p:spPr>
          <a:xfrm>
            <a:off x="6318250" y="4615061"/>
            <a:ext cx="4312047"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spc="-4" dirty="0">
                <a:solidFill>
                  <a:srgbClr val="475569"/>
                </a:solidFill>
                <a:latin typeface="Segoe UI"/>
                <a:ea typeface="Segoe UI"/>
                <a:cs typeface="Segoe UI"/>
              </a:rPr>
              <a:t>파이썬 브릿지가 Geti와 YOLO의 뒤섞인 인덱스를 </a:t>
            </a:r>
            <a:r>
              <a:rPr lang="en-US" sz="725" b="1" spc="-4" dirty="0">
                <a:solidFill>
                  <a:srgbClr val="475569"/>
                </a:solidFill>
                <a:latin typeface="Segoe UI"/>
                <a:ea typeface="Segoe UI"/>
                <a:cs typeface="Segoe UI"/>
              </a:rPr>
              <a:t>'MediaPipe 21개 글로벌 표준 스키마'</a:t>
            </a:r>
            <a:r>
              <a:rPr lang="en-US" sz="725" spc="-4" dirty="0">
                <a:solidFill>
                  <a:srgbClr val="475569"/>
                </a:solidFill>
                <a:latin typeface="Segoe UI"/>
                <a:ea typeface="Segoe UI"/>
                <a:cs typeface="Segoe UI"/>
              </a:rPr>
              <a:t>로 일원화합니다.</a:t>
            </a:r>
            <a:endParaRPr lang="en-US" sz="725" dirty="0"/>
          </a:p>
        </p:txBody>
      </p:sp>
      <p:sp>
        <p:nvSpPr>
          <p:cNvPr id="82" name="Text: •  완전한 결합 분리(Decoupling):  사운드 엔진은 상대가 G"/>
          <p:cNvSpPr txBox="1"/>
          <p:nvPr/>
        </p:nvSpPr>
        <p:spPr>
          <a:xfrm>
            <a:off x="6318250" y="4819848"/>
            <a:ext cx="4173736" cy="128588"/>
          </a:xfrm>
          <a:prstGeom prst="rect">
            <a:avLst/>
          </a:prstGeom>
          <a:noFill/>
        </p:spPr>
        <p:txBody>
          <a:bodyPr wrap="none" lIns="0" tIns="0" rIns="0" bIns="0" rtlCol="0" anchor="t">
            <a:noAutofit/>
          </a:bodyPr>
          <a:lstStyle/>
          <a:p>
            <a:pPr algn="l">
              <a:lnSpc>
                <a:spcPts val="1013"/>
              </a:lnSpc>
              <a:spcBef>
                <a:spcPts val="0"/>
              </a:spcBef>
              <a:spcAft>
                <a:spcPts val="0"/>
              </a:spcAft>
              <a:buNone/>
            </a:pPr>
            <a:r>
              <a:rPr lang="en-US" sz="675" spc="-4" dirty="0">
                <a:solidFill>
                  <a:srgbClr val="334155"/>
                </a:solidFill>
                <a:latin typeface="Segoe UI"/>
                <a:ea typeface="Segoe UI"/>
                <a:cs typeface="Segoe UI"/>
              </a:rPr>
              <a:t>• </a:t>
            </a:r>
            <a:r>
              <a:rPr lang="en-US" sz="675" b="1" spc="-4" dirty="0">
                <a:solidFill>
                  <a:srgbClr val="334155"/>
                </a:solidFill>
                <a:latin typeface="Segoe UI"/>
                <a:ea typeface="Segoe UI"/>
                <a:cs typeface="Segoe UI"/>
              </a:rPr>
              <a:t>완전한 결합 분리(Decoupling):</a:t>
            </a:r>
            <a:r>
              <a:rPr lang="en-US" sz="675" spc="-4" dirty="0">
                <a:solidFill>
                  <a:srgbClr val="334155"/>
                </a:solidFill>
                <a:latin typeface="Segoe UI"/>
                <a:ea typeface="Segoe UI"/>
                <a:cs typeface="Segoe UI"/>
              </a:rPr>
              <a:t> 사운드 엔진은 상대가 Geti인지 YOLO인지 알 필요 없이 동일한 규격만 수신</a:t>
            </a:r>
            <a:endParaRPr lang="en-US" sz="675" dirty="0"/>
          </a:p>
        </p:txBody>
      </p:sp>
      <p:sp>
        <p:nvSpPr>
          <p:cNvPr id="83" name="Text: •  무중단 스위칭 실현:  사운드 엔진 코드는 단 1줄도 수정 없이 상"/>
          <p:cNvSpPr txBox="1"/>
          <p:nvPr/>
        </p:nvSpPr>
        <p:spPr>
          <a:xfrm>
            <a:off x="6318250" y="4986536"/>
            <a:ext cx="4101703" cy="128588"/>
          </a:xfrm>
          <a:prstGeom prst="rect">
            <a:avLst/>
          </a:prstGeom>
          <a:noFill/>
        </p:spPr>
        <p:txBody>
          <a:bodyPr wrap="none" lIns="0" tIns="0" rIns="0" bIns="0" rtlCol="0" anchor="t">
            <a:noAutofit/>
          </a:bodyPr>
          <a:lstStyle/>
          <a:p>
            <a:pPr algn="l">
              <a:lnSpc>
                <a:spcPts val="1013"/>
              </a:lnSpc>
              <a:spcBef>
                <a:spcPts val="0"/>
              </a:spcBef>
              <a:spcAft>
                <a:spcPts val="0"/>
              </a:spcAft>
              <a:buNone/>
            </a:pPr>
            <a:r>
              <a:rPr lang="en-US" sz="675" spc="-4" dirty="0">
                <a:solidFill>
                  <a:srgbClr val="334155"/>
                </a:solidFill>
                <a:latin typeface="Segoe UI"/>
                <a:ea typeface="Segoe UI"/>
                <a:cs typeface="Segoe UI"/>
              </a:rPr>
              <a:t>• </a:t>
            </a:r>
            <a:r>
              <a:rPr lang="en-US" sz="675" b="1" spc="-4" dirty="0">
                <a:solidFill>
                  <a:srgbClr val="334155"/>
                </a:solidFill>
                <a:latin typeface="Segoe UI"/>
                <a:ea typeface="Segoe UI"/>
                <a:cs typeface="Segoe UI"/>
              </a:rPr>
              <a:t>무중단 스위칭 실현:</a:t>
            </a:r>
            <a:r>
              <a:rPr lang="en-US" sz="675" spc="-4" dirty="0">
                <a:solidFill>
                  <a:srgbClr val="334155"/>
                </a:solidFill>
                <a:latin typeface="Segoe UI"/>
                <a:ea typeface="Segoe UI"/>
                <a:cs typeface="Segoe UI"/>
              </a:rPr>
              <a:t> 사운드 엔진 코드는 단 1줄도 수정 없이 상단 바에서 마우스 클릭으로 모델 즉시 교체</a:t>
            </a:r>
            <a:endParaRPr lang="en-US" sz="675" dirty="0"/>
          </a:p>
        </p:txBody>
      </p:sp>
      <p:sp>
        <p:nvSpPr>
          <p:cNvPr id="84" name="Rounded Rectangle"/>
          <p:cNvSpPr/>
          <p:nvPr/>
        </p:nvSpPr>
        <p:spPr>
          <a:xfrm>
            <a:off x="6321425" y="5518150"/>
            <a:ext cx="5327650" cy="231775"/>
          </a:xfrm>
          <a:prstGeom prst="roundRect">
            <a:avLst>
              <a:gd name="adj" fmla="val 20548"/>
            </a:avLst>
          </a:prstGeom>
          <a:solidFill>
            <a:srgbClr val="EFF6FF"/>
          </a:solidFill>
          <a:ln w="6350" cap="flat" cmpd="sng" algn="ctr">
            <a:solidFill>
              <a:srgbClr val="BFDBFE"/>
            </a:solidFill>
            <a:miter lim="800000"/>
          </a:ln>
        </p:spPr>
      </p:sp>
      <p:sp>
        <p:nvSpPr>
          <p:cNvPr id="85" name="Text: ✓ 이기종 AI 모델을 표준 어댑터로 유연하게 수렴시킨 소프트웨어 디자인"/>
          <p:cNvSpPr txBox="1"/>
          <p:nvPr/>
        </p:nvSpPr>
        <p:spPr>
          <a:xfrm>
            <a:off x="6400800" y="5562600"/>
            <a:ext cx="3082727"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b="1" spc="-4" dirty="0">
                <a:solidFill>
                  <a:srgbClr val="1D4ED8"/>
                </a:solidFill>
                <a:latin typeface="Segoe UI"/>
                <a:ea typeface="Segoe UI"/>
                <a:cs typeface="Segoe UI"/>
              </a:rPr>
              <a:t>✓ 이기종 AI 모델을 표준 어댑터로 유연하게 수렴시킨 소프트웨어 디자인 패턴 달성</a:t>
            </a:r>
            <a:endParaRPr lang="en-US" sz="650" dirty="0"/>
          </a:p>
        </p:txBody>
      </p:sp>
      <p:sp>
        <p:nvSpPr>
          <p:cNvPr id="86" name="Rounded Rectangle"/>
          <p:cNvSpPr/>
          <p:nvPr/>
        </p:nvSpPr>
        <p:spPr>
          <a:xfrm>
            <a:off x="381000" y="5962650"/>
            <a:ext cx="11430000" cy="371475"/>
          </a:xfrm>
          <a:prstGeom prst="roundRect">
            <a:avLst>
              <a:gd name="adj" fmla="val 20513"/>
            </a:avLst>
          </a:prstGeom>
          <a:solidFill>
            <a:srgbClr val="EFF6FF"/>
          </a:solidFill>
          <a:ln>
            <a:noFill/>
          </a:ln>
          <a:effectLst>
            <a:outerShdw blurRad="76200" dist="25400" dir="5400000" sx="100000" sy="100000" algn="ctr" rotWithShape="0">
              <a:srgbClr val="000000">
                <a:alpha val="3000"/>
              </a:srgbClr>
            </a:outerShdw>
          </a:effectLst>
        </p:spPr>
      </p:sp>
      <p:sp>
        <p:nvSpPr>
          <p:cNvPr id="87" name="Border"/>
          <p:cNvSpPr/>
          <p:nvPr/>
        </p:nvSpPr>
        <p:spPr>
          <a:xfrm>
            <a:off x="381000" y="5962650"/>
            <a:ext cx="38100" cy="371475"/>
          </a:xfrm>
          <a:prstGeom prst="rect">
            <a:avLst/>
          </a:prstGeom>
          <a:solidFill>
            <a:srgbClr val="2563EB"/>
          </a:solidFill>
          <a:ln>
            <a:noFill/>
          </a:ln>
        </p:spPr>
      </p:sp>
      <p:sp>
        <p:nvSpPr>
          <p:cNvPr id="88" name="Text: 💡  아키텍처 핵심:  &quot;실시간 연주는  MediaPipe(Zero-C"/>
          <p:cNvSpPr txBox="1"/>
          <p:nvPr/>
        </p:nvSpPr>
        <p:spPr>
          <a:xfrm>
            <a:off x="558800" y="6067425"/>
            <a:ext cx="8240514"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spc="-4" dirty="0">
                <a:solidFill>
                  <a:srgbClr val="1E3A8A"/>
                </a:solidFill>
                <a:latin typeface="Segoe UI"/>
                <a:ea typeface="Segoe UI"/>
                <a:cs typeface="Segoe UI"/>
              </a:rPr>
              <a:t>💡 </a:t>
            </a:r>
            <a:r>
              <a:rPr lang="en-US" sz="750" b="1" spc="-4" dirty="0">
                <a:solidFill>
                  <a:srgbClr val="1E3A8A"/>
                </a:solidFill>
                <a:latin typeface="Segoe UI"/>
                <a:ea typeface="Segoe UI"/>
                <a:cs typeface="Segoe UI"/>
              </a:rPr>
              <a:t>아키텍처 핵심:</a:t>
            </a:r>
            <a:r>
              <a:rPr lang="en-US" sz="750" spc="-4" dirty="0">
                <a:solidFill>
                  <a:srgbClr val="1E3A8A"/>
                </a:solidFill>
                <a:latin typeface="Segoe UI"/>
                <a:ea typeface="Segoe UI"/>
                <a:cs typeface="Segoe UI"/>
              </a:rPr>
              <a:t> "실시간 연주는 </a:t>
            </a:r>
            <a:r>
              <a:rPr lang="en-US" sz="750" b="1" spc="-4" dirty="0">
                <a:solidFill>
                  <a:srgbClr val="1E3A8A"/>
                </a:solidFill>
                <a:latin typeface="Segoe UI"/>
                <a:ea typeface="Segoe UI"/>
                <a:cs typeface="Segoe UI"/>
              </a:rPr>
              <a:t>MediaPipe(Zero-Copy)로 지연 시간을 16ms로 최소화</a:t>
            </a:r>
            <a:r>
              <a:rPr lang="en-US" sz="750" spc="-4" dirty="0">
                <a:solidFill>
                  <a:srgbClr val="1E3A8A"/>
                </a:solidFill>
                <a:latin typeface="Segoe UI"/>
                <a:ea typeface="Segoe UI"/>
                <a:cs typeface="Segoe UI"/>
              </a:rPr>
              <a:t>하고, 타 모델(Geti·YOLO)은 </a:t>
            </a:r>
            <a:r>
              <a:rPr lang="en-US" sz="750" b="1" spc="-4" dirty="0">
                <a:solidFill>
                  <a:srgbClr val="1E3A8A"/>
                </a:solidFill>
                <a:latin typeface="Segoe UI"/>
                <a:ea typeface="Segoe UI"/>
                <a:cs typeface="Segoe UI"/>
              </a:rPr>
              <a:t>표준 어댑터로 흡수하여 단일 오디오 엔진으로 결합</a:t>
            </a:r>
            <a:r>
              <a:rPr lang="en-US" sz="750" spc="-4" dirty="0">
                <a:solidFill>
                  <a:srgbClr val="1E3A8A"/>
                </a:solidFill>
                <a:latin typeface="Segoe UI"/>
                <a:ea typeface="Segoe UI"/>
                <a:cs typeface="Segoe UI"/>
              </a:rPr>
              <a:t>한 하이브리드 아키텍처"</a:t>
            </a:r>
            <a:endParaRPr lang="en-US" sz="750" dirty="0"/>
          </a:p>
        </p:txBody>
      </p:sp>
      <p:sp>
        <p:nvSpPr>
          <p:cNvPr id="89" name="Rounded Rectangle"/>
          <p:cNvSpPr/>
          <p:nvPr/>
        </p:nvSpPr>
        <p:spPr>
          <a:xfrm>
            <a:off x="10241062" y="6029325"/>
            <a:ext cx="1427063" cy="238125"/>
          </a:xfrm>
          <a:prstGeom prst="roundRect">
            <a:avLst>
              <a:gd name="adj" fmla="val 20000"/>
            </a:avLst>
          </a:prstGeom>
          <a:solidFill>
            <a:srgbClr val="DBEAFE"/>
          </a:solidFill>
          <a:ln w="6350" cap="flat" cmpd="sng" algn="ctr">
            <a:solidFill>
              <a:srgbClr val="93C5FD"/>
            </a:solidFill>
            <a:miter lim="800000"/>
          </a:ln>
        </p:spPr>
      </p:sp>
      <p:sp>
        <p:nvSpPr>
          <p:cNvPr id="90" name="Text: Y-CONVERGENCE HYBRID"/>
          <p:cNvSpPr txBox="1"/>
          <p:nvPr/>
        </p:nvSpPr>
        <p:spPr>
          <a:xfrm>
            <a:off x="10345837" y="6067425"/>
            <a:ext cx="121751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1D4ED8"/>
                </a:solidFill>
                <a:latin typeface="Segoe UI"/>
                <a:ea typeface="Segoe UI"/>
                <a:cs typeface="Segoe UI"/>
              </a:rPr>
              <a:t>Y-CONVERGENCE HYBRID</a:t>
            </a:r>
            <a:endParaRPr lang="en-US" sz="750" dirty="0"/>
          </a:p>
        </p:txBody>
      </p:sp>
      <p:sp>
        <p:nvSpPr>
          <p:cNvPr id="91" name="Border"/>
          <p:cNvSpPr/>
          <p:nvPr/>
        </p:nvSpPr>
        <p:spPr>
          <a:xfrm>
            <a:off x="381000" y="6334125"/>
            <a:ext cx="11430000" cy="6350"/>
          </a:xfrm>
          <a:prstGeom prst="rect">
            <a:avLst/>
          </a:prstGeom>
          <a:solidFill>
            <a:srgbClr val="E2E8F0"/>
          </a:solidFill>
          <a:ln>
            <a:noFill/>
          </a:ln>
        </p:spPr>
      </p:sp>
      <p:sp>
        <p:nvSpPr>
          <p:cNvPr id="92"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93" name="Rounded Rectangle"/>
          <p:cNvSpPr/>
          <p:nvPr/>
        </p:nvSpPr>
        <p:spPr>
          <a:xfrm>
            <a:off x="11237714" y="6429375"/>
            <a:ext cx="573286" cy="225425"/>
          </a:xfrm>
          <a:prstGeom prst="roundRect">
            <a:avLst>
              <a:gd name="adj" fmla="val 22535"/>
            </a:avLst>
          </a:prstGeom>
          <a:solidFill>
            <a:srgbClr val="F1F5F9"/>
          </a:solidFill>
          <a:ln>
            <a:noFill/>
          </a:ln>
        </p:spPr>
      </p:sp>
      <p:sp>
        <p:nvSpPr>
          <p:cNvPr id="94" name="Text: 12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12 / 14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659434" cy="238125"/>
          </a:xfrm>
          <a:prstGeom prst="roundRect">
            <a:avLst>
              <a:gd name="adj" fmla="val 20000"/>
            </a:avLst>
          </a:prstGeom>
          <a:solidFill>
            <a:srgbClr val="EFF6FF"/>
          </a:solidFill>
          <a:ln w="6350" cap="flat" cmpd="sng" algn="ctr">
            <a:solidFill>
              <a:srgbClr val="BFDBFE"/>
            </a:solidFill>
            <a:miter lim="800000"/>
          </a:ln>
        </p:spPr>
      </p:sp>
      <p:sp>
        <p:nvSpPr>
          <p:cNvPr id="3" name="Text: PART 05 • 독립형 데스크톱 배포"/>
          <p:cNvSpPr txBox="1"/>
          <p:nvPr/>
        </p:nvSpPr>
        <p:spPr>
          <a:xfrm>
            <a:off x="488950" y="282575"/>
            <a:ext cx="1449884"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05 • 독립형 데스크톱 배포</a:t>
            </a:r>
            <a:endParaRPr lang="en-US" sz="750" dirty="0"/>
          </a:p>
        </p:txBody>
      </p:sp>
      <p:sp>
        <p:nvSpPr>
          <p:cNvPr id="4" name="Text: AuraSynth Engine Architecture"/>
          <p:cNvSpPr txBox="1"/>
          <p:nvPr/>
        </p:nvSpPr>
        <p:spPr>
          <a:xfrm>
            <a:off x="2135684"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단독 배포] 더블클릭 즉시 실행되는 일체형 데스크톱 악기 (.exe)"/>
          <p:cNvSpPr txBox="1"/>
          <p:nvPr/>
        </p:nvSpPr>
        <p:spPr>
          <a:xfrm>
            <a:off x="381000" y="555625"/>
            <a:ext cx="8876209"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[단독 배포] 더블클릭 즉시 실행되는 일체형 데스크톱 악기 (.exe)</a:t>
            </a:r>
            <a:endParaRPr lang="en-US" sz="2500" dirty="0"/>
          </a:p>
        </p:txBody>
      </p:sp>
      <p:sp>
        <p:nvSpPr>
          <p:cNvPr id="6" name="Text: Electron 프론트엔드와 Python 백엔드 데몬을 단일 바이너리로 "/>
          <p:cNvSpPr txBox="1"/>
          <p:nvPr/>
        </p:nvSpPr>
        <p:spPr>
          <a:xfrm>
            <a:off x="381000" y="948055"/>
            <a:ext cx="7468592"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Electron 프론트엔드와 Python 백엔드 데몬을 단일 바이너리로 통합하여 무설치 원클릭 구동을 실현한 패키징 구조</a:t>
            </a:r>
            <a:endParaRPr lang="en-US" sz="1150" dirty="0"/>
          </a:p>
        </p:txBody>
      </p:sp>
      <p:sp>
        <p:nvSpPr>
          <p:cNvPr id="7" name="Rounded Rectangle"/>
          <p:cNvSpPr/>
          <p:nvPr/>
        </p:nvSpPr>
        <p:spPr>
          <a:xfrm>
            <a:off x="387350" y="1280716"/>
            <a:ext cx="11417300" cy="1571625"/>
          </a:xfrm>
          <a:prstGeom prst="roundRect">
            <a:avLst>
              <a:gd name="adj" fmla="val 6869"/>
            </a:avLst>
          </a:prstGeom>
          <a:gradFill rotWithShape="1">
            <a:gsLst>
              <a:gs pos="0">
                <a:srgbClr val="FFFFFF"/>
              </a:gs>
              <a:gs pos="100000">
                <a:srgbClr val="F8FAFC"/>
              </a:gs>
            </a:gsLst>
            <a:lin ang="5400000" scaled="0"/>
          </a:gradFill>
          <a:ln w="12700" cap="flat" cmpd="sng" algn="ctr">
            <a:solidFill>
              <a:srgbClr val="E2E8F0"/>
            </a:solidFill>
            <a:miter lim="800000"/>
          </a:ln>
          <a:effectLst>
            <a:outerShdw blurRad="101600" dist="50800" dir="5400000" sx="99778" sy="98384" algn="ctr" rotWithShape="0">
              <a:srgbClr val="000000">
                <a:alpha val="5000"/>
              </a:srgbClr>
            </a:outerShdw>
          </a:effectLst>
        </p:spPr>
      </p:sp>
      <p:sp>
        <p:nvSpPr>
          <p:cNvPr id="8" name="Rounded Rectangle"/>
          <p:cNvSpPr/>
          <p:nvPr/>
        </p:nvSpPr>
        <p:spPr>
          <a:xfrm>
            <a:off x="574675" y="1417241"/>
            <a:ext cx="1380331" cy="238125"/>
          </a:xfrm>
          <a:prstGeom prst="roundRect">
            <a:avLst>
              <a:gd name="adj" fmla="val 20000"/>
            </a:avLst>
          </a:prstGeom>
          <a:solidFill>
            <a:srgbClr val="DCFCE7"/>
          </a:solidFill>
          <a:ln w="6350" cap="flat" cmpd="sng" algn="ctr">
            <a:solidFill>
              <a:srgbClr val="86EFAC"/>
            </a:solidFill>
            <a:miter lim="800000"/>
          </a:ln>
        </p:spPr>
      </p:sp>
      <p:sp>
        <p:nvSpPr>
          <p:cNvPr id="9" name="Text: ALL-IN-ONE PACKAGING"/>
          <p:cNvSpPr txBox="1"/>
          <p:nvPr/>
        </p:nvSpPr>
        <p:spPr>
          <a:xfrm>
            <a:off x="679450" y="1455341"/>
            <a:ext cx="117078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059669"/>
                </a:solidFill>
                <a:latin typeface="Segoe UI"/>
                <a:ea typeface="Segoe UI"/>
                <a:cs typeface="Segoe UI"/>
              </a:rPr>
              <a:t>ALL-IN-ONE PACKAGING</a:t>
            </a:r>
            <a:endParaRPr lang="en-US" sz="750" dirty="0"/>
          </a:p>
        </p:txBody>
      </p:sp>
      <p:sp>
        <p:nvSpPr>
          <p:cNvPr id="10" name="Text: Electron 프론트엔드 + Python AI 런타임 단일 실행 바이너"/>
          <p:cNvSpPr txBox="1"/>
          <p:nvPr/>
        </p:nvSpPr>
        <p:spPr>
          <a:xfrm>
            <a:off x="2021681" y="1428353"/>
            <a:ext cx="4100016" cy="190500"/>
          </a:xfrm>
          <a:prstGeom prst="rect">
            <a:avLst/>
          </a:prstGeom>
          <a:noFill/>
        </p:spPr>
        <p:txBody>
          <a:bodyPr wrap="none" lIns="0" tIns="0" rIns="0" bIns="0" rtlCol="0" anchor="t">
            <a:noAutofit/>
          </a:bodyPr>
          <a:lstStyle/>
          <a:p>
            <a:pPr algn="l">
              <a:lnSpc>
                <a:spcPts val="1500"/>
              </a:lnSpc>
              <a:spcBef>
                <a:spcPts val="0"/>
              </a:spcBef>
              <a:spcAft>
                <a:spcPts val="0"/>
              </a:spcAft>
              <a:buNone/>
            </a:pPr>
            <a:r>
              <a:rPr lang="en-US" sz="1000" b="1" spc="-4" dirty="0">
                <a:solidFill>
                  <a:srgbClr val="0F172A"/>
                </a:solidFill>
                <a:latin typeface="Segoe UI"/>
                <a:ea typeface="Segoe UI"/>
                <a:cs typeface="Segoe UI"/>
              </a:rPr>
              <a:t>Electron 프론트엔드 + Python AI 런타임 단일 실행 바이너리 통합 구조</a:t>
            </a:r>
            <a:endParaRPr lang="en-US" sz="1000" dirty="0"/>
          </a:p>
        </p:txBody>
      </p:sp>
      <p:sp>
        <p:nvSpPr>
          <p:cNvPr id="11" name="Rounded Rectangle"/>
          <p:cNvSpPr/>
          <p:nvPr/>
        </p:nvSpPr>
        <p:spPr>
          <a:xfrm>
            <a:off x="9907786" y="1449784"/>
            <a:ext cx="1709539" cy="173038"/>
          </a:xfrm>
          <a:prstGeom prst="roundRect">
            <a:avLst>
              <a:gd name="adj" fmla="val 50000"/>
            </a:avLst>
          </a:prstGeom>
          <a:solidFill>
            <a:srgbClr val="F0FDF4"/>
          </a:solidFill>
          <a:ln w="6350" cap="flat" cmpd="sng" algn="ctr">
            <a:solidFill>
              <a:srgbClr val="86EFAC"/>
            </a:solidFill>
            <a:miter lim="800000"/>
          </a:ln>
        </p:spPr>
      </p:sp>
      <p:sp>
        <p:nvSpPr>
          <p:cNvPr id="12" name="Text: 📦 Zero-Dependency 원클릭 배포 완성"/>
          <p:cNvSpPr txBox="1"/>
          <p:nvPr/>
        </p:nvSpPr>
        <p:spPr>
          <a:xfrm>
            <a:off x="9987161" y="1464072"/>
            <a:ext cx="1550789" cy="128588"/>
          </a:xfrm>
          <a:prstGeom prst="rect">
            <a:avLst/>
          </a:prstGeom>
          <a:noFill/>
        </p:spPr>
        <p:txBody>
          <a:bodyPr wrap="none" lIns="0" tIns="0" rIns="0" bIns="0" rtlCol="0" anchor="t">
            <a:noAutofit/>
          </a:bodyPr>
          <a:lstStyle/>
          <a:p>
            <a:pPr algn="l">
              <a:lnSpc>
                <a:spcPts val="1013"/>
              </a:lnSpc>
              <a:spcBef>
                <a:spcPts val="0"/>
              </a:spcBef>
              <a:spcAft>
                <a:spcPts val="0"/>
              </a:spcAft>
              <a:buNone/>
            </a:pPr>
            <a:r>
              <a:rPr lang="en-US" sz="675" b="1" spc="-4" dirty="0">
                <a:solidFill>
                  <a:srgbClr val="059669"/>
                </a:solidFill>
                <a:latin typeface="Segoe UI"/>
                <a:ea typeface="Segoe UI"/>
                <a:cs typeface="Segoe UI"/>
              </a:rPr>
              <a:t>📦 Zero-Dependency 원클릭 배포 완성</a:t>
            </a:r>
            <a:endParaRPr lang="en-US" sz="675" dirty="0"/>
          </a:p>
        </p:txBody>
      </p:sp>
      <p:sp>
        <p:nvSpPr>
          <p:cNvPr id="13" name="Rounded Rectangle"/>
          <p:cNvSpPr/>
          <p:nvPr/>
        </p:nvSpPr>
        <p:spPr>
          <a:xfrm>
            <a:off x="574675" y="1750616"/>
            <a:ext cx="11042650" cy="965200"/>
          </a:xfrm>
          <a:prstGeom prst="roundRect">
            <a:avLst>
              <a:gd name="adj" fmla="val 8882"/>
            </a:avLst>
          </a:prstGeom>
          <a:solidFill>
            <a:srgbClr val="F8FAFC"/>
          </a:solidFill>
          <a:ln w="6350" cap="flat" cmpd="sng" algn="ctr">
            <a:solidFill>
              <a:srgbClr val="CBD5E1"/>
            </a:solidFill>
            <a:miter lim="800000"/>
          </a:ln>
        </p:spPr>
      </p:sp>
      <p:sp>
        <p:nvSpPr>
          <p:cNvPr id="14" name="Rounded Rectangle"/>
          <p:cNvSpPr/>
          <p:nvPr/>
        </p:nvSpPr>
        <p:spPr>
          <a:xfrm>
            <a:off x="711200" y="1868884"/>
            <a:ext cx="3086894" cy="728663"/>
          </a:xfrm>
          <a:prstGeom prst="roundRect">
            <a:avLst>
              <a:gd name="adj" fmla="val 9586"/>
            </a:avLst>
          </a:prstGeom>
          <a:solidFill>
            <a:srgbClr val="FFFFFF"/>
          </a:solidFill>
          <a:ln w="12700" cap="flat" cmpd="sng" algn="ctr">
            <a:solidFill>
              <a:srgbClr val="93C5FD"/>
            </a:solidFill>
            <a:miter lim="800000"/>
          </a:ln>
          <a:effectLst>
            <a:outerShdw blurRad="76200" dist="25400" dir="5400000" sx="100000" sy="100000" algn="ctr" rotWithShape="0">
              <a:srgbClr val="2563EB">
                <a:alpha val="5000"/>
              </a:srgbClr>
            </a:outerShdw>
          </a:effectLst>
        </p:spPr>
      </p:sp>
      <p:sp>
        <p:nvSpPr>
          <p:cNvPr id="15" name="Text: 🖥️"/>
          <p:cNvSpPr txBox="1"/>
          <p:nvPr/>
        </p:nvSpPr>
        <p:spPr>
          <a:xfrm>
            <a:off x="2132806" y="1932384"/>
            <a:ext cx="243681" cy="266700"/>
          </a:xfrm>
          <a:prstGeom prst="rect">
            <a:avLst/>
          </a:prstGeom>
          <a:noFill/>
        </p:spPr>
        <p:txBody>
          <a:bodyPr wrap="none" lIns="0" tIns="0" rIns="0" bIns="0" rtlCol="0" anchor="t">
            <a:noAutofit/>
          </a:bodyPr>
          <a:lstStyle/>
          <a:p>
            <a:pPr algn="ctr">
              <a:lnSpc>
                <a:spcPts val="2100"/>
              </a:lnSpc>
              <a:spcBef>
                <a:spcPts val="0"/>
              </a:spcBef>
              <a:spcAft>
                <a:spcPts val="0"/>
              </a:spcAft>
              <a:buNone/>
            </a:pPr>
            <a:r>
              <a:rPr lang="en-US" sz="1400" spc="-4" dirty="0">
                <a:solidFill>
                  <a:srgbClr val="0F172A"/>
                </a:solidFill>
                <a:latin typeface="Segoe UI"/>
                <a:ea typeface="Segoe UI"/>
                <a:cs typeface="Segoe UI"/>
              </a:rPr>
              <a:t>🖥️</a:t>
            </a:r>
            <a:endParaRPr lang="en-US" sz="1400" dirty="0"/>
          </a:p>
        </p:txBody>
      </p:sp>
      <p:sp>
        <p:nvSpPr>
          <p:cNvPr id="16" name="Text: 악기 UI &amp; 사운드 엔진"/>
          <p:cNvSpPr txBox="1"/>
          <p:nvPr/>
        </p:nvSpPr>
        <p:spPr>
          <a:xfrm>
            <a:off x="1734741" y="2218134"/>
            <a:ext cx="1039813" cy="152400"/>
          </a:xfrm>
          <a:prstGeom prst="rect">
            <a:avLst/>
          </a:prstGeom>
          <a:noFill/>
        </p:spPr>
        <p:txBody>
          <a:bodyPr wrap="none" lIns="0" tIns="0" rIns="0" bIns="0" rtlCol="0" anchor="t">
            <a:noAutofit/>
          </a:bodyPr>
          <a:lstStyle/>
          <a:p>
            <a:pPr algn="ctr">
              <a:lnSpc>
                <a:spcPts val="1200"/>
              </a:lnSpc>
              <a:spcBef>
                <a:spcPts val="0"/>
              </a:spcBef>
              <a:spcAft>
                <a:spcPts val="0"/>
              </a:spcAft>
              <a:buNone/>
            </a:pPr>
            <a:r>
              <a:rPr lang="en-US" sz="800" b="1" spc="-4" dirty="0">
                <a:solidFill>
                  <a:srgbClr val="1E40AF"/>
                </a:solidFill>
                <a:latin typeface="Segoe UI"/>
                <a:ea typeface="Segoe UI"/>
                <a:cs typeface="Segoe UI"/>
              </a:rPr>
              <a:t>악기 UI &amp; 사운드 엔진</a:t>
            </a:r>
            <a:endParaRPr lang="en-US" sz="800" dirty="0"/>
          </a:p>
        </p:txBody>
      </p:sp>
      <p:sp>
        <p:nvSpPr>
          <p:cNvPr id="17" name="Text: Electron (Chromium + Web Audio)"/>
          <p:cNvSpPr txBox="1"/>
          <p:nvPr/>
        </p:nvSpPr>
        <p:spPr>
          <a:xfrm>
            <a:off x="1634133" y="2384822"/>
            <a:ext cx="1240929"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spc="-4" dirty="0">
                <a:solidFill>
                  <a:srgbClr val="64748B"/>
                </a:solidFill>
                <a:latin typeface="Segoe UI"/>
                <a:ea typeface="Segoe UI"/>
                <a:cs typeface="Segoe UI"/>
              </a:rPr>
              <a:t>Electron (Chromium + Web Audio)</a:t>
            </a:r>
            <a:endParaRPr lang="en-US" sz="625" dirty="0"/>
          </a:p>
        </p:txBody>
      </p:sp>
      <p:sp>
        <p:nvSpPr>
          <p:cNvPr id="18" name="Text: +"/>
          <p:cNvSpPr txBox="1"/>
          <p:nvPr/>
        </p:nvSpPr>
        <p:spPr>
          <a:xfrm>
            <a:off x="3880644" y="2106216"/>
            <a:ext cx="109141"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475569"/>
                </a:solidFill>
                <a:latin typeface="Segoe UI"/>
                <a:ea typeface="Segoe UI"/>
                <a:cs typeface="Segoe UI"/>
              </a:rPr>
              <a:t>+</a:t>
            </a:r>
            <a:endParaRPr lang="en-US" sz="1200" dirty="0"/>
          </a:p>
        </p:txBody>
      </p:sp>
      <p:sp>
        <p:nvSpPr>
          <p:cNvPr id="19" name="Rounded Rectangle"/>
          <p:cNvSpPr/>
          <p:nvPr/>
        </p:nvSpPr>
        <p:spPr>
          <a:xfrm>
            <a:off x="4072334" y="1868884"/>
            <a:ext cx="3086894" cy="728663"/>
          </a:xfrm>
          <a:prstGeom prst="roundRect">
            <a:avLst>
              <a:gd name="adj" fmla="val 9586"/>
            </a:avLst>
          </a:prstGeom>
          <a:solidFill>
            <a:srgbClr val="FFFFFF"/>
          </a:solidFill>
          <a:ln w="12700" cap="flat" cmpd="sng" algn="ctr">
            <a:solidFill>
              <a:srgbClr val="86EFAC"/>
            </a:solidFill>
            <a:miter lim="800000"/>
          </a:ln>
          <a:effectLst>
            <a:outerShdw blurRad="76200" dist="25400" dir="5400000" sx="100000" sy="100000" algn="ctr" rotWithShape="0">
              <a:srgbClr val="10B981">
                <a:alpha val="5000"/>
              </a:srgbClr>
            </a:outerShdw>
          </a:effectLst>
        </p:spPr>
      </p:sp>
      <p:sp>
        <p:nvSpPr>
          <p:cNvPr id="20" name="Text: 🧠"/>
          <p:cNvSpPr txBox="1"/>
          <p:nvPr/>
        </p:nvSpPr>
        <p:spPr>
          <a:xfrm>
            <a:off x="5493941" y="1932384"/>
            <a:ext cx="243681" cy="266700"/>
          </a:xfrm>
          <a:prstGeom prst="rect">
            <a:avLst/>
          </a:prstGeom>
          <a:noFill/>
        </p:spPr>
        <p:txBody>
          <a:bodyPr wrap="none" lIns="0" tIns="0" rIns="0" bIns="0" rtlCol="0" anchor="t">
            <a:noAutofit/>
          </a:bodyPr>
          <a:lstStyle/>
          <a:p>
            <a:pPr algn="ctr">
              <a:lnSpc>
                <a:spcPts val="2100"/>
              </a:lnSpc>
              <a:spcBef>
                <a:spcPts val="0"/>
              </a:spcBef>
              <a:spcAft>
                <a:spcPts val="0"/>
              </a:spcAft>
              <a:buNone/>
            </a:pPr>
            <a:r>
              <a:rPr lang="en-US" sz="1400" spc="-4" dirty="0">
                <a:solidFill>
                  <a:srgbClr val="0F172A"/>
                </a:solidFill>
                <a:latin typeface="Segoe UI"/>
                <a:ea typeface="Segoe UI"/>
                <a:cs typeface="Segoe UI"/>
              </a:rPr>
              <a:t>🧠</a:t>
            </a:r>
            <a:endParaRPr lang="en-US" sz="1400" dirty="0"/>
          </a:p>
        </p:txBody>
      </p:sp>
      <p:sp>
        <p:nvSpPr>
          <p:cNvPr id="21" name="Text: AI 브릿지 추론 데몬"/>
          <p:cNvSpPr txBox="1"/>
          <p:nvPr/>
        </p:nvSpPr>
        <p:spPr>
          <a:xfrm>
            <a:off x="5158085" y="2218134"/>
            <a:ext cx="915293" cy="152400"/>
          </a:xfrm>
          <a:prstGeom prst="rect">
            <a:avLst/>
          </a:prstGeom>
          <a:noFill/>
        </p:spPr>
        <p:txBody>
          <a:bodyPr wrap="none" lIns="0" tIns="0" rIns="0" bIns="0" rtlCol="0" anchor="t">
            <a:noAutofit/>
          </a:bodyPr>
          <a:lstStyle/>
          <a:p>
            <a:pPr algn="ctr">
              <a:lnSpc>
                <a:spcPts val="1200"/>
              </a:lnSpc>
              <a:spcBef>
                <a:spcPts val="0"/>
              </a:spcBef>
              <a:spcAft>
                <a:spcPts val="0"/>
              </a:spcAft>
              <a:buNone/>
            </a:pPr>
            <a:r>
              <a:rPr lang="en-US" sz="800" b="1" spc="-4" dirty="0">
                <a:solidFill>
                  <a:srgbClr val="15803D"/>
                </a:solidFill>
                <a:latin typeface="Segoe UI"/>
                <a:ea typeface="Segoe UI"/>
                <a:cs typeface="Segoe UI"/>
              </a:rPr>
              <a:t>AI 브릿지 추론 데몬</a:t>
            </a:r>
            <a:endParaRPr lang="en-US" sz="800" dirty="0"/>
          </a:p>
        </p:txBody>
      </p:sp>
      <p:sp>
        <p:nvSpPr>
          <p:cNvPr id="22" name="Text: bridge.exe (Python 런타임 + OpenVINO)"/>
          <p:cNvSpPr txBox="1"/>
          <p:nvPr/>
        </p:nvSpPr>
        <p:spPr>
          <a:xfrm>
            <a:off x="4890195" y="2384822"/>
            <a:ext cx="1451074" cy="119063"/>
          </a:xfrm>
          <a:prstGeom prst="rect">
            <a:avLst/>
          </a:prstGeom>
          <a:noFill/>
        </p:spPr>
        <p:txBody>
          <a:bodyPr wrap="none" lIns="0" tIns="0" rIns="0" bIns="0" rtlCol="0" anchor="t">
            <a:noAutofit/>
          </a:bodyPr>
          <a:lstStyle/>
          <a:p>
            <a:pPr algn="ctr">
              <a:lnSpc>
                <a:spcPts val="938"/>
              </a:lnSpc>
              <a:spcBef>
                <a:spcPts val="0"/>
              </a:spcBef>
              <a:spcAft>
                <a:spcPts val="0"/>
              </a:spcAft>
              <a:buNone/>
            </a:pPr>
            <a:r>
              <a:rPr lang="en-US" sz="625" spc="-4" dirty="0">
                <a:solidFill>
                  <a:srgbClr val="64748B"/>
                </a:solidFill>
                <a:latin typeface="Segoe UI"/>
                <a:ea typeface="Segoe UI"/>
                <a:cs typeface="Segoe UI"/>
              </a:rPr>
              <a:t>bridge.exe (Python 런타임 + OpenVINO)</a:t>
            </a:r>
            <a:endParaRPr lang="en-US" sz="625" dirty="0"/>
          </a:p>
        </p:txBody>
      </p:sp>
      <p:sp>
        <p:nvSpPr>
          <p:cNvPr id="23" name="Text: ="/>
          <p:cNvSpPr txBox="1"/>
          <p:nvPr/>
        </p:nvSpPr>
        <p:spPr>
          <a:xfrm>
            <a:off x="7241778" y="2106216"/>
            <a:ext cx="109141" cy="228600"/>
          </a:xfrm>
          <a:prstGeom prst="rect">
            <a:avLst/>
          </a:prstGeom>
          <a:noFill/>
        </p:spPr>
        <p:txBody>
          <a:bodyPr wrap="none" lIns="0" tIns="0" rIns="0" bIns="0" rtlCol="0" anchor="t">
            <a:noAutofit/>
          </a:bodyPr>
          <a:lstStyle/>
          <a:p>
            <a:pPr algn="l">
              <a:lnSpc>
                <a:spcPts val="1800"/>
              </a:lnSpc>
              <a:spcBef>
                <a:spcPts val="0"/>
              </a:spcBef>
              <a:spcAft>
                <a:spcPts val="0"/>
              </a:spcAft>
              <a:buNone/>
            </a:pPr>
            <a:r>
              <a:rPr lang="en-US" sz="1200" b="1" spc="-4" dirty="0">
                <a:solidFill>
                  <a:srgbClr val="059669"/>
                </a:solidFill>
                <a:latin typeface="Segoe UI"/>
                <a:ea typeface="Segoe UI"/>
                <a:cs typeface="Segoe UI"/>
              </a:rPr>
              <a:t>=</a:t>
            </a:r>
            <a:endParaRPr lang="en-US" sz="1200" dirty="0"/>
          </a:p>
        </p:txBody>
      </p:sp>
      <p:sp>
        <p:nvSpPr>
          <p:cNvPr id="24" name="Rounded Rectangle"/>
          <p:cNvSpPr/>
          <p:nvPr/>
        </p:nvSpPr>
        <p:spPr>
          <a:xfrm>
            <a:off x="7433469" y="1849041"/>
            <a:ext cx="4047331" cy="768350"/>
          </a:xfrm>
          <a:prstGeom prst="roundRect">
            <a:avLst>
              <a:gd name="adj" fmla="val 9091"/>
            </a:avLst>
          </a:prstGeom>
          <a:solidFill>
            <a:srgbClr val="0F172A"/>
          </a:solidFill>
          <a:ln w="12700" cap="flat" cmpd="sng" algn="ctr">
            <a:solidFill>
              <a:srgbClr val="38BDF8"/>
            </a:solidFill>
            <a:miter lim="800000"/>
          </a:ln>
          <a:effectLst>
            <a:outerShdw blurRad="152400" dist="50800" dir="5400000" sx="100000" sy="100000" algn="ctr" rotWithShape="0">
              <a:srgbClr val="0F172A">
                <a:alpha val="30000"/>
              </a:srgbClr>
            </a:outerShdw>
          </a:effectLst>
        </p:spPr>
      </p:sp>
      <p:sp>
        <p:nvSpPr>
          <p:cNvPr id="25" name="Text: 📦"/>
          <p:cNvSpPr txBox="1"/>
          <p:nvPr/>
        </p:nvSpPr>
        <p:spPr>
          <a:xfrm>
            <a:off x="9335294" y="1925241"/>
            <a:ext cx="243681" cy="266700"/>
          </a:xfrm>
          <a:prstGeom prst="rect">
            <a:avLst/>
          </a:prstGeom>
          <a:noFill/>
        </p:spPr>
        <p:txBody>
          <a:bodyPr wrap="none" lIns="0" tIns="0" rIns="0" bIns="0" rtlCol="0" anchor="t">
            <a:noAutofit/>
          </a:bodyPr>
          <a:lstStyle/>
          <a:p>
            <a:pPr algn="ctr">
              <a:lnSpc>
                <a:spcPts val="2100"/>
              </a:lnSpc>
              <a:spcBef>
                <a:spcPts val="0"/>
              </a:spcBef>
              <a:spcAft>
                <a:spcPts val="0"/>
              </a:spcAft>
              <a:buNone/>
            </a:pPr>
            <a:r>
              <a:rPr lang="en-US" sz="1400" spc="-4" dirty="0">
                <a:solidFill>
                  <a:srgbClr val="FFFFFF"/>
                </a:solidFill>
                <a:latin typeface="Segoe UI"/>
                <a:ea typeface="Segoe UI"/>
                <a:cs typeface="Segoe UI"/>
              </a:rPr>
              <a:t>📦</a:t>
            </a:r>
            <a:endParaRPr lang="en-US" sz="1400" dirty="0"/>
          </a:p>
        </p:txBody>
      </p:sp>
      <p:sp>
        <p:nvSpPr>
          <p:cNvPr id="26" name="Text: AuraSynth.exe"/>
          <p:cNvSpPr txBox="1"/>
          <p:nvPr/>
        </p:nvSpPr>
        <p:spPr>
          <a:xfrm>
            <a:off x="9071471" y="2210991"/>
            <a:ext cx="771327" cy="171450"/>
          </a:xfrm>
          <a:prstGeom prst="rect">
            <a:avLst/>
          </a:prstGeom>
          <a:noFill/>
        </p:spPr>
        <p:txBody>
          <a:bodyPr wrap="none" lIns="0" tIns="0" rIns="0" bIns="0" rtlCol="0" anchor="t">
            <a:noAutofit/>
          </a:bodyPr>
          <a:lstStyle/>
          <a:p>
            <a:pPr algn="ctr">
              <a:lnSpc>
                <a:spcPts val="1350"/>
              </a:lnSpc>
              <a:spcBef>
                <a:spcPts val="0"/>
              </a:spcBef>
              <a:spcAft>
                <a:spcPts val="0"/>
              </a:spcAft>
              <a:buNone/>
            </a:pPr>
            <a:r>
              <a:rPr lang="en-US" sz="900" b="1" spc="-4" dirty="0">
                <a:solidFill>
                  <a:srgbClr val="38BDF8"/>
                </a:solidFill>
                <a:latin typeface="Segoe UI"/>
                <a:ea typeface="Segoe UI"/>
                <a:cs typeface="Segoe UI"/>
              </a:rPr>
              <a:t>AuraSynth.exe</a:t>
            </a:r>
            <a:endParaRPr lang="en-US" sz="900" dirty="0"/>
          </a:p>
        </p:txBody>
      </p:sp>
      <p:sp>
        <p:nvSpPr>
          <p:cNvPr id="27" name="Text: 설치 과정이 필요 없는 단일 실행 파일"/>
          <p:cNvSpPr txBox="1"/>
          <p:nvPr/>
        </p:nvSpPr>
        <p:spPr>
          <a:xfrm>
            <a:off x="8810526" y="2401491"/>
            <a:ext cx="1293118" cy="114300"/>
          </a:xfrm>
          <a:prstGeom prst="rect">
            <a:avLst/>
          </a:prstGeom>
          <a:noFill/>
        </p:spPr>
        <p:txBody>
          <a:bodyPr wrap="none" lIns="0" tIns="0" rIns="0" bIns="0" rtlCol="0" anchor="t">
            <a:noAutofit/>
          </a:bodyPr>
          <a:lstStyle/>
          <a:p>
            <a:pPr algn="ctr">
              <a:lnSpc>
                <a:spcPts val="900"/>
              </a:lnSpc>
              <a:spcBef>
                <a:spcPts val="0"/>
              </a:spcBef>
              <a:spcAft>
                <a:spcPts val="0"/>
              </a:spcAft>
              <a:buNone/>
            </a:pPr>
            <a:r>
              <a:rPr lang="en-US" sz="600" b="1" spc="-4" dirty="0">
                <a:solidFill>
                  <a:srgbClr val="FACC15"/>
                </a:solidFill>
                <a:latin typeface="Segoe UI"/>
                <a:ea typeface="Segoe UI"/>
                <a:cs typeface="Segoe UI"/>
              </a:rPr>
              <a:t>설치 과정이 필요 없는 단일 실행 파일</a:t>
            </a:r>
            <a:endParaRPr lang="en-US" sz="600" dirty="0"/>
          </a:p>
        </p:txBody>
      </p:sp>
      <p:sp>
        <p:nvSpPr>
          <p:cNvPr id="28" name="Rounded Rectangle"/>
          <p:cNvSpPr/>
          <p:nvPr/>
        </p:nvSpPr>
        <p:spPr>
          <a:xfrm>
            <a:off x="384175" y="2963466"/>
            <a:ext cx="11423650" cy="1185863"/>
          </a:xfrm>
          <a:prstGeom prst="roundRect">
            <a:avLst>
              <a:gd name="adj" fmla="val 9371"/>
            </a:avLst>
          </a:prstGeom>
          <a:solidFill>
            <a:srgbClr val="FFFFFF"/>
          </a:solidFill>
          <a:ln w="6350" cap="flat" cmpd="sng" algn="ctr">
            <a:solidFill>
              <a:srgbClr val="E2E8F0"/>
            </a:solidFill>
            <a:miter lim="800000"/>
          </a:ln>
          <a:effectLst>
            <a:outerShdw blurRad="101600" dist="50800" dir="5400000" sx="99778" sy="97858" algn="ctr" rotWithShape="0">
              <a:srgbClr val="000000">
                <a:alpha val="5000"/>
              </a:srgbClr>
            </a:outerShdw>
          </a:effectLst>
        </p:spPr>
      </p:sp>
      <p:sp>
        <p:nvSpPr>
          <p:cNvPr id="29" name="Text: 🔄"/>
          <p:cNvSpPr txBox="1"/>
          <p:nvPr/>
        </p:nvSpPr>
        <p:spPr>
          <a:xfrm>
            <a:off x="539750" y="3071416"/>
            <a:ext cx="147737"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0F172A"/>
                </a:solidFill>
                <a:latin typeface="Segoe UI"/>
                <a:ea typeface="Segoe UI"/>
                <a:cs typeface="Segoe UI"/>
              </a:rPr>
              <a:t>🔄</a:t>
            </a:r>
            <a:endParaRPr lang="en-US" sz="850" dirty="0"/>
          </a:p>
        </p:txBody>
      </p:sp>
      <p:sp>
        <p:nvSpPr>
          <p:cNvPr id="30" name="Text: 프로세스 생명주기 자동화 및 소켓 통신 라이프사이클"/>
          <p:cNvSpPr txBox="1"/>
          <p:nvPr/>
        </p:nvSpPr>
        <p:spPr>
          <a:xfrm>
            <a:off x="738287" y="3071416"/>
            <a:ext cx="2588419"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0F172A"/>
                </a:solidFill>
                <a:latin typeface="Segoe UI"/>
                <a:ea typeface="Segoe UI"/>
                <a:cs typeface="Segoe UI"/>
              </a:rPr>
              <a:t>프로세스 생명주기 자동화 및 소켓 통신 라이프사이클</a:t>
            </a:r>
            <a:endParaRPr lang="en-US" sz="850" dirty="0"/>
          </a:p>
        </p:txBody>
      </p:sp>
      <p:sp>
        <p:nvSpPr>
          <p:cNvPr id="31" name="Rounded Rectangle"/>
          <p:cNvSpPr/>
          <p:nvPr/>
        </p:nvSpPr>
        <p:spPr>
          <a:xfrm>
            <a:off x="542925" y="3322241"/>
            <a:ext cx="2714625" cy="706438"/>
          </a:xfrm>
          <a:prstGeom prst="roundRect">
            <a:avLst>
              <a:gd name="adj" fmla="val 8539"/>
            </a:avLst>
          </a:prstGeom>
          <a:solidFill>
            <a:srgbClr val="F8FAFC"/>
          </a:solidFill>
          <a:ln w="6350" cap="flat" cmpd="sng" algn="ctr">
            <a:solidFill>
              <a:srgbClr val="CBD5E1"/>
            </a:solidFill>
            <a:miter lim="800000"/>
          </a:ln>
        </p:spPr>
      </p:sp>
      <p:sp>
        <p:nvSpPr>
          <p:cNvPr id="32" name="Text: STEP 1 • 더블클릭 기동"/>
          <p:cNvSpPr txBox="1"/>
          <p:nvPr/>
        </p:nvSpPr>
        <p:spPr>
          <a:xfrm>
            <a:off x="635000" y="3393678"/>
            <a:ext cx="773708" cy="109538"/>
          </a:xfrm>
          <a:prstGeom prst="rect">
            <a:avLst/>
          </a:prstGeom>
          <a:noFill/>
        </p:spPr>
        <p:txBody>
          <a:bodyPr wrap="none" lIns="0" tIns="0" rIns="0" bIns="0" rtlCol="0" anchor="t">
            <a:noAutofit/>
          </a:bodyPr>
          <a:lstStyle/>
          <a:p>
            <a:pPr algn="l">
              <a:lnSpc>
                <a:spcPts val="863"/>
              </a:lnSpc>
              <a:spcBef>
                <a:spcPts val="0"/>
              </a:spcBef>
              <a:spcAft>
                <a:spcPts val="0"/>
              </a:spcAft>
              <a:buNone/>
            </a:pPr>
            <a:r>
              <a:rPr lang="en-US" sz="575" b="1" spc="-4" dirty="0">
                <a:solidFill>
                  <a:srgbClr val="2563EB"/>
                </a:solidFill>
                <a:latin typeface="Segoe UI"/>
                <a:ea typeface="Segoe UI"/>
                <a:cs typeface="Segoe UI"/>
              </a:rPr>
              <a:t>STEP 1 • 더블클릭 기동</a:t>
            </a:r>
            <a:endParaRPr lang="en-US" sz="575" dirty="0"/>
          </a:p>
        </p:txBody>
      </p:sp>
      <p:sp>
        <p:nvSpPr>
          <p:cNvPr id="33" name="Text: 자동 프로세스 스폰"/>
          <p:cNvSpPr txBox="1"/>
          <p:nvPr/>
        </p:nvSpPr>
        <p:spPr>
          <a:xfrm>
            <a:off x="635000" y="3525441"/>
            <a:ext cx="796330"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0F172A"/>
                </a:solidFill>
                <a:latin typeface="Segoe UI"/>
                <a:ea typeface="Segoe UI"/>
                <a:cs typeface="Segoe UI"/>
              </a:rPr>
              <a:t>자동 프로세스 스폰</a:t>
            </a:r>
            <a:endParaRPr lang="en-US" sz="725" dirty="0"/>
          </a:p>
        </p:txBody>
      </p:sp>
      <p:sp>
        <p:nvSpPr>
          <p:cNvPr id="34" name="Text: Electron 메인 프로세스가 백그라운드 자식 프로세스로  bridge"/>
          <p:cNvSpPr txBox="1"/>
          <p:nvPr/>
        </p:nvSpPr>
        <p:spPr>
          <a:xfrm>
            <a:off x="635000" y="3699272"/>
            <a:ext cx="2486124" cy="242888"/>
          </a:xfrm>
          <a:prstGeom prst="rect">
            <a:avLst/>
          </a:prstGeom>
          <a:noFill/>
        </p:spPr>
        <p:txBody>
          <a:bodyPr wrap="none" lIns="0" tIns="0" rIns="0" bIns="0" rtlCol="0" anchor="t">
            <a:noAutofit/>
          </a:bodyPr>
          <a:lstStyle/>
          <a:p>
            <a:pPr algn="l">
              <a:lnSpc>
                <a:spcPts val="956"/>
              </a:lnSpc>
              <a:spcBef>
                <a:spcPts val="0"/>
              </a:spcBef>
              <a:spcAft>
                <a:spcPts val="0"/>
              </a:spcAft>
              <a:buNone/>
            </a:pPr>
            <a:r>
              <a:rPr lang="en-US" sz="625" spc="-4" dirty="0">
                <a:solidFill>
                  <a:srgbClr val="475569"/>
                </a:solidFill>
                <a:latin typeface="Segoe UI"/>
                <a:ea typeface="Segoe UI"/>
                <a:cs typeface="Segoe UI"/>
              </a:rPr>
              <a:t>Electron 메인 프로세스가 백그라운드 자식 프로세스로 </a:t>
            </a:r>
            <a:r>
              <a:rPr lang="en-US" sz="625" spc="-4" dirty="0">
                <a:solidFill>
                  <a:srgbClr val="2563EB"/>
                </a:solidFill>
                <a:latin typeface="Consolas"/>
                <a:ea typeface="Consolas"/>
                <a:cs typeface="Consolas"/>
              </a:rPr>
              <a:t>bridge.exe</a:t>
            </a:r>
            <a:r>
              <a:rPr lang="en-US" sz="625" spc="-4" dirty="0">
                <a:solidFill>
                  <a:srgbClr val="475569"/>
                </a:solidFill>
                <a:latin typeface="Segoe UI"/>
                <a:ea typeface="Segoe UI"/>
                <a:cs typeface="Segoe UI"/>
              </a:rPr>
              <a:t>를</a:t>
            </a:r>
            <a:br>
              <a:rPr lang="en-US" sz="625"/>
            </a:br>
            <a:r>
              <a:rPr lang="en-US" sz="625" spc="-4" dirty="0">
                <a:solidFill>
                  <a:srgbClr val="475569"/>
                </a:solidFill>
                <a:latin typeface="Segoe UI"/>
                <a:ea typeface="Segoe UI"/>
                <a:cs typeface="Segoe UI"/>
              </a:rPr>
              <a:t>자동 실행</a:t>
            </a:r>
            <a:endParaRPr lang="en-US" sz="625" dirty="0"/>
          </a:p>
        </p:txBody>
      </p:sp>
      <p:sp>
        <p:nvSpPr>
          <p:cNvPr id="35" name="Rounded Rectangle"/>
          <p:cNvSpPr/>
          <p:nvPr/>
        </p:nvSpPr>
        <p:spPr>
          <a:xfrm>
            <a:off x="3340100" y="3322241"/>
            <a:ext cx="2714625" cy="706438"/>
          </a:xfrm>
          <a:prstGeom prst="roundRect">
            <a:avLst>
              <a:gd name="adj" fmla="val 8539"/>
            </a:avLst>
          </a:prstGeom>
          <a:solidFill>
            <a:srgbClr val="F0FDF4"/>
          </a:solidFill>
          <a:ln w="6350" cap="flat" cmpd="sng" algn="ctr">
            <a:solidFill>
              <a:srgbClr val="86EFAC"/>
            </a:solidFill>
            <a:miter lim="800000"/>
          </a:ln>
        </p:spPr>
      </p:sp>
      <p:sp>
        <p:nvSpPr>
          <p:cNvPr id="36" name="Text: STEP 2 • 무중단 선(先)연주"/>
          <p:cNvSpPr txBox="1"/>
          <p:nvPr/>
        </p:nvSpPr>
        <p:spPr>
          <a:xfrm>
            <a:off x="3432175" y="3393678"/>
            <a:ext cx="897434" cy="109538"/>
          </a:xfrm>
          <a:prstGeom prst="rect">
            <a:avLst/>
          </a:prstGeom>
          <a:noFill/>
        </p:spPr>
        <p:txBody>
          <a:bodyPr wrap="none" lIns="0" tIns="0" rIns="0" bIns="0" rtlCol="0" anchor="t">
            <a:noAutofit/>
          </a:bodyPr>
          <a:lstStyle/>
          <a:p>
            <a:pPr algn="l">
              <a:lnSpc>
                <a:spcPts val="863"/>
              </a:lnSpc>
              <a:spcBef>
                <a:spcPts val="0"/>
              </a:spcBef>
              <a:spcAft>
                <a:spcPts val="0"/>
              </a:spcAft>
              <a:buNone/>
            </a:pPr>
            <a:r>
              <a:rPr lang="en-US" sz="575" b="1" spc="-4" dirty="0">
                <a:solidFill>
                  <a:srgbClr val="059669"/>
                </a:solidFill>
                <a:latin typeface="Segoe UI"/>
                <a:ea typeface="Segoe UI"/>
                <a:cs typeface="Segoe UI"/>
              </a:rPr>
              <a:t>STEP 2 • 무중단 선(先)연주</a:t>
            </a:r>
            <a:endParaRPr lang="en-US" sz="575" dirty="0"/>
          </a:p>
        </p:txBody>
      </p:sp>
      <p:sp>
        <p:nvSpPr>
          <p:cNvPr id="37" name="Text: MediaPipe 즉시 활성화"/>
          <p:cNvSpPr txBox="1"/>
          <p:nvPr/>
        </p:nvSpPr>
        <p:spPr>
          <a:xfrm>
            <a:off x="3432175" y="3525441"/>
            <a:ext cx="979488"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15803D"/>
                </a:solidFill>
                <a:latin typeface="Segoe UI"/>
                <a:ea typeface="Segoe UI"/>
                <a:cs typeface="Segoe UI"/>
              </a:rPr>
              <a:t>MediaPipe 즉시 활성화</a:t>
            </a:r>
            <a:endParaRPr lang="en-US" sz="725" dirty="0"/>
          </a:p>
        </p:txBody>
      </p:sp>
      <p:sp>
        <p:nvSpPr>
          <p:cNvPr id="38" name="Text: 파이썬 데몬 준비 전에도 브라우저 내장 MediaPipe가 즉각 동작하여"/>
          <p:cNvSpPr txBox="1"/>
          <p:nvPr/>
        </p:nvSpPr>
        <p:spPr>
          <a:xfrm>
            <a:off x="3432175" y="3705622"/>
            <a:ext cx="2513707" cy="230188"/>
          </a:xfrm>
          <a:prstGeom prst="rect">
            <a:avLst/>
          </a:prstGeom>
          <a:noFill/>
        </p:spPr>
        <p:txBody>
          <a:bodyPr wrap="none" lIns="0" tIns="0" rIns="0" bIns="0" rtlCol="0" anchor="t">
            <a:noAutofit/>
          </a:bodyPr>
          <a:lstStyle/>
          <a:p>
            <a:pPr algn="l">
              <a:lnSpc>
                <a:spcPts val="906"/>
              </a:lnSpc>
              <a:spcBef>
                <a:spcPts val="0"/>
              </a:spcBef>
              <a:spcAft>
                <a:spcPts val="0"/>
              </a:spcAft>
              <a:buNone/>
            </a:pPr>
            <a:r>
              <a:rPr lang="en-US" sz="625" spc="-4" dirty="0">
                <a:solidFill>
                  <a:srgbClr val="166534"/>
                </a:solidFill>
                <a:latin typeface="Segoe UI"/>
                <a:ea typeface="Segoe UI"/>
                <a:cs typeface="Segoe UI"/>
              </a:rPr>
              <a:t>파이썬 데몬 준비 전에도 브라우저 내장 MediaPipe가 즉각 동작하여 로</a:t>
            </a:r>
            <a:br>
              <a:rPr lang="en-US" sz="625"/>
            </a:br>
            <a:r>
              <a:rPr lang="en-US" sz="625" spc="-4" dirty="0">
                <a:solidFill>
                  <a:srgbClr val="166534"/>
                </a:solidFill>
                <a:latin typeface="Segoe UI"/>
                <a:ea typeface="Segoe UI"/>
                <a:cs typeface="Segoe UI"/>
              </a:rPr>
              <a:t>딩 대기시간 0초</a:t>
            </a:r>
            <a:endParaRPr lang="en-US" sz="625" dirty="0"/>
          </a:p>
        </p:txBody>
      </p:sp>
      <p:sp>
        <p:nvSpPr>
          <p:cNvPr id="39" name="Rounded Rectangle"/>
          <p:cNvSpPr/>
          <p:nvPr/>
        </p:nvSpPr>
        <p:spPr>
          <a:xfrm>
            <a:off x="6137275" y="3322241"/>
            <a:ext cx="2714625" cy="706438"/>
          </a:xfrm>
          <a:prstGeom prst="roundRect">
            <a:avLst>
              <a:gd name="adj" fmla="val 8539"/>
            </a:avLst>
          </a:prstGeom>
          <a:solidFill>
            <a:srgbClr val="EFF6FF"/>
          </a:solidFill>
          <a:ln w="6350" cap="flat" cmpd="sng" algn="ctr">
            <a:solidFill>
              <a:srgbClr val="93C5FD"/>
            </a:solidFill>
            <a:miter lim="800000"/>
          </a:ln>
        </p:spPr>
      </p:sp>
      <p:sp>
        <p:nvSpPr>
          <p:cNvPr id="40" name="Text: STEP 3 • 소켓 핸드셰이크"/>
          <p:cNvSpPr txBox="1"/>
          <p:nvPr/>
        </p:nvSpPr>
        <p:spPr>
          <a:xfrm>
            <a:off x="6229350" y="3393678"/>
            <a:ext cx="846138" cy="109538"/>
          </a:xfrm>
          <a:prstGeom prst="rect">
            <a:avLst/>
          </a:prstGeom>
          <a:noFill/>
        </p:spPr>
        <p:txBody>
          <a:bodyPr wrap="none" lIns="0" tIns="0" rIns="0" bIns="0" rtlCol="0" anchor="t">
            <a:noAutofit/>
          </a:bodyPr>
          <a:lstStyle/>
          <a:p>
            <a:pPr algn="l">
              <a:lnSpc>
                <a:spcPts val="863"/>
              </a:lnSpc>
              <a:spcBef>
                <a:spcPts val="0"/>
              </a:spcBef>
              <a:spcAft>
                <a:spcPts val="0"/>
              </a:spcAft>
              <a:buNone/>
            </a:pPr>
            <a:r>
              <a:rPr lang="en-US" sz="575" b="1" spc="-4" dirty="0">
                <a:solidFill>
                  <a:srgbClr val="1D4ED8"/>
                </a:solidFill>
                <a:latin typeface="Segoe UI"/>
                <a:ea typeface="Segoe UI"/>
                <a:cs typeface="Segoe UI"/>
              </a:rPr>
              <a:t>STEP 3 • 소켓 핸드셰이크</a:t>
            </a:r>
            <a:endParaRPr lang="en-US" sz="575" dirty="0"/>
          </a:p>
        </p:txBody>
      </p:sp>
      <p:sp>
        <p:nvSpPr>
          <p:cNvPr id="41" name="Text: 자동 재연결 메커니즘"/>
          <p:cNvSpPr txBox="1"/>
          <p:nvPr/>
        </p:nvSpPr>
        <p:spPr>
          <a:xfrm>
            <a:off x="6229350" y="3525441"/>
            <a:ext cx="887909"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1E40AF"/>
                </a:solidFill>
                <a:latin typeface="Segoe UI"/>
                <a:ea typeface="Segoe UI"/>
                <a:cs typeface="Segoe UI"/>
              </a:rPr>
              <a:t>자동 재연결 메커니즘</a:t>
            </a:r>
            <a:endParaRPr lang="en-US" sz="725" dirty="0"/>
          </a:p>
        </p:txBody>
      </p:sp>
      <p:sp>
        <p:nvSpPr>
          <p:cNvPr id="42" name="Text: 2초 주기  auto-reconnect  루프로 데몬 기동 완료 시 We"/>
          <p:cNvSpPr txBox="1"/>
          <p:nvPr/>
        </p:nvSpPr>
        <p:spPr>
          <a:xfrm>
            <a:off x="6229350" y="3699272"/>
            <a:ext cx="2512616" cy="242888"/>
          </a:xfrm>
          <a:prstGeom prst="rect">
            <a:avLst/>
          </a:prstGeom>
          <a:noFill/>
        </p:spPr>
        <p:txBody>
          <a:bodyPr wrap="none" lIns="0" tIns="0" rIns="0" bIns="0" rtlCol="0" anchor="t">
            <a:noAutofit/>
          </a:bodyPr>
          <a:lstStyle/>
          <a:p>
            <a:pPr algn="l">
              <a:lnSpc>
                <a:spcPts val="956"/>
              </a:lnSpc>
              <a:spcBef>
                <a:spcPts val="0"/>
              </a:spcBef>
              <a:spcAft>
                <a:spcPts val="0"/>
              </a:spcAft>
              <a:buNone/>
            </a:pPr>
            <a:r>
              <a:rPr lang="en-US" sz="625" spc="-4" dirty="0">
                <a:solidFill>
                  <a:srgbClr val="1E40AF"/>
                </a:solidFill>
                <a:latin typeface="Segoe UI"/>
                <a:ea typeface="Segoe UI"/>
                <a:cs typeface="Segoe UI"/>
              </a:rPr>
              <a:t>2초 주기 </a:t>
            </a:r>
            <a:r>
              <a:rPr lang="en-US" sz="625" spc="-4" dirty="0">
                <a:solidFill>
                  <a:srgbClr val="1D4ED8"/>
                </a:solidFill>
                <a:latin typeface="Consolas"/>
                <a:ea typeface="Consolas"/>
                <a:cs typeface="Consolas"/>
              </a:rPr>
              <a:t>auto-reconnect</a:t>
            </a:r>
            <a:r>
              <a:rPr lang="en-US" sz="625" spc="-4" dirty="0">
                <a:solidFill>
                  <a:srgbClr val="1E40AF"/>
                </a:solidFill>
                <a:latin typeface="Segoe UI"/>
                <a:ea typeface="Segoe UI"/>
                <a:cs typeface="Segoe UI"/>
              </a:rPr>
              <a:t> 루프로 데몬 기동 완료 시 WebSocket 즉시</a:t>
            </a:r>
            <a:br>
              <a:rPr lang="en-US" sz="625"/>
            </a:br>
            <a:r>
              <a:rPr lang="en-US" sz="625" spc="-4" dirty="0">
                <a:solidFill>
                  <a:srgbClr val="1E40AF"/>
                </a:solidFill>
                <a:latin typeface="Segoe UI"/>
                <a:ea typeface="Segoe UI"/>
                <a:cs typeface="Segoe UI"/>
              </a:rPr>
              <a:t>연결</a:t>
            </a:r>
            <a:endParaRPr lang="en-US" sz="625" dirty="0"/>
          </a:p>
        </p:txBody>
      </p:sp>
      <p:sp>
        <p:nvSpPr>
          <p:cNvPr id="43" name="Rounded Rectangle"/>
          <p:cNvSpPr/>
          <p:nvPr/>
        </p:nvSpPr>
        <p:spPr>
          <a:xfrm>
            <a:off x="8934450" y="3322241"/>
            <a:ext cx="2714625" cy="706438"/>
          </a:xfrm>
          <a:prstGeom prst="roundRect">
            <a:avLst>
              <a:gd name="adj" fmla="val 8539"/>
            </a:avLst>
          </a:prstGeom>
          <a:solidFill>
            <a:srgbClr val="FEF2F2"/>
          </a:solidFill>
          <a:ln w="6350" cap="flat" cmpd="sng" algn="ctr">
            <a:solidFill>
              <a:srgbClr val="FCA5A5"/>
            </a:solidFill>
            <a:miter lim="800000"/>
          </a:ln>
        </p:spPr>
      </p:sp>
      <p:sp>
        <p:nvSpPr>
          <p:cNvPr id="44" name="Text: STEP 4 • 안전한 종료"/>
          <p:cNvSpPr txBox="1"/>
          <p:nvPr/>
        </p:nvSpPr>
        <p:spPr>
          <a:xfrm>
            <a:off x="9026525" y="3393678"/>
            <a:ext cx="701179" cy="109538"/>
          </a:xfrm>
          <a:prstGeom prst="rect">
            <a:avLst/>
          </a:prstGeom>
          <a:noFill/>
        </p:spPr>
        <p:txBody>
          <a:bodyPr wrap="none" lIns="0" tIns="0" rIns="0" bIns="0" rtlCol="0" anchor="t">
            <a:noAutofit/>
          </a:bodyPr>
          <a:lstStyle/>
          <a:p>
            <a:pPr algn="l">
              <a:lnSpc>
                <a:spcPts val="863"/>
              </a:lnSpc>
              <a:spcBef>
                <a:spcPts val="0"/>
              </a:spcBef>
              <a:spcAft>
                <a:spcPts val="0"/>
              </a:spcAft>
              <a:buNone/>
            </a:pPr>
            <a:r>
              <a:rPr lang="en-US" sz="575" b="1" spc="-4" dirty="0">
                <a:solidFill>
                  <a:srgbClr val="DC2626"/>
                </a:solidFill>
                <a:latin typeface="Segoe UI"/>
                <a:ea typeface="Segoe UI"/>
                <a:cs typeface="Segoe UI"/>
              </a:rPr>
              <a:t>STEP 4 • 안전한 종료</a:t>
            </a:r>
            <a:endParaRPr lang="en-US" sz="575" dirty="0"/>
          </a:p>
        </p:txBody>
      </p:sp>
      <p:sp>
        <p:nvSpPr>
          <p:cNvPr id="45" name="Text: Graceful Shutdown"/>
          <p:cNvSpPr txBox="1"/>
          <p:nvPr/>
        </p:nvSpPr>
        <p:spPr>
          <a:xfrm>
            <a:off x="9026525" y="3525441"/>
            <a:ext cx="830461"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b="1" spc="-4" dirty="0">
                <a:solidFill>
                  <a:srgbClr val="991B1B"/>
                </a:solidFill>
                <a:latin typeface="Segoe UI"/>
                <a:ea typeface="Segoe UI"/>
                <a:cs typeface="Segoe UI"/>
              </a:rPr>
              <a:t>Graceful Shutdown</a:t>
            </a:r>
            <a:endParaRPr lang="en-US" sz="725" dirty="0"/>
          </a:p>
        </p:txBody>
      </p:sp>
      <p:sp>
        <p:nvSpPr>
          <p:cNvPr id="46" name="Text: Electron 창 닫힘 이벤트 감지 시 백그라운드 파이썬 데몬 자동 k"/>
          <p:cNvSpPr txBox="1"/>
          <p:nvPr/>
        </p:nvSpPr>
        <p:spPr>
          <a:xfrm>
            <a:off x="9026525" y="3705622"/>
            <a:ext cx="2523728" cy="230188"/>
          </a:xfrm>
          <a:prstGeom prst="rect">
            <a:avLst/>
          </a:prstGeom>
          <a:noFill/>
        </p:spPr>
        <p:txBody>
          <a:bodyPr wrap="none" lIns="0" tIns="0" rIns="0" bIns="0" rtlCol="0" anchor="t">
            <a:noAutofit/>
          </a:bodyPr>
          <a:lstStyle/>
          <a:p>
            <a:pPr algn="l">
              <a:lnSpc>
                <a:spcPts val="906"/>
              </a:lnSpc>
              <a:spcBef>
                <a:spcPts val="0"/>
              </a:spcBef>
              <a:spcAft>
                <a:spcPts val="0"/>
              </a:spcAft>
              <a:buNone/>
            </a:pPr>
            <a:r>
              <a:rPr lang="en-US" sz="625" spc="-4" dirty="0">
                <a:solidFill>
                  <a:srgbClr val="7F1D1D"/>
                </a:solidFill>
                <a:latin typeface="Segoe UI"/>
                <a:ea typeface="Segoe UI"/>
                <a:cs typeface="Segoe UI"/>
              </a:rPr>
              <a:t>Electron 창 닫힘 이벤트 감지 시 백그라운드 파이썬 데몬 자동 kill 및 메</a:t>
            </a:r>
            <a:br>
              <a:rPr lang="en-US" sz="625"/>
            </a:br>
            <a:r>
              <a:rPr lang="en-US" sz="625" spc="-4" dirty="0">
                <a:solidFill>
                  <a:srgbClr val="7F1D1D"/>
                </a:solidFill>
                <a:latin typeface="Segoe UI"/>
                <a:ea typeface="Segoe UI"/>
                <a:cs typeface="Segoe UI"/>
              </a:rPr>
              <a:t>모리 완전 회수</a:t>
            </a:r>
            <a:endParaRPr lang="en-US" sz="625" dirty="0"/>
          </a:p>
        </p:txBody>
      </p:sp>
      <p:sp>
        <p:nvSpPr>
          <p:cNvPr id="47" name="Rounded Rectangle"/>
          <p:cNvSpPr/>
          <p:nvPr/>
        </p:nvSpPr>
        <p:spPr>
          <a:xfrm>
            <a:off x="381000" y="4254103"/>
            <a:ext cx="3742234" cy="2080022"/>
          </a:xfrm>
          <a:prstGeom prst="roundRect">
            <a:avLst>
              <a:gd name="adj" fmla="val 5495"/>
            </a:avLst>
          </a:prstGeom>
          <a:solidFill>
            <a:srgbClr val="FFFFFF"/>
          </a:solidFill>
          <a:ln>
            <a:noFill/>
          </a:ln>
          <a:effectLst>
            <a:outerShdw blurRad="101600" dist="50800" dir="5400000" sx="99321" sy="98779" algn="ctr" rotWithShape="0">
              <a:srgbClr val="000000">
                <a:alpha val="5000"/>
              </a:srgbClr>
            </a:outerShdw>
          </a:effectLst>
        </p:spPr>
      </p:sp>
      <p:sp>
        <p:nvSpPr>
          <p:cNvPr id="48" name="Border"/>
          <p:cNvSpPr/>
          <p:nvPr/>
        </p:nvSpPr>
        <p:spPr>
          <a:xfrm>
            <a:off x="381000" y="4254103"/>
            <a:ext cx="3742234" cy="31750"/>
          </a:xfrm>
          <a:prstGeom prst="rect">
            <a:avLst/>
          </a:prstGeom>
          <a:solidFill>
            <a:srgbClr val="2563EB"/>
          </a:solidFill>
          <a:ln>
            <a:noFill/>
          </a:ln>
        </p:spPr>
      </p:sp>
      <p:sp>
        <p:nvSpPr>
          <p:cNvPr id="49" name="Border"/>
          <p:cNvSpPr/>
          <p:nvPr/>
        </p:nvSpPr>
        <p:spPr>
          <a:xfrm>
            <a:off x="4116884" y="4254103"/>
            <a:ext cx="6350" cy="2080022"/>
          </a:xfrm>
          <a:prstGeom prst="rect">
            <a:avLst/>
          </a:prstGeom>
          <a:solidFill>
            <a:srgbClr val="E2E8F0"/>
          </a:solidFill>
          <a:ln>
            <a:noFill/>
          </a:ln>
        </p:spPr>
      </p:sp>
      <p:sp>
        <p:nvSpPr>
          <p:cNvPr id="50" name="Border"/>
          <p:cNvSpPr/>
          <p:nvPr/>
        </p:nvSpPr>
        <p:spPr>
          <a:xfrm>
            <a:off x="381000" y="6327775"/>
            <a:ext cx="3742234" cy="6350"/>
          </a:xfrm>
          <a:prstGeom prst="rect">
            <a:avLst/>
          </a:prstGeom>
          <a:solidFill>
            <a:srgbClr val="E2E8F0"/>
          </a:solidFill>
          <a:ln>
            <a:noFill/>
          </a:ln>
        </p:spPr>
      </p:sp>
      <p:sp>
        <p:nvSpPr>
          <p:cNvPr id="51" name="Border"/>
          <p:cNvSpPr/>
          <p:nvPr/>
        </p:nvSpPr>
        <p:spPr>
          <a:xfrm>
            <a:off x="381000" y="4254103"/>
            <a:ext cx="6350" cy="2080022"/>
          </a:xfrm>
          <a:prstGeom prst="rect">
            <a:avLst/>
          </a:prstGeom>
          <a:solidFill>
            <a:srgbClr val="E2E8F0"/>
          </a:solidFill>
          <a:ln>
            <a:noFill/>
          </a:ln>
        </p:spPr>
      </p:sp>
      <p:sp>
        <p:nvSpPr>
          <p:cNvPr id="52" name="Text: ENGINEERING 01"/>
          <p:cNvSpPr txBox="1"/>
          <p:nvPr/>
        </p:nvSpPr>
        <p:spPr>
          <a:xfrm>
            <a:off x="514350" y="4377928"/>
            <a:ext cx="673001"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b="1" spc="-4" dirty="0">
                <a:solidFill>
                  <a:srgbClr val="2563EB"/>
                </a:solidFill>
                <a:latin typeface="Segoe UI"/>
                <a:ea typeface="Segoe UI"/>
                <a:cs typeface="Segoe UI"/>
              </a:rPr>
              <a:t>ENGINEERING 01</a:t>
            </a:r>
            <a:endParaRPr lang="en-US" sz="650" dirty="0"/>
          </a:p>
        </p:txBody>
      </p:sp>
      <p:sp>
        <p:nvSpPr>
          <p:cNvPr id="53" name="Text: Zero-Dependency 무설치 실행"/>
          <p:cNvSpPr txBox="1"/>
          <p:nvPr/>
        </p:nvSpPr>
        <p:spPr>
          <a:xfrm>
            <a:off x="514350" y="4527153"/>
            <a:ext cx="1518841"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0F172A"/>
                </a:solidFill>
                <a:latin typeface="Segoe UI"/>
                <a:ea typeface="Segoe UI"/>
                <a:cs typeface="Segoe UI"/>
              </a:rPr>
              <a:t>Zero-Dependency 무설치 실행</a:t>
            </a:r>
            <a:endParaRPr lang="en-US" sz="850" dirty="0"/>
          </a:p>
        </p:txBody>
      </p:sp>
      <p:sp>
        <p:nvSpPr>
          <p:cNvPr id="54" name="Text: 일반 사용자 PC에 Python, PyTorch, CUDA, OpenVI"/>
          <p:cNvSpPr txBox="1"/>
          <p:nvPr/>
        </p:nvSpPr>
        <p:spPr>
          <a:xfrm>
            <a:off x="514350" y="4724995"/>
            <a:ext cx="3466405" cy="239316"/>
          </a:xfrm>
          <a:prstGeom prst="rect">
            <a:avLst/>
          </a:prstGeom>
          <a:noFill/>
        </p:spPr>
        <p:txBody>
          <a:bodyPr wrap="none" lIns="0" tIns="0" rIns="0" bIns="0" rtlCol="0" anchor="t">
            <a:noAutofit/>
          </a:bodyPr>
          <a:lstStyle/>
          <a:p>
            <a:pPr algn="l">
              <a:lnSpc>
                <a:spcPts val="942"/>
              </a:lnSpc>
              <a:spcBef>
                <a:spcPts val="0"/>
              </a:spcBef>
              <a:spcAft>
                <a:spcPts val="0"/>
              </a:spcAft>
              <a:buNone/>
            </a:pPr>
            <a:r>
              <a:rPr lang="en-US" sz="650" spc="-4" dirty="0">
                <a:solidFill>
                  <a:srgbClr val="475569"/>
                </a:solidFill>
                <a:latin typeface="Segoe UI"/>
                <a:ea typeface="Segoe UI"/>
                <a:cs typeface="Segoe UI"/>
              </a:rPr>
              <a:t>일반 사용자 PC에 Python, PyTorch, CUDA, OpenVINO가 전혀 설치되어 있지 않아도 자체 패키</a:t>
            </a:r>
            <a:br>
              <a:rPr lang="en-US" sz="650"/>
            </a:br>
            <a:r>
              <a:rPr lang="en-US" sz="650" spc="-4" dirty="0">
                <a:solidFill>
                  <a:srgbClr val="475569"/>
                </a:solidFill>
                <a:latin typeface="Segoe UI"/>
                <a:ea typeface="Segoe UI"/>
                <a:cs typeface="Segoe UI"/>
              </a:rPr>
              <a:t>징된 런타임으로 즉시 연주 가능</a:t>
            </a:r>
            <a:endParaRPr lang="en-US" sz="650" dirty="0"/>
          </a:p>
        </p:txBody>
      </p:sp>
      <p:sp>
        <p:nvSpPr>
          <p:cNvPr id="55" name="Rounded Rectangle"/>
          <p:cNvSpPr/>
          <p:nvPr/>
        </p:nvSpPr>
        <p:spPr>
          <a:xfrm>
            <a:off x="514350" y="6061075"/>
            <a:ext cx="3475534" cy="165100"/>
          </a:xfrm>
          <a:prstGeom prst="roundRect">
            <a:avLst>
              <a:gd name="adj" fmla="val 23077"/>
            </a:avLst>
          </a:prstGeom>
          <a:solidFill>
            <a:srgbClr val="EFF6FF"/>
          </a:solidFill>
          <a:ln>
            <a:noFill/>
          </a:ln>
        </p:spPr>
      </p:sp>
      <p:sp>
        <p:nvSpPr>
          <p:cNvPr id="56" name="Text: ✓ 외부 의존성 완전 제거"/>
          <p:cNvSpPr txBox="1"/>
          <p:nvPr/>
        </p:nvSpPr>
        <p:spPr>
          <a:xfrm>
            <a:off x="565150" y="6080125"/>
            <a:ext cx="840978" cy="114300"/>
          </a:xfrm>
          <a:prstGeom prst="rect">
            <a:avLst/>
          </a:prstGeom>
          <a:noFill/>
        </p:spPr>
        <p:txBody>
          <a:bodyPr wrap="none" lIns="0" tIns="0" rIns="0" bIns="0" rtlCol="0" anchor="t">
            <a:noAutofit/>
          </a:bodyPr>
          <a:lstStyle/>
          <a:p>
            <a:pPr algn="l">
              <a:lnSpc>
                <a:spcPts val="900"/>
              </a:lnSpc>
              <a:spcBef>
                <a:spcPts val="0"/>
              </a:spcBef>
              <a:spcAft>
                <a:spcPts val="0"/>
              </a:spcAft>
              <a:buNone/>
            </a:pPr>
            <a:r>
              <a:rPr lang="en-US" sz="600" b="1" spc="-4" dirty="0">
                <a:solidFill>
                  <a:srgbClr val="1D4ED8"/>
                </a:solidFill>
                <a:latin typeface="Segoe UI"/>
                <a:ea typeface="Segoe UI"/>
                <a:cs typeface="Segoe UI"/>
              </a:rPr>
              <a:t>✓ 외부 의존성 완전 제거</a:t>
            </a:r>
            <a:endParaRPr lang="en-US" sz="600" dirty="0"/>
          </a:p>
        </p:txBody>
      </p:sp>
      <p:sp>
        <p:nvSpPr>
          <p:cNvPr id="57" name="Rounded Rectangle"/>
          <p:cNvSpPr/>
          <p:nvPr/>
        </p:nvSpPr>
        <p:spPr>
          <a:xfrm>
            <a:off x="4224834" y="4254103"/>
            <a:ext cx="3742234" cy="2080022"/>
          </a:xfrm>
          <a:prstGeom prst="roundRect">
            <a:avLst>
              <a:gd name="adj" fmla="val 5495"/>
            </a:avLst>
          </a:prstGeom>
          <a:solidFill>
            <a:srgbClr val="FFFFFF"/>
          </a:solidFill>
          <a:ln>
            <a:noFill/>
          </a:ln>
          <a:effectLst>
            <a:outerShdw blurRad="101600" dist="50800" dir="5400000" sx="99321" sy="98779" algn="ctr" rotWithShape="0">
              <a:srgbClr val="000000">
                <a:alpha val="5000"/>
              </a:srgbClr>
            </a:outerShdw>
          </a:effectLst>
        </p:spPr>
      </p:sp>
      <p:sp>
        <p:nvSpPr>
          <p:cNvPr id="58" name="Border"/>
          <p:cNvSpPr/>
          <p:nvPr/>
        </p:nvSpPr>
        <p:spPr>
          <a:xfrm>
            <a:off x="4224834" y="4254103"/>
            <a:ext cx="3742234" cy="31750"/>
          </a:xfrm>
          <a:prstGeom prst="rect">
            <a:avLst/>
          </a:prstGeom>
          <a:solidFill>
            <a:srgbClr val="059669"/>
          </a:solidFill>
          <a:ln>
            <a:noFill/>
          </a:ln>
        </p:spPr>
      </p:sp>
      <p:sp>
        <p:nvSpPr>
          <p:cNvPr id="59" name="Border"/>
          <p:cNvSpPr/>
          <p:nvPr/>
        </p:nvSpPr>
        <p:spPr>
          <a:xfrm>
            <a:off x="7960717" y="4254103"/>
            <a:ext cx="6350" cy="2080022"/>
          </a:xfrm>
          <a:prstGeom prst="rect">
            <a:avLst/>
          </a:prstGeom>
          <a:solidFill>
            <a:srgbClr val="E2E8F0"/>
          </a:solidFill>
          <a:ln>
            <a:noFill/>
          </a:ln>
        </p:spPr>
      </p:sp>
      <p:sp>
        <p:nvSpPr>
          <p:cNvPr id="60" name="Border"/>
          <p:cNvSpPr/>
          <p:nvPr/>
        </p:nvSpPr>
        <p:spPr>
          <a:xfrm>
            <a:off x="4224834" y="6327775"/>
            <a:ext cx="3742234" cy="6350"/>
          </a:xfrm>
          <a:prstGeom prst="rect">
            <a:avLst/>
          </a:prstGeom>
          <a:solidFill>
            <a:srgbClr val="E2E8F0"/>
          </a:solidFill>
          <a:ln>
            <a:noFill/>
          </a:ln>
        </p:spPr>
      </p:sp>
      <p:sp>
        <p:nvSpPr>
          <p:cNvPr id="61" name="Border"/>
          <p:cNvSpPr/>
          <p:nvPr/>
        </p:nvSpPr>
        <p:spPr>
          <a:xfrm>
            <a:off x="4224834" y="4254103"/>
            <a:ext cx="6350" cy="2080022"/>
          </a:xfrm>
          <a:prstGeom prst="rect">
            <a:avLst/>
          </a:prstGeom>
          <a:solidFill>
            <a:srgbClr val="E2E8F0"/>
          </a:solidFill>
          <a:ln>
            <a:noFill/>
          </a:ln>
        </p:spPr>
      </p:sp>
      <p:sp>
        <p:nvSpPr>
          <p:cNvPr id="62" name="Text: ENGINEERING 02"/>
          <p:cNvSpPr txBox="1"/>
          <p:nvPr/>
        </p:nvSpPr>
        <p:spPr>
          <a:xfrm>
            <a:off x="4358184" y="4377928"/>
            <a:ext cx="673001"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b="1" spc="-4" dirty="0">
                <a:solidFill>
                  <a:srgbClr val="059669"/>
                </a:solidFill>
                <a:latin typeface="Segoe UI"/>
                <a:ea typeface="Segoe UI"/>
                <a:cs typeface="Segoe UI"/>
              </a:rPr>
              <a:t>ENGINEERING 02</a:t>
            </a:r>
            <a:endParaRPr lang="en-US" sz="650" dirty="0"/>
          </a:p>
        </p:txBody>
      </p:sp>
      <p:sp>
        <p:nvSpPr>
          <p:cNvPr id="63" name="Text: 터미널 없는 완벽한 GUI 제어"/>
          <p:cNvSpPr txBox="1"/>
          <p:nvPr/>
        </p:nvSpPr>
        <p:spPr>
          <a:xfrm>
            <a:off x="4358184" y="4527153"/>
            <a:ext cx="1413073"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0F172A"/>
                </a:solidFill>
                <a:latin typeface="Segoe UI"/>
                <a:ea typeface="Segoe UI"/>
                <a:cs typeface="Segoe UI"/>
              </a:rPr>
              <a:t>터미널 없는 완벽한 GUI 제어</a:t>
            </a:r>
            <a:endParaRPr lang="en-US" sz="850" dirty="0"/>
          </a:p>
        </p:txBody>
      </p:sp>
      <p:sp>
        <p:nvSpPr>
          <p:cNvPr id="64" name="Text: 개발자가 아닌 일반 사용자도 복잡한 터미널 명령이나 배치 파일 실행 없이"/>
          <p:cNvSpPr txBox="1"/>
          <p:nvPr/>
        </p:nvSpPr>
        <p:spPr>
          <a:xfrm>
            <a:off x="4358184" y="4724995"/>
            <a:ext cx="3406279" cy="239316"/>
          </a:xfrm>
          <a:prstGeom prst="rect">
            <a:avLst/>
          </a:prstGeom>
          <a:noFill/>
        </p:spPr>
        <p:txBody>
          <a:bodyPr wrap="none" lIns="0" tIns="0" rIns="0" bIns="0" rtlCol="0" anchor="t">
            <a:noAutofit/>
          </a:bodyPr>
          <a:lstStyle/>
          <a:p>
            <a:pPr algn="l">
              <a:lnSpc>
                <a:spcPts val="942"/>
              </a:lnSpc>
              <a:spcBef>
                <a:spcPts val="0"/>
              </a:spcBef>
              <a:spcAft>
                <a:spcPts val="0"/>
              </a:spcAft>
              <a:buNone/>
            </a:pPr>
            <a:r>
              <a:rPr lang="en-US" sz="650" spc="-4" dirty="0">
                <a:solidFill>
                  <a:srgbClr val="475569"/>
                </a:solidFill>
                <a:latin typeface="Segoe UI"/>
                <a:ea typeface="Segoe UI"/>
                <a:cs typeface="Segoe UI"/>
              </a:rPr>
              <a:t>개발자가 아닌 일반 사용자도 복잡한 터미널 명령이나 배치 파일 실행 없이 더블클릭 한 번으</a:t>
            </a:r>
            <a:br>
              <a:rPr lang="en-US" sz="650"/>
            </a:br>
            <a:r>
              <a:rPr lang="en-US" sz="650" spc="-4" dirty="0">
                <a:solidFill>
                  <a:srgbClr val="475569"/>
                </a:solidFill>
                <a:latin typeface="Segoe UI"/>
                <a:ea typeface="Segoe UI"/>
                <a:cs typeface="Segoe UI"/>
              </a:rPr>
              <a:t>로 악기 GUI와 AI 백엔드를 제어</a:t>
            </a:r>
            <a:endParaRPr lang="en-US" sz="650" dirty="0"/>
          </a:p>
        </p:txBody>
      </p:sp>
      <p:sp>
        <p:nvSpPr>
          <p:cNvPr id="65" name="Rounded Rectangle"/>
          <p:cNvSpPr/>
          <p:nvPr/>
        </p:nvSpPr>
        <p:spPr>
          <a:xfrm>
            <a:off x="4358184" y="6061075"/>
            <a:ext cx="3475534" cy="165100"/>
          </a:xfrm>
          <a:prstGeom prst="roundRect">
            <a:avLst>
              <a:gd name="adj" fmla="val 23077"/>
            </a:avLst>
          </a:prstGeom>
          <a:solidFill>
            <a:srgbClr val="F0FDF4"/>
          </a:solidFill>
          <a:ln>
            <a:noFill/>
          </a:ln>
        </p:spPr>
      </p:sp>
      <p:sp>
        <p:nvSpPr>
          <p:cNvPr id="66" name="Text: ✓ 엔드유저 친화적 UX 실현"/>
          <p:cNvSpPr txBox="1"/>
          <p:nvPr/>
        </p:nvSpPr>
        <p:spPr>
          <a:xfrm>
            <a:off x="4408984" y="6080125"/>
            <a:ext cx="945455" cy="114300"/>
          </a:xfrm>
          <a:prstGeom prst="rect">
            <a:avLst/>
          </a:prstGeom>
          <a:noFill/>
        </p:spPr>
        <p:txBody>
          <a:bodyPr wrap="none" lIns="0" tIns="0" rIns="0" bIns="0" rtlCol="0" anchor="t">
            <a:noAutofit/>
          </a:bodyPr>
          <a:lstStyle/>
          <a:p>
            <a:pPr algn="l">
              <a:lnSpc>
                <a:spcPts val="900"/>
              </a:lnSpc>
              <a:spcBef>
                <a:spcPts val="0"/>
              </a:spcBef>
              <a:spcAft>
                <a:spcPts val="0"/>
              </a:spcAft>
              <a:buNone/>
            </a:pPr>
            <a:r>
              <a:rPr lang="en-US" sz="600" b="1" spc="-4" dirty="0">
                <a:solidFill>
                  <a:srgbClr val="15803D"/>
                </a:solidFill>
                <a:latin typeface="Segoe UI"/>
                <a:ea typeface="Segoe UI"/>
                <a:cs typeface="Segoe UI"/>
              </a:rPr>
              <a:t>✓ 엔드유저 친화적 UX 실현</a:t>
            </a:r>
            <a:endParaRPr lang="en-US" sz="600" dirty="0"/>
          </a:p>
        </p:txBody>
      </p:sp>
      <p:sp>
        <p:nvSpPr>
          <p:cNvPr id="67" name="Rounded Rectangle"/>
          <p:cNvSpPr/>
          <p:nvPr/>
        </p:nvSpPr>
        <p:spPr>
          <a:xfrm>
            <a:off x="8068667" y="4254103"/>
            <a:ext cx="3742234" cy="2080022"/>
          </a:xfrm>
          <a:prstGeom prst="roundRect">
            <a:avLst>
              <a:gd name="adj" fmla="val 5495"/>
            </a:avLst>
          </a:prstGeom>
          <a:solidFill>
            <a:srgbClr val="FFFFFF"/>
          </a:solidFill>
          <a:ln>
            <a:noFill/>
          </a:ln>
          <a:effectLst>
            <a:outerShdw blurRad="101600" dist="50800" dir="5400000" sx="99321" sy="98779" algn="ctr" rotWithShape="0">
              <a:srgbClr val="000000">
                <a:alpha val="5000"/>
              </a:srgbClr>
            </a:outerShdw>
          </a:effectLst>
        </p:spPr>
      </p:sp>
      <p:sp>
        <p:nvSpPr>
          <p:cNvPr id="68" name="Border"/>
          <p:cNvSpPr/>
          <p:nvPr/>
        </p:nvSpPr>
        <p:spPr>
          <a:xfrm>
            <a:off x="8068667" y="4254103"/>
            <a:ext cx="3742234" cy="31750"/>
          </a:xfrm>
          <a:prstGeom prst="rect">
            <a:avLst/>
          </a:prstGeom>
          <a:solidFill>
            <a:srgbClr val="7C3AED"/>
          </a:solidFill>
          <a:ln>
            <a:noFill/>
          </a:ln>
        </p:spPr>
      </p:sp>
      <p:sp>
        <p:nvSpPr>
          <p:cNvPr id="69" name="Border"/>
          <p:cNvSpPr/>
          <p:nvPr/>
        </p:nvSpPr>
        <p:spPr>
          <a:xfrm>
            <a:off x="11804551" y="4254103"/>
            <a:ext cx="6350" cy="2080022"/>
          </a:xfrm>
          <a:prstGeom prst="rect">
            <a:avLst/>
          </a:prstGeom>
          <a:solidFill>
            <a:srgbClr val="E2E8F0"/>
          </a:solidFill>
          <a:ln>
            <a:noFill/>
          </a:ln>
        </p:spPr>
      </p:sp>
      <p:sp>
        <p:nvSpPr>
          <p:cNvPr id="70" name="Border"/>
          <p:cNvSpPr/>
          <p:nvPr/>
        </p:nvSpPr>
        <p:spPr>
          <a:xfrm>
            <a:off x="8068667" y="6327775"/>
            <a:ext cx="3742234" cy="6350"/>
          </a:xfrm>
          <a:prstGeom prst="rect">
            <a:avLst/>
          </a:prstGeom>
          <a:solidFill>
            <a:srgbClr val="E2E8F0"/>
          </a:solidFill>
          <a:ln>
            <a:noFill/>
          </a:ln>
        </p:spPr>
      </p:sp>
      <p:sp>
        <p:nvSpPr>
          <p:cNvPr id="71" name="Border"/>
          <p:cNvSpPr/>
          <p:nvPr/>
        </p:nvSpPr>
        <p:spPr>
          <a:xfrm>
            <a:off x="8068667" y="4254103"/>
            <a:ext cx="6350" cy="2080022"/>
          </a:xfrm>
          <a:prstGeom prst="rect">
            <a:avLst/>
          </a:prstGeom>
          <a:solidFill>
            <a:srgbClr val="E2E8F0"/>
          </a:solidFill>
          <a:ln>
            <a:noFill/>
          </a:ln>
        </p:spPr>
      </p:sp>
      <p:sp>
        <p:nvSpPr>
          <p:cNvPr id="72" name="Text: ENGINEERING 03"/>
          <p:cNvSpPr txBox="1"/>
          <p:nvPr/>
        </p:nvSpPr>
        <p:spPr>
          <a:xfrm>
            <a:off x="8202017" y="4377928"/>
            <a:ext cx="673001"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b="1" spc="-4" dirty="0">
                <a:solidFill>
                  <a:srgbClr val="7C3AED"/>
                </a:solidFill>
                <a:latin typeface="Segoe UI"/>
                <a:ea typeface="Segoe UI"/>
                <a:cs typeface="Segoe UI"/>
              </a:rPr>
              <a:t>ENGINEERING 03</a:t>
            </a:r>
            <a:endParaRPr lang="en-US" sz="650" dirty="0"/>
          </a:p>
        </p:txBody>
      </p:sp>
      <p:sp>
        <p:nvSpPr>
          <p:cNvPr id="73" name="Text: 상용 소프트웨어 제품화 달성"/>
          <p:cNvSpPr txBox="1"/>
          <p:nvPr/>
        </p:nvSpPr>
        <p:spPr>
          <a:xfrm>
            <a:off x="8202017" y="4527153"/>
            <a:ext cx="1401663"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0F172A"/>
                </a:solidFill>
                <a:latin typeface="Segoe UI"/>
                <a:ea typeface="Segoe UI"/>
                <a:cs typeface="Segoe UI"/>
              </a:rPr>
              <a:t>상용 소프트웨어 제품화 달성</a:t>
            </a:r>
            <a:endParaRPr lang="en-US" sz="850" dirty="0"/>
          </a:p>
        </p:txBody>
      </p:sp>
      <p:sp>
        <p:nvSpPr>
          <p:cNvPr id="74" name="Text: 단순 AI 연구 프로토타입이나 주피터 노트북 실험에 그치지 않고, 실제로"/>
          <p:cNvSpPr txBox="1"/>
          <p:nvPr/>
        </p:nvSpPr>
        <p:spPr>
          <a:xfrm>
            <a:off x="8202017" y="4724995"/>
            <a:ext cx="3388916" cy="239316"/>
          </a:xfrm>
          <a:prstGeom prst="rect">
            <a:avLst/>
          </a:prstGeom>
          <a:noFill/>
        </p:spPr>
        <p:txBody>
          <a:bodyPr wrap="none" lIns="0" tIns="0" rIns="0" bIns="0" rtlCol="0" anchor="t">
            <a:noAutofit/>
          </a:bodyPr>
          <a:lstStyle/>
          <a:p>
            <a:pPr algn="l">
              <a:lnSpc>
                <a:spcPts val="942"/>
              </a:lnSpc>
              <a:spcBef>
                <a:spcPts val="0"/>
              </a:spcBef>
              <a:spcAft>
                <a:spcPts val="0"/>
              </a:spcAft>
              <a:buNone/>
            </a:pPr>
            <a:r>
              <a:rPr lang="en-US" sz="650" spc="-4" dirty="0">
                <a:solidFill>
                  <a:srgbClr val="475569"/>
                </a:solidFill>
                <a:latin typeface="Segoe UI"/>
                <a:ea typeface="Segoe UI"/>
                <a:cs typeface="Segoe UI"/>
              </a:rPr>
              <a:t>단순 AI 연구 프로토타입이나 주피터 노트북 실험에 그치지 않고, 실제로 배포 가능한 수준의</a:t>
            </a:r>
            <a:br>
              <a:rPr lang="en-US" sz="650"/>
            </a:br>
            <a:r>
              <a:rPr lang="en-US" sz="650" spc="-4" dirty="0">
                <a:solidFill>
                  <a:srgbClr val="475569"/>
                </a:solidFill>
                <a:latin typeface="Segoe UI"/>
                <a:ea typeface="Segoe UI"/>
                <a:cs typeface="Segoe UI"/>
              </a:rPr>
              <a:t>완성형 데스크톱 소프트웨어로 완성</a:t>
            </a:r>
            <a:endParaRPr lang="en-US" sz="650" dirty="0"/>
          </a:p>
        </p:txBody>
      </p:sp>
      <p:sp>
        <p:nvSpPr>
          <p:cNvPr id="75" name="Rounded Rectangle"/>
          <p:cNvSpPr/>
          <p:nvPr/>
        </p:nvSpPr>
        <p:spPr>
          <a:xfrm>
            <a:off x="8202017" y="6061075"/>
            <a:ext cx="3475534" cy="165100"/>
          </a:xfrm>
          <a:prstGeom prst="roundRect">
            <a:avLst>
              <a:gd name="adj" fmla="val 23077"/>
            </a:avLst>
          </a:prstGeom>
          <a:solidFill>
            <a:srgbClr val="F5F3FF"/>
          </a:solidFill>
          <a:ln>
            <a:noFill/>
          </a:ln>
        </p:spPr>
      </p:sp>
      <p:sp>
        <p:nvSpPr>
          <p:cNvPr id="76" name="Text: ✓ 엔지니어링 완성도 극대화"/>
          <p:cNvSpPr txBox="1"/>
          <p:nvPr/>
        </p:nvSpPr>
        <p:spPr>
          <a:xfrm>
            <a:off x="8252817" y="6080125"/>
            <a:ext cx="966093" cy="114300"/>
          </a:xfrm>
          <a:prstGeom prst="rect">
            <a:avLst/>
          </a:prstGeom>
          <a:noFill/>
        </p:spPr>
        <p:txBody>
          <a:bodyPr wrap="none" lIns="0" tIns="0" rIns="0" bIns="0" rtlCol="0" anchor="t">
            <a:noAutofit/>
          </a:bodyPr>
          <a:lstStyle/>
          <a:p>
            <a:pPr algn="l">
              <a:lnSpc>
                <a:spcPts val="900"/>
              </a:lnSpc>
              <a:spcBef>
                <a:spcPts val="0"/>
              </a:spcBef>
              <a:spcAft>
                <a:spcPts val="0"/>
              </a:spcAft>
              <a:buNone/>
            </a:pPr>
            <a:r>
              <a:rPr lang="en-US" sz="600" b="1" spc="-4" dirty="0">
                <a:solidFill>
                  <a:srgbClr val="6D28D9"/>
                </a:solidFill>
                <a:latin typeface="Segoe UI"/>
                <a:ea typeface="Segoe UI"/>
                <a:cs typeface="Segoe UI"/>
              </a:rPr>
              <a:t>✓ 엔지니어링 완성도 극대화</a:t>
            </a:r>
            <a:endParaRPr lang="en-US" sz="600" dirty="0"/>
          </a:p>
        </p:txBody>
      </p:sp>
      <p:sp>
        <p:nvSpPr>
          <p:cNvPr id="77" name="Border"/>
          <p:cNvSpPr/>
          <p:nvPr/>
        </p:nvSpPr>
        <p:spPr>
          <a:xfrm>
            <a:off x="381000" y="6334125"/>
            <a:ext cx="11430000" cy="6350"/>
          </a:xfrm>
          <a:prstGeom prst="rect">
            <a:avLst/>
          </a:prstGeom>
          <a:solidFill>
            <a:srgbClr val="E2E8F0"/>
          </a:solidFill>
          <a:ln>
            <a:noFill/>
          </a:ln>
        </p:spPr>
      </p:sp>
      <p:sp>
        <p:nvSpPr>
          <p:cNvPr id="78"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79" name="Rounded Rectangle"/>
          <p:cNvSpPr/>
          <p:nvPr/>
        </p:nvSpPr>
        <p:spPr>
          <a:xfrm>
            <a:off x="11237714" y="6429375"/>
            <a:ext cx="573286" cy="225425"/>
          </a:xfrm>
          <a:prstGeom prst="roundRect">
            <a:avLst>
              <a:gd name="adj" fmla="val 22535"/>
            </a:avLst>
          </a:prstGeom>
          <a:solidFill>
            <a:srgbClr val="F1F5F9"/>
          </a:solidFill>
          <a:ln>
            <a:noFill/>
          </a:ln>
        </p:spPr>
      </p:sp>
      <p:sp>
        <p:nvSpPr>
          <p:cNvPr id="80" name="Text: 13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13 / 14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ounded Rectangle"/>
          <p:cNvSpPr/>
          <p:nvPr/>
        </p:nvSpPr>
        <p:spPr>
          <a:xfrm>
            <a:off x="384175" y="244475"/>
            <a:ext cx="1681163" cy="238125"/>
          </a:xfrm>
          <a:prstGeom prst="roundRect">
            <a:avLst>
              <a:gd name="adj" fmla="val 20000"/>
            </a:avLst>
          </a:prstGeom>
          <a:solidFill>
            <a:srgbClr val="EFF6FF"/>
          </a:solidFill>
          <a:ln w="6350" cap="flat" cmpd="sng" algn="ctr">
            <a:solidFill>
              <a:srgbClr val="BFDBFE"/>
            </a:solidFill>
            <a:miter lim="800000"/>
          </a:ln>
        </p:spPr>
      </p:sp>
      <p:sp>
        <p:nvSpPr>
          <p:cNvPr id="3" name="Text: PART 06 • 결론 &amp; 프로젝트 고찰"/>
          <p:cNvSpPr txBox="1"/>
          <p:nvPr/>
        </p:nvSpPr>
        <p:spPr>
          <a:xfrm>
            <a:off x="488950" y="282575"/>
            <a:ext cx="147161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PART 06 • 결론 &amp; 프로젝트 고찰</a:t>
            </a:r>
            <a:endParaRPr lang="en-US" sz="750" dirty="0"/>
          </a:p>
        </p:txBody>
      </p:sp>
      <p:sp>
        <p:nvSpPr>
          <p:cNvPr id="4" name="Text: AuraSynth Engine Architecture"/>
          <p:cNvSpPr txBox="1"/>
          <p:nvPr/>
        </p:nvSpPr>
        <p:spPr>
          <a:xfrm>
            <a:off x="2157413" y="265113"/>
            <a:ext cx="1658739" cy="171450"/>
          </a:xfrm>
          <a:prstGeom prst="rect">
            <a:avLst/>
          </a:prstGeom>
          <a:noFill/>
        </p:spPr>
        <p:txBody>
          <a:bodyPr wrap="none" lIns="0" tIns="0" rIns="0" bIns="0" rtlCol="0" anchor="t">
            <a:noAutofit/>
          </a:bodyPr>
          <a:lstStyle/>
          <a:p>
            <a:pPr algn="l">
              <a:lnSpc>
                <a:spcPts val="1350"/>
              </a:lnSpc>
              <a:spcBef>
                <a:spcPts val="0"/>
              </a:spcBef>
              <a:spcAft>
                <a:spcPts val="0"/>
              </a:spcAft>
              <a:buNone/>
            </a:pPr>
            <a:r>
              <a:rPr lang="en-US" sz="900" b="1" spc="-4" dirty="0">
                <a:solidFill>
                  <a:srgbClr val="64748B"/>
                </a:solidFill>
                <a:latin typeface="Segoe UI"/>
                <a:ea typeface="Segoe UI"/>
                <a:cs typeface="Segoe UI"/>
              </a:rPr>
              <a:t>AuraSynth Engine Architecture</a:t>
            </a:r>
            <a:endParaRPr lang="en-US" sz="900" dirty="0"/>
          </a:p>
        </p:txBody>
      </p:sp>
      <p:sp>
        <p:nvSpPr>
          <p:cNvPr id="5" name="Text: 다중 AI 모델 검증 성과 및 엔지니어링 고찰"/>
          <p:cNvSpPr txBox="1"/>
          <p:nvPr/>
        </p:nvSpPr>
        <p:spPr>
          <a:xfrm>
            <a:off x="381000" y="555625"/>
            <a:ext cx="5945088" cy="381000"/>
          </a:xfrm>
          <a:prstGeom prst="rect">
            <a:avLst/>
          </a:prstGeom>
          <a:noFill/>
        </p:spPr>
        <p:txBody>
          <a:bodyPr wrap="none" lIns="0" tIns="0" rIns="0" bIns="0" rtlCol="0" anchor="t">
            <a:noAutofit/>
          </a:bodyPr>
          <a:lstStyle/>
          <a:p>
            <a:pPr algn="l">
              <a:lnSpc>
                <a:spcPts val="3000"/>
              </a:lnSpc>
              <a:spcBef>
                <a:spcPts val="0"/>
              </a:spcBef>
              <a:spcAft>
                <a:spcPts val="0"/>
              </a:spcAft>
              <a:buNone/>
            </a:pPr>
            <a:r>
              <a:rPr lang="en-US" sz="2500" b="1" spc="-75" dirty="0">
                <a:solidFill>
                  <a:srgbClr val="0F172A"/>
                </a:solidFill>
                <a:latin typeface="Segoe UI"/>
                <a:ea typeface="Segoe UI"/>
                <a:cs typeface="Segoe UI"/>
              </a:rPr>
              <a:t>다중 AI 모델 검증 성과 및 엔지니어링 고찰</a:t>
            </a:r>
            <a:endParaRPr lang="en-US" sz="2500" dirty="0"/>
          </a:p>
        </p:txBody>
      </p:sp>
      <p:sp>
        <p:nvSpPr>
          <p:cNvPr id="6" name="Text: Intel Geti 노코드 한계부터 Custom YOLOv8 직접 학습 "/>
          <p:cNvSpPr txBox="1"/>
          <p:nvPr/>
        </p:nvSpPr>
        <p:spPr>
          <a:xfrm>
            <a:off x="381000" y="948055"/>
            <a:ext cx="7080845" cy="204470"/>
          </a:xfrm>
          <a:prstGeom prst="rect">
            <a:avLst/>
          </a:prstGeom>
          <a:noFill/>
        </p:spPr>
        <p:txBody>
          <a:bodyPr wrap="none" lIns="0" tIns="0" rIns="0" bIns="0" rtlCol="0" anchor="t">
            <a:noAutofit/>
          </a:bodyPr>
          <a:lstStyle/>
          <a:p>
            <a:pPr algn="l">
              <a:lnSpc>
                <a:spcPts val="1610"/>
              </a:lnSpc>
              <a:spcBef>
                <a:spcPts val="0"/>
              </a:spcBef>
              <a:spcAft>
                <a:spcPts val="0"/>
              </a:spcAft>
              <a:buNone/>
            </a:pPr>
            <a:r>
              <a:rPr lang="en-US" sz="1150" spc="-4" dirty="0">
                <a:solidFill>
                  <a:srgbClr val="475569"/>
                </a:solidFill>
                <a:latin typeface="Segoe UI"/>
                <a:ea typeface="Segoe UI"/>
                <a:cs typeface="Segoe UI"/>
              </a:rPr>
              <a:t>Intel Geti 노코드 한계부터 Custom YOLOv8 직접 학습 검증, 그리고 MediaPipe 채택과 독립형 악기 완성까지</a:t>
            </a:r>
            <a:endParaRPr lang="en-US" sz="1150" dirty="0"/>
          </a:p>
        </p:txBody>
      </p:sp>
      <p:sp>
        <p:nvSpPr>
          <p:cNvPr id="7" name="Rounded Rectangle"/>
          <p:cNvSpPr/>
          <p:nvPr/>
        </p:nvSpPr>
        <p:spPr>
          <a:xfrm>
            <a:off x="384175" y="1277541"/>
            <a:ext cx="5868789" cy="5053409"/>
          </a:xfrm>
          <a:prstGeom prst="roundRect">
            <a:avLst>
              <a:gd name="adj" fmla="val 2199"/>
            </a:avLst>
          </a:prstGeom>
          <a:solidFill>
            <a:srgbClr val="FFFFFF"/>
          </a:solidFill>
          <a:ln w="6350" cap="flat" cmpd="sng" algn="ctr">
            <a:solidFill>
              <a:srgbClr val="E2E8F0"/>
            </a:solidFill>
            <a:miter lim="800000"/>
          </a:ln>
          <a:effectLst>
            <a:outerShdw blurRad="101600" dist="50800" dir="5400000" sx="99567" sy="99497" algn="ctr" rotWithShape="0">
              <a:srgbClr val="000000">
                <a:alpha val="5000"/>
              </a:srgbClr>
            </a:outerShdw>
          </a:effectLst>
        </p:spPr>
      </p:sp>
      <p:sp>
        <p:nvSpPr>
          <p:cNvPr id="8" name="Rounded Rectangle"/>
          <p:cNvSpPr/>
          <p:nvPr/>
        </p:nvSpPr>
        <p:spPr>
          <a:xfrm>
            <a:off x="581025" y="1450578"/>
            <a:ext cx="993775" cy="238125"/>
          </a:xfrm>
          <a:prstGeom prst="roundRect">
            <a:avLst>
              <a:gd name="adj" fmla="val 20000"/>
            </a:avLst>
          </a:prstGeom>
          <a:solidFill>
            <a:srgbClr val="EFF6FF"/>
          </a:solidFill>
          <a:ln w="6350" cap="flat" cmpd="sng" algn="ctr">
            <a:solidFill>
              <a:srgbClr val="BFDBFE"/>
            </a:solidFill>
            <a:miter lim="800000"/>
          </a:ln>
        </p:spPr>
      </p:sp>
      <p:sp>
        <p:nvSpPr>
          <p:cNvPr id="9" name="Text: KEY TAKEAWAYS"/>
          <p:cNvSpPr txBox="1"/>
          <p:nvPr/>
        </p:nvSpPr>
        <p:spPr>
          <a:xfrm>
            <a:off x="685800" y="1488678"/>
            <a:ext cx="784225"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KEY TAKEAWAYS</a:t>
            </a:r>
            <a:endParaRPr lang="en-US" sz="750" dirty="0"/>
          </a:p>
        </p:txBody>
      </p:sp>
      <p:sp>
        <p:nvSpPr>
          <p:cNvPr id="10" name="Text: 다중 모델 실험을 통해 얻은 핵심 배운 점"/>
          <p:cNvSpPr txBox="1"/>
          <p:nvPr/>
        </p:nvSpPr>
        <p:spPr>
          <a:xfrm>
            <a:off x="1641475" y="1426766"/>
            <a:ext cx="3036292" cy="247650"/>
          </a:xfrm>
          <a:prstGeom prst="rect">
            <a:avLst/>
          </a:prstGeom>
          <a:noFill/>
        </p:spPr>
        <p:txBody>
          <a:bodyPr wrap="none" lIns="0" tIns="0" rIns="0" bIns="0" rtlCol="0" anchor="t">
            <a:noAutofit/>
          </a:bodyPr>
          <a:lstStyle/>
          <a:p>
            <a:pPr algn="l">
              <a:lnSpc>
                <a:spcPts val="1950"/>
              </a:lnSpc>
              <a:spcBef>
                <a:spcPts val="0"/>
              </a:spcBef>
              <a:spcAft>
                <a:spcPts val="0"/>
              </a:spcAft>
              <a:buNone/>
            </a:pPr>
            <a:r>
              <a:rPr lang="en-US" sz="1300" b="1" spc="-4" dirty="0">
                <a:solidFill>
                  <a:srgbClr val="0F172A"/>
                </a:solidFill>
                <a:latin typeface="Segoe UI"/>
                <a:ea typeface="Segoe UI"/>
                <a:cs typeface="Segoe UI"/>
              </a:rPr>
              <a:t>다중 모델 실험을 통해 얻은 핵심 배운 점</a:t>
            </a:r>
            <a:endParaRPr lang="en-US" sz="1300" dirty="0"/>
          </a:p>
        </p:txBody>
      </p:sp>
      <p:sp>
        <p:nvSpPr>
          <p:cNvPr id="11" name="Rounded Rectangle"/>
          <p:cNvSpPr/>
          <p:nvPr/>
        </p:nvSpPr>
        <p:spPr>
          <a:xfrm>
            <a:off x="577850" y="1807766"/>
            <a:ext cx="5481439" cy="1104900"/>
          </a:xfrm>
          <a:prstGeom prst="roundRect">
            <a:avLst>
              <a:gd name="adj" fmla="val 6897"/>
            </a:avLst>
          </a:prstGeom>
          <a:solidFill>
            <a:srgbClr val="F8FAFC"/>
          </a:solidFill>
          <a:ln>
            <a:noFill/>
          </a:ln>
        </p:spPr>
      </p:sp>
      <p:sp>
        <p:nvSpPr>
          <p:cNvPr id="12" name="Border"/>
          <p:cNvSpPr/>
          <p:nvPr/>
        </p:nvSpPr>
        <p:spPr>
          <a:xfrm>
            <a:off x="577850" y="1807766"/>
            <a:ext cx="5481439" cy="6350"/>
          </a:xfrm>
          <a:prstGeom prst="rect">
            <a:avLst/>
          </a:prstGeom>
          <a:solidFill>
            <a:srgbClr val="E2E8F0"/>
          </a:solidFill>
          <a:ln>
            <a:noFill/>
          </a:ln>
        </p:spPr>
      </p:sp>
      <p:sp>
        <p:nvSpPr>
          <p:cNvPr id="13" name="Border"/>
          <p:cNvSpPr/>
          <p:nvPr/>
        </p:nvSpPr>
        <p:spPr>
          <a:xfrm>
            <a:off x="6052939" y="1807766"/>
            <a:ext cx="6350" cy="1104900"/>
          </a:xfrm>
          <a:prstGeom prst="rect">
            <a:avLst/>
          </a:prstGeom>
          <a:solidFill>
            <a:srgbClr val="E2E8F0"/>
          </a:solidFill>
          <a:ln>
            <a:noFill/>
          </a:ln>
        </p:spPr>
      </p:sp>
      <p:sp>
        <p:nvSpPr>
          <p:cNvPr id="14" name="Border"/>
          <p:cNvSpPr/>
          <p:nvPr/>
        </p:nvSpPr>
        <p:spPr>
          <a:xfrm>
            <a:off x="577850" y="2906316"/>
            <a:ext cx="5481439" cy="6350"/>
          </a:xfrm>
          <a:prstGeom prst="rect">
            <a:avLst/>
          </a:prstGeom>
          <a:solidFill>
            <a:srgbClr val="E2E8F0"/>
          </a:solidFill>
          <a:ln>
            <a:noFill/>
          </a:ln>
        </p:spPr>
      </p:sp>
      <p:sp>
        <p:nvSpPr>
          <p:cNvPr id="15" name="Border"/>
          <p:cNvSpPr/>
          <p:nvPr/>
        </p:nvSpPr>
        <p:spPr>
          <a:xfrm>
            <a:off x="577850" y="1807766"/>
            <a:ext cx="38100" cy="1104900"/>
          </a:xfrm>
          <a:prstGeom prst="rect">
            <a:avLst/>
          </a:prstGeom>
          <a:solidFill>
            <a:srgbClr val="2563EB"/>
          </a:solidFill>
          <a:ln>
            <a:noFill/>
          </a:ln>
        </p:spPr>
      </p:sp>
      <p:sp>
        <p:nvSpPr>
          <p:cNvPr id="16" name="Text: 1. Intel Geti: 노코드(No-Code) 툴의 프로토타이핑과 실"/>
          <p:cNvSpPr txBox="1"/>
          <p:nvPr/>
        </p:nvSpPr>
        <p:spPr>
          <a:xfrm>
            <a:off x="730250" y="1896666"/>
            <a:ext cx="4033242" cy="190500"/>
          </a:xfrm>
          <a:prstGeom prst="rect">
            <a:avLst/>
          </a:prstGeom>
          <a:noFill/>
        </p:spPr>
        <p:txBody>
          <a:bodyPr wrap="none" lIns="0" tIns="0" rIns="0" bIns="0" rtlCol="0" anchor="t">
            <a:noAutofit/>
          </a:bodyPr>
          <a:lstStyle/>
          <a:p>
            <a:pPr algn="l">
              <a:lnSpc>
                <a:spcPts val="1500"/>
              </a:lnSpc>
              <a:spcBef>
                <a:spcPts val="0"/>
              </a:spcBef>
              <a:spcAft>
                <a:spcPts val="0"/>
              </a:spcAft>
              <a:buNone/>
            </a:pPr>
            <a:r>
              <a:rPr lang="en-US" sz="1000" b="1" spc="-4" dirty="0">
                <a:solidFill>
                  <a:srgbClr val="0F172A"/>
                </a:solidFill>
                <a:latin typeface="Segoe UI"/>
                <a:ea typeface="Segoe UI"/>
                <a:cs typeface="Segoe UI"/>
              </a:rPr>
              <a:t>1. Intel Geti: 노코드(No-Code) 툴의 프로토타이핑과 실무적 한계 체감</a:t>
            </a:r>
            <a:endParaRPr lang="en-US" sz="1000" dirty="0"/>
          </a:p>
        </p:txBody>
      </p:sp>
      <p:sp>
        <p:nvSpPr>
          <p:cNvPr id="17" name="Text: •  빠른 프로토타이핑 시도:  복잡한 파이프라인 구축 없이 브라우저 G"/>
          <p:cNvSpPr txBox="1"/>
          <p:nvPr/>
        </p:nvSpPr>
        <p:spPr>
          <a:xfrm>
            <a:off x="730250" y="2128441"/>
            <a:ext cx="5111055" cy="323850"/>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spc="-4" dirty="0">
                <a:solidFill>
                  <a:srgbClr val="334155"/>
                </a:solidFill>
                <a:latin typeface="Segoe UI"/>
                <a:ea typeface="Segoe UI"/>
                <a:cs typeface="Segoe UI"/>
              </a:rPr>
              <a:t>• </a:t>
            </a:r>
            <a:r>
              <a:rPr lang="en-US" sz="850" b="1" spc="-4" dirty="0">
                <a:solidFill>
                  <a:srgbClr val="334155"/>
                </a:solidFill>
                <a:latin typeface="Segoe UI"/>
                <a:ea typeface="Segoe UI"/>
                <a:cs typeface="Segoe UI"/>
              </a:rPr>
              <a:t>빠른 프로토타이핑 시도:</a:t>
            </a:r>
            <a:r>
              <a:rPr lang="en-US" sz="850" spc="-4" dirty="0">
                <a:solidFill>
                  <a:srgbClr val="334155"/>
                </a:solidFill>
                <a:latin typeface="Segoe UI"/>
                <a:ea typeface="Segoe UI"/>
                <a:cs typeface="Segoe UI"/>
              </a:rPr>
              <a:t> 복잡한 파이프라인 구축 없이 브라우저 GUI에서 손쉽게 모델을 생성해 볼 수 있</a:t>
            </a:r>
            <a:br>
              <a:rPr lang="en-US" sz="850"/>
            </a:br>
            <a:r>
              <a:rPr lang="en-US" sz="850" spc="-4" dirty="0">
                <a:solidFill>
                  <a:srgbClr val="334155"/>
                </a:solidFill>
                <a:latin typeface="Segoe UI"/>
                <a:ea typeface="Segoe UI"/>
                <a:cs typeface="Segoe UI"/>
              </a:rPr>
              <a:t>는 장점을 경험함</a:t>
            </a:r>
            <a:endParaRPr lang="en-US" sz="850" dirty="0"/>
          </a:p>
        </p:txBody>
      </p:sp>
      <p:sp>
        <p:nvSpPr>
          <p:cNvPr id="18" name="Text: •  실제 적용의 한계 확인:  대용량 라벨 임포트 결함과 31장 소량 "/>
          <p:cNvSpPr txBox="1"/>
          <p:nvPr/>
        </p:nvSpPr>
        <p:spPr>
          <a:xfrm>
            <a:off x="730250" y="2477691"/>
            <a:ext cx="5150346" cy="323850"/>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spc="-4" dirty="0">
                <a:solidFill>
                  <a:srgbClr val="334155"/>
                </a:solidFill>
                <a:latin typeface="Segoe UI"/>
                <a:ea typeface="Segoe UI"/>
                <a:cs typeface="Segoe UI"/>
              </a:rPr>
              <a:t>• </a:t>
            </a:r>
            <a:r>
              <a:rPr lang="en-US" sz="850" b="1" spc="-4" dirty="0">
                <a:solidFill>
                  <a:srgbClr val="334155"/>
                </a:solidFill>
                <a:latin typeface="Segoe UI"/>
                <a:ea typeface="Segoe UI"/>
                <a:cs typeface="Segoe UI"/>
              </a:rPr>
              <a:t>실제 적용의 한계 확인:</a:t>
            </a:r>
            <a:r>
              <a:rPr lang="en-US" sz="850" spc="-4" dirty="0">
                <a:solidFill>
                  <a:srgbClr val="334155"/>
                </a:solidFill>
                <a:latin typeface="Segoe UI"/>
                <a:ea typeface="Segoe UI"/>
                <a:cs typeface="Segoe UI"/>
              </a:rPr>
              <a:t> 대용량 라벨 임포트 결함과 31장 소량 학습 시의 심각한 과적합(PCK 43%, 유령 관</a:t>
            </a:r>
            <a:br>
              <a:rPr lang="en-US" sz="850"/>
            </a:br>
            <a:r>
              <a:rPr lang="en-US" sz="850" spc="-4" dirty="0">
                <a:solidFill>
                  <a:srgbClr val="334155"/>
                </a:solidFill>
                <a:latin typeface="Segoe UI"/>
                <a:ea typeface="Segoe UI"/>
                <a:cs typeface="Segoe UI"/>
              </a:rPr>
              <a:t>절)으로 인해 실제 악기 적용은 불가함을 확인</a:t>
            </a:r>
            <a:endParaRPr lang="en-US" sz="850" dirty="0"/>
          </a:p>
        </p:txBody>
      </p:sp>
      <p:sp>
        <p:nvSpPr>
          <p:cNvPr id="19" name="Rounded Rectangle"/>
          <p:cNvSpPr/>
          <p:nvPr/>
        </p:nvSpPr>
        <p:spPr>
          <a:xfrm>
            <a:off x="577850" y="3007916"/>
            <a:ext cx="5481439" cy="1104900"/>
          </a:xfrm>
          <a:prstGeom prst="roundRect">
            <a:avLst>
              <a:gd name="adj" fmla="val 6897"/>
            </a:avLst>
          </a:prstGeom>
          <a:solidFill>
            <a:srgbClr val="F8FAFC"/>
          </a:solidFill>
          <a:ln>
            <a:noFill/>
          </a:ln>
        </p:spPr>
      </p:sp>
      <p:sp>
        <p:nvSpPr>
          <p:cNvPr id="20" name="Border"/>
          <p:cNvSpPr/>
          <p:nvPr/>
        </p:nvSpPr>
        <p:spPr>
          <a:xfrm>
            <a:off x="577850" y="3007916"/>
            <a:ext cx="5481439" cy="6350"/>
          </a:xfrm>
          <a:prstGeom prst="rect">
            <a:avLst/>
          </a:prstGeom>
          <a:solidFill>
            <a:srgbClr val="E2E8F0"/>
          </a:solidFill>
          <a:ln>
            <a:noFill/>
          </a:ln>
        </p:spPr>
      </p:sp>
      <p:sp>
        <p:nvSpPr>
          <p:cNvPr id="21" name="Border"/>
          <p:cNvSpPr/>
          <p:nvPr/>
        </p:nvSpPr>
        <p:spPr>
          <a:xfrm>
            <a:off x="6052939" y="3007916"/>
            <a:ext cx="6350" cy="1104900"/>
          </a:xfrm>
          <a:prstGeom prst="rect">
            <a:avLst/>
          </a:prstGeom>
          <a:solidFill>
            <a:srgbClr val="E2E8F0"/>
          </a:solidFill>
          <a:ln>
            <a:noFill/>
          </a:ln>
        </p:spPr>
      </p:sp>
      <p:sp>
        <p:nvSpPr>
          <p:cNvPr id="22" name="Border"/>
          <p:cNvSpPr/>
          <p:nvPr/>
        </p:nvSpPr>
        <p:spPr>
          <a:xfrm>
            <a:off x="577850" y="4106466"/>
            <a:ext cx="5481439" cy="6350"/>
          </a:xfrm>
          <a:prstGeom prst="rect">
            <a:avLst/>
          </a:prstGeom>
          <a:solidFill>
            <a:srgbClr val="E2E8F0"/>
          </a:solidFill>
          <a:ln>
            <a:noFill/>
          </a:ln>
        </p:spPr>
      </p:sp>
      <p:sp>
        <p:nvSpPr>
          <p:cNvPr id="23" name="Border"/>
          <p:cNvSpPr/>
          <p:nvPr/>
        </p:nvSpPr>
        <p:spPr>
          <a:xfrm>
            <a:off x="577850" y="3007916"/>
            <a:ext cx="38100" cy="1104900"/>
          </a:xfrm>
          <a:prstGeom prst="rect">
            <a:avLst/>
          </a:prstGeom>
          <a:solidFill>
            <a:srgbClr val="0284C7"/>
          </a:solidFill>
          <a:ln>
            <a:noFill/>
          </a:ln>
        </p:spPr>
      </p:sp>
      <p:sp>
        <p:nvSpPr>
          <p:cNvPr id="24" name="Text: 2. Custom YOLOv8: 대용량 직접 학습과 2D 모델의 구조적 "/>
          <p:cNvSpPr txBox="1"/>
          <p:nvPr/>
        </p:nvSpPr>
        <p:spPr>
          <a:xfrm>
            <a:off x="730250" y="3096816"/>
            <a:ext cx="3953470" cy="190500"/>
          </a:xfrm>
          <a:prstGeom prst="rect">
            <a:avLst/>
          </a:prstGeom>
          <a:noFill/>
        </p:spPr>
        <p:txBody>
          <a:bodyPr wrap="none" lIns="0" tIns="0" rIns="0" bIns="0" rtlCol="0" anchor="t">
            <a:noAutofit/>
          </a:bodyPr>
          <a:lstStyle/>
          <a:p>
            <a:pPr algn="l">
              <a:lnSpc>
                <a:spcPts val="1500"/>
              </a:lnSpc>
              <a:spcBef>
                <a:spcPts val="0"/>
              </a:spcBef>
              <a:spcAft>
                <a:spcPts val="0"/>
              </a:spcAft>
              <a:buNone/>
            </a:pPr>
            <a:r>
              <a:rPr lang="en-US" sz="1000" b="1" spc="-4" dirty="0">
                <a:solidFill>
                  <a:srgbClr val="0F172A"/>
                </a:solidFill>
                <a:latin typeface="Segoe UI"/>
                <a:ea typeface="Segoe UI"/>
                <a:cs typeface="Segoe UI"/>
              </a:rPr>
              <a:t>2. Custom YOLOv8: 대용량 직접 학습과 2D 모델의 구조적 한계 규명</a:t>
            </a:r>
            <a:endParaRPr lang="en-US" sz="1000" dirty="0"/>
          </a:p>
        </p:txBody>
      </p:sp>
      <p:sp>
        <p:nvSpPr>
          <p:cNvPr id="25" name="Text: •  직접 학습 파이프라인 구축:  1.8만 장 데이터셋으로 터미널에서 "/>
          <p:cNvSpPr txBox="1"/>
          <p:nvPr/>
        </p:nvSpPr>
        <p:spPr>
          <a:xfrm>
            <a:off x="730250" y="3328591"/>
            <a:ext cx="5134769" cy="323850"/>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spc="-4" dirty="0">
                <a:solidFill>
                  <a:srgbClr val="334155"/>
                </a:solidFill>
                <a:latin typeface="Segoe UI"/>
                <a:ea typeface="Segoe UI"/>
                <a:cs typeface="Segoe UI"/>
              </a:rPr>
              <a:t>• </a:t>
            </a:r>
            <a:r>
              <a:rPr lang="en-US" sz="850" b="1" spc="-4" dirty="0">
                <a:solidFill>
                  <a:srgbClr val="334155"/>
                </a:solidFill>
                <a:latin typeface="Segoe UI"/>
                <a:ea typeface="Segoe UI"/>
                <a:cs typeface="Segoe UI"/>
              </a:rPr>
              <a:t>직접 학습 파이프라인 구축:</a:t>
            </a:r>
            <a:r>
              <a:rPr lang="en-US" sz="850" spc="-4" dirty="0">
                <a:solidFill>
                  <a:srgbClr val="334155"/>
                </a:solidFill>
                <a:latin typeface="Segoe UI"/>
                <a:ea typeface="Segoe UI"/>
                <a:cs typeface="Segoe UI"/>
              </a:rPr>
              <a:t> 1.8만 장 데이터셋으로 터미널에서 직접 전이학습을 완주하고, 파이썬-웹소켓</a:t>
            </a:r>
            <a:br>
              <a:rPr lang="en-US" sz="850"/>
            </a:br>
            <a:r>
              <a:rPr lang="en-US" sz="850" spc="-4" dirty="0">
                <a:solidFill>
                  <a:srgbClr val="334155"/>
                </a:solidFill>
                <a:latin typeface="Segoe UI"/>
                <a:ea typeface="Segoe UI"/>
                <a:cs typeface="Segoe UI"/>
              </a:rPr>
              <a:t>브릿지를 연결해 실시간 연동을 테스트함</a:t>
            </a:r>
            <a:endParaRPr lang="en-US" sz="850" dirty="0"/>
          </a:p>
        </p:txBody>
      </p:sp>
      <p:sp>
        <p:nvSpPr>
          <p:cNvPr id="26" name="Text: •  2D 자가 가림 한계 실측:  학습 지표(mAP 99.2%)는 높았"/>
          <p:cNvSpPr txBox="1"/>
          <p:nvPr/>
        </p:nvSpPr>
        <p:spPr>
          <a:xfrm>
            <a:off x="730250" y="3677841"/>
            <a:ext cx="5136158" cy="323850"/>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spc="-4" dirty="0">
                <a:solidFill>
                  <a:srgbClr val="334155"/>
                </a:solidFill>
                <a:latin typeface="Segoe UI"/>
                <a:ea typeface="Segoe UI"/>
                <a:cs typeface="Segoe UI"/>
              </a:rPr>
              <a:t>• </a:t>
            </a:r>
            <a:r>
              <a:rPr lang="en-US" sz="850" b="1" spc="-4" dirty="0">
                <a:solidFill>
                  <a:srgbClr val="334155"/>
                </a:solidFill>
                <a:latin typeface="Segoe UI"/>
                <a:ea typeface="Segoe UI"/>
                <a:cs typeface="Segoe UI"/>
              </a:rPr>
              <a:t>2D 자가 가림 한계 실측:</a:t>
            </a:r>
            <a:r>
              <a:rPr lang="en-US" sz="850" spc="-4" dirty="0">
                <a:solidFill>
                  <a:srgbClr val="334155"/>
                </a:solidFill>
                <a:latin typeface="Segoe UI"/>
                <a:ea typeface="Segoe UI"/>
                <a:cs typeface="Segoe UI"/>
              </a:rPr>
              <a:t> 학습 지표(mAP 99.2%)는 높았으나, 2D 평면 회귀 방식 특성상 주먹이나 접힌 손</a:t>
            </a:r>
            <a:br>
              <a:rPr lang="en-US" sz="850"/>
            </a:br>
            <a:r>
              <a:rPr lang="en-US" sz="850" spc="-4" dirty="0">
                <a:solidFill>
                  <a:srgbClr val="334155"/>
                </a:solidFill>
                <a:latin typeface="Segoe UI"/>
                <a:ea typeface="Segoe UI"/>
                <a:cs typeface="Segoe UI"/>
              </a:rPr>
              <a:t>에서 관절이 뭉쳐 실전 악기 제어에는 한계가 있음을 확인</a:t>
            </a:r>
            <a:endParaRPr lang="en-US" sz="850" dirty="0"/>
          </a:p>
        </p:txBody>
      </p:sp>
      <p:sp>
        <p:nvSpPr>
          <p:cNvPr id="27" name="Rounded Rectangle"/>
          <p:cNvSpPr/>
          <p:nvPr/>
        </p:nvSpPr>
        <p:spPr>
          <a:xfrm>
            <a:off x="577850" y="4208066"/>
            <a:ext cx="5481439" cy="1104900"/>
          </a:xfrm>
          <a:prstGeom prst="roundRect">
            <a:avLst>
              <a:gd name="adj" fmla="val 6897"/>
            </a:avLst>
          </a:prstGeom>
          <a:solidFill>
            <a:srgbClr val="F8FAFC"/>
          </a:solidFill>
          <a:ln>
            <a:noFill/>
          </a:ln>
        </p:spPr>
      </p:sp>
      <p:sp>
        <p:nvSpPr>
          <p:cNvPr id="28" name="Border"/>
          <p:cNvSpPr/>
          <p:nvPr/>
        </p:nvSpPr>
        <p:spPr>
          <a:xfrm>
            <a:off x="577850" y="4208066"/>
            <a:ext cx="5481439" cy="6350"/>
          </a:xfrm>
          <a:prstGeom prst="rect">
            <a:avLst/>
          </a:prstGeom>
          <a:solidFill>
            <a:srgbClr val="E2E8F0"/>
          </a:solidFill>
          <a:ln>
            <a:noFill/>
          </a:ln>
        </p:spPr>
      </p:sp>
      <p:sp>
        <p:nvSpPr>
          <p:cNvPr id="29" name="Border"/>
          <p:cNvSpPr/>
          <p:nvPr/>
        </p:nvSpPr>
        <p:spPr>
          <a:xfrm>
            <a:off x="6052939" y="4208066"/>
            <a:ext cx="6350" cy="1104900"/>
          </a:xfrm>
          <a:prstGeom prst="rect">
            <a:avLst/>
          </a:prstGeom>
          <a:solidFill>
            <a:srgbClr val="E2E8F0"/>
          </a:solidFill>
          <a:ln>
            <a:noFill/>
          </a:ln>
        </p:spPr>
      </p:sp>
      <p:sp>
        <p:nvSpPr>
          <p:cNvPr id="30" name="Border"/>
          <p:cNvSpPr/>
          <p:nvPr/>
        </p:nvSpPr>
        <p:spPr>
          <a:xfrm>
            <a:off x="577850" y="5306616"/>
            <a:ext cx="5481439" cy="6350"/>
          </a:xfrm>
          <a:prstGeom prst="rect">
            <a:avLst/>
          </a:prstGeom>
          <a:solidFill>
            <a:srgbClr val="E2E8F0"/>
          </a:solidFill>
          <a:ln>
            <a:noFill/>
          </a:ln>
        </p:spPr>
      </p:sp>
      <p:sp>
        <p:nvSpPr>
          <p:cNvPr id="31" name="Border"/>
          <p:cNvSpPr/>
          <p:nvPr/>
        </p:nvSpPr>
        <p:spPr>
          <a:xfrm>
            <a:off x="577850" y="4208066"/>
            <a:ext cx="38100" cy="1104900"/>
          </a:xfrm>
          <a:prstGeom prst="rect">
            <a:avLst/>
          </a:prstGeom>
          <a:solidFill>
            <a:srgbClr val="059669"/>
          </a:solidFill>
          <a:ln>
            <a:noFill/>
          </a:ln>
        </p:spPr>
      </p:sp>
      <p:sp>
        <p:nvSpPr>
          <p:cNvPr id="32" name="Text: 3. 최적 엔진(MediaPipe) 채택 &amp; 독립형 실행 파일(.exe)"/>
          <p:cNvSpPr txBox="1"/>
          <p:nvPr/>
        </p:nvSpPr>
        <p:spPr>
          <a:xfrm>
            <a:off x="730250" y="4296966"/>
            <a:ext cx="3514824" cy="190500"/>
          </a:xfrm>
          <a:prstGeom prst="rect">
            <a:avLst/>
          </a:prstGeom>
          <a:noFill/>
        </p:spPr>
        <p:txBody>
          <a:bodyPr wrap="none" lIns="0" tIns="0" rIns="0" bIns="0" rtlCol="0" anchor="t">
            <a:noAutofit/>
          </a:bodyPr>
          <a:lstStyle/>
          <a:p>
            <a:pPr algn="l">
              <a:lnSpc>
                <a:spcPts val="1500"/>
              </a:lnSpc>
              <a:spcBef>
                <a:spcPts val="0"/>
              </a:spcBef>
              <a:spcAft>
                <a:spcPts val="0"/>
              </a:spcAft>
              <a:buNone/>
            </a:pPr>
            <a:r>
              <a:rPr lang="en-US" sz="1000" b="1" spc="-4" dirty="0">
                <a:solidFill>
                  <a:srgbClr val="0F172A"/>
                </a:solidFill>
                <a:latin typeface="Segoe UI"/>
                <a:ea typeface="Segoe UI"/>
                <a:cs typeface="Segoe UI"/>
              </a:rPr>
              <a:t>3. 최적 엔진(MediaPipe) 채택 &amp; 독립형 실행 파일(.exe) 완성</a:t>
            </a:r>
            <a:endParaRPr lang="en-US" sz="1000" dirty="0"/>
          </a:p>
        </p:txBody>
      </p:sp>
      <p:sp>
        <p:nvSpPr>
          <p:cNvPr id="33" name="Text: •  실전 악기 엔진 선별:  여러 모델을 직접 비교·검증한 끝에 3D "/>
          <p:cNvSpPr txBox="1"/>
          <p:nvPr/>
        </p:nvSpPr>
        <p:spPr>
          <a:xfrm>
            <a:off x="730250" y="4528741"/>
            <a:ext cx="5133677" cy="323850"/>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spc="-4" dirty="0">
                <a:solidFill>
                  <a:srgbClr val="334155"/>
                </a:solidFill>
                <a:latin typeface="Segoe UI"/>
                <a:ea typeface="Segoe UI"/>
                <a:cs typeface="Segoe UI"/>
              </a:rPr>
              <a:t>• </a:t>
            </a:r>
            <a:r>
              <a:rPr lang="en-US" sz="850" b="1" spc="-4" dirty="0">
                <a:solidFill>
                  <a:srgbClr val="334155"/>
                </a:solidFill>
                <a:latin typeface="Segoe UI"/>
                <a:ea typeface="Segoe UI"/>
                <a:cs typeface="Segoe UI"/>
              </a:rPr>
              <a:t>실전 악기 엔진 선별:</a:t>
            </a:r>
            <a:r>
              <a:rPr lang="en-US" sz="850" spc="-4" dirty="0">
                <a:solidFill>
                  <a:srgbClr val="334155"/>
                </a:solidFill>
                <a:latin typeface="Segoe UI"/>
                <a:ea typeface="Segoe UI"/>
                <a:cs typeface="Segoe UI"/>
              </a:rPr>
              <a:t> 여러 모델을 직접 비교·검증한 끝에 3D 깊이 복원과 60 FPS 저지연을 안정적으로 지</a:t>
            </a:r>
            <a:br>
              <a:rPr lang="en-US" sz="850"/>
            </a:br>
            <a:r>
              <a:rPr lang="en-US" sz="850" spc="-4" dirty="0">
                <a:solidFill>
                  <a:srgbClr val="334155"/>
                </a:solidFill>
                <a:latin typeface="Segoe UI"/>
                <a:ea typeface="Segoe UI"/>
                <a:cs typeface="Segoe UI"/>
              </a:rPr>
              <a:t>원하는 MediaPipe를 최종 채택하여 연주 신뢰도 확보</a:t>
            </a:r>
            <a:endParaRPr lang="en-US" sz="850" dirty="0"/>
          </a:p>
        </p:txBody>
      </p:sp>
      <p:sp>
        <p:nvSpPr>
          <p:cNvPr id="34" name="Text: •  단독 데스크톱 완성:  모델 검증에 머무르지 않고, 일반 사용자 P"/>
          <p:cNvSpPr txBox="1"/>
          <p:nvPr/>
        </p:nvSpPr>
        <p:spPr>
          <a:xfrm>
            <a:off x="730250" y="4877991"/>
            <a:ext cx="5191423" cy="323850"/>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spc="-4" dirty="0">
                <a:solidFill>
                  <a:srgbClr val="334155"/>
                </a:solidFill>
                <a:latin typeface="Segoe UI"/>
                <a:ea typeface="Segoe UI"/>
                <a:cs typeface="Segoe UI"/>
              </a:rPr>
              <a:t>• </a:t>
            </a:r>
            <a:r>
              <a:rPr lang="en-US" sz="850" b="1" spc="-4" dirty="0">
                <a:solidFill>
                  <a:srgbClr val="334155"/>
                </a:solidFill>
                <a:latin typeface="Segoe UI"/>
                <a:ea typeface="Segoe UI"/>
                <a:cs typeface="Segoe UI"/>
              </a:rPr>
              <a:t>단독 데스크톱 완성:</a:t>
            </a:r>
            <a:r>
              <a:rPr lang="en-US" sz="850" spc="-4" dirty="0">
                <a:solidFill>
                  <a:srgbClr val="334155"/>
                </a:solidFill>
                <a:latin typeface="Segoe UI"/>
                <a:ea typeface="Segoe UI"/>
                <a:cs typeface="Segoe UI"/>
              </a:rPr>
              <a:t> 모델 검증에 머무르지 않고, 일반 사용자 PC에서 더블클릭만으로 즉시 연주 가능한 독</a:t>
            </a:r>
            <a:br>
              <a:rPr lang="en-US" sz="850"/>
            </a:br>
            <a:r>
              <a:rPr lang="en-US" sz="850" spc="-4" dirty="0">
                <a:solidFill>
                  <a:srgbClr val="334155"/>
                </a:solidFill>
                <a:latin typeface="Segoe UI"/>
                <a:ea typeface="Segoe UI"/>
                <a:cs typeface="Segoe UI"/>
              </a:rPr>
              <a:t>립형 제스처 악기(.exe)로 최종 완성함</a:t>
            </a:r>
            <a:endParaRPr lang="en-US" sz="850" dirty="0"/>
          </a:p>
        </p:txBody>
      </p:sp>
      <p:sp>
        <p:nvSpPr>
          <p:cNvPr id="35" name="Rounded Rectangle"/>
          <p:cNvSpPr/>
          <p:nvPr/>
        </p:nvSpPr>
        <p:spPr>
          <a:xfrm>
            <a:off x="577850" y="5557838"/>
            <a:ext cx="5481439" cy="604838"/>
          </a:xfrm>
          <a:prstGeom prst="roundRect">
            <a:avLst>
              <a:gd name="adj" fmla="val 10499"/>
            </a:avLst>
          </a:prstGeom>
          <a:solidFill>
            <a:srgbClr val="EFF6FF"/>
          </a:solidFill>
          <a:ln>
            <a:noFill/>
          </a:ln>
        </p:spPr>
      </p:sp>
      <p:sp>
        <p:nvSpPr>
          <p:cNvPr id="36" name="Border"/>
          <p:cNvSpPr/>
          <p:nvPr/>
        </p:nvSpPr>
        <p:spPr>
          <a:xfrm>
            <a:off x="577850" y="5557838"/>
            <a:ext cx="31750" cy="604838"/>
          </a:xfrm>
          <a:prstGeom prst="rect">
            <a:avLst/>
          </a:prstGeom>
          <a:solidFill>
            <a:srgbClr val="2563EB"/>
          </a:solidFill>
          <a:ln>
            <a:noFill/>
          </a:ln>
        </p:spPr>
      </p:sp>
      <p:sp>
        <p:nvSpPr>
          <p:cNvPr id="37" name="Text: 💡 프로젝트 최종 결론"/>
          <p:cNvSpPr txBox="1"/>
          <p:nvPr/>
        </p:nvSpPr>
        <p:spPr>
          <a:xfrm>
            <a:off x="723900" y="5622925"/>
            <a:ext cx="1086545" cy="157163"/>
          </a:xfrm>
          <a:prstGeom prst="rect">
            <a:avLst/>
          </a:prstGeom>
          <a:noFill/>
        </p:spPr>
        <p:txBody>
          <a:bodyPr wrap="none" lIns="0" tIns="0" rIns="0" bIns="0" rtlCol="0" anchor="t">
            <a:noAutofit/>
          </a:bodyPr>
          <a:lstStyle/>
          <a:p>
            <a:pPr algn="l">
              <a:lnSpc>
                <a:spcPts val="1238"/>
              </a:lnSpc>
              <a:spcBef>
                <a:spcPts val="0"/>
              </a:spcBef>
              <a:spcAft>
                <a:spcPts val="0"/>
              </a:spcAft>
              <a:buNone/>
            </a:pPr>
            <a:r>
              <a:rPr lang="en-US" sz="825" b="1" spc="-4" dirty="0">
                <a:solidFill>
                  <a:srgbClr val="1E40AF"/>
                </a:solidFill>
                <a:latin typeface="Segoe UI"/>
                <a:ea typeface="Segoe UI"/>
                <a:cs typeface="Segoe UI"/>
              </a:rPr>
              <a:t>💡 프로젝트 최종 결론</a:t>
            </a:r>
            <a:endParaRPr lang="en-US" sz="825" dirty="0"/>
          </a:p>
        </p:txBody>
      </p:sp>
      <p:sp>
        <p:nvSpPr>
          <p:cNvPr id="38" name="Text: &quot;단일 모델에 의존하지 않고 Intel Geti, Custom YOLOv"/>
          <p:cNvSpPr txBox="1"/>
          <p:nvPr/>
        </p:nvSpPr>
        <p:spPr>
          <a:xfrm>
            <a:off x="723900" y="5799138"/>
            <a:ext cx="5176838" cy="276225"/>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50" spc="-4" dirty="0">
                <a:solidFill>
                  <a:srgbClr val="1E3A8A"/>
                </a:solidFill>
                <a:latin typeface="Segoe UI"/>
                <a:ea typeface="Segoe UI"/>
                <a:cs typeface="Segoe UI"/>
              </a:rPr>
              <a:t>"단일 모델에 의존하지 않고 Intel Geti, Custom YOLOv8, MediaPipe를 직접 구축·실험·비교함으로써 각 모델의 실무적 한계</a:t>
            </a:r>
            <a:br>
              <a:rPr lang="en-US" sz="750"/>
            </a:br>
            <a:r>
              <a:rPr lang="en-US" sz="750" spc="-4" dirty="0">
                <a:solidFill>
                  <a:srgbClr val="1E3A8A"/>
                </a:solidFill>
                <a:latin typeface="Segoe UI"/>
                <a:ea typeface="Segoe UI"/>
                <a:cs typeface="Segoe UI"/>
              </a:rPr>
              <a:t>와 특성을 실측하고, 최종적으로 가장 안정적인 실시간 제스처 악기(.exe)를 완성함"</a:t>
            </a:r>
            <a:endParaRPr lang="en-US" sz="750" dirty="0"/>
          </a:p>
        </p:txBody>
      </p:sp>
      <p:sp>
        <p:nvSpPr>
          <p:cNvPr id="39" name="Rounded Rectangle"/>
          <p:cNvSpPr/>
          <p:nvPr/>
        </p:nvSpPr>
        <p:spPr>
          <a:xfrm>
            <a:off x="6449814" y="1277541"/>
            <a:ext cx="5358011" cy="5053409"/>
          </a:xfrm>
          <a:prstGeom prst="roundRect">
            <a:avLst>
              <a:gd name="adj" fmla="val 2199"/>
            </a:avLst>
          </a:prstGeom>
          <a:solidFill>
            <a:srgbClr val="FFFFFF"/>
          </a:solidFill>
          <a:ln w="6350" cap="flat" cmpd="sng" algn="ctr">
            <a:solidFill>
              <a:srgbClr val="E2E8F0"/>
            </a:solidFill>
            <a:miter lim="800000"/>
          </a:ln>
          <a:effectLst>
            <a:outerShdw blurRad="101600" dist="50800" dir="5400000" sx="99526" sy="99497" algn="ctr" rotWithShape="0">
              <a:srgbClr val="000000">
                <a:alpha val="5000"/>
              </a:srgbClr>
            </a:outerShdw>
          </a:effectLst>
        </p:spPr>
      </p:sp>
      <p:sp>
        <p:nvSpPr>
          <p:cNvPr id="40" name="Rounded Rectangle"/>
          <p:cNvSpPr/>
          <p:nvPr/>
        </p:nvSpPr>
        <p:spPr>
          <a:xfrm>
            <a:off x="6646664" y="1450578"/>
            <a:ext cx="799108" cy="238125"/>
          </a:xfrm>
          <a:prstGeom prst="roundRect">
            <a:avLst>
              <a:gd name="adj" fmla="val 20000"/>
            </a:avLst>
          </a:prstGeom>
          <a:solidFill>
            <a:srgbClr val="F1F5F9"/>
          </a:solidFill>
          <a:ln w="6350" cap="flat" cmpd="sng" algn="ctr">
            <a:solidFill>
              <a:srgbClr val="CBD5E1"/>
            </a:solidFill>
            <a:miter lim="800000"/>
          </a:ln>
        </p:spPr>
      </p:sp>
      <p:sp>
        <p:nvSpPr>
          <p:cNvPr id="41" name="Text: REFERENCES"/>
          <p:cNvSpPr txBox="1"/>
          <p:nvPr/>
        </p:nvSpPr>
        <p:spPr>
          <a:xfrm>
            <a:off x="6751439" y="1488678"/>
            <a:ext cx="589558"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475569"/>
                </a:solidFill>
                <a:latin typeface="Segoe UI"/>
                <a:ea typeface="Segoe UI"/>
                <a:cs typeface="Segoe UI"/>
              </a:rPr>
              <a:t>REFERENCES</a:t>
            </a:r>
            <a:endParaRPr lang="en-US" sz="750" dirty="0"/>
          </a:p>
        </p:txBody>
      </p:sp>
      <p:sp>
        <p:nvSpPr>
          <p:cNvPr id="42" name="Text: 공식 출처 및 데이터베이스 링크"/>
          <p:cNvSpPr txBox="1"/>
          <p:nvPr/>
        </p:nvSpPr>
        <p:spPr>
          <a:xfrm>
            <a:off x="7512447" y="1426766"/>
            <a:ext cx="2369840" cy="247650"/>
          </a:xfrm>
          <a:prstGeom prst="rect">
            <a:avLst/>
          </a:prstGeom>
          <a:noFill/>
        </p:spPr>
        <p:txBody>
          <a:bodyPr wrap="none" lIns="0" tIns="0" rIns="0" bIns="0" rtlCol="0" anchor="t">
            <a:noAutofit/>
          </a:bodyPr>
          <a:lstStyle/>
          <a:p>
            <a:pPr algn="l">
              <a:lnSpc>
                <a:spcPts val="1950"/>
              </a:lnSpc>
              <a:spcBef>
                <a:spcPts val="0"/>
              </a:spcBef>
              <a:spcAft>
                <a:spcPts val="0"/>
              </a:spcAft>
              <a:buNone/>
            </a:pPr>
            <a:r>
              <a:rPr lang="en-US" sz="1300" b="1" spc="-4" dirty="0">
                <a:solidFill>
                  <a:srgbClr val="0F172A"/>
                </a:solidFill>
                <a:latin typeface="Segoe UI"/>
                <a:ea typeface="Segoe UI"/>
                <a:cs typeface="Segoe UI"/>
              </a:rPr>
              <a:t>공식 출처 및 데이터베이스 링크</a:t>
            </a:r>
            <a:endParaRPr lang="en-US" sz="1300" dirty="0"/>
          </a:p>
        </p:txBody>
      </p:sp>
      <p:sp>
        <p:nvSpPr>
          <p:cNvPr id="43" name="Rounded Rectangle"/>
          <p:cNvSpPr/>
          <p:nvPr/>
        </p:nvSpPr>
        <p:spPr>
          <a:xfrm>
            <a:off x="6643489" y="1807766"/>
            <a:ext cx="4970661" cy="931863"/>
          </a:xfrm>
          <a:prstGeom prst="roundRect">
            <a:avLst>
              <a:gd name="adj" fmla="val 8177"/>
            </a:avLst>
          </a:prstGeom>
          <a:solidFill>
            <a:srgbClr val="F8FAFC"/>
          </a:solidFill>
          <a:ln>
            <a:noFill/>
          </a:ln>
        </p:spPr>
      </p:sp>
      <p:sp>
        <p:nvSpPr>
          <p:cNvPr id="44" name="Border"/>
          <p:cNvSpPr/>
          <p:nvPr/>
        </p:nvSpPr>
        <p:spPr>
          <a:xfrm>
            <a:off x="6643489" y="1807766"/>
            <a:ext cx="4970661" cy="6350"/>
          </a:xfrm>
          <a:prstGeom prst="rect">
            <a:avLst/>
          </a:prstGeom>
          <a:solidFill>
            <a:srgbClr val="E2E8F0"/>
          </a:solidFill>
          <a:ln>
            <a:noFill/>
          </a:ln>
        </p:spPr>
      </p:sp>
      <p:sp>
        <p:nvSpPr>
          <p:cNvPr id="45" name="Border"/>
          <p:cNvSpPr/>
          <p:nvPr/>
        </p:nvSpPr>
        <p:spPr>
          <a:xfrm>
            <a:off x="11607800" y="1807766"/>
            <a:ext cx="6350" cy="931863"/>
          </a:xfrm>
          <a:prstGeom prst="rect">
            <a:avLst/>
          </a:prstGeom>
          <a:solidFill>
            <a:srgbClr val="E2E8F0"/>
          </a:solidFill>
          <a:ln>
            <a:noFill/>
          </a:ln>
        </p:spPr>
      </p:sp>
      <p:sp>
        <p:nvSpPr>
          <p:cNvPr id="46" name="Border"/>
          <p:cNvSpPr/>
          <p:nvPr/>
        </p:nvSpPr>
        <p:spPr>
          <a:xfrm>
            <a:off x="6643489" y="2733278"/>
            <a:ext cx="4970661" cy="6350"/>
          </a:xfrm>
          <a:prstGeom prst="rect">
            <a:avLst/>
          </a:prstGeom>
          <a:solidFill>
            <a:srgbClr val="E2E8F0"/>
          </a:solidFill>
          <a:ln>
            <a:noFill/>
          </a:ln>
        </p:spPr>
      </p:sp>
      <p:sp>
        <p:nvSpPr>
          <p:cNvPr id="47" name="Border"/>
          <p:cNvSpPr/>
          <p:nvPr/>
        </p:nvSpPr>
        <p:spPr>
          <a:xfrm>
            <a:off x="6643489" y="1807766"/>
            <a:ext cx="31750" cy="931863"/>
          </a:xfrm>
          <a:prstGeom prst="rect">
            <a:avLst/>
          </a:prstGeom>
          <a:solidFill>
            <a:srgbClr val="2563EB"/>
          </a:solidFill>
          <a:ln>
            <a:noFill/>
          </a:ln>
        </p:spPr>
      </p:sp>
      <p:sp>
        <p:nvSpPr>
          <p:cNvPr id="48" name="Rounded Rectangle"/>
          <p:cNvSpPr/>
          <p:nvPr/>
        </p:nvSpPr>
        <p:spPr>
          <a:xfrm>
            <a:off x="6792714" y="1906191"/>
            <a:ext cx="827881" cy="238125"/>
          </a:xfrm>
          <a:prstGeom prst="roundRect">
            <a:avLst>
              <a:gd name="adj" fmla="val 20000"/>
            </a:avLst>
          </a:prstGeom>
          <a:solidFill>
            <a:srgbClr val="EFF6FF"/>
          </a:solidFill>
          <a:ln w="6350" cap="flat" cmpd="sng" algn="ctr">
            <a:solidFill>
              <a:srgbClr val="BFDBFE"/>
            </a:solidFill>
            <a:miter lim="800000"/>
          </a:ln>
        </p:spPr>
      </p:sp>
      <p:sp>
        <p:nvSpPr>
          <p:cNvPr id="49" name="Text: 학습 데이터셋"/>
          <p:cNvSpPr txBox="1"/>
          <p:nvPr/>
        </p:nvSpPr>
        <p:spPr>
          <a:xfrm>
            <a:off x="6897489" y="1944291"/>
            <a:ext cx="618331"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2563EB"/>
                </a:solidFill>
                <a:latin typeface="Segoe UI"/>
                <a:ea typeface="Segoe UI"/>
                <a:cs typeface="Segoe UI"/>
              </a:rPr>
              <a:t>학습 데이터셋</a:t>
            </a:r>
            <a:endParaRPr lang="en-US" sz="750" dirty="0"/>
          </a:p>
        </p:txBody>
      </p:sp>
      <p:sp>
        <p:nvSpPr>
          <p:cNvPr id="50" name="Text: 26,768장 COCO-Pose"/>
          <p:cNvSpPr txBox="1"/>
          <p:nvPr/>
        </p:nvSpPr>
        <p:spPr>
          <a:xfrm>
            <a:off x="10649843" y="1953022"/>
            <a:ext cx="843657" cy="128588"/>
          </a:xfrm>
          <a:prstGeom prst="rect">
            <a:avLst/>
          </a:prstGeom>
          <a:noFill/>
        </p:spPr>
        <p:txBody>
          <a:bodyPr wrap="none" lIns="0" tIns="0" rIns="0" bIns="0" rtlCol="0" anchor="t">
            <a:noAutofit/>
          </a:bodyPr>
          <a:lstStyle/>
          <a:p>
            <a:pPr algn="l">
              <a:lnSpc>
                <a:spcPts val="1013"/>
              </a:lnSpc>
              <a:spcBef>
                <a:spcPts val="0"/>
              </a:spcBef>
              <a:spcAft>
                <a:spcPts val="0"/>
              </a:spcAft>
              <a:buNone/>
            </a:pPr>
            <a:r>
              <a:rPr lang="en-US" sz="675" b="1" spc="-4" dirty="0">
                <a:solidFill>
                  <a:srgbClr val="64748B"/>
                </a:solidFill>
                <a:latin typeface="Segoe UI"/>
                <a:ea typeface="Segoe UI"/>
                <a:cs typeface="Segoe UI"/>
              </a:rPr>
              <a:t>26,768장 COCO-Pose</a:t>
            </a:r>
            <a:endParaRPr lang="en-US" sz="675" dirty="0"/>
          </a:p>
        </p:txBody>
      </p:sp>
      <p:sp>
        <p:nvSpPr>
          <p:cNvPr id="51" name="Text: Ultralytics Hand-Keypoints Dataset"/>
          <p:cNvSpPr txBox="1"/>
          <p:nvPr/>
        </p:nvSpPr>
        <p:spPr>
          <a:xfrm>
            <a:off x="6789539" y="2155428"/>
            <a:ext cx="1946374" cy="176213"/>
          </a:xfrm>
          <a:prstGeom prst="rect">
            <a:avLst/>
          </a:prstGeom>
          <a:noFill/>
        </p:spPr>
        <p:txBody>
          <a:bodyPr wrap="none" lIns="0" tIns="0" rIns="0" bIns="0" rtlCol="0" anchor="t">
            <a:noAutofit/>
          </a:bodyPr>
          <a:lstStyle/>
          <a:p>
            <a:pPr algn="l">
              <a:lnSpc>
                <a:spcPts val="1388"/>
              </a:lnSpc>
              <a:spcBef>
                <a:spcPts val="0"/>
              </a:spcBef>
              <a:spcAft>
                <a:spcPts val="0"/>
              </a:spcAft>
              <a:buNone/>
            </a:pPr>
            <a:r>
              <a:rPr lang="en-US" sz="925" b="1" spc="-4" dirty="0">
                <a:solidFill>
                  <a:srgbClr val="0F172A"/>
                </a:solidFill>
                <a:latin typeface="Segoe UI"/>
                <a:ea typeface="Segoe UI"/>
                <a:cs typeface="Segoe UI"/>
              </a:rPr>
              <a:t>Ultralytics Hand-Keypoints Dataset</a:t>
            </a:r>
            <a:endParaRPr lang="en-US" sz="925" dirty="0"/>
          </a:p>
        </p:txBody>
      </p:sp>
      <p:sp>
        <p:nvSpPr>
          <p:cNvPr id="52" name="Text: https://github.com/ultralytics/assets/re"/>
          <p:cNvSpPr txBox="1"/>
          <p:nvPr/>
        </p:nvSpPr>
        <p:spPr>
          <a:xfrm>
            <a:off x="6789539" y="2345928"/>
            <a:ext cx="3559373"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spc="-4" dirty="0">
                <a:solidFill>
                  <a:srgbClr val="2563EB"/>
                </a:solidFill>
                <a:latin typeface="Consolas"/>
                <a:ea typeface="Consolas"/>
                <a:cs typeface="Consolas"/>
              </a:rPr>
              <a:t>https://github.com/ultralytics/assets/releases/download/v0.0.0/hand-keypoints.zip</a:t>
            </a:r>
            <a:endParaRPr lang="en-US" sz="650" dirty="0"/>
          </a:p>
        </p:txBody>
      </p:sp>
      <p:sp>
        <p:nvSpPr>
          <p:cNvPr id="53" name="Text: Train 18,776장 + Val 7,992장 / 21개 관절 키포인트"/>
          <p:cNvSpPr txBox="1"/>
          <p:nvPr/>
        </p:nvSpPr>
        <p:spPr>
          <a:xfrm>
            <a:off x="6789539" y="2498328"/>
            <a:ext cx="2723455"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spc="-4" dirty="0">
                <a:solidFill>
                  <a:srgbClr val="64748B"/>
                </a:solidFill>
                <a:latin typeface="Segoe UI"/>
                <a:ea typeface="Segoe UI"/>
                <a:cs typeface="Segoe UI"/>
              </a:rPr>
              <a:t>Train 18,776장 + Val 7,992장 / 21개 관절 키포인트 글로벌 공인 규격</a:t>
            </a:r>
            <a:endParaRPr lang="en-US" sz="700" dirty="0"/>
          </a:p>
        </p:txBody>
      </p:sp>
      <p:sp>
        <p:nvSpPr>
          <p:cNvPr id="54" name="Rounded Rectangle"/>
          <p:cNvSpPr/>
          <p:nvPr/>
        </p:nvSpPr>
        <p:spPr>
          <a:xfrm>
            <a:off x="6643489" y="2828528"/>
            <a:ext cx="4970661" cy="931863"/>
          </a:xfrm>
          <a:prstGeom prst="roundRect">
            <a:avLst>
              <a:gd name="adj" fmla="val 8177"/>
            </a:avLst>
          </a:prstGeom>
          <a:solidFill>
            <a:srgbClr val="F8FAFC"/>
          </a:solidFill>
          <a:ln>
            <a:noFill/>
          </a:ln>
        </p:spPr>
      </p:sp>
      <p:sp>
        <p:nvSpPr>
          <p:cNvPr id="55" name="Border"/>
          <p:cNvSpPr/>
          <p:nvPr/>
        </p:nvSpPr>
        <p:spPr>
          <a:xfrm>
            <a:off x="6643489" y="2828528"/>
            <a:ext cx="4970661" cy="6350"/>
          </a:xfrm>
          <a:prstGeom prst="rect">
            <a:avLst/>
          </a:prstGeom>
          <a:solidFill>
            <a:srgbClr val="E2E8F0"/>
          </a:solidFill>
          <a:ln>
            <a:noFill/>
          </a:ln>
        </p:spPr>
      </p:sp>
      <p:sp>
        <p:nvSpPr>
          <p:cNvPr id="56" name="Border"/>
          <p:cNvSpPr/>
          <p:nvPr/>
        </p:nvSpPr>
        <p:spPr>
          <a:xfrm>
            <a:off x="11607800" y="2828528"/>
            <a:ext cx="6350" cy="931863"/>
          </a:xfrm>
          <a:prstGeom prst="rect">
            <a:avLst/>
          </a:prstGeom>
          <a:solidFill>
            <a:srgbClr val="E2E8F0"/>
          </a:solidFill>
          <a:ln>
            <a:noFill/>
          </a:ln>
        </p:spPr>
      </p:sp>
      <p:sp>
        <p:nvSpPr>
          <p:cNvPr id="57" name="Border"/>
          <p:cNvSpPr/>
          <p:nvPr/>
        </p:nvSpPr>
        <p:spPr>
          <a:xfrm>
            <a:off x="6643489" y="3754041"/>
            <a:ext cx="4970661" cy="6350"/>
          </a:xfrm>
          <a:prstGeom prst="rect">
            <a:avLst/>
          </a:prstGeom>
          <a:solidFill>
            <a:srgbClr val="E2E8F0"/>
          </a:solidFill>
          <a:ln>
            <a:noFill/>
          </a:ln>
        </p:spPr>
      </p:sp>
      <p:sp>
        <p:nvSpPr>
          <p:cNvPr id="58" name="Border"/>
          <p:cNvSpPr/>
          <p:nvPr/>
        </p:nvSpPr>
        <p:spPr>
          <a:xfrm>
            <a:off x="6643489" y="2828528"/>
            <a:ext cx="31750" cy="931863"/>
          </a:xfrm>
          <a:prstGeom prst="rect">
            <a:avLst/>
          </a:prstGeom>
          <a:solidFill>
            <a:srgbClr val="0284C7"/>
          </a:solidFill>
          <a:ln>
            <a:noFill/>
          </a:ln>
        </p:spPr>
      </p:sp>
      <p:sp>
        <p:nvSpPr>
          <p:cNvPr id="59" name="Rounded Rectangle"/>
          <p:cNvSpPr/>
          <p:nvPr/>
        </p:nvSpPr>
        <p:spPr>
          <a:xfrm>
            <a:off x="6792714" y="2926953"/>
            <a:ext cx="1057573" cy="238125"/>
          </a:xfrm>
          <a:prstGeom prst="roundRect">
            <a:avLst>
              <a:gd name="adj" fmla="val 20000"/>
            </a:avLst>
          </a:prstGeom>
          <a:solidFill>
            <a:srgbClr val="E0F2FE"/>
          </a:solidFill>
          <a:ln w="6350" cap="flat" cmpd="sng" algn="ctr">
            <a:solidFill>
              <a:srgbClr val="7DD3FC"/>
            </a:solidFill>
            <a:miter lim="800000"/>
          </a:ln>
        </p:spPr>
      </p:sp>
      <p:sp>
        <p:nvSpPr>
          <p:cNvPr id="60" name="Text: 프로젝트 활용 기술"/>
          <p:cNvSpPr txBox="1"/>
          <p:nvPr/>
        </p:nvSpPr>
        <p:spPr>
          <a:xfrm>
            <a:off x="6897489" y="2965053"/>
            <a:ext cx="848023"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0284C7"/>
                </a:solidFill>
                <a:latin typeface="Segoe UI"/>
                <a:ea typeface="Segoe UI"/>
                <a:cs typeface="Segoe UI"/>
              </a:rPr>
              <a:t>프로젝트 활용 기술</a:t>
            </a:r>
            <a:endParaRPr lang="en-US" sz="750" dirty="0"/>
          </a:p>
        </p:txBody>
      </p:sp>
      <p:sp>
        <p:nvSpPr>
          <p:cNvPr id="61" name="Text: Intel 공식 플랫폼 &amp; 툴킷"/>
          <p:cNvSpPr txBox="1"/>
          <p:nvPr/>
        </p:nvSpPr>
        <p:spPr>
          <a:xfrm>
            <a:off x="10526018" y="2973784"/>
            <a:ext cx="967482" cy="128588"/>
          </a:xfrm>
          <a:prstGeom prst="rect">
            <a:avLst/>
          </a:prstGeom>
          <a:noFill/>
        </p:spPr>
        <p:txBody>
          <a:bodyPr wrap="none" lIns="0" tIns="0" rIns="0" bIns="0" rtlCol="0" anchor="t">
            <a:noAutofit/>
          </a:bodyPr>
          <a:lstStyle/>
          <a:p>
            <a:pPr algn="l">
              <a:lnSpc>
                <a:spcPts val="1013"/>
              </a:lnSpc>
              <a:spcBef>
                <a:spcPts val="0"/>
              </a:spcBef>
              <a:spcAft>
                <a:spcPts val="0"/>
              </a:spcAft>
              <a:buNone/>
            </a:pPr>
            <a:r>
              <a:rPr lang="en-US" sz="675" b="1" spc="-4" dirty="0">
                <a:solidFill>
                  <a:srgbClr val="0284C7"/>
                </a:solidFill>
                <a:latin typeface="Segoe UI"/>
                <a:ea typeface="Segoe UI"/>
                <a:cs typeface="Segoe UI"/>
              </a:rPr>
              <a:t>Intel 공식 플랫폼 &amp; 툴킷</a:t>
            </a:r>
            <a:endParaRPr lang="en-US" sz="675" dirty="0"/>
          </a:p>
        </p:txBody>
      </p:sp>
      <p:sp>
        <p:nvSpPr>
          <p:cNvPr id="62" name="Text: Intel Geti™ Platform &amp; OpenVINO™ Toolkit"/>
          <p:cNvSpPr txBox="1"/>
          <p:nvPr/>
        </p:nvSpPr>
        <p:spPr>
          <a:xfrm>
            <a:off x="6789539" y="3176191"/>
            <a:ext cx="2412305" cy="176213"/>
          </a:xfrm>
          <a:prstGeom prst="rect">
            <a:avLst/>
          </a:prstGeom>
          <a:noFill/>
        </p:spPr>
        <p:txBody>
          <a:bodyPr wrap="none" lIns="0" tIns="0" rIns="0" bIns="0" rtlCol="0" anchor="t">
            <a:noAutofit/>
          </a:bodyPr>
          <a:lstStyle/>
          <a:p>
            <a:pPr algn="l">
              <a:lnSpc>
                <a:spcPts val="1388"/>
              </a:lnSpc>
              <a:spcBef>
                <a:spcPts val="0"/>
              </a:spcBef>
              <a:spcAft>
                <a:spcPts val="0"/>
              </a:spcAft>
              <a:buNone/>
            </a:pPr>
            <a:r>
              <a:rPr lang="en-US" sz="925" b="1" spc="-4" dirty="0">
                <a:solidFill>
                  <a:srgbClr val="0F172A"/>
                </a:solidFill>
                <a:latin typeface="Segoe UI"/>
                <a:ea typeface="Segoe UI"/>
                <a:cs typeface="Segoe UI"/>
              </a:rPr>
              <a:t>Intel Geti™ Platform &amp; OpenVINO™ Toolkit</a:t>
            </a:r>
            <a:endParaRPr lang="en-US" sz="925" dirty="0"/>
          </a:p>
        </p:txBody>
      </p:sp>
      <p:sp>
        <p:nvSpPr>
          <p:cNvPr id="63" name="Text: https://geti.intel.com | https://docs.op"/>
          <p:cNvSpPr txBox="1"/>
          <p:nvPr/>
        </p:nvSpPr>
        <p:spPr>
          <a:xfrm>
            <a:off x="6789539" y="3366691"/>
            <a:ext cx="2153245"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spc="-4" dirty="0">
                <a:solidFill>
                  <a:srgbClr val="0284C7"/>
                </a:solidFill>
                <a:latin typeface="Consolas"/>
                <a:ea typeface="Consolas"/>
                <a:cs typeface="Consolas"/>
              </a:rPr>
              <a:t>https://geti.intel.com | https://docs.openvino.ai</a:t>
            </a:r>
            <a:endParaRPr lang="en-US" sz="650" dirty="0"/>
          </a:p>
        </p:txBody>
      </p:sp>
      <p:sp>
        <p:nvSpPr>
          <p:cNvPr id="64" name="Text: Intel Geti 노코드 컴퓨터 비전 플랫폼 및 OpenVINO 런타임"/>
          <p:cNvSpPr txBox="1"/>
          <p:nvPr/>
        </p:nvSpPr>
        <p:spPr>
          <a:xfrm>
            <a:off x="6789539" y="3519091"/>
            <a:ext cx="2842220"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spc="-4" dirty="0">
                <a:solidFill>
                  <a:srgbClr val="64748B"/>
                </a:solidFill>
                <a:latin typeface="Segoe UI"/>
                <a:ea typeface="Segoe UI"/>
                <a:cs typeface="Segoe UI"/>
              </a:rPr>
              <a:t>Intel Geti 노코드 컴퓨터 비전 플랫폼 및 OpenVINO 런타임 최적화 도구</a:t>
            </a:r>
            <a:endParaRPr lang="en-US" sz="700" dirty="0"/>
          </a:p>
        </p:txBody>
      </p:sp>
      <p:sp>
        <p:nvSpPr>
          <p:cNvPr id="65" name="Rounded Rectangle"/>
          <p:cNvSpPr/>
          <p:nvPr/>
        </p:nvSpPr>
        <p:spPr>
          <a:xfrm>
            <a:off x="6643489" y="3849291"/>
            <a:ext cx="4970661" cy="931863"/>
          </a:xfrm>
          <a:prstGeom prst="roundRect">
            <a:avLst>
              <a:gd name="adj" fmla="val 8177"/>
            </a:avLst>
          </a:prstGeom>
          <a:solidFill>
            <a:srgbClr val="F8FAFC"/>
          </a:solidFill>
          <a:ln>
            <a:noFill/>
          </a:ln>
        </p:spPr>
      </p:sp>
      <p:sp>
        <p:nvSpPr>
          <p:cNvPr id="66" name="Border"/>
          <p:cNvSpPr/>
          <p:nvPr/>
        </p:nvSpPr>
        <p:spPr>
          <a:xfrm>
            <a:off x="6643489" y="3849291"/>
            <a:ext cx="4970661" cy="6350"/>
          </a:xfrm>
          <a:prstGeom prst="rect">
            <a:avLst/>
          </a:prstGeom>
          <a:solidFill>
            <a:srgbClr val="E2E8F0"/>
          </a:solidFill>
          <a:ln>
            <a:noFill/>
          </a:ln>
        </p:spPr>
      </p:sp>
      <p:sp>
        <p:nvSpPr>
          <p:cNvPr id="67" name="Border"/>
          <p:cNvSpPr/>
          <p:nvPr/>
        </p:nvSpPr>
        <p:spPr>
          <a:xfrm>
            <a:off x="11607800" y="3849291"/>
            <a:ext cx="6350" cy="931863"/>
          </a:xfrm>
          <a:prstGeom prst="rect">
            <a:avLst/>
          </a:prstGeom>
          <a:solidFill>
            <a:srgbClr val="E2E8F0"/>
          </a:solidFill>
          <a:ln>
            <a:noFill/>
          </a:ln>
        </p:spPr>
      </p:sp>
      <p:sp>
        <p:nvSpPr>
          <p:cNvPr id="68" name="Border"/>
          <p:cNvSpPr/>
          <p:nvPr/>
        </p:nvSpPr>
        <p:spPr>
          <a:xfrm>
            <a:off x="6643489" y="4774803"/>
            <a:ext cx="4970661" cy="6350"/>
          </a:xfrm>
          <a:prstGeom prst="rect">
            <a:avLst/>
          </a:prstGeom>
          <a:solidFill>
            <a:srgbClr val="E2E8F0"/>
          </a:solidFill>
          <a:ln>
            <a:noFill/>
          </a:ln>
        </p:spPr>
      </p:sp>
      <p:sp>
        <p:nvSpPr>
          <p:cNvPr id="69" name="Border"/>
          <p:cNvSpPr/>
          <p:nvPr/>
        </p:nvSpPr>
        <p:spPr>
          <a:xfrm>
            <a:off x="6643489" y="3849291"/>
            <a:ext cx="31750" cy="931863"/>
          </a:xfrm>
          <a:prstGeom prst="rect">
            <a:avLst/>
          </a:prstGeom>
          <a:solidFill>
            <a:srgbClr val="059669"/>
          </a:solidFill>
          <a:ln>
            <a:noFill/>
          </a:ln>
        </p:spPr>
      </p:sp>
      <p:sp>
        <p:nvSpPr>
          <p:cNvPr id="70" name="Rounded Rectangle"/>
          <p:cNvSpPr/>
          <p:nvPr/>
        </p:nvSpPr>
        <p:spPr>
          <a:xfrm>
            <a:off x="6792714" y="3947716"/>
            <a:ext cx="982266" cy="238125"/>
          </a:xfrm>
          <a:prstGeom prst="roundRect">
            <a:avLst>
              <a:gd name="adj" fmla="val 20000"/>
            </a:avLst>
          </a:prstGeom>
          <a:solidFill>
            <a:srgbClr val="DCFCE7"/>
          </a:solidFill>
          <a:ln w="6350" cap="flat" cmpd="sng" algn="ctr">
            <a:solidFill>
              <a:srgbClr val="86EFAC"/>
            </a:solidFill>
            <a:miter lim="800000"/>
          </a:ln>
        </p:spPr>
      </p:sp>
      <p:sp>
        <p:nvSpPr>
          <p:cNvPr id="71" name="Text: 비교 모델 &amp; 원작"/>
          <p:cNvSpPr txBox="1"/>
          <p:nvPr/>
        </p:nvSpPr>
        <p:spPr>
          <a:xfrm>
            <a:off x="6897489" y="3985816"/>
            <a:ext cx="772716" cy="142875"/>
          </a:xfrm>
          <a:prstGeom prst="rect">
            <a:avLst/>
          </a:prstGeom>
          <a:noFill/>
        </p:spPr>
        <p:txBody>
          <a:bodyPr wrap="none" lIns="0" tIns="0" rIns="0" bIns="0" rtlCol="0" anchor="t">
            <a:noAutofit/>
          </a:bodyPr>
          <a:lstStyle/>
          <a:p>
            <a:pPr algn="l">
              <a:lnSpc>
                <a:spcPts val="1125"/>
              </a:lnSpc>
              <a:spcBef>
                <a:spcPts val="0"/>
              </a:spcBef>
              <a:spcAft>
                <a:spcPts val="0"/>
              </a:spcAft>
              <a:buNone/>
            </a:pPr>
            <a:r>
              <a:rPr lang="en-US" sz="750" b="1" spc="15" dirty="0">
                <a:solidFill>
                  <a:srgbClr val="059669"/>
                </a:solidFill>
                <a:latin typeface="Segoe UI"/>
                <a:ea typeface="Segoe UI"/>
                <a:cs typeface="Segoe UI"/>
              </a:rPr>
              <a:t>비교 모델 &amp; 원작</a:t>
            </a:r>
            <a:endParaRPr lang="en-US" sz="750" dirty="0"/>
          </a:p>
        </p:txBody>
      </p:sp>
      <p:sp>
        <p:nvSpPr>
          <p:cNvPr id="72" name="Text: 프레임워크 &amp; 프로토타입"/>
          <p:cNvSpPr txBox="1"/>
          <p:nvPr/>
        </p:nvSpPr>
        <p:spPr>
          <a:xfrm>
            <a:off x="10509052" y="3994547"/>
            <a:ext cx="984448" cy="128588"/>
          </a:xfrm>
          <a:prstGeom prst="rect">
            <a:avLst/>
          </a:prstGeom>
          <a:noFill/>
        </p:spPr>
        <p:txBody>
          <a:bodyPr wrap="none" lIns="0" tIns="0" rIns="0" bIns="0" rtlCol="0" anchor="t">
            <a:noAutofit/>
          </a:bodyPr>
          <a:lstStyle/>
          <a:p>
            <a:pPr algn="l">
              <a:lnSpc>
                <a:spcPts val="1013"/>
              </a:lnSpc>
              <a:spcBef>
                <a:spcPts val="0"/>
              </a:spcBef>
              <a:spcAft>
                <a:spcPts val="0"/>
              </a:spcAft>
              <a:buNone/>
            </a:pPr>
            <a:r>
              <a:rPr lang="en-US" sz="675" b="1" spc="-4" dirty="0">
                <a:solidFill>
                  <a:srgbClr val="64748B"/>
                </a:solidFill>
                <a:latin typeface="Segoe UI"/>
                <a:ea typeface="Segoe UI"/>
                <a:cs typeface="Segoe UI"/>
              </a:rPr>
              <a:t>프레임워크 &amp; 프로토타입</a:t>
            </a:r>
            <a:endParaRPr lang="en-US" sz="675" dirty="0"/>
          </a:p>
        </p:txBody>
      </p:sp>
      <p:sp>
        <p:nvSpPr>
          <p:cNvPr id="73" name="Text: Google MediaPipe &amp; YOLOv8 &amp; Gesture Synt"/>
          <p:cNvSpPr txBox="1"/>
          <p:nvPr/>
        </p:nvSpPr>
        <p:spPr>
          <a:xfrm>
            <a:off x="6789539" y="4196953"/>
            <a:ext cx="2602508" cy="176213"/>
          </a:xfrm>
          <a:prstGeom prst="rect">
            <a:avLst/>
          </a:prstGeom>
          <a:noFill/>
        </p:spPr>
        <p:txBody>
          <a:bodyPr wrap="none" lIns="0" tIns="0" rIns="0" bIns="0" rtlCol="0" anchor="t">
            <a:noAutofit/>
          </a:bodyPr>
          <a:lstStyle/>
          <a:p>
            <a:pPr algn="l">
              <a:lnSpc>
                <a:spcPts val="1388"/>
              </a:lnSpc>
              <a:spcBef>
                <a:spcPts val="0"/>
              </a:spcBef>
              <a:spcAft>
                <a:spcPts val="0"/>
              </a:spcAft>
              <a:buNone/>
            </a:pPr>
            <a:r>
              <a:rPr lang="en-US" sz="925" b="1" spc="-4" dirty="0">
                <a:solidFill>
                  <a:srgbClr val="0F172A"/>
                </a:solidFill>
                <a:latin typeface="Segoe UI"/>
                <a:ea typeface="Segoe UI"/>
                <a:cs typeface="Segoe UI"/>
              </a:rPr>
              <a:t>Google MediaPipe &amp; YOLOv8 &amp; Gesture Synth</a:t>
            </a:r>
            <a:endParaRPr lang="en-US" sz="925" dirty="0"/>
          </a:p>
        </p:txBody>
      </p:sp>
      <p:sp>
        <p:nvSpPr>
          <p:cNvPr id="74" name="Text: https://developers.google.com/mediapipe "/>
          <p:cNvSpPr txBox="1"/>
          <p:nvPr/>
        </p:nvSpPr>
        <p:spPr>
          <a:xfrm>
            <a:off x="6789539" y="4387453"/>
            <a:ext cx="3910905" cy="123825"/>
          </a:xfrm>
          <a:prstGeom prst="rect">
            <a:avLst/>
          </a:prstGeom>
          <a:noFill/>
        </p:spPr>
        <p:txBody>
          <a:bodyPr wrap="none" lIns="0" tIns="0" rIns="0" bIns="0" rtlCol="0" anchor="t">
            <a:noAutofit/>
          </a:bodyPr>
          <a:lstStyle/>
          <a:p>
            <a:pPr algn="l">
              <a:lnSpc>
                <a:spcPts val="975"/>
              </a:lnSpc>
              <a:spcBef>
                <a:spcPts val="0"/>
              </a:spcBef>
              <a:spcAft>
                <a:spcPts val="0"/>
              </a:spcAft>
              <a:buNone/>
            </a:pPr>
            <a:r>
              <a:rPr lang="en-US" sz="650" spc="-4" dirty="0">
                <a:solidFill>
                  <a:srgbClr val="059669"/>
                </a:solidFill>
                <a:latin typeface="Consolas"/>
                <a:ea typeface="Consolas"/>
                <a:cs typeface="Consolas"/>
              </a:rPr>
              <a:t>https://developers.google.com/mediapipe | https://github.com/indecisiveeric/gesture-synth</a:t>
            </a:r>
            <a:endParaRPr lang="en-US" sz="650" dirty="0"/>
          </a:p>
        </p:txBody>
      </p:sp>
      <p:sp>
        <p:nvSpPr>
          <p:cNvPr id="75" name="Text: 3D 관절 추적 Tasks-Vision, YOLOv8 훈련 도구 및 We"/>
          <p:cNvSpPr txBox="1"/>
          <p:nvPr/>
        </p:nvSpPr>
        <p:spPr>
          <a:xfrm>
            <a:off x="6789539" y="4539853"/>
            <a:ext cx="2991743" cy="133350"/>
          </a:xfrm>
          <a:prstGeom prst="rect">
            <a:avLst/>
          </a:prstGeom>
          <a:noFill/>
        </p:spPr>
        <p:txBody>
          <a:bodyPr wrap="none" lIns="0" tIns="0" rIns="0" bIns="0" rtlCol="0" anchor="t">
            <a:noAutofit/>
          </a:bodyPr>
          <a:lstStyle/>
          <a:p>
            <a:pPr algn="l">
              <a:lnSpc>
                <a:spcPts val="1050"/>
              </a:lnSpc>
              <a:spcBef>
                <a:spcPts val="0"/>
              </a:spcBef>
              <a:spcAft>
                <a:spcPts val="0"/>
              </a:spcAft>
              <a:buNone/>
            </a:pPr>
            <a:r>
              <a:rPr lang="en-US" sz="700" spc="-4" dirty="0">
                <a:solidFill>
                  <a:srgbClr val="64748B"/>
                </a:solidFill>
                <a:latin typeface="Segoe UI"/>
                <a:ea typeface="Segoe UI"/>
                <a:cs typeface="Segoe UI"/>
              </a:rPr>
              <a:t>3D 관절 추적 Tasks-Vision, YOLOv8 훈련 도구 및 Web Audio API 악기 원작</a:t>
            </a:r>
            <a:endParaRPr lang="en-US" sz="700" dirty="0"/>
          </a:p>
        </p:txBody>
      </p:sp>
      <p:sp>
        <p:nvSpPr>
          <p:cNvPr id="76" name="Border"/>
          <p:cNvSpPr/>
          <p:nvPr/>
        </p:nvSpPr>
        <p:spPr>
          <a:xfrm>
            <a:off x="6643489" y="5942013"/>
            <a:ext cx="4970661" cy="6350"/>
          </a:xfrm>
          <a:prstGeom prst="rect">
            <a:avLst/>
          </a:prstGeom>
          <a:solidFill>
            <a:srgbClr val="F1F5F9"/>
          </a:solidFill>
          <a:ln>
            <a:noFill/>
          </a:ln>
        </p:spPr>
      </p:sp>
      <p:sp>
        <p:nvSpPr>
          <p:cNvPr id="77" name="Text: ※ 모든 오픈소스 라이선스 및 인텔 공식 기술 규격을 준수하여 연구·발표"/>
          <p:cNvSpPr txBox="1"/>
          <p:nvPr/>
        </p:nvSpPr>
        <p:spPr>
          <a:xfrm>
            <a:off x="6643489" y="6013450"/>
            <a:ext cx="4065885" cy="138113"/>
          </a:xfrm>
          <a:prstGeom prst="rect">
            <a:avLst/>
          </a:prstGeom>
          <a:noFill/>
        </p:spPr>
        <p:txBody>
          <a:bodyPr wrap="none" lIns="0" tIns="0" rIns="0" bIns="0" rtlCol="0" anchor="t">
            <a:noAutofit/>
          </a:bodyPr>
          <a:lstStyle/>
          <a:p>
            <a:pPr algn="l">
              <a:lnSpc>
                <a:spcPts val="1088"/>
              </a:lnSpc>
              <a:spcBef>
                <a:spcPts val="0"/>
              </a:spcBef>
              <a:spcAft>
                <a:spcPts val="0"/>
              </a:spcAft>
              <a:buNone/>
            </a:pPr>
            <a:r>
              <a:rPr lang="en-US" sz="725" spc="-4" dirty="0">
                <a:solidFill>
                  <a:srgbClr val="94A3B8"/>
                </a:solidFill>
                <a:latin typeface="Segoe UI"/>
                <a:ea typeface="Segoe UI"/>
                <a:cs typeface="Segoe UI"/>
              </a:rPr>
              <a:t>※ 모든 오픈소스 라이선스 및 인텔 공식 기술 규격을 준수하여 연구·발표 목적으로 제작되었습니다.</a:t>
            </a:r>
            <a:endParaRPr lang="en-US" sz="725" dirty="0"/>
          </a:p>
        </p:txBody>
      </p:sp>
      <p:sp>
        <p:nvSpPr>
          <p:cNvPr id="78" name="Border"/>
          <p:cNvSpPr/>
          <p:nvPr/>
        </p:nvSpPr>
        <p:spPr>
          <a:xfrm>
            <a:off x="381000" y="6334125"/>
            <a:ext cx="11430000" cy="6350"/>
          </a:xfrm>
          <a:prstGeom prst="rect">
            <a:avLst/>
          </a:prstGeom>
          <a:solidFill>
            <a:srgbClr val="E2E8F0"/>
          </a:solidFill>
          <a:ln>
            <a:noFill/>
          </a:ln>
        </p:spPr>
      </p:sp>
      <p:sp>
        <p:nvSpPr>
          <p:cNvPr id="79" name="Text: AuraSynth: Computer Vision &amp; Interactive"/>
          <p:cNvSpPr txBox="1"/>
          <p:nvPr/>
        </p:nvSpPr>
        <p:spPr>
          <a:xfrm>
            <a:off x="381000" y="6451600"/>
            <a:ext cx="3247628"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94A3B8"/>
                </a:solidFill>
                <a:latin typeface="Segoe UI"/>
                <a:ea typeface="Segoe UI"/>
                <a:cs typeface="Segoe UI"/>
              </a:rPr>
              <a:t>AuraSynth: Computer Vision &amp; Interactive Web Audio Research</a:t>
            </a:r>
            <a:endParaRPr lang="en-US" sz="850" dirty="0"/>
          </a:p>
        </p:txBody>
      </p:sp>
      <p:sp>
        <p:nvSpPr>
          <p:cNvPr id="80" name="Rounded Rectangle"/>
          <p:cNvSpPr/>
          <p:nvPr/>
        </p:nvSpPr>
        <p:spPr>
          <a:xfrm>
            <a:off x="11237714" y="6429375"/>
            <a:ext cx="573286" cy="225425"/>
          </a:xfrm>
          <a:prstGeom prst="roundRect">
            <a:avLst>
              <a:gd name="adj" fmla="val 22535"/>
            </a:avLst>
          </a:prstGeom>
          <a:solidFill>
            <a:srgbClr val="F1F5F9"/>
          </a:solidFill>
          <a:ln>
            <a:noFill/>
          </a:ln>
        </p:spPr>
      </p:sp>
      <p:sp>
        <p:nvSpPr>
          <p:cNvPr id="81" name="Text: 14 / 14"/>
          <p:cNvSpPr txBox="1"/>
          <p:nvPr/>
        </p:nvSpPr>
        <p:spPr>
          <a:xfrm>
            <a:off x="11339314" y="6451600"/>
            <a:ext cx="370086" cy="161925"/>
          </a:xfrm>
          <a:prstGeom prst="rect">
            <a:avLst/>
          </a:prstGeom>
          <a:noFill/>
        </p:spPr>
        <p:txBody>
          <a:bodyPr wrap="none" lIns="0" tIns="0" rIns="0" bIns="0" rtlCol="0" anchor="t">
            <a:noAutofit/>
          </a:bodyPr>
          <a:lstStyle/>
          <a:p>
            <a:pPr algn="l">
              <a:lnSpc>
                <a:spcPts val="1275"/>
              </a:lnSpc>
              <a:spcBef>
                <a:spcPts val="0"/>
              </a:spcBef>
              <a:spcAft>
                <a:spcPts val="0"/>
              </a:spcAft>
              <a:buNone/>
            </a:pPr>
            <a:r>
              <a:rPr lang="en-US" sz="850" b="1" spc="-4" dirty="0">
                <a:solidFill>
                  <a:srgbClr val="334155"/>
                </a:solidFill>
                <a:latin typeface="Segoe UI"/>
                <a:ea typeface="Segoe UI"/>
                <a:cs typeface="Segoe UI"/>
              </a:rPr>
              <a:t>14 / 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